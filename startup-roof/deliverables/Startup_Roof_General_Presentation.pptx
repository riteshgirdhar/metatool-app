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 idea: Startup Roof is a year-round ecosystem around the founder — guidance, tools, people and opportunities in one place. Founder OS is the digital workspace inside it. The visual is the idea in miniature: one roof over four things founders need — build, learn, connect, grow. Set expectations early: we are at an exploratory, pilot-shaping stage and this deck explains the concept and invites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pain points are the starting hypotheses, not research findings. They come from the experience of the people shaping the project and will be tested in founder interviews. The key message: the gap is rarely information — it is turning information into a practical next step with the right people around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distinction in the deck. Startup Roof is the ecosystem — people, programmes, services and relationships. Founder OS is the software layer that helps a founder use that ecosystem: it organises their goals and next steps and routes them to the right resources and people. Neither replaces the other: software makes the ecosystem easier to navigate, and the ecosystem gives the software something real to connect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are the reason the ecosystem exists; everyone else participates because they get something useful from being near the right founders. Stress the breadth: this is not only for venture-backed tech. Consumer brands, wellness, retail and service businesses are equally in scope, and many will never need to raise venture funding.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one column top to bottom: the question a founder is really asking, the support that helps, and one concrete next action. The point is that Startup Roof meets founders where they are. A founder with an established consumer brand may start at Grow; a student may start at Explore. Capital is the last stage and explicitly optional.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layers bottom-up. The free layer creates reach and trust. The paid layer is where useful tools and expert time are offered on fair terms. Incubation is selective because intensive support is expensive to deliver well. The top layer is about investor readiness and introductions — Startup Roof is not operating a fund, and anything like that would require its own structure, approvals and terms.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OS is planned, not live. The screen on the left is an illustrative concept to make the idea concrete. Its job is simple: know where a founder is, suggest a sensible next step, and route them to the right resource, session or person. The four capability groups will be prioritised with pilot founders — we will build the smallest useful version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clear this is a scenario, not a customer story. It shows how the ecosystem and the software work together: Founder OS captures the profile and suggests the next step; Startup Roof supplies the clinic, the mentor and the community. The founder records progress and comes back — the loop is the product. Success is measured by whether founders take and complete useful next steps.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useful for structure and speed: organising notes, drafting a plan, suggesting what to read next and reminding founders what they committed to. It is not a substitute for a mentor who has run a business in that sector. The design principle is that AI prepares, people judge and the founder decides. No AI integration is live today; features will be tested for usefulness and accuracy in the 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networks measure how many people are listed. We want to measure whether introductions led to a real conversation and a useful outcome. Consent and profile visibility are product principles from day one: founders decide what is shared, and both sides opt in before any 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Academy is not a video library. Each theme follows a simple loop: learn a concept, apply it to your own business, get feedback from a mentor or peers, and leave with a next action. These eight themes are proposed — no course catalogue exists yet. Consumer-brand and retail development is included deliberately because many founders we want to serve are not building software.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repeatedly need the same specialist help — legal, accounting, setup, branding, marketing. We want to make that help easier to find and fairer to buy. Three delivery routes are being explored. Which providers, at what price and with what quality controls, will be decided during the pilot. No partners are confirmed.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Radar is the working name for a curated feed of what is useful to founders now: news, events, programmes and funding calls. Our differentiator is not volume but relevance and context — each item credited to its source, dated, and annotated with why it matters. Founder interviews and media help share practical lessons. Coverage starts UAE-first and will be selective, not comprehensive.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deeper end of the model. The process starts by understanding the founder, then an honest suitability check — the selection point — before any plan is agreed. Plans have milestones and regular reviews. The examples show that the same process works for a tech startup and a consumer or service business; the specialists and milestones differ. Intensive support is limited by delivery capacity, so it will be selective.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investors the value is quality, not volume: founders who have done the groundwork and introductions that match their thesis. Be explicit about what we are not: Startup Roof is not operating a fund, does not promise returns or exclusive deals, and does not endorse investments. Investor engagement today means sessions, mentoring and relevant introductions.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Partners include universities, incubators, corporates, professional firms and technology providers. The table offers concrete, low-commitment ways to start — a workshop, office hours or a small pilot — so both sides can learn whether the collaboration is useful. No partnerships are signed; this slide is an invitation to explore.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 is simple. Free access is how founders discover us — but free has a cost and must be funded. Revenue should come from things people choose to pay for because they are useful: tools, specialist packages, programmes and partner arrangements. Every one of these is a hypothesis. The pilot will measure delivery costs and willingness to pay before we commit to a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in the NOW phase: interviewing founders, gathering contributions, choosing which services to test and defining platform requirements. NEXT is a deliberately small pilot where we measure usefulness and delivery cost. THEN we repeat what works. The milestones are targets: 10,000 free users is the threshold for a public launch event, March 2027 is a tentative target subject to readiness, and 100,000 is the wider ambition. None is current traction.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capability map, not an org chart. It shows the mix of experience the project is bringing together across commercial, founder support, platform and community delivery. Contributors are participating during the shaping and pilot phase. Permanent roles, titles and any longer-term arrangements have not been set and will be considered later based on actual contribution and delivery.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specific ask for each person in the room. Founders: help shape the pilot. Mentors and specialists: offer a session. Partners and universities: explore a first, small collaboration. Investors: engage around founder readiness. Collaborators: tell us what skills and time you can offer. Point to the website and QR code as the way to get in touch, and invite a follow-up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566928"/>
            <a:ext cx="3657600" cy="231140"/>
          </a:xfrm>
          <a:prstGeom prst="rect">
            <a:avLst/>
          </a:prstGeom>
          <a:noFill/>
        </p:spPr>
        <p:txBody>
          <a:bodyPr wrap="square" lIns="0" rIns="0" tIns="0" bIns="0" anchor="t"/>
          <a:lstStyle/>
          <a:p>
            <a:pPr algn="l">
              <a:lnSpc>
                <a:spcPct val="115000"/>
              </a:lnSpc>
              <a:spcAft>
                <a:spcPts val="0"/>
              </a:spcAft>
            </a:pPr>
            <a:r>
              <a:rPr sz="1300" b="1" i="0" spc="156">
                <a:solidFill>
                  <a:srgbClr val="FFFFFF"/>
                </a:solidFill>
                <a:latin typeface="Inter"/>
              </a:rPr>
              <a:t>STARTUP</a:t>
            </a:r>
            <a:r>
              <a:rPr sz="1300" b="1" i="0" spc="156">
                <a:solidFill>
                  <a:srgbClr val="4F8BE0"/>
                </a:solidFill>
                <a:latin typeface="Inter"/>
              </a:rPr>
              <a:t> ROOF</a:t>
            </a:r>
          </a:p>
        </p:txBody>
      </p:sp>
      <p:sp>
        <p:nvSpPr>
          <p:cNvPr id="4" name="TextBox 3"/>
          <p:cNvSpPr txBox="1"/>
          <p:nvPr/>
        </p:nvSpPr>
        <p:spPr>
          <a:xfrm>
            <a:off x="685800" y="1783080"/>
            <a:ext cx="6400800" cy="274320"/>
          </a:xfrm>
          <a:prstGeom prst="rect">
            <a:avLst/>
          </a:prstGeom>
          <a:noFill/>
        </p:spPr>
        <p:txBody>
          <a:bodyPr wrap="square" lIns="0" rIns="0" tIns="0" bIns="0" anchor="t"/>
          <a:lstStyle/>
          <a:p>
            <a:pPr algn="l">
              <a:lnSpc>
                <a:spcPct val="115000"/>
              </a:lnSpc>
              <a:spcAft>
                <a:spcPts val="0"/>
              </a:spcAft>
            </a:pPr>
            <a:r>
              <a:rPr sz="1050" b="1" i="0" spc="160">
                <a:solidFill>
                  <a:srgbClr val="4F8BE0"/>
                </a:solidFill>
                <a:latin typeface="Inter"/>
              </a:rPr>
              <a:t>A FOUNDER ECOSYSTEM  ·  UAE FIRST, GLOBAL AMBITION</a:t>
            </a:r>
          </a:p>
        </p:txBody>
      </p:sp>
      <p:sp>
        <p:nvSpPr>
          <p:cNvPr id="5" name="TextBox 4"/>
          <p:cNvSpPr txBox="1"/>
          <p:nvPr/>
        </p:nvSpPr>
        <p:spPr>
          <a:xfrm>
            <a:off x="685800" y="2148840"/>
            <a:ext cx="6583680" cy="1737360"/>
          </a:xfrm>
          <a:prstGeom prst="rect">
            <a:avLst/>
          </a:prstGeom>
          <a:noFill/>
        </p:spPr>
        <p:txBody>
          <a:bodyPr wrap="square" lIns="0" rIns="0" tIns="0" bIns="0" anchor="t"/>
          <a:lstStyle/>
          <a:p>
            <a:pPr algn="l">
              <a:lnSpc>
                <a:spcPct val="90000"/>
              </a:lnSpc>
              <a:spcAft>
                <a:spcPts val="0"/>
              </a:spcAft>
            </a:pPr>
            <a:r>
              <a:rPr sz="6600" b="1" i="0" spc="200">
                <a:solidFill>
                  <a:srgbClr val="FFFFFF"/>
                </a:solidFill>
                <a:latin typeface="Inter"/>
              </a:rPr>
              <a:t>STARTUP</a:t>
            </a:r>
            <a:r>
              <a:rPr sz="6600" b="1" i="0" spc="200">
                <a:solidFill>
                  <a:srgbClr val="FFFFFF"/>
                </a:solidFill>
                <a:latin typeface="Inter"/>
              </a:rPr>
              <a:t>
ROOF</a:t>
            </a:r>
          </a:p>
        </p:txBody>
      </p:sp>
      <p:sp>
        <p:nvSpPr>
          <p:cNvPr id="6" name="TextBox 5"/>
          <p:cNvSpPr txBox="1"/>
          <p:nvPr/>
        </p:nvSpPr>
        <p:spPr>
          <a:xfrm>
            <a:off x="685800" y="4114800"/>
            <a:ext cx="5852160" cy="914400"/>
          </a:xfrm>
          <a:prstGeom prst="rect">
            <a:avLst/>
          </a:prstGeom>
          <a:noFill/>
        </p:spPr>
        <p:txBody>
          <a:bodyPr wrap="square" lIns="0" rIns="0" tIns="0" bIns="0" anchor="t"/>
          <a:lstStyle/>
          <a:p>
            <a:pPr algn="l">
              <a:lnSpc>
                <a:spcPct val="115000"/>
              </a:lnSpc>
              <a:spcAft>
                <a:spcPts val="0"/>
              </a:spcAft>
            </a:pPr>
            <a:r>
              <a:rPr sz="2000" b="0" i="0">
                <a:solidFill>
                  <a:srgbClr val="D6E2F3"/>
                </a:solidFill>
                <a:latin typeface="Inter"/>
              </a:rPr>
              <a:t>A year-round ecosystem to help founders build, learn, connect and grow.</a:t>
            </a:r>
          </a:p>
        </p:txBody>
      </p:sp>
      <p:sp>
        <p:nvSpPr>
          <p:cNvPr id="7" name="Rectangle 6"/>
          <p:cNvSpPr/>
          <p:nvPr/>
        </p:nvSpPr>
        <p:spPr>
          <a:xfrm>
            <a:off x="685800" y="5166360"/>
            <a:ext cx="822960" cy="36576"/>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685800" y="5349240"/>
            <a:ext cx="6035040" cy="640080"/>
          </a:xfrm>
          <a:prstGeom prst="rect">
            <a:avLst/>
          </a:prstGeom>
          <a:noFill/>
        </p:spPr>
        <p:txBody>
          <a:bodyPr wrap="square" lIns="0" rIns="0" tIns="0" bIns="0" anchor="t"/>
          <a:lstStyle/>
          <a:p>
            <a:pPr algn="l">
              <a:lnSpc>
                <a:spcPct val="115000"/>
              </a:lnSpc>
              <a:spcAft>
                <a:spcPts val="0"/>
              </a:spcAft>
            </a:pPr>
            <a:r>
              <a:rPr sz="1350" b="1" i="0">
                <a:solidFill>
                  <a:srgbClr val="FFFFFF"/>
                </a:solidFill>
                <a:latin typeface="Inter"/>
              </a:rPr>
              <a:t>Home of Founder OS</a:t>
            </a:r>
            <a:r>
              <a:rPr sz="1350" b="0" i="0">
                <a:solidFill>
                  <a:srgbClr val="B7C6DC"/>
                </a:solidFill>
                <a:latin typeface="Inter"/>
              </a:rPr>
              <a:t>  —  the digital workspace for the founder journey.</a:t>
            </a:r>
          </a:p>
        </p:txBody>
      </p:sp>
      <p:sp>
        <p:nvSpPr>
          <p:cNvPr id="9" name="TextBox 8"/>
          <p:cNvSpPr txBox="1"/>
          <p:nvPr/>
        </p:nvSpPr>
        <p:spPr>
          <a:xfrm>
            <a:off x="685800" y="6172200"/>
            <a:ext cx="3657600" cy="274320"/>
          </a:xfrm>
          <a:prstGeom prst="rect">
            <a:avLst/>
          </a:prstGeom>
          <a:noFill/>
        </p:spPr>
        <p:txBody>
          <a:bodyPr wrap="square" lIns="0" rIns="0" tIns="0" bIns="0" anchor="t"/>
          <a:lstStyle/>
          <a:p>
            <a:pPr algn="l">
              <a:lnSpc>
                <a:spcPct val="115000"/>
              </a:lnSpc>
              <a:spcAft>
                <a:spcPts val="0"/>
              </a:spcAft>
            </a:pPr>
            <a:r>
              <a:rPr sz="1200" b="1" i="0" spc="80">
                <a:solidFill>
                  <a:srgbClr val="4F8BE0"/>
                </a:solidFill>
                <a:latin typeface="Inter"/>
              </a:rPr>
              <a:t>startuproof.com</a:t>
            </a:r>
          </a:p>
        </p:txBody>
      </p:sp>
      <p:sp>
        <p:nvSpPr>
          <p:cNvPr id="10" name="Freeform 9"/>
          <p:cNvSpPr/>
          <p:nvPr/>
        </p:nvSpPr>
        <p:spPr>
          <a:xfrm>
            <a:off x="6858000" y="1143000"/>
            <a:ext cx="4983480" cy="1417320"/>
          </a:xfrm>
          <a:custGeom>
            <a:avLst/>
            <a:gdLst/>
            <a:ahLst/>
            <a:cxnLst/>
            <a:rect l="l" t="t" r="r" b="b"/>
            <a:pathLst>
              <a:path w="4983480" h="1417320">
                <a:moveTo>
                  <a:pt x="0" y="1417320"/>
                </a:moveTo>
                <a:lnTo>
                  <a:pt x="2491740" y="0"/>
                </a:lnTo>
                <a:lnTo>
                  <a:pt x="4983480" y="1417320"/>
                </a:lnTo>
              </a:path>
            </a:pathLst>
          </a:custGeom>
          <a:noFill/>
          <a:ln w="63500">
            <a:solidFill>
              <a:srgbClr val="FFFFFF"/>
            </a:solidFill>
          </a:ln>
          <a:effectLst/>
        </p:spPr>
        <p:txBody>
          <a:bodyPr rtlCol="0" anchor="ctr"/>
          <a:lstStyle/>
          <a:p>
            <a:pPr algn="ctr"/>
          </a:p>
        </p:txBody>
      </p:sp>
      <p:sp>
        <p:nvSpPr>
          <p:cNvPr id="11" name="Rectangle 10"/>
          <p:cNvSpPr/>
          <p:nvPr/>
        </p:nvSpPr>
        <p:spPr>
          <a:xfrm>
            <a:off x="7040880" y="2724911"/>
            <a:ext cx="4617720" cy="45720"/>
          </a:xfrm>
          <a:prstGeom prst="rect">
            <a:avLst/>
          </a:prstGeom>
          <a:solidFill>
            <a:srgbClr val="7F95B5"/>
          </a:solidFill>
          <a:ln>
            <a:noFill/>
          </a:ln>
          <a:effectLst/>
        </p:spPr>
        <p:txBody>
          <a:bodyPr rtlCol="0" anchor="ctr" lIns="73152" rIns="73152" tIns="36576" bIns="36576"/>
          <a:lstStyle/>
          <a:p>
            <a:pPr algn="ctr"/>
          </a:p>
        </p:txBody>
      </p:sp>
      <p:sp>
        <p:nvSpPr>
          <p:cNvPr id="12" name="Rectangle 11"/>
          <p:cNvSpPr/>
          <p:nvPr/>
        </p:nvSpPr>
        <p:spPr>
          <a:xfrm>
            <a:off x="7086600" y="2834639"/>
            <a:ext cx="896112" cy="2788920"/>
          </a:xfrm>
          <a:prstGeom prst="rect">
            <a:avLst/>
          </a:prstGeom>
          <a:solidFill>
            <a:srgbClr val="1A3358"/>
          </a:solidFill>
          <a:ln>
            <a:noFill/>
          </a:ln>
          <a:effectLst/>
        </p:spPr>
        <p:txBody>
          <a:bodyPr rtlCol="0" anchor="ctr" lIns="73152" rIns="73152" tIns="36576" bIns="36576"/>
          <a:lstStyle/>
          <a:p>
            <a:pPr algn="ctr"/>
          </a:p>
        </p:txBody>
      </p:sp>
      <p:sp>
        <p:nvSpPr>
          <p:cNvPr id="13" name="TextBox 12"/>
          <p:cNvSpPr txBox="1"/>
          <p:nvPr/>
        </p:nvSpPr>
        <p:spPr>
          <a:xfrm>
            <a:off x="7086600"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BUILD</a:t>
            </a:r>
          </a:p>
        </p:txBody>
      </p:sp>
      <p:sp>
        <p:nvSpPr>
          <p:cNvPr id="14" name="Rectangle 13"/>
          <p:cNvSpPr/>
          <p:nvPr/>
        </p:nvSpPr>
        <p:spPr>
          <a:xfrm>
            <a:off x="8296656" y="2834639"/>
            <a:ext cx="896112" cy="2788920"/>
          </a:xfrm>
          <a:prstGeom prst="rect">
            <a:avLst/>
          </a:prstGeom>
          <a:solidFill>
            <a:srgbClr val="1C3D6B"/>
          </a:solidFill>
          <a:ln>
            <a:noFill/>
          </a:ln>
          <a:effectLst/>
        </p:spPr>
        <p:txBody>
          <a:bodyPr rtlCol="0" anchor="ctr" lIns="73152" rIns="73152" tIns="36576" bIns="36576"/>
          <a:lstStyle/>
          <a:p>
            <a:pPr algn="ctr"/>
          </a:p>
        </p:txBody>
      </p:sp>
      <p:sp>
        <p:nvSpPr>
          <p:cNvPr id="15" name="TextBox 14"/>
          <p:cNvSpPr txBox="1"/>
          <p:nvPr/>
        </p:nvSpPr>
        <p:spPr>
          <a:xfrm>
            <a:off x="8296656"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LEARN</a:t>
            </a:r>
          </a:p>
        </p:txBody>
      </p:sp>
      <p:sp>
        <p:nvSpPr>
          <p:cNvPr id="16" name="Rectangle 15"/>
          <p:cNvSpPr/>
          <p:nvPr/>
        </p:nvSpPr>
        <p:spPr>
          <a:xfrm>
            <a:off x="9506712" y="2834639"/>
            <a:ext cx="896112" cy="2788920"/>
          </a:xfrm>
          <a:prstGeom prst="rect">
            <a:avLst/>
          </a:prstGeom>
          <a:solidFill>
            <a:srgbClr val="1F4A85"/>
          </a:solidFill>
          <a:ln>
            <a:noFill/>
          </a:ln>
          <a:effectLst/>
        </p:spPr>
        <p:txBody>
          <a:bodyPr rtlCol="0" anchor="ctr" lIns="73152" rIns="73152" tIns="36576" bIns="36576"/>
          <a:lstStyle/>
          <a:p>
            <a:pPr algn="ctr"/>
          </a:p>
        </p:txBody>
      </p:sp>
      <p:sp>
        <p:nvSpPr>
          <p:cNvPr id="17" name="TextBox 16"/>
          <p:cNvSpPr txBox="1"/>
          <p:nvPr/>
        </p:nvSpPr>
        <p:spPr>
          <a:xfrm>
            <a:off x="9506712"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CONNECT</a:t>
            </a:r>
          </a:p>
        </p:txBody>
      </p:sp>
      <p:sp>
        <p:nvSpPr>
          <p:cNvPr id="18" name="Rectangle 17"/>
          <p:cNvSpPr/>
          <p:nvPr/>
        </p:nvSpPr>
        <p:spPr>
          <a:xfrm>
            <a:off x="10716768" y="2834639"/>
            <a:ext cx="896112" cy="2788920"/>
          </a:xfrm>
          <a:prstGeom prst="rect">
            <a:avLst/>
          </a:prstGeom>
          <a:solidFill>
            <a:srgbClr val="1765D1"/>
          </a:solidFill>
          <a:ln>
            <a:noFill/>
          </a:ln>
          <a:effectLst/>
        </p:spPr>
        <p:txBody>
          <a:bodyPr rtlCol="0" anchor="ctr" lIns="73152" rIns="73152" tIns="36576" bIns="36576"/>
          <a:lstStyle/>
          <a:p>
            <a:pPr algn="ctr"/>
          </a:p>
        </p:txBody>
      </p:sp>
      <p:sp>
        <p:nvSpPr>
          <p:cNvPr id="19" name="TextBox 18"/>
          <p:cNvSpPr txBox="1"/>
          <p:nvPr/>
        </p:nvSpPr>
        <p:spPr>
          <a:xfrm>
            <a:off x="10716768" y="5760720"/>
            <a:ext cx="896112" cy="274320"/>
          </a:xfrm>
          <a:prstGeom prst="rect">
            <a:avLst/>
          </a:prstGeom>
          <a:noFill/>
        </p:spPr>
        <p:txBody>
          <a:bodyPr wrap="square" lIns="0" rIns="0" tIns="0" bIns="0" anchor="t"/>
          <a:lstStyle/>
          <a:p>
            <a:pPr algn="ctr">
              <a:lnSpc>
                <a:spcPct val="115000"/>
              </a:lnSpc>
              <a:spcAft>
                <a:spcPts val="0"/>
              </a:spcAft>
            </a:pPr>
            <a:r>
              <a:rPr sz="1000" b="1" i="0" spc="120">
                <a:solidFill>
                  <a:srgbClr val="FFFFFF"/>
                </a:solidFill>
                <a:latin typeface="Inter"/>
              </a:rPr>
              <a:t>GROW</a:t>
            </a:r>
          </a:p>
        </p:txBody>
      </p:sp>
      <p:sp>
        <p:nvSpPr>
          <p:cNvPr id="20" name="Rectangle 19"/>
          <p:cNvSpPr/>
          <p:nvPr/>
        </p:nvSpPr>
        <p:spPr>
          <a:xfrm>
            <a:off x="6858000" y="5623560"/>
            <a:ext cx="4983480" cy="27432"/>
          </a:xfrm>
          <a:prstGeom prst="rect">
            <a:avLst/>
          </a:prstGeom>
          <a:solidFill>
            <a:srgbClr val="7F95B5"/>
          </a:solidFill>
          <a:ln>
            <a:noFill/>
          </a:ln>
          <a:effectLst/>
        </p:spPr>
        <p:txBody>
          <a:bodyPr rtlCol="0" anchor="ctr" lIns="73152" rIns="73152" tIns="36576" bIns="36576"/>
          <a:lstStyle/>
          <a:p>
            <a:pPr algn="ctr"/>
          </a:p>
        </p:txBody>
      </p:sp>
      <p:sp>
        <p:nvSpPr>
          <p:cNvPr id="21" name="Rounded Rectangle 20"/>
          <p:cNvSpPr/>
          <p:nvPr/>
        </p:nvSpPr>
        <p:spPr>
          <a:xfrm>
            <a:off x="8846819" y="1993391"/>
            <a:ext cx="1005840" cy="384048"/>
          </a:xfrm>
          <a:prstGeom prst="roundRect">
            <a:avLst>
              <a:gd name="adj" fmla="val 50000"/>
            </a:avLst>
          </a:prstGeom>
          <a:solidFill>
            <a:srgbClr val="FFFFFF"/>
          </a:solidFill>
          <a:ln>
            <a:noFill/>
          </a:ln>
          <a:effectLst/>
        </p:spPr>
        <p:txBody>
          <a:bodyPr rtlCol="0" anchor="ctr" lIns="73152" rIns="73152" tIns="27432" bIns="27432" wrap="square"/>
          <a:lstStyle/>
          <a:p>
            <a:pPr algn="ctr">
              <a:lnSpc>
                <a:spcPct val="110000"/>
              </a:lnSpc>
              <a:spcAft>
                <a:spcPts val="0"/>
              </a:spcAft>
            </a:pPr>
            <a:r>
              <a:rPr sz="1000" b="1" i="0" spc="120">
                <a:solidFill>
                  <a:srgbClr val="10213B"/>
                </a:solidFill>
                <a:latin typeface="Inter"/>
              </a:rPr>
              <a:t>FOUNDER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02</a:t>
            </a:r>
            <a:r>
              <a:rPr sz="1000" b="1" i="0" spc="150">
                <a:solidFill>
                  <a:srgbClr val="1765D1"/>
                </a:solidFill>
                <a:latin typeface="Inter"/>
              </a:rPr>
              <a:t>   THE FOUNDER EXPERIENCE TODAY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3000" b="1" i="0">
                <a:solidFill>
                  <a:srgbClr val="10213B"/>
                </a:solidFill>
                <a:latin typeface="Inter"/>
              </a:rPr>
              <a:t>Founders need more than information.
They need a practical path forward.</a:t>
            </a:r>
          </a:p>
        </p:txBody>
      </p:sp>
      <p:sp>
        <p:nvSpPr>
          <p:cNvPr id="4" name="TextBox 3"/>
          <p:cNvSpPr txBox="1"/>
          <p:nvPr/>
        </p:nvSpPr>
        <p:spPr>
          <a:xfrm>
            <a:off x="594360" y="2148840"/>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01</a:t>
            </a:r>
          </a:p>
        </p:txBody>
      </p:sp>
      <p:sp>
        <p:nvSpPr>
          <p:cNvPr id="5" name="TextBox 4"/>
          <p:cNvSpPr txBox="1"/>
          <p:nvPr/>
        </p:nvSpPr>
        <p:spPr>
          <a:xfrm>
            <a:off x="1097280" y="2148840"/>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Information is scattered</a:t>
            </a:r>
          </a:p>
        </p:txBody>
      </p:sp>
      <p:sp>
        <p:nvSpPr>
          <p:cNvPr id="6" name="TextBox 5"/>
          <p:cNvSpPr txBox="1"/>
          <p:nvPr/>
        </p:nvSpPr>
        <p:spPr>
          <a:xfrm>
            <a:off x="1097280" y="2496312"/>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Guidance sits across many websites, groups and programmes — hard to compare, harder to act on.</a:t>
            </a:r>
          </a:p>
        </p:txBody>
      </p:sp>
      <p:cxnSp>
        <p:nvCxnSpPr>
          <p:cNvPr id="7" name="Connector 6"/>
          <p:cNvCxnSpPr/>
          <p:nvPr/>
        </p:nvCxnSpPr>
        <p:spPr>
          <a:xfrm>
            <a:off x="594360" y="2020824"/>
            <a:ext cx="3566160" cy="0"/>
          </a:xfrm>
          <a:prstGeom prst="line">
            <a:avLst/>
          </a:prstGeom>
          <a:ln w="9525">
            <a:solidFill>
              <a:srgbClr val="D5E2F3"/>
            </a:solidFill>
          </a:ln>
        </p:spPr>
      </p:cxnSp>
      <p:sp>
        <p:nvSpPr>
          <p:cNvPr id="8" name="TextBox 7"/>
          <p:cNvSpPr txBox="1"/>
          <p:nvPr/>
        </p:nvSpPr>
        <p:spPr>
          <a:xfrm>
            <a:off x="4389120" y="2148840"/>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02</a:t>
            </a:r>
          </a:p>
        </p:txBody>
      </p:sp>
      <p:sp>
        <p:nvSpPr>
          <p:cNvPr id="9" name="TextBox 8"/>
          <p:cNvSpPr txBox="1"/>
          <p:nvPr/>
        </p:nvSpPr>
        <p:spPr>
          <a:xfrm>
            <a:off x="4892040" y="2148840"/>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Tools do not connect</a:t>
            </a:r>
          </a:p>
        </p:txBody>
      </p:sp>
      <p:sp>
        <p:nvSpPr>
          <p:cNvPr id="10" name="TextBox 9"/>
          <p:cNvSpPr txBox="1"/>
          <p:nvPr/>
        </p:nvSpPr>
        <p:spPr>
          <a:xfrm>
            <a:off x="4892040" y="2496312"/>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Plans, tasks, documents and contacts live in separate apps with no shared picture of progress.</a:t>
            </a:r>
          </a:p>
        </p:txBody>
      </p:sp>
      <p:cxnSp>
        <p:nvCxnSpPr>
          <p:cNvPr id="11" name="Connector 10"/>
          <p:cNvCxnSpPr/>
          <p:nvPr/>
        </p:nvCxnSpPr>
        <p:spPr>
          <a:xfrm>
            <a:off x="4389120" y="2020824"/>
            <a:ext cx="3566160" cy="0"/>
          </a:xfrm>
          <a:prstGeom prst="line">
            <a:avLst/>
          </a:prstGeom>
          <a:ln w="9525">
            <a:solidFill>
              <a:srgbClr val="D5E2F3"/>
            </a:solidFill>
          </a:ln>
        </p:spPr>
      </p:cxnSp>
      <p:sp>
        <p:nvSpPr>
          <p:cNvPr id="12" name="TextBox 11"/>
          <p:cNvSpPr txBox="1"/>
          <p:nvPr/>
        </p:nvSpPr>
        <p:spPr>
          <a:xfrm>
            <a:off x="594360" y="3447288"/>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03</a:t>
            </a:r>
          </a:p>
        </p:txBody>
      </p:sp>
      <p:sp>
        <p:nvSpPr>
          <p:cNvPr id="13" name="TextBox 12"/>
          <p:cNvSpPr txBox="1"/>
          <p:nvPr/>
        </p:nvSpPr>
        <p:spPr>
          <a:xfrm>
            <a:off x="1097280" y="3447288"/>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Advice lacks a next step</a:t>
            </a:r>
          </a:p>
        </p:txBody>
      </p:sp>
      <p:sp>
        <p:nvSpPr>
          <p:cNvPr id="14" name="TextBox 13"/>
          <p:cNvSpPr txBox="1"/>
          <p:nvPr/>
        </p:nvSpPr>
        <p:spPr>
          <a:xfrm>
            <a:off x="1097280" y="3794760"/>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General advice rarely translates into “what should I do this week?”</a:t>
            </a:r>
          </a:p>
        </p:txBody>
      </p:sp>
      <p:cxnSp>
        <p:nvCxnSpPr>
          <p:cNvPr id="15" name="Connector 14"/>
          <p:cNvCxnSpPr/>
          <p:nvPr/>
        </p:nvCxnSpPr>
        <p:spPr>
          <a:xfrm>
            <a:off x="594360" y="3319272"/>
            <a:ext cx="3566160" cy="0"/>
          </a:xfrm>
          <a:prstGeom prst="line">
            <a:avLst/>
          </a:prstGeom>
          <a:ln w="9525">
            <a:solidFill>
              <a:srgbClr val="D5E2F3"/>
            </a:solidFill>
          </a:ln>
        </p:spPr>
      </p:cxnSp>
      <p:sp>
        <p:nvSpPr>
          <p:cNvPr id="16" name="TextBox 15"/>
          <p:cNvSpPr txBox="1"/>
          <p:nvPr/>
        </p:nvSpPr>
        <p:spPr>
          <a:xfrm>
            <a:off x="4389120" y="3447288"/>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04</a:t>
            </a:r>
          </a:p>
        </p:txBody>
      </p:sp>
      <p:sp>
        <p:nvSpPr>
          <p:cNvPr id="17" name="TextBox 16"/>
          <p:cNvSpPr txBox="1"/>
          <p:nvPr/>
        </p:nvSpPr>
        <p:spPr>
          <a:xfrm>
            <a:off x="4892040" y="3447288"/>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The right people are hard to find</a:t>
            </a:r>
          </a:p>
        </p:txBody>
      </p:sp>
      <p:sp>
        <p:nvSpPr>
          <p:cNvPr id="18" name="TextBox 17"/>
          <p:cNvSpPr txBox="1"/>
          <p:nvPr/>
        </p:nvSpPr>
        <p:spPr>
          <a:xfrm>
            <a:off x="4892040" y="3794760"/>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Relevant mentors and specialists are often reached by chance, not by fit.</a:t>
            </a:r>
          </a:p>
        </p:txBody>
      </p:sp>
      <p:cxnSp>
        <p:nvCxnSpPr>
          <p:cNvPr id="19" name="Connector 18"/>
          <p:cNvCxnSpPr/>
          <p:nvPr/>
        </p:nvCxnSpPr>
        <p:spPr>
          <a:xfrm>
            <a:off x="4389120" y="3319272"/>
            <a:ext cx="3566160" cy="0"/>
          </a:xfrm>
          <a:prstGeom prst="line">
            <a:avLst/>
          </a:prstGeom>
          <a:ln w="9525">
            <a:solidFill>
              <a:srgbClr val="D5E2F3"/>
            </a:solidFill>
          </a:ln>
        </p:spPr>
      </p:cxnSp>
      <p:sp>
        <p:nvSpPr>
          <p:cNvPr id="20" name="TextBox 19"/>
          <p:cNvSpPr txBox="1"/>
          <p:nvPr/>
        </p:nvSpPr>
        <p:spPr>
          <a:xfrm>
            <a:off x="594360" y="4745736"/>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05</a:t>
            </a:r>
          </a:p>
        </p:txBody>
      </p:sp>
      <p:sp>
        <p:nvSpPr>
          <p:cNvPr id="21" name="TextBox 20"/>
          <p:cNvSpPr txBox="1"/>
          <p:nvPr/>
        </p:nvSpPr>
        <p:spPr>
          <a:xfrm>
            <a:off x="1097280" y="4745736"/>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Introductions go nowhere</a:t>
            </a:r>
          </a:p>
        </p:txBody>
      </p:sp>
      <p:sp>
        <p:nvSpPr>
          <p:cNvPr id="22" name="TextBox 21"/>
          <p:cNvSpPr txBox="1"/>
          <p:nvPr/>
        </p:nvSpPr>
        <p:spPr>
          <a:xfrm>
            <a:off x="1097280" y="5093207"/>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Connections are made, but few lead to a conversation with a useful outcome.</a:t>
            </a:r>
          </a:p>
        </p:txBody>
      </p:sp>
      <p:cxnSp>
        <p:nvCxnSpPr>
          <p:cNvPr id="23" name="Connector 22"/>
          <p:cNvCxnSpPr/>
          <p:nvPr/>
        </p:nvCxnSpPr>
        <p:spPr>
          <a:xfrm>
            <a:off x="594360" y="4617720"/>
            <a:ext cx="3566160" cy="0"/>
          </a:xfrm>
          <a:prstGeom prst="line">
            <a:avLst/>
          </a:prstGeom>
          <a:ln w="9525">
            <a:solidFill>
              <a:srgbClr val="D5E2F3"/>
            </a:solidFill>
          </a:ln>
        </p:spPr>
      </p:cxnSp>
      <p:sp>
        <p:nvSpPr>
          <p:cNvPr id="24" name="TextBox 23"/>
          <p:cNvSpPr txBox="1"/>
          <p:nvPr/>
        </p:nvSpPr>
        <p:spPr>
          <a:xfrm>
            <a:off x="4389120" y="4745736"/>
            <a:ext cx="457200" cy="365760"/>
          </a:xfrm>
          <a:prstGeom prst="rect">
            <a:avLst/>
          </a:prstGeom>
          <a:noFill/>
        </p:spPr>
        <p:txBody>
          <a:bodyPr wrap="square" lIns="0" rIns="0" tIns="0" bIns="0" anchor="t"/>
          <a:lstStyle/>
          <a:p>
            <a:pPr algn="l">
              <a:lnSpc>
                <a:spcPct val="115000"/>
              </a:lnSpc>
              <a:spcAft>
                <a:spcPts val="0"/>
              </a:spcAft>
            </a:pPr>
            <a:r>
              <a:rPr sz="1300" b="1" i="0">
                <a:solidFill>
                  <a:srgbClr val="1765D1"/>
                </a:solidFill>
                <a:latin typeface="Inter"/>
              </a:rPr>
              <a:t>06</a:t>
            </a:r>
          </a:p>
        </p:txBody>
      </p:sp>
      <p:sp>
        <p:nvSpPr>
          <p:cNvPr id="25" name="TextBox 24"/>
          <p:cNvSpPr txBox="1"/>
          <p:nvPr/>
        </p:nvSpPr>
        <p:spPr>
          <a:xfrm>
            <a:off x="4892040" y="4745736"/>
            <a:ext cx="3108960" cy="320040"/>
          </a:xfrm>
          <a:prstGeom prst="rect">
            <a:avLst/>
          </a:prstGeom>
          <a:noFill/>
        </p:spPr>
        <p:txBody>
          <a:bodyPr wrap="square" lIns="0" rIns="0" tIns="0" bIns="0" anchor="t"/>
          <a:lstStyle/>
          <a:p>
            <a:pPr algn="l">
              <a:lnSpc>
                <a:spcPct val="115000"/>
              </a:lnSpc>
              <a:spcAft>
                <a:spcPts val="0"/>
              </a:spcAft>
            </a:pPr>
            <a:r>
              <a:rPr sz="1450" b="1" i="0">
                <a:solidFill>
                  <a:srgbClr val="10213B"/>
                </a:solidFill>
                <a:latin typeface="Inter"/>
              </a:rPr>
              <a:t>Time and money are limited</a:t>
            </a:r>
          </a:p>
        </p:txBody>
      </p:sp>
      <p:sp>
        <p:nvSpPr>
          <p:cNvPr id="26" name="TextBox 25"/>
          <p:cNvSpPr txBox="1"/>
          <p:nvPr/>
        </p:nvSpPr>
        <p:spPr>
          <a:xfrm>
            <a:off x="4892040" y="5093207"/>
            <a:ext cx="3063240" cy="822960"/>
          </a:xfrm>
          <a:prstGeom prst="rect">
            <a:avLst/>
          </a:prstGeom>
          <a:noFill/>
        </p:spPr>
        <p:txBody>
          <a:bodyPr wrap="square" lIns="0" rIns="0" tIns="0" bIns="0" anchor="t"/>
          <a:lstStyle/>
          <a:p>
            <a:pPr algn="l">
              <a:lnSpc>
                <a:spcPct val="120000"/>
              </a:lnSpc>
              <a:spcAft>
                <a:spcPts val="0"/>
              </a:spcAft>
            </a:pPr>
            <a:r>
              <a:rPr sz="1150" b="0" i="0">
                <a:solidFill>
                  <a:srgbClr val="61738A"/>
                </a:solidFill>
                <a:latin typeface="Inter"/>
              </a:rPr>
              <a:t>Founders must choose carefully where to spend scarce hours and budget.</a:t>
            </a:r>
          </a:p>
        </p:txBody>
      </p:sp>
      <p:cxnSp>
        <p:nvCxnSpPr>
          <p:cNvPr id="27" name="Connector 26"/>
          <p:cNvCxnSpPr/>
          <p:nvPr/>
        </p:nvCxnSpPr>
        <p:spPr>
          <a:xfrm>
            <a:off x="4389120" y="4617720"/>
            <a:ext cx="3566160" cy="0"/>
          </a:xfrm>
          <a:prstGeom prst="line">
            <a:avLst/>
          </a:prstGeom>
          <a:ln w="9525">
            <a:solidFill>
              <a:srgbClr val="D5E2F3"/>
            </a:solidFill>
          </a:ln>
        </p:spPr>
      </p:cxnSp>
      <p:sp>
        <p:nvSpPr>
          <p:cNvPr id="28" name="Rectangle 27"/>
          <p:cNvSpPr/>
          <p:nvPr/>
        </p:nvSpPr>
        <p:spPr>
          <a:xfrm>
            <a:off x="8366760" y="2011680"/>
            <a:ext cx="3246120" cy="4069080"/>
          </a:xfrm>
          <a:prstGeom prst="rect">
            <a:avLst/>
          </a:prstGeom>
          <a:solidFill>
            <a:srgbClr val="10213B"/>
          </a:solidFill>
          <a:ln>
            <a:noFill/>
          </a:ln>
          <a:effectLst/>
        </p:spPr>
        <p:txBody>
          <a:bodyPr rtlCol="0" anchor="ctr" lIns="73152" rIns="73152" tIns="36576" bIns="36576"/>
          <a:lstStyle/>
          <a:p>
            <a:pPr algn="ctr"/>
          </a:p>
        </p:txBody>
      </p:sp>
      <p:sp>
        <p:nvSpPr>
          <p:cNvPr id="29" name="TextBox 28"/>
          <p:cNvSpPr txBox="1"/>
          <p:nvPr/>
        </p:nvSpPr>
        <p:spPr>
          <a:xfrm>
            <a:off x="8641080" y="2267712"/>
            <a:ext cx="2743200" cy="274320"/>
          </a:xfrm>
          <a:prstGeom prst="rect">
            <a:avLst/>
          </a:prstGeom>
          <a:noFill/>
        </p:spPr>
        <p:txBody>
          <a:bodyPr wrap="square" lIns="0" rIns="0" tIns="0" bIns="0" anchor="t"/>
          <a:lstStyle/>
          <a:p>
            <a:pPr algn="l">
              <a:lnSpc>
                <a:spcPct val="115000"/>
              </a:lnSpc>
              <a:spcAft>
                <a:spcPts val="0"/>
              </a:spcAft>
            </a:pPr>
            <a:r>
              <a:rPr sz="950" b="1" i="0" spc="120">
                <a:solidFill>
                  <a:srgbClr val="4F8BE0"/>
                </a:solidFill>
                <a:latin typeface="Inter"/>
              </a:rPr>
              <a:t>WHAT WE WILL INVESTIGATE</a:t>
            </a:r>
          </a:p>
        </p:txBody>
      </p:sp>
      <p:sp>
        <p:nvSpPr>
          <p:cNvPr id="30" name="TextBox 29"/>
          <p:cNvSpPr txBox="1"/>
          <p:nvPr/>
        </p:nvSpPr>
        <p:spPr>
          <a:xfrm>
            <a:off x="8641080" y="2633472"/>
            <a:ext cx="2743200" cy="2011680"/>
          </a:xfrm>
          <a:prstGeom prst="rect">
            <a:avLst/>
          </a:prstGeom>
          <a:noFill/>
        </p:spPr>
        <p:txBody>
          <a:bodyPr wrap="square" lIns="0" rIns="0" tIns="0" bIns="0" anchor="t"/>
          <a:lstStyle/>
          <a:p>
            <a:pPr algn="l">
              <a:lnSpc>
                <a:spcPct val="120000"/>
              </a:lnSpc>
              <a:spcAft>
                <a:spcPts val="0"/>
              </a:spcAft>
            </a:pPr>
            <a:r>
              <a:rPr sz="1550" b="1" i="0">
                <a:solidFill>
                  <a:srgbClr val="FFFFFF"/>
                </a:solidFill>
                <a:latin typeface="Inter"/>
              </a:rPr>
              <a:t>Our working view is that founders move faster when guidance, tools and people are connected to a clear next step.</a:t>
            </a:r>
          </a:p>
        </p:txBody>
      </p:sp>
      <p:sp>
        <p:nvSpPr>
          <p:cNvPr id="31" name="TextBox 30"/>
          <p:cNvSpPr txBox="1"/>
          <p:nvPr/>
        </p:nvSpPr>
        <p:spPr>
          <a:xfrm>
            <a:off x="8641080" y="4617720"/>
            <a:ext cx="2743200" cy="1280160"/>
          </a:xfrm>
          <a:prstGeom prst="rect">
            <a:avLst/>
          </a:prstGeom>
          <a:noFill/>
        </p:spPr>
        <p:txBody>
          <a:bodyPr wrap="square" lIns="0" rIns="0" tIns="0" bIns="0" anchor="t"/>
          <a:lstStyle/>
          <a:p>
            <a:pPr algn="l">
              <a:lnSpc>
                <a:spcPct val="125000"/>
              </a:lnSpc>
              <a:spcAft>
                <a:spcPts val="0"/>
              </a:spcAft>
            </a:pPr>
            <a:r>
              <a:rPr sz="1150" b="0" i="0">
                <a:solidFill>
                  <a:srgbClr val="C9D6E8"/>
                </a:solidFill>
                <a:latin typeface="Inter"/>
              </a:rPr>
              <a:t>The pilot will test this directly with founders — through interviews, sessions and follow-up — before we scale anything.</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03</a:t>
            </a:r>
            <a:r>
              <a:rPr sz="1000" b="1" i="0" spc="150">
                <a:solidFill>
                  <a:srgbClr val="1765D1"/>
                </a:solidFill>
                <a:latin typeface="Inter"/>
              </a:rPr>
              <a:t>   WHAT STARTUP ROOF IS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One ecosystem around the founder.</a:t>
            </a:r>
          </a:p>
        </p:txBody>
      </p:sp>
      <p:sp>
        <p:nvSpPr>
          <p:cNvPr id="4" name="Oval 3"/>
          <p:cNvSpPr/>
          <p:nvPr/>
        </p:nvSpPr>
        <p:spPr>
          <a:xfrm>
            <a:off x="1463040" y="2103120"/>
            <a:ext cx="3931920" cy="3931920"/>
          </a:xfrm>
          <a:prstGeom prst="ellipse">
            <a:avLst/>
          </a:prstGeom>
          <a:solidFill>
            <a:srgbClr val="EDF4FE"/>
          </a:solidFill>
          <a:ln>
            <a:noFill/>
          </a:ln>
          <a:effectLst/>
        </p:spPr>
        <p:txBody>
          <a:bodyPr rtlCol="0" anchor="ctr" lIns="73152" rIns="73152" tIns="36576" bIns="36576"/>
          <a:lstStyle/>
          <a:p>
            <a:pPr algn="ctr"/>
          </a:p>
        </p:txBody>
      </p:sp>
      <p:sp>
        <p:nvSpPr>
          <p:cNvPr id="5" name="Oval 4"/>
          <p:cNvSpPr/>
          <p:nvPr/>
        </p:nvSpPr>
        <p:spPr>
          <a:xfrm>
            <a:off x="2167128" y="2807208"/>
            <a:ext cx="2523744" cy="2523744"/>
          </a:xfrm>
          <a:prstGeom prst="ellipse">
            <a:avLst/>
          </a:prstGeom>
          <a:noFill/>
          <a:ln w="12700">
            <a:solidFill>
              <a:srgbClr val="B8CFEE"/>
            </a:solidFill>
          </a:ln>
          <a:effectLst/>
        </p:spPr>
        <p:txBody>
          <a:bodyPr rtlCol="0" anchor="ctr" lIns="73152" rIns="73152" tIns="36576" bIns="36576"/>
          <a:lstStyle/>
          <a:p>
            <a:pPr algn="ctr"/>
          </a:p>
        </p:txBody>
      </p:sp>
      <p:sp>
        <p:nvSpPr>
          <p:cNvPr id="6" name="Oval 5"/>
          <p:cNvSpPr/>
          <p:nvPr/>
        </p:nvSpPr>
        <p:spPr>
          <a:xfrm>
            <a:off x="2770632" y="3410712"/>
            <a:ext cx="1316736" cy="1316736"/>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Founder</a:t>
            </a:r>
          </a:p>
        </p:txBody>
      </p:sp>
      <p:sp>
        <p:nvSpPr>
          <p:cNvPr id="7" name="Rounded Rectangle 6"/>
          <p:cNvSpPr/>
          <p:nvPr/>
        </p:nvSpPr>
        <p:spPr>
          <a:xfrm>
            <a:off x="2770632" y="2587752"/>
            <a:ext cx="1316736" cy="438912"/>
          </a:xfrm>
          <a:prstGeom prst="roundRect">
            <a:avLst>
              <a:gd name="adj" fmla="val 50000"/>
            </a:avLst>
          </a:prstGeom>
          <a:solidFill>
            <a:srgbClr val="FFFFFF"/>
          </a:solidFill>
          <a:ln w="9525">
            <a:solidFill>
              <a:srgbClr val="B8CFEE"/>
            </a:solidFill>
          </a:ln>
          <a:effectLst/>
        </p:spPr>
        <p:txBody>
          <a:bodyPr rtlCol="0" anchor="ctr" lIns="73152" rIns="73152" tIns="27432" bIns="27432" wrap="square"/>
          <a:lstStyle/>
          <a:p>
            <a:pPr algn="ctr">
              <a:lnSpc>
                <a:spcPct val="110000"/>
              </a:lnSpc>
              <a:spcAft>
                <a:spcPts val="0"/>
              </a:spcAft>
            </a:pPr>
            <a:r>
              <a:rPr sz="1150" b="1" i="0">
                <a:solidFill>
                  <a:srgbClr val="10213B"/>
                </a:solidFill>
                <a:latin typeface="Inter"/>
              </a:rPr>
              <a:t>Community</a:t>
            </a:r>
          </a:p>
        </p:txBody>
      </p:sp>
      <p:sp>
        <p:nvSpPr>
          <p:cNvPr id="8" name="Rounded Rectangle 7"/>
          <p:cNvSpPr/>
          <p:nvPr/>
        </p:nvSpPr>
        <p:spPr>
          <a:xfrm>
            <a:off x="4032504" y="3849624"/>
            <a:ext cx="1316736" cy="438912"/>
          </a:xfrm>
          <a:prstGeom prst="roundRect">
            <a:avLst>
              <a:gd name="adj" fmla="val 50000"/>
            </a:avLst>
          </a:prstGeom>
          <a:solidFill>
            <a:srgbClr val="FFFFFF"/>
          </a:solidFill>
          <a:ln w="9525">
            <a:solidFill>
              <a:srgbClr val="B8CFEE"/>
            </a:solidFill>
          </a:ln>
          <a:effectLst/>
        </p:spPr>
        <p:txBody>
          <a:bodyPr rtlCol="0" anchor="ctr" lIns="73152" rIns="73152" tIns="27432" bIns="27432" wrap="square"/>
          <a:lstStyle/>
          <a:p>
            <a:pPr algn="ctr">
              <a:lnSpc>
                <a:spcPct val="110000"/>
              </a:lnSpc>
              <a:spcAft>
                <a:spcPts val="0"/>
              </a:spcAft>
            </a:pPr>
            <a:r>
              <a:rPr sz="1150" b="1" i="0">
                <a:solidFill>
                  <a:srgbClr val="10213B"/>
                </a:solidFill>
                <a:latin typeface="Inter"/>
              </a:rPr>
              <a:t>Programmes</a:t>
            </a:r>
          </a:p>
        </p:txBody>
      </p:sp>
      <p:sp>
        <p:nvSpPr>
          <p:cNvPr id="9" name="Rounded Rectangle 8"/>
          <p:cNvSpPr/>
          <p:nvPr/>
        </p:nvSpPr>
        <p:spPr>
          <a:xfrm>
            <a:off x="2770632" y="5111496"/>
            <a:ext cx="1316736" cy="438912"/>
          </a:xfrm>
          <a:prstGeom prst="roundRect">
            <a:avLst>
              <a:gd name="adj" fmla="val 50000"/>
            </a:avLst>
          </a:prstGeom>
          <a:solidFill>
            <a:srgbClr val="FFFFFF"/>
          </a:solidFill>
          <a:ln w="9525">
            <a:solidFill>
              <a:srgbClr val="B8CFEE"/>
            </a:solidFill>
          </a:ln>
          <a:effectLst/>
        </p:spPr>
        <p:txBody>
          <a:bodyPr rtlCol="0" anchor="ctr" lIns="73152" rIns="73152" tIns="27432" bIns="27432" wrap="square"/>
          <a:lstStyle/>
          <a:p>
            <a:pPr algn="ctr">
              <a:lnSpc>
                <a:spcPct val="110000"/>
              </a:lnSpc>
              <a:spcAft>
                <a:spcPts val="0"/>
              </a:spcAft>
            </a:pPr>
            <a:r>
              <a:rPr sz="1150" b="1" i="0">
                <a:solidFill>
                  <a:srgbClr val="10213B"/>
                </a:solidFill>
                <a:latin typeface="Inter"/>
              </a:rPr>
              <a:t>Services</a:t>
            </a:r>
          </a:p>
        </p:txBody>
      </p:sp>
      <p:sp>
        <p:nvSpPr>
          <p:cNvPr id="10" name="Rounded Rectangle 9"/>
          <p:cNvSpPr/>
          <p:nvPr/>
        </p:nvSpPr>
        <p:spPr>
          <a:xfrm>
            <a:off x="1508760" y="3849624"/>
            <a:ext cx="1316736" cy="438912"/>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Founder OS</a:t>
            </a:r>
          </a:p>
        </p:txBody>
      </p:sp>
      <p:sp>
        <p:nvSpPr>
          <p:cNvPr id="11" name="TextBox 10"/>
          <p:cNvSpPr txBox="1"/>
          <p:nvPr/>
        </p:nvSpPr>
        <p:spPr>
          <a:xfrm>
            <a:off x="1965960" y="1755648"/>
            <a:ext cx="2926080" cy="274320"/>
          </a:xfrm>
          <a:prstGeom prst="rect">
            <a:avLst/>
          </a:prstGeom>
          <a:noFill/>
        </p:spPr>
        <p:txBody>
          <a:bodyPr wrap="square" lIns="0" rIns="0" tIns="0" bIns="0" anchor="t"/>
          <a:lstStyle/>
          <a:p>
            <a:pPr algn="ctr">
              <a:lnSpc>
                <a:spcPct val="115000"/>
              </a:lnSpc>
              <a:spcAft>
                <a:spcPts val="0"/>
              </a:spcAft>
            </a:pPr>
            <a:r>
              <a:rPr sz="850" b="1" i="0" spc="120">
                <a:solidFill>
                  <a:srgbClr val="1765D1"/>
                </a:solidFill>
                <a:latin typeface="Inter"/>
              </a:rPr>
              <a:t>THE STARTUP ROOF ECOSYSTEM</a:t>
            </a:r>
          </a:p>
        </p:txBody>
      </p:sp>
      <p:sp>
        <p:nvSpPr>
          <p:cNvPr id="12" name="Rectangle 11"/>
          <p:cNvSpPr/>
          <p:nvPr/>
        </p:nvSpPr>
        <p:spPr>
          <a:xfrm>
            <a:off x="6263640" y="2011680"/>
            <a:ext cx="54864" cy="1417320"/>
          </a:xfrm>
          <a:prstGeom prst="rect">
            <a:avLst/>
          </a:prstGeom>
          <a:solidFill>
            <a:srgbClr val="10213B"/>
          </a:solidFill>
          <a:ln>
            <a:noFill/>
          </a:ln>
          <a:effectLst/>
        </p:spPr>
        <p:txBody>
          <a:bodyPr rtlCol="0" anchor="ctr" lIns="73152" rIns="73152" tIns="36576" bIns="36576"/>
          <a:lstStyle/>
          <a:p>
            <a:pPr algn="ctr"/>
          </a:p>
        </p:txBody>
      </p:sp>
      <p:sp>
        <p:nvSpPr>
          <p:cNvPr id="13" name="TextBox 12"/>
          <p:cNvSpPr txBox="1"/>
          <p:nvPr/>
        </p:nvSpPr>
        <p:spPr>
          <a:xfrm>
            <a:off x="6537959" y="1993392"/>
            <a:ext cx="5120640" cy="320040"/>
          </a:xfrm>
          <a:prstGeom prst="rect">
            <a:avLst/>
          </a:prstGeom>
          <a:noFill/>
        </p:spPr>
        <p:txBody>
          <a:bodyPr wrap="square" lIns="0" rIns="0" tIns="0" bIns="0" anchor="t"/>
          <a:lstStyle/>
          <a:p>
            <a:pPr algn="l">
              <a:lnSpc>
                <a:spcPct val="115000"/>
              </a:lnSpc>
              <a:spcAft>
                <a:spcPts val="0"/>
              </a:spcAft>
            </a:pPr>
            <a:r>
              <a:rPr sz="1300" b="1" i="0" spc="120">
                <a:solidFill>
                  <a:srgbClr val="10213B"/>
                </a:solidFill>
                <a:latin typeface="Inter"/>
              </a:rPr>
              <a:t>STARTUP ROOF</a:t>
            </a:r>
            <a:r>
              <a:rPr sz="1300" b="0" i="0">
                <a:solidFill>
                  <a:srgbClr val="61738A"/>
                </a:solidFill>
                <a:latin typeface="Inter"/>
              </a:rPr>
              <a:t>  =  the wider ecosystem</a:t>
            </a:r>
          </a:p>
        </p:txBody>
      </p:sp>
      <p:sp>
        <p:nvSpPr>
          <p:cNvPr id="14" name="TextBox 13"/>
          <p:cNvSpPr txBox="1"/>
          <p:nvPr/>
        </p:nvSpPr>
        <p:spPr>
          <a:xfrm>
            <a:off x="6537959" y="2377440"/>
            <a:ext cx="5120640" cy="1097280"/>
          </a:xfrm>
          <a:prstGeom prst="rect">
            <a:avLst/>
          </a:prstGeom>
          <a:noFill/>
        </p:spPr>
        <p:txBody>
          <a:bodyPr wrap="square" lIns="0" rIns="0" tIns="0" bIns="0" anchor="t"/>
          <a:lstStyle/>
          <a:p>
            <a:pPr algn="l">
              <a:lnSpc>
                <a:spcPct val="125000"/>
              </a:lnSpc>
              <a:spcAft>
                <a:spcPts val="0"/>
              </a:spcAft>
            </a:pPr>
            <a:r>
              <a:rPr sz="1300" b="0" i="0">
                <a:solidFill>
                  <a:srgbClr val="253650"/>
                </a:solidFill>
                <a:latin typeface="Inter"/>
              </a:rPr>
              <a:t>The community, programmes, relationships and services that surround a founder all year — online and in person.</a:t>
            </a:r>
          </a:p>
        </p:txBody>
      </p:sp>
      <p:sp>
        <p:nvSpPr>
          <p:cNvPr id="15" name="Rectangle 14"/>
          <p:cNvSpPr/>
          <p:nvPr/>
        </p:nvSpPr>
        <p:spPr>
          <a:xfrm>
            <a:off x="6263640" y="3639312"/>
            <a:ext cx="54864" cy="1417320"/>
          </a:xfrm>
          <a:prstGeom prst="rect">
            <a:avLst/>
          </a:prstGeom>
          <a:solidFill>
            <a:srgbClr val="1765D1"/>
          </a:solidFill>
          <a:ln>
            <a:noFill/>
          </a:ln>
          <a:effectLst/>
        </p:spPr>
        <p:txBody>
          <a:bodyPr rtlCol="0" anchor="ctr" lIns="73152" rIns="73152" tIns="36576" bIns="36576"/>
          <a:lstStyle/>
          <a:p>
            <a:pPr algn="ctr"/>
          </a:p>
        </p:txBody>
      </p:sp>
      <p:sp>
        <p:nvSpPr>
          <p:cNvPr id="16" name="TextBox 15"/>
          <p:cNvSpPr txBox="1"/>
          <p:nvPr/>
        </p:nvSpPr>
        <p:spPr>
          <a:xfrm>
            <a:off x="6537959" y="3621024"/>
            <a:ext cx="5120640" cy="320040"/>
          </a:xfrm>
          <a:prstGeom prst="rect">
            <a:avLst/>
          </a:prstGeom>
          <a:noFill/>
        </p:spPr>
        <p:txBody>
          <a:bodyPr wrap="square" lIns="0" rIns="0" tIns="0" bIns="0" anchor="t"/>
          <a:lstStyle/>
          <a:p>
            <a:pPr algn="l">
              <a:lnSpc>
                <a:spcPct val="115000"/>
              </a:lnSpc>
              <a:spcAft>
                <a:spcPts val="0"/>
              </a:spcAft>
            </a:pPr>
            <a:r>
              <a:rPr sz="1300" b="1" i="0" spc="120">
                <a:solidFill>
                  <a:srgbClr val="1765D1"/>
                </a:solidFill>
                <a:latin typeface="Inter"/>
              </a:rPr>
              <a:t>FOUNDER OS</a:t>
            </a:r>
            <a:r>
              <a:rPr sz="1300" b="0" i="0">
                <a:solidFill>
                  <a:srgbClr val="61738A"/>
                </a:solidFill>
                <a:latin typeface="Inter"/>
              </a:rPr>
              <a:t>  =  the digital workspace</a:t>
            </a:r>
          </a:p>
        </p:txBody>
      </p:sp>
      <p:sp>
        <p:nvSpPr>
          <p:cNvPr id="17" name="TextBox 16"/>
          <p:cNvSpPr txBox="1"/>
          <p:nvPr/>
        </p:nvSpPr>
        <p:spPr>
          <a:xfrm>
            <a:off x="6537959" y="4005072"/>
            <a:ext cx="5120640" cy="1097280"/>
          </a:xfrm>
          <a:prstGeom prst="rect">
            <a:avLst/>
          </a:prstGeom>
          <a:noFill/>
        </p:spPr>
        <p:txBody>
          <a:bodyPr wrap="square" lIns="0" rIns="0" tIns="0" bIns="0" anchor="t"/>
          <a:lstStyle/>
          <a:p>
            <a:pPr algn="l">
              <a:lnSpc>
                <a:spcPct val="125000"/>
              </a:lnSpc>
              <a:spcAft>
                <a:spcPts val="0"/>
              </a:spcAft>
            </a:pPr>
            <a:r>
              <a:rPr sz="1300" b="0" i="0">
                <a:solidFill>
                  <a:srgbClr val="253650"/>
                </a:solidFill>
                <a:latin typeface="Inter"/>
              </a:rPr>
              <a:t>The guided online experience inside the ecosystem: a founder’s profile, goals, next steps, resources and connections in one place.</a:t>
            </a:r>
          </a:p>
        </p:txBody>
      </p:sp>
      <p:sp>
        <p:nvSpPr>
          <p:cNvPr id="18" name="TextBox 17"/>
          <p:cNvSpPr txBox="1"/>
          <p:nvPr/>
        </p:nvSpPr>
        <p:spPr>
          <a:xfrm>
            <a:off x="6263640" y="5349240"/>
            <a:ext cx="5394960" cy="822960"/>
          </a:xfrm>
          <a:prstGeom prst="rect">
            <a:avLst/>
          </a:prstGeom>
          <a:noFill/>
        </p:spPr>
        <p:txBody>
          <a:bodyPr wrap="square" lIns="0" rIns="0" tIns="0" bIns="0" anchor="t"/>
          <a:lstStyle/>
          <a:p>
            <a:pPr algn="l">
              <a:lnSpc>
                <a:spcPct val="125000"/>
              </a:lnSpc>
              <a:spcAft>
                <a:spcPts val="0"/>
              </a:spcAft>
            </a:pPr>
            <a:r>
              <a:rPr sz="1350" b="1" i="0">
                <a:solidFill>
                  <a:srgbClr val="10213B"/>
                </a:solidFill>
                <a:latin typeface="Inter"/>
              </a:rPr>
              <a:t>In short: </a:t>
            </a:r>
            <a:r>
              <a:rPr sz="1350" b="0" i="0">
                <a:solidFill>
                  <a:srgbClr val="253650"/>
                </a:solidFill>
                <a:latin typeface="Inter"/>
              </a:rPr>
              <a:t>an ecosystem around the founder, and a digital workspace for the journey.</a:t>
            </a:r>
          </a:p>
        </p:txBody>
      </p:sp>
      <p:sp>
        <p:nvSpPr>
          <p:cNvPr id="19" name="TextBox 1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0" name="TextBox 1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04</a:t>
            </a:r>
            <a:r>
              <a:rPr sz="1000" b="1" i="0" spc="150">
                <a:solidFill>
                  <a:srgbClr val="1765D1"/>
                </a:solidFill>
                <a:latin typeface="Inter"/>
              </a:rPr>
              <a:t>   WHO IT IS FOR</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Built for founders. Strengthened by the people around them.</a:t>
            </a:r>
          </a:p>
        </p:txBody>
      </p:sp>
      <p:sp>
        <p:nvSpPr>
          <p:cNvPr id="4" name="Rectangle 3"/>
          <p:cNvSpPr/>
          <p:nvPr/>
        </p:nvSpPr>
        <p:spPr>
          <a:xfrm>
            <a:off x="594360" y="1965960"/>
            <a:ext cx="4206240" cy="4206240"/>
          </a:xfrm>
          <a:prstGeom prst="rect">
            <a:avLst/>
          </a:prstGeom>
          <a:solidFill>
            <a:srgbClr val="10213B"/>
          </a:solidFill>
          <a:ln>
            <a:noFill/>
          </a:ln>
          <a:effectLst/>
        </p:spPr>
        <p:txBody>
          <a:bodyPr rtlCol="0" anchor="ctr" lIns="73152" rIns="73152" tIns="36576" bIns="36576"/>
          <a:lstStyle/>
          <a:p>
            <a:pPr algn="ctr"/>
          </a:p>
        </p:txBody>
      </p:sp>
      <p:sp>
        <p:nvSpPr>
          <p:cNvPr id="5" name="TextBox 4"/>
          <p:cNvSpPr txBox="1"/>
          <p:nvPr/>
        </p:nvSpPr>
        <p:spPr>
          <a:xfrm>
            <a:off x="914400" y="2194560"/>
            <a:ext cx="365760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PRIMARY  ·  FOUNDERS</a:t>
            </a:r>
          </a:p>
        </p:txBody>
      </p:sp>
      <p:sp>
        <p:nvSpPr>
          <p:cNvPr id="6" name="TextBox 5"/>
          <p:cNvSpPr txBox="1"/>
          <p:nvPr/>
        </p:nvSpPr>
        <p:spPr>
          <a:xfrm>
            <a:off x="914400" y="2560320"/>
            <a:ext cx="3566160"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Aspiring entrepreneurs</a:t>
            </a:r>
          </a:p>
        </p:txBody>
      </p:sp>
      <p:sp>
        <p:nvSpPr>
          <p:cNvPr id="7" name="TextBox 6"/>
          <p:cNvSpPr txBox="1"/>
          <p:nvPr/>
        </p:nvSpPr>
        <p:spPr>
          <a:xfrm>
            <a:off x="914400" y="2926079"/>
            <a:ext cx="3566160" cy="640080"/>
          </a:xfrm>
          <a:prstGeom prst="rect">
            <a:avLst/>
          </a:prstGeom>
          <a:noFill/>
        </p:spPr>
        <p:txBody>
          <a:bodyPr wrap="square" lIns="0" rIns="0" tIns="0" bIns="0" anchor="t"/>
          <a:lstStyle/>
          <a:p>
            <a:pPr algn="l">
              <a:lnSpc>
                <a:spcPct val="120000"/>
              </a:lnSpc>
              <a:spcAft>
                <a:spcPts val="0"/>
              </a:spcAft>
            </a:pPr>
            <a:r>
              <a:rPr sz="1200" b="0" i="0">
                <a:solidFill>
                  <a:srgbClr val="C9D6E8"/>
                </a:solidFill>
                <a:latin typeface="Inter"/>
              </a:rPr>
              <a:t>Want to test an idea and understand where to start.</a:t>
            </a:r>
          </a:p>
        </p:txBody>
      </p:sp>
      <p:sp>
        <p:nvSpPr>
          <p:cNvPr id="8" name="TextBox 7"/>
          <p:cNvSpPr txBox="1"/>
          <p:nvPr/>
        </p:nvSpPr>
        <p:spPr>
          <a:xfrm>
            <a:off x="914400" y="3584448"/>
            <a:ext cx="3566160"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Early-stage founders</a:t>
            </a:r>
          </a:p>
        </p:txBody>
      </p:sp>
      <p:sp>
        <p:nvSpPr>
          <p:cNvPr id="9" name="TextBox 8"/>
          <p:cNvSpPr txBox="1"/>
          <p:nvPr/>
        </p:nvSpPr>
        <p:spPr>
          <a:xfrm>
            <a:off x="914400" y="3950208"/>
            <a:ext cx="3566160" cy="640080"/>
          </a:xfrm>
          <a:prstGeom prst="rect">
            <a:avLst/>
          </a:prstGeom>
          <a:noFill/>
        </p:spPr>
        <p:txBody>
          <a:bodyPr wrap="square" lIns="0" rIns="0" tIns="0" bIns="0" anchor="t"/>
          <a:lstStyle/>
          <a:p>
            <a:pPr algn="l">
              <a:lnSpc>
                <a:spcPct val="120000"/>
              </a:lnSpc>
              <a:spcAft>
                <a:spcPts val="0"/>
              </a:spcAft>
            </a:pPr>
            <a:r>
              <a:rPr sz="1200" b="0" i="0">
                <a:solidFill>
                  <a:srgbClr val="C9D6E8"/>
                </a:solidFill>
                <a:latin typeface="Inter"/>
              </a:rPr>
              <a:t>Need validation, structure and their first customers.</a:t>
            </a:r>
          </a:p>
        </p:txBody>
      </p:sp>
      <p:sp>
        <p:nvSpPr>
          <p:cNvPr id="10" name="TextBox 9"/>
          <p:cNvSpPr txBox="1"/>
          <p:nvPr/>
        </p:nvSpPr>
        <p:spPr>
          <a:xfrm>
            <a:off x="914400" y="4608576"/>
            <a:ext cx="3566160" cy="320040"/>
          </a:xfrm>
          <a:prstGeom prst="rect">
            <a:avLst/>
          </a:prstGeom>
          <a:noFill/>
        </p:spPr>
        <p:txBody>
          <a:bodyPr wrap="square" lIns="0" rIns="0" tIns="0" bIns="0" anchor="t"/>
          <a:lstStyle/>
          <a:p>
            <a:pPr algn="l">
              <a:lnSpc>
                <a:spcPct val="115000"/>
              </a:lnSpc>
              <a:spcAft>
                <a:spcPts val="0"/>
              </a:spcAft>
            </a:pPr>
            <a:r>
              <a:rPr sz="1500" b="1" i="0">
                <a:solidFill>
                  <a:srgbClr val="FFFFFF"/>
                </a:solidFill>
                <a:latin typeface="Inter"/>
              </a:rPr>
              <a:t>Founders seeking growth</a:t>
            </a:r>
          </a:p>
        </p:txBody>
      </p:sp>
      <p:sp>
        <p:nvSpPr>
          <p:cNvPr id="11" name="TextBox 10"/>
          <p:cNvSpPr txBox="1"/>
          <p:nvPr/>
        </p:nvSpPr>
        <p:spPr>
          <a:xfrm>
            <a:off x="914400" y="4974336"/>
            <a:ext cx="3566160" cy="640080"/>
          </a:xfrm>
          <a:prstGeom prst="rect">
            <a:avLst/>
          </a:prstGeom>
          <a:noFill/>
        </p:spPr>
        <p:txBody>
          <a:bodyPr wrap="square" lIns="0" rIns="0" tIns="0" bIns="0" anchor="t"/>
          <a:lstStyle/>
          <a:p>
            <a:pPr algn="l">
              <a:lnSpc>
                <a:spcPct val="120000"/>
              </a:lnSpc>
              <a:spcAft>
                <a:spcPts val="0"/>
              </a:spcAft>
            </a:pPr>
            <a:r>
              <a:rPr sz="1200" b="0" i="0">
                <a:solidFill>
                  <a:srgbClr val="C9D6E8"/>
                </a:solidFill>
                <a:latin typeface="Inter"/>
              </a:rPr>
              <a:t>Need operational support, specialists and sharper go-to-market.</a:t>
            </a:r>
          </a:p>
        </p:txBody>
      </p:sp>
      <p:sp>
        <p:nvSpPr>
          <p:cNvPr id="12" name="TextBox 11"/>
          <p:cNvSpPr txBox="1"/>
          <p:nvPr/>
        </p:nvSpPr>
        <p:spPr>
          <a:xfrm>
            <a:off x="914400" y="5623560"/>
            <a:ext cx="3657600" cy="457200"/>
          </a:xfrm>
          <a:prstGeom prst="rect">
            <a:avLst/>
          </a:prstGeom>
          <a:noFill/>
        </p:spPr>
        <p:txBody>
          <a:bodyPr wrap="square" lIns="0" rIns="0" tIns="0" bIns="0" anchor="t"/>
          <a:lstStyle/>
          <a:p>
            <a:pPr algn="l">
              <a:lnSpc>
                <a:spcPct val="120000"/>
              </a:lnSpc>
              <a:spcAft>
                <a:spcPts val="0"/>
              </a:spcAft>
            </a:pPr>
            <a:r>
              <a:rPr sz="950" b="0" i="0">
                <a:solidFill>
                  <a:srgbClr val="4F8BE0"/>
                </a:solidFill>
                <a:latin typeface="Inter"/>
              </a:rPr>
              <a:t>Technology startups and commercially viable businesses in consumer, wellness, retail and services.</a:t>
            </a:r>
          </a:p>
        </p:txBody>
      </p:sp>
      <p:sp>
        <p:nvSpPr>
          <p:cNvPr id="13" name="TextBox 12"/>
          <p:cNvSpPr txBox="1"/>
          <p:nvPr/>
        </p:nvSpPr>
        <p:spPr>
          <a:xfrm>
            <a:off x="5166360" y="201168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SUPPORTING ECOSYSTEM  ·  WHY THEY TAKE PART</a:t>
            </a:r>
          </a:p>
        </p:txBody>
      </p:sp>
      <p:cxnSp>
        <p:nvCxnSpPr>
          <p:cNvPr id="14" name="Connector 13"/>
          <p:cNvCxnSpPr/>
          <p:nvPr/>
        </p:nvCxnSpPr>
        <p:spPr>
          <a:xfrm>
            <a:off x="5166360" y="2395728"/>
            <a:ext cx="6430975" cy="0"/>
          </a:xfrm>
          <a:prstGeom prst="line">
            <a:avLst/>
          </a:prstGeom>
          <a:ln w="12700">
            <a:solidFill>
              <a:srgbClr val="D5E2F3"/>
            </a:solidFill>
          </a:ln>
        </p:spPr>
      </p:cxnSp>
      <p:sp>
        <p:nvSpPr>
          <p:cNvPr id="15" name="TextBox 14"/>
          <p:cNvSpPr txBox="1"/>
          <p:nvPr/>
        </p:nvSpPr>
        <p:spPr>
          <a:xfrm>
            <a:off x="5166360" y="2523744"/>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Mentors and specialists</a:t>
            </a:r>
          </a:p>
        </p:txBody>
      </p:sp>
      <p:sp>
        <p:nvSpPr>
          <p:cNvPr id="16" name="TextBox 15"/>
          <p:cNvSpPr txBox="1"/>
          <p:nvPr/>
        </p:nvSpPr>
        <p:spPr>
          <a:xfrm>
            <a:off x="7818120" y="2523744"/>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Share experience in a structured way and meet founders who fit their expertise.</a:t>
            </a:r>
          </a:p>
        </p:txBody>
      </p:sp>
      <p:cxnSp>
        <p:nvCxnSpPr>
          <p:cNvPr id="17" name="Connector 16"/>
          <p:cNvCxnSpPr/>
          <p:nvPr/>
        </p:nvCxnSpPr>
        <p:spPr>
          <a:xfrm>
            <a:off x="5166360" y="3154680"/>
            <a:ext cx="6430975" cy="0"/>
          </a:xfrm>
          <a:prstGeom prst="line">
            <a:avLst/>
          </a:prstGeom>
          <a:ln w="12700">
            <a:solidFill>
              <a:srgbClr val="D5E2F3"/>
            </a:solidFill>
          </a:ln>
        </p:spPr>
      </p:cxnSp>
      <p:sp>
        <p:nvSpPr>
          <p:cNvPr id="18" name="TextBox 17"/>
          <p:cNvSpPr txBox="1"/>
          <p:nvPr/>
        </p:nvSpPr>
        <p:spPr>
          <a:xfrm>
            <a:off x="5166360" y="3282696"/>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Investors and angels</a:t>
            </a:r>
          </a:p>
        </p:txBody>
      </p:sp>
      <p:sp>
        <p:nvSpPr>
          <p:cNvPr id="19" name="TextBox 18"/>
          <p:cNvSpPr txBox="1"/>
          <p:nvPr/>
        </p:nvSpPr>
        <p:spPr>
          <a:xfrm>
            <a:off x="7818120" y="3282696"/>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Engage with better-prepared founders and follow sectors of interest.</a:t>
            </a:r>
          </a:p>
        </p:txBody>
      </p:sp>
      <p:cxnSp>
        <p:nvCxnSpPr>
          <p:cNvPr id="20" name="Connector 19"/>
          <p:cNvCxnSpPr/>
          <p:nvPr/>
        </p:nvCxnSpPr>
        <p:spPr>
          <a:xfrm>
            <a:off x="5166360" y="3913632"/>
            <a:ext cx="6430975" cy="0"/>
          </a:xfrm>
          <a:prstGeom prst="line">
            <a:avLst/>
          </a:prstGeom>
          <a:ln w="12700">
            <a:solidFill>
              <a:srgbClr val="D5E2F3"/>
            </a:solidFill>
          </a:ln>
        </p:spPr>
      </p:cxnSp>
      <p:sp>
        <p:nvSpPr>
          <p:cNvPr id="21" name="TextBox 20"/>
          <p:cNvSpPr txBox="1"/>
          <p:nvPr/>
        </p:nvSpPr>
        <p:spPr>
          <a:xfrm>
            <a:off x="5166360" y="4041648"/>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Universities and incubators</a:t>
            </a:r>
          </a:p>
        </p:txBody>
      </p:sp>
      <p:sp>
        <p:nvSpPr>
          <p:cNvPr id="22" name="TextBox 21"/>
          <p:cNvSpPr txBox="1"/>
          <p:nvPr/>
        </p:nvSpPr>
        <p:spPr>
          <a:xfrm>
            <a:off x="7818120" y="4041648"/>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Extend support to student and alumni founders beyond a single programme.</a:t>
            </a:r>
          </a:p>
        </p:txBody>
      </p:sp>
      <p:cxnSp>
        <p:nvCxnSpPr>
          <p:cNvPr id="23" name="Connector 22"/>
          <p:cNvCxnSpPr/>
          <p:nvPr/>
        </p:nvCxnSpPr>
        <p:spPr>
          <a:xfrm>
            <a:off x="5166360" y="4672583"/>
            <a:ext cx="6430975" cy="0"/>
          </a:xfrm>
          <a:prstGeom prst="line">
            <a:avLst/>
          </a:prstGeom>
          <a:ln w="12700">
            <a:solidFill>
              <a:srgbClr val="D5E2F3"/>
            </a:solidFill>
          </a:ln>
        </p:spPr>
      </p:cxnSp>
      <p:sp>
        <p:nvSpPr>
          <p:cNvPr id="24" name="TextBox 23"/>
          <p:cNvSpPr txBox="1"/>
          <p:nvPr/>
        </p:nvSpPr>
        <p:spPr>
          <a:xfrm>
            <a:off x="5166360" y="4800599"/>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Corporate innovation teams</a:t>
            </a:r>
          </a:p>
        </p:txBody>
      </p:sp>
      <p:sp>
        <p:nvSpPr>
          <p:cNvPr id="25" name="TextBox 24"/>
          <p:cNvSpPr txBox="1"/>
          <p:nvPr/>
        </p:nvSpPr>
        <p:spPr>
          <a:xfrm>
            <a:off x="7818120" y="4800599"/>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Meet early ventures and run practical challenges or pilots.</a:t>
            </a:r>
          </a:p>
        </p:txBody>
      </p:sp>
      <p:cxnSp>
        <p:nvCxnSpPr>
          <p:cNvPr id="26" name="Connector 25"/>
          <p:cNvCxnSpPr/>
          <p:nvPr/>
        </p:nvCxnSpPr>
        <p:spPr>
          <a:xfrm>
            <a:off x="5166360" y="5431536"/>
            <a:ext cx="6430975" cy="0"/>
          </a:xfrm>
          <a:prstGeom prst="line">
            <a:avLst/>
          </a:prstGeom>
          <a:ln w="12700">
            <a:solidFill>
              <a:srgbClr val="D5E2F3"/>
            </a:solidFill>
          </a:ln>
        </p:spPr>
      </p:cxnSp>
      <p:sp>
        <p:nvSpPr>
          <p:cNvPr id="27" name="TextBox 26"/>
          <p:cNvSpPr txBox="1"/>
          <p:nvPr/>
        </p:nvSpPr>
        <p:spPr>
          <a:xfrm>
            <a:off x="5166360" y="5559551"/>
            <a:ext cx="251460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Technology and service providers</a:t>
            </a:r>
          </a:p>
        </p:txBody>
      </p:sp>
      <p:sp>
        <p:nvSpPr>
          <p:cNvPr id="28" name="TextBox 27"/>
          <p:cNvSpPr txBox="1"/>
          <p:nvPr/>
        </p:nvSpPr>
        <p:spPr>
          <a:xfrm>
            <a:off x="7818120" y="5559551"/>
            <a:ext cx="3749039" cy="59436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Offer relevant tools and services to founders who need them.</a:t>
            </a:r>
          </a:p>
        </p:txBody>
      </p:sp>
      <p:sp>
        <p:nvSpPr>
          <p:cNvPr id="29" name="TextBox 2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0" name="TextBox 2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05</a:t>
            </a:r>
            <a:r>
              <a:rPr sz="1000" b="1" i="0" spc="150">
                <a:solidFill>
                  <a:srgbClr val="1765D1"/>
                </a:solidFill>
                <a:latin typeface="Inter"/>
              </a:rPr>
              <a:t>   THE FOUNDER JOURNEY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Every founder enters at a different point.</a:t>
            </a:r>
          </a:p>
        </p:txBody>
      </p:sp>
      <p:sp>
        <p:nvSpPr>
          <p:cNvPr id="4" name="Pentagon 3"/>
          <p:cNvSpPr/>
          <p:nvPr/>
        </p:nvSpPr>
        <p:spPr>
          <a:xfrm>
            <a:off x="1920240" y="1965960"/>
            <a:ext cx="1686001" cy="566928"/>
          </a:xfrm>
          <a:prstGeom prst="homePlat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Explore</a:t>
            </a:r>
          </a:p>
        </p:txBody>
      </p:sp>
      <p:sp>
        <p:nvSpPr>
          <p:cNvPr id="5" name="TextBox 4"/>
          <p:cNvSpPr txBox="1"/>
          <p:nvPr/>
        </p:nvSpPr>
        <p:spPr>
          <a:xfrm>
            <a:off x="2029968"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Is this idea worth pursuing?</a:t>
            </a:r>
          </a:p>
        </p:txBody>
      </p:sp>
      <p:sp>
        <p:nvSpPr>
          <p:cNvPr id="6" name="TextBox 5"/>
          <p:cNvSpPr txBox="1"/>
          <p:nvPr/>
        </p:nvSpPr>
        <p:spPr>
          <a:xfrm>
            <a:off x="2029968"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Framing, problem discovery, peer conversation</a:t>
            </a:r>
          </a:p>
        </p:txBody>
      </p:sp>
      <p:sp>
        <p:nvSpPr>
          <p:cNvPr id="7" name="TextBox 6"/>
          <p:cNvSpPr txBox="1"/>
          <p:nvPr/>
        </p:nvSpPr>
        <p:spPr>
          <a:xfrm>
            <a:off x="2029968"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Write down the problem and who has it</a:t>
            </a:r>
          </a:p>
        </p:txBody>
      </p:sp>
      <p:sp>
        <p:nvSpPr>
          <p:cNvPr id="8" name="Chevron 7"/>
          <p:cNvSpPr/>
          <p:nvPr/>
        </p:nvSpPr>
        <p:spPr>
          <a:xfrm>
            <a:off x="3533089"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Validate</a:t>
            </a:r>
          </a:p>
        </p:txBody>
      </p:sp>
      <p:sp>
        <p:nvSpPr>
          <p:cNvPr id="9" name="TextBox 8"/>
          <p:cNvSpPr txBox="1"/>
          <p:nvPr/>
        </p:nvSpPr>
        <p:spPr>
          <a:xfrm>
            <a:off x="3642817"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Will people actually pay for this?</a:t>
            </a:r>
          </a:p>
        </p:txBody>
      </p:sp>
      <p:sp>
        <p:nvSpPr>
          <p:cNvPr id="10" name="TextBox 9"/>
          <p:cNvSpPr txBox="1"/>
          <p:nvPr/>
        </p:nvSpPr>
        <p:spPr>
          <a:xfrm>
            <a:off x="3642817"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Interview guides, clinics, mentor feedback</a:t>
            </a:r>
          </a:p>
        </p:txBody>
      </p:sp>
      <p:sp>
        <p:nvSpPr>
          <p:cNvPr id="11" name="TextBox 10"/>
          <p:cNvSpPr txBox="1"/>
          <p:nvPr/>
        </p:nvSpPr>
        <p:spPr>
          <a:xfrm>
            <a:off x="3642817"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Speak to 10–20 potential customers</a:t>
            </a:r>
          </a:p>
        </p:txBody>
      </p:sp>
      <p:sp>
        <p:nvSpPr>
          <p:cNvPr id="12" name="Chevron 11"/>
          <p:cNvSpPr/>
          <p:nvPr/>
        </p:nvSpPr>
        <p:spPr>
          <a:xfrm>
            <a:off x="5145938"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Build</a:t>
            </a:r>
          </a:p>
        </p:txBody>
      </p:sp>
      <p:sp>
        <p:nvSpPr>
          <p:cNvPr id="13" name="TextBox 12"/>
          <p:cNvSpPr txBox="1"/>
          <p:nvPr/>
        </p:nvSpPr>
        <p:spPr>
          <a:xfrm>
            <a:off x="5255666"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What is the simplest version to offer?</a:t>
            </a:r>
          </a:p>
        </p:txBody>
      </p:sp>
      <p:sp>
        <p:nvSpPr>
          <p:cNvPr id="14" name="TextBox 13"/>
          <p:cNvSpPr txBox="1"/>
          <p:nvPr/>
        </p:nvSpPr>
        <p:spPr>
          <a:xfrm>
            <a:off x="5255666"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Product, setup, legal and tool guidance</a:t>
            </a:r>
          </a:p>
        </p:txBody>
      </p:sp>
      <p:sp>
        <p:nvSpPr>
          <p:cNvPr id="15" name="TextBox 14"/>
          <p:cNvSpPr txBox="1"/>
          <p:nvPr/>
        </p:nvSpPr>
        <p:spPr>
          <a:xfrm>
            <a:off x="5255666"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Define a first offer and test it</a:t>
            </a:r>
          </a:p>
        </p:txBody>
      </p:sp>
      <p:sp>
        <p:nvSpPr>
          <p:cNvPr id="16" name="Chevron 15"/>
          <p:cNvSpPr/>
          <p:nvPr/>
        </p:nvSpPr>
        <p:spPr>
          <a:xfrm>
            <a:off x="6758787"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Launch</a:t>
            </a:r>
          </a:p>
        </p:txBody>
      </p:sp>
      <p:sp>
        <p:nvSpPr>
          <p:cNvPr id="17" name="TextBox 16"/>
          <p:cNvSpPr txBox="1"/>
          <p:nvPr/>
        </p:nvSpPr>
        <p:spPr>
          <a:xfrm>
            <a:off x="6868515"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How do I reach my first customers?</a:t>
            </a:r>
          </a:p>
        </p:txBody>
      </p:sp>
      <p:sp>
        <p:nvSpPr>
          <p:cNvPr id="18" name="TextBox 17"/>
          <p:cNvSpPr txBox="1"/>
          <p:nvPr/>
        </p:nvSpPr>
        <p:spPr>
          <a:xfrm>
            <a:off x="6868515"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Go-to-market, pricing, brand and sales support</a:t>
            </a:r>
          </a:p>
        </p:txBody>
      </p:sp>
      <p:sp>
        <p:nvSpPr>
          <p:cNvPr id="19" name="TextBox 18"/>
          <p:cNvSpPr txBox="1"/>
          <p:nvPr/>
        </p:nvSpPr>
        <p:spPr>
          <a:xfrm>
            <a:off x="6868515"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Run one focused acquisition test</a:t>
            </a:r>
          </a:p>
        </p:txBody>
      </p:sp>
      <p:sp>
        <p:nvSpPr>
          <p:cNvPr id="20" name="Chevron 19"/>
          <p:cNvSpPr/>
          <p:nvPr/>
        </p:nvSpPr>
        <p:spPr>
          <a:xfrm>
            <a:off x="8371636" y="1965960"/>
            <a:ext cx="1686001" cy="566928"/>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Grow</a:t>
            </a:r>
          </a:p>
        </p:txBody>
      </p:sp>
      <p:sp>
        <p:nvSpPr>
          <p:cNvPr id="21" name="TextBox 20"/>
          <p:cNvSpPr txBox="1"/>
          <p:nvPr/>
        </p:nvSpPr>
        <p:spPr>
          <a:xfrm>
            <a:off x="8481364"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How do I grow without breaking things?</a:t>
            </a:r>
          </a:p>
        </p:txBody>
      </p:sp>
      <p:sp>
        <p:nvSpPr>
          <p:cNvPr id="22" name="TextBox 21"/>
          <p:cNvSpPr txBox="1"/>
          <p:nvPr/>
        </p:nvSpPr>
        <p:spPr>
          <a:xfrm>
            <a:off x="8481364"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Operations, specialists, systems and hiring</a:t>
            </a:r>
          </a:p>
        </p:txBody>
      </p:sp>
      <p:sp>
        <p:nvSpPr>
          <p:cNvPr id="23" name="TextBox 22"/>
          <p:cNvSpPr txBox="1"/>
          <p:nvPr/>
        </p:nvSpPr>
        <p:spPr>
          <a:xfrm>
            <a:off x="8481364"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Fix the biggest bottleneck</a:t>
            </a:r>
          </a:p>
        </p:txBody>
      </p:sp>
      <p:sp>
        <p:nvSpPr>
          <p:cNvPr id="24" name="Chevron 23"/>
          <p:cNvSpPr/>
          <p:nvPr/>
        </p:nvSpPr>
        <p:spPr>
          <a:xfrm>
            <a:off x="9984486" y="1965960"/>
            <a:ext cx="1686001" cy="566928"/>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050" b="1" i="0">
                <a:solidFill>
                  <a:srgbClr val="FFFFFF"/>
                </a:solidFill>
                <a:latin typeface="Inter"/>
              </a:rPr>
              <a:t>Prepare for capital*</a:t>
            </a:r>
          </a:p>
        </p:txBody>
      </p:sp>
      <p:sp>
        <p:nvSpPr>
          <p:cNvPr id="25" name="TextBox 24"/>
          <p:cNvSpPr txBox="1"/>
          <p:nvPr/>
        </p:nvSpPr>
        <p:spPr>
          <a:xfrm>
            <a:off x="10094214" y="2743200"/>
            <a:ext cx="1429969" cy="1005840"/>
          </a:xfrm>
          <a:prstGeom prst="rect">
            <a:avLst/>
          </a:prstGeom>
          <a:noFill/>
        </p:spPr>
        <p:txBody>
          <a:bodyPr wrap="square" lIns="0" rIns="0" tIns="0" bIns="0" anchor="t"/>
          <a:lstStyle/>
          <a:p>
            <a:pPr algn="l">
              <a:lnSpc>
                <a:spcPct val="118000"/>
              </a:lnSpc>
              <a:spcAft>
                <a:spcPts val="0"/>
              </a:spcAft>
            </a:pPr>
            <a:r>
              <a:rPr sz="1150" b="1" i="0">
                <a:solidFill>
                  <a:srgbClr val="10213B"/>
                </a:solidFill>
                <a:latin typeface="Inter"/>
              </a:rPr>
              <a:t>Should I raise — and am I ready?</a:t>
            </a:r>
          </a:p>
        </p:txBody>
      </p:sp>
      <p:sp>
        <p:nvSpPr>
          <p:cNvPr id="26" name="TextBox 25"/>
          <p:cNvSpPr txBox="1"/>
          <p:nvPr/>
        </p:nvSpPr>
        <p:spPr>
          <a:xfrm>
            <a:off x="10094214" y="3767328"/>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Readiness review, pitch feedback, introductions</a:t>
            </a:r>
          </a:p>
        </p:txBody>
      </p:sp>
      <p:sp>
        <p:nvSpPr>
          <p:cNvPr id="27" name="TextBox 26"/>
          <p:cNvSpPr txBox="1"/>
          <p:nvPr/>
        </p:nvSpPr>
        <p:spPr>
          <a:xfrm>
            <a:off x="10094214" y="4791456"/>
            <a:ext cx="1429969" cy="1005840"/>
          </a:xfrm>
          <a:prstGeom prst="rect">
            <a:avLst/>
          </a:prstGeom>
          <a:noFill/>
        </p:spPr>
        <p:txBody>
          <a:bodyPr wrap="square" lIns="0" rIns="0" tIns="0" bIns="0" anchor="t"/>
          <a:lstStyle/>
          <a:p>
            <a:pPr algn="l">
              <a:lnSpc>
                <a:spcPct val="118000"/>
              </a:lnSpc>
              <a:spcAft>
                <a:spcPts val="0"/>
              </a:spcAft>
            </a:pPr>
            <a:r>
              <a:rPr sz="1100" b="0" i="0">
                <a:solidFill>
                  <a:srgbClr val="253650"/>
                </a:solidFill>
                <a:latin typeface="Inter"/>
              </a:rPr>
              <a:t>Decide if external funding fits</a:t>
            </a:r>
          </a:p>
        </p:txBody>
      </p:sp>
      <p:cxnSp>
        <p:nvCxnSpPr>
          <p:cNvPr id="28" name="Connector 27"/>
          <p:cNvCxnSpPr/>
          <p:nvPr/>
        </p:nvCxnSpPr>
        <p:spPr>
          <a:xfrm>
            <a:off x="594360" y="2633472"/>
            <a:ext cx="11002975" cy="0"/>
          </a:xfrm>
          <a:prstGeom prst="line">
            <a:avLst/>
          </a:prstGeom>
          <a:ln w="12700">
            <a:solidFill>
              <a:srgbClr val="D5E2F3"/>
            </a:solidFill>
          </a:ln>
        </p:spPr>
      </p:cxnSp>
      <p:sp>
        <p:nvSpPr>
          <p:cNvPr id="29" name="TextBox 28"/>
          <p:cNvSpPr txBox="1"/>
          <p:nvPr/>
        </p:nvSpPr>
        <p:spPr>
          <a:xfrm>
            <a:off x="594360" y="2743200"/>
            <a:ext cx="1234440" cy="731520"/>
          </a:xfrm>
          <a:prstGeom prst="rect">
            <a:avLst/>
          </a:prstGeom>
          <a:noFill/>
        </p:spPr>
        <p:txBody>
          <a:bodyPr wrap="square" lIns="0" rIns="0" tIns="0" bIns="0" anchor="t"/>
          <a:lstStyle/>
          <a:p>
            <a:pPr algn="l">
              <a:lnSpc>
                <a:spcPct val="115000"/>
              </a:lnSpc>
              <a:spcAft>
                <a:spcPts val="0"/>
              </a:spcAft>
            </a:pPr>
            <a:r>
              <a:rPr sz="950" b="1" i="0" spc="60">
                <a:solidFill>
                  <a:srgbClr val="1765D1"/>
                </a:solidFill>
                <a:latin typeface="Inter"/>
              </a:rPr>
              <a:t>Founder question</a:t>
            </a:r>
          </a:p>
        </p:txBody>
      </p:sp>
      <p:cxnSp>
        <p:nvCxnSpPr>
          <p:cNvPr id="30" name="Connector 29"/>
          <p:cNvCxnSpPr/>
          <p:nvPr/>
        </p:nvCxnSpPr>
        <p:spPr>
          <a:xfrm>
            <a:off x="594360" y="3657600"/>
            <a:ext cx="11002975" cy="0"/>
          </a:xfrm>
          <a:prstGeom prst="line">
            <a:avLst/>
          </a:prstGeom>
          <a:ln w="12700">
            <a:solidFill>
              <a:srgbClr val="D5E2F3"/>
            </a:solidFill>
          </a:ln>
        </p:spPr>
      </p:cxnSp>
      <p:sp>
        <p:nvSpPr>
          <p:cNvPr id="31" name="TextBox 30"/>
          <p:cNvSpPr txBox="1"/>
          <p:nvPr/>
        </p:nvSpPr>
        <p:spPr>
          <a:xfrm>
            <a:off x="594360" y="3767328"/>
            <a:ext cx="1234440" cy="731520"/>
          </a:xfrm>
          <a:prstGeom prst="rect">
            <a:avLst/>
          </a:prstGeom>
          <a:noFill/>
        </p:spPr>
        <p:txBody>
          <a:bodyPr wrap="square" lIns="0" rIns="0" tIns="0" bIns="0" anchor="t"/>
          <a:lstStyle/>
          <a:p>
            <a:pPr algn="l">
              <a:lnSpc>
                <a:spcPct val="115000"/>
              </a:lnSpc>
              <a:spcAft>
                <a:spcPts val="0"/>
              </a:spcAft>
            </a:pPr>
            <a:r>
              <a:rPr sz="950" b="1" i="0" spc="60">
                <a:solidFill>
                  <a:srgbClr val="1765D1"/>
                </a:solidFill>
                <a:latin typeface="Inter"/>
              </a:rPr>
              <a:t>Support needed</a:t>
            </a:r>
          </a:p>
        </p:txBody>
      </p:sp>
      <p:cxnSp>
        <p:nvCxnSpPr>
          <p:cNvPr id="32" name="Connector 31"/>
          <p:cNvCxnSpPr/>
          <p:nvPr/>
        </p:nvCxnSpPr>
        <p:spPr>
          <a:xfrm>
            <a:off x="594360" y="4681728"/>
            <a:ext cx="11002975" cy="0"/>
          </a:xfrm>
          <a:prstGeom prst="line">
            <a:avLst/>
          </a:prstGeom>
          <a:ln w="12700">
            <a:solidFill>
              <a:srgbClr val="D5E2F3"/>
            </a:solidFill>
          </a:ln>
        </p:spPr>
      </p:cxnSp>
      <p:sp>
        <p:nvSpPr>
          <p:cNvPr id="33" name="TextBox 32"/>
          <p:cNvSpPr txBox="1"/>
          <p:nvPr/>
        </p:nvSpPr>
        <p:spPr>
          <a:xfrm>
            <a:off x="594360" y="4791456"/>
            <a:ext cx="1234440" cy="731520"/>
          </a:xfrm>
          <a:prstGeom prst="rect">
            <a:avLst/>
          </a:prstGeom>
          <a:noFill/>
        </p:spPr>
        <p:txBody>
          <a:bodyPr wrap="square" lIns="0" rIns="0" tIns="0" bIns="0" anchor="t"/>
          <a:lstStyle/>
          <a:p>
            <a:pPr algn="l">
              <a:lnSpc>
                <a:spcPct val="115000"/>
              </a:lnSpc>
              <a:spcAft>
                <a:spcPts val="0"/>
              </a:spcAft>
            </a:pPr>
            <a:r>
              <a:rPr sz="950" b="1" i="0" spc="60">
                <a:solidFill>
                  <a:srgbClr val="1765D1"/>
                </a:solidFill>
                <a:latin typeface="Inter"/>
              </a:rPr>
              <a:t>Useful next action</a:t>
            </a:r>
          </a:p>
        </p:txBody>
      </p:sp>
      <p:sp>
        <p:nvSpPr>
          <p:cNvPr id="34" name="Rectangle 33"/>
          <p:cNvSpPr/>
          <p:nvPr/>
        </p:nvSpPr>
        <p:spPr>
          <a:xfrm>
            <a:off x="594360" y="5669280"/>
            <a:ext cx="11002975" cy="548640"/>
          </a:xfrm>
          <a:prstGeom prst="rect">
            <a:avLst/>
          </a:prstGeom>
          <a:solidFill>
            <a:srgbClr val="EDF4FE"/>
          </a:solidFill>
          <a:ln>
            <a:noFill/>
          </a:ln>
          <a:effectLst/>
        </p:spPr>
        <p:txBody>
          <a:bodyPr rtlCol="0" anchor="ctr" lIns="73152" rIns="73152" tIns="36576" bIns="36576"/>
          <a:lstStyle/>
          <a:p>
            <a:pPr algn="ctr"/>
          </a:p>
        </p:txBody>
      </p:sp>
      <p:sp>
        <p:nvSpPr>
          <p:cNvPr id="35" name="TextBox 34"/>
          <p:cNvSpPr txBox="1"/>
          <p:nvPr/>
        </p:nvSpPr>
        <p:spPr>
          <a:xfrm>
            <a:off x="777240" y="5715000"/>
            <a:ext cx="10637215" cy="457200"/>
          </a:xfrm>
          <a:prstGeom prst="rect">
            <a:avLst/>
          </a:prstGeom>
          <a:noFill/>
        </p:spPr>
        <p:txBody>
          <a:bodyPr wrap="square" lIns="0" rIns="0" tIns="0" bIns="0" anchor="ctr"/>
          <a:lstStyle/>
          <a:p>
            <a:pPr algn="l">
              <a:lnSpc>
                <a:spcPct val="115000"/>
              </a:lnSpc>
              <a:spcAft>
                <a:spcPts val="0"/>
              </a:spcAft>
            </a:pPr>
            <a:r>
              <a:rPr sz="1100" b="1" i="0">
                <a:solidFill>
                  <a:srgbClr val="10213B"/>
                </a:solidFill>
                <a:latin typeface="Inter"/>
              </a:rPr>
              <a:t>Paths differ. </a:t>
            </a:r>
            <a:r>
              <a:rPr sz="1100" b="0" i="0">
                <a:solidFill>
                  <a:srgbClr val="253650"/>
                </a:solidFill>
                <a:latin typeface="Inter"/>
              </a:rPr>
              <a:t>Founders join at any stage and may loop back. *Many good businesses grow from revenue and never need external capital — this stage applies only where appropriate.</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06</a:t>
            </a:r>
            <a:r>
              <a:rPr sz="1000" b="1" i="0" spc="150">
                <a:solidFill>
                  <a:srgbClr val="1765D1"/>
                </a:solidFill>
                <a:latin typeface="Inter"/>
              </a:rPr>
              <a:t>   THE PROPOSED MODEL</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Four layers, from open access to selective support.</a:t>
            </a:r>
          </a:p>
        </p:txBody>
      </p:sp>
      <p:sp>
        <p:nvSpPr>
          <p:cNvPr id="4" name="Rounded Rectangle 3"/>
          <p:cNvSpPr/>
          <p:nvPr/>
        </p:nvSpPr>
        <p:spPr>
          <a:xfrm>
            <a:off x="10193914" y="402336"/>
            <a:ext cx="14034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MODEL</a:t>
            </a:r>
          </a:p>
        </p:txBody>
      </p:sp>
      <p:sp>
        <p:nvSpPr>
          <p:cNvPr id="5" name="Rectangle 4"/>
          <p:cNvSpPr/>
          <p:nvPr/>
        </p:nvSpPr>
        <p:spPr>
          <a:xfrm>
            <a:off x="1965960" y="2011680"/>
            <a:ext cx="2011680" cy="804672"/>
          </a:xfrm>
          <a:prstGeom prst="rect">
            <a:avLst/>
          </a:prstGeom>
          <a:solidFill>
            <a:srgbClr val="10213B"/>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4</a:t>
            </a:r>
          </a:p>
        </p:txBody>
      </p:sp>
      <p:sp>
        <p:nvSpPr>
          <p:cNvPr id="6" name="TextBox 5"/>
          <p:cNvSpPr txBox="1"/>
          <p:nvPr/>
        </p:nvSpPr>
        <p:spPr>
          <a:xfrm>
            <a:off x="5440680" y="205740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Investment connections and future pathways</a:t>
            </a:r>
          </a:p>
        </p:txBody>
      </p:sp>
      <p:sp>
        <p:nvSpPr>
          <p:cNvPr id="7" name="TextBox 6"/>
          <p:cNvSpPr txBox="1"/>
          <p:nvPr/>
        </p:nvSpPr>
        <p:spPr>
          <a:xfrm>
            <a:off x="5440680" y="239572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Investor-readiness support and relevant introductions. Any future investment activity would need its own structure and approvals.</a:t>
            </a:r>
          </a:p>
        </p:txBody>
      </p:sp>
      <p:cxnSp>
        <p:nvCxnSpPr>
          <p:cNvPr id="8" name="Connector 7"/>
          <p:cNvCxnSpPr/>
          <p:nvPr/>
        </p:nvCxnSpPr>
        <p:spPr>
          <a:xfrm>
            <a:off x="4069079" y="2414016"/>
            <a:ext cx="1234441" cy="0"/>
          </a:xfrm>
          <a:prstGeom prst="line">
            <a:avLst/>
          </a:prstGeom>
          <a:ln w="9525">
            <a:solidFill>
              <a:srgbClr val="D5E2F3"/>
            </a:solidFill>
            <a:prstDash val="dash"/>
          </a:ln>
        </p:spPr>
      </p:cxnSp>
      <p:sp>
        <p:nvSpPr>
          <p:cNvPr id="9" name="Rectangle 8"/>
          <p:cNvSpPr/>
          <p:nvPr/>
        </p:nvSpPr>
        <p:spPr>
          <a:xfrm>
            <a:off x="1554480" y="2971800"/>
            <a:ext cx="2834640" cy="804672"/>
          </a:xfrm>
          <a:prstGeom prst="rect">
            <a:avLst/>
          </a:prstGeom>
          <a:solidFill>
            <a:srgbClr val="17407F"/>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3</a:t>
            </a:r>
          </a:p>
        </p:txBody>
      </p:sp>
      <p:sp>
        <p:nvSpPr>
          <p:cNvPr id="10" name="TextBox 9"/>
          <p:cNvSpPr txBox="1"/>
          <p:nvPr/>
        </p:nvSpPr>
        <p:spPr>
          <a:xfrm>
            <a:off x="5440680" y="301752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Selective incubation</a:t>
            </a:r>
          </a:p>
        </p:txBody>
      </p:sp>
      <p:sp>
        <p:nvSpPr>
          <p:cNvPr id="11" name="TextBox 10"/>
          <p:cNvSpPr txBox="1"/>
          <p:nvPr/>
        </p:nvSpPr>
        <p:spPr>
          <a:xfrm>
            <a:off x="5440680" y="335584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More intensive support for suitable founders, based on fit, delivery capacity and separately agreed commercial terms.</a:t>
            </a:r>
          </a:p>
        </p:txBody>
      </p:sp>
      <p:cxnSp>
        <p:nvCxnSpPr>
          <p:cNvPr id="12" name="Connector 11"/>
          <p:cNvCxnSpPr/>
          <p:nvPr/>
        </p:nvCxnSpPr>
        <p:spPr>
          <a:xfrm>
            <a:off x="4480559" y="3374136"/>
            <a:ext cx="822961" cy="0"/>
          </a:xfrm>
          <a:prstGeom prst="line">
            <a:avLst/>
          </a:prstGeom>
          <a:ln w="9525">
            <a:solidFill>
              <a:srgbClr val="D5E2F3"/>
            </a:solidFill>
            <a:prstDash val="dash"/>
          </a:ln>
        </p:spPr>
      </p:cxnSp>
      <p:sp>
        <p:nvSpPr>
          <p:cNvPr id="13" name="Rectangle 12"/>
          <p:cNvSpPr/>
          <p:nvPr/>
        </p:nvSpPr>
        <p:spPr>
          <a:xfrm>
            <a:off x="1143000" y="3931920"/>
            <a:ext cx="3657600" cy="804672"/>
          </a:xfrm>
          <a:prstGeom prst="rect">
            <a:avLst/>
          </a:prstGeom>
          <a:solidFill>
            <a:srgbClr val="1A55AC"/>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2</a:t>
            </a:r>
          </a:p>
        </p:txBody>
      </p:sp>
      <p:sp>
        <p:nvSpPr>
          <p:cNvPr id="14" name="TextBox 13"/>
          <p:cNvSpPr txBox="1"/>
          <p:nvPr/>
        </p:nvSpPr>
        <p:spPr>
          <a:xfrm>
            <a:off x="5440680" y="397764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Paid tools and support</a:t>
            </a:r>
          </a:p>
        </p:txBody>
      </p:sp>
      <p:sp>
        <p:nvSpPr>
          <p:cNvPr id="15" name="TextBox 14"/>
          <p:cNvSpPr txBox="1"/>
          <p:nvPr/>
        </p:nvSpPr>
        <p:spPr>
          <a:xfrm>
            <a:off x="5440680" y="431596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Deeper tools, potential AI-assisted guidance, specialist sessions and structured programmes.</a:t>
            </a:r>
          </a:p>
        </p:txBody>
      </p:sp>
      <p:cxnSp>
        <p:nvCxnSpPr>
          <p:cNvPr id="16" name="Connector 15"/>
          <p:cNvCxnSpPr/>
          <p:nvPr/>
        </p:nvCxnSpPr>
        <p:spPr>
          <a:xfrm>
            <a:off x="4892040" y="4334256"/>
            <a:ext cx="411480" cy="0"/>
          </a:xfrm>
          <a:prstGeom prst="line">
            <a:avLst/>
          </a:prstGeom>
          <a:ln w="9525">
            <a:solidFill>
              <a:srgbClr val="D5E2F3"/>
            </a:solidFill>
            <a:prstDash val="dash"/>
          </a:ln>
        </p:spPr>
      </p:cxnSp>
      <p:sp>
        <p:nvSpPr>
          <p:cNvPr id="17" name="Rectangle 16"/>
          <p:cNvSpPr/>
          <p:nvPr/>
        </p:nvSpPr>
        <p:spPr>
          <a:xfrm>
            <a:off x="731519" y="4892040"/>
            <a:ext cx="4480560" cy="804672"/>
          </a:xfrm>
          <a:prstGeom prst="rect">
            <a:avLst/>
          </a:prstGeom>
          <a:solidFill>
            <a:srgbClr val="1765D1"/>
          </a:solidFill>
          <a:ln>
            <a:noFill/>
          </a:ln>
          <a:effectLst/>
        </p:spPr>
        <p:txBody>
          <a:bodyPr rtlCol="0" anchor="ctr" lIns="73152" rIns="73152" tIns="27432" bIns="27432" wrap="square"/>
          <a:lstStyle/>
          <a:p>
            <a:pPr algn="ctr">
              <a:lnSpc>
                <a:spcPct val="110000"/>
              </a:lnSpc>
              <a:spcAft>
                <a:spcPts val="0"/>
              </a:spcAft>
            </a:pPr>
            <a:r>
              <a:rPr sz="2000" b="1" i="0">
                <a:solidFill>
                  <a:srgbClr val="FFFFFF"/>
                </a:solidFill>
                <a:latin typeface="Inter"/>
              </a:rPr>
              <a:t>1</a:t>
            </a:r>
          </a:p>
        </p:txBody>
      </p:sp>
      <p:sp>
        <p:nvSpPr>
          <p:cNvPr id="18" name="TextBox 17"/>
          <p:cNvSpPr txBox="1"/>
          <p:nvPr/>
        </p:nvSpPr>
        <p:spPr>
          <a:xfrm>
            <a:off x="5440680" y="4937760"/>
            <a:ext cx="612648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Free founder access</a:t>
            </a:r>
          </a:p>
        </p:txBody>
      </p:sp>
      <p:sp>
        <p:nvSpPr>
          <p:cNvPr id="19" name="TextBox 18"/>
          <p:cNvSpPr txBox="1"/>
          <p:nvPr/>
        </p:nvSpPr>
        <p:spPr>
          <a:xfrm>
            <a:off x="5440680" y="5276088"/>
            <a:ext cx="6126480" cy="502920"/>
          </a:xfrm>
          <a:prstGeom prst="rect">
            <a:avLst/>
          </a:prstGeom>
          <a:noFill/>
        </p:spPr>
        <p:txBody>
          <a:bodyPr wrap="square" lIns="0" rIns="0" tIns="0" bIns="0" anchor="t"/>
          <a:lstStyle/>
          <a:p>
            <a:pPr algn="l">
              <a:lnSpc>
                <a:spcPct val="118000"/>
              </a:lnSpc>
              <a:spcAft>
                <a:spcPts val="0"/>
              </a:spcAft>
            </a:pPr>
            <a:r>
              <a:rPr sz="1150" b="0" i="0">
                <a:solidFill>
                  <a:srgbClr val="253650"/>
                </a:solidFill>
                <a:latin typeface="Inter"/>
              </a:rPr>
              <a:t>Community, selected resources, discovery and introductory activities — the open front door.</a:t>
            </a:r>
          </a:p>
        </p:txBody>
      </p:sp>
      <p:cxnSp>
        <p:nvCxnSpPr>
          <p:cNvPr id="20" name="Connector 19"/>
          <p:cNvCxnSpPr/>
          <p:nvPr/>
        </p:nvCxnSpPr>
        <p:spPr>
          <a:xfrm>
            <a:off x="5303520" y="5294376"/>
            <a:ext cx="0" cy="0"/>
          </a:xfrm>
          <a:prstGeom prst="line">
            <a:avLst/>
          </a:prstGeom>
          <a:ln w="9525">
            <a:solidFill>
              <a:srgbClr val="D5E2F3"/>
            </a:solidFill>
            <a:prstDash val="dash"/>
          </a:ln>
        </p:spPr>
      </p:cxnSp>
      <p:sp>
        <p:nvSpPr>
          <p:cNvPr id="21" name="TextBox 20"/>
          <p:cNvSpPr txBox="1"/>
          <p:nvPr/>
        </p:nvSpPr>
        <p:spPr>
          <a:xfrm>
            <a:off x="594360" y="5925312"/>
            <a:ext cx="10881360" cy="36576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Fewer founders, deeper support, as you move up. </a:t>
            </a:r>
            <a:r>
              <a:rPr sz="1150" b="0" i="0">
                <a:solidFill>
                  <a:srgbClr val="61738A"/>
                </a:solidFill>
                <a:latin typeface="Inter"/>
              </a:rPr>
              <a:t>Pricing, terms and eligibility will be shaped during the pilot — no fees or equity terms are fixed today.</a:t>
            </a:r>
          </a:p>
        </p:txBody>
      </p:sp>
      <p:sp>
        <p:nvSpPr>
          <p:cNvPr id="22" name="TextBox 2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3" name="TextBox 2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07</a:t>
            </a:r>
            <a:r>
              <a:rPr sz="1000" b="1" i="0" spc="150">
                <a:solidFill>
                  <a:srgbClr val="1765D1"/>
                </a:solidFill>
                <a:latin typeface="Inter"/>
              </a:rPr>
              <a:t>   FOUNDER OS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A digital workspace for the founder journey.</a:t>
            </a:r>
          </a:p>
        </p:txBody>
      </p:sp>
      <p:sp>
        <p:nvSpPr>
          <p:cNvPr id="4" name="Rounded Rectangle 3"/>
          <p:cNvSpPr/>
          <p:nvPr/>
        </p:nvSpPr>
        <p:spPr>
          <a:xfrm>
            <a:off x="9871313" y="402336"/>
            <a:ext cx="172602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PLANNED CAPABILITY</a:t>
            </a:r>
          </a:p>
        </p:txBody>
      </p:sp>
      <p:sp>
        <p:nvSpPr>
          <p:cNvPr id="5" name="Rectangle 4"/>
          <p:cNvSpPr/>
          <p:nvPr/>
        </p:nvSpPr>
        <p:spPr>
          <a:xfrm>
            <a:off x="594360" y="1965960"/>
            <a:ext cx="5623560" cy="3931920"/>
          </a:xfrm>
          <a:prstGeom prst="rect">
            <a:avLst/>
          </a:prstGeom>
          <a:solidFill>
            <a:srgbClr val="FFFFFF"/>
          </a:solidFill>
          <a:ln w="12700">
            <a:solidFill>
              <a:srgbClr val="C9D6E8"/>
            </a:solidFill>
          </a:ln>
          <a:effectLst/>
        </p:spPr>
        <p:txBody>
          <a:bodyPr rtlCol="0" anchor="ctr" lIns="73152" rIns="73152" tIns="36576" bIns="36576"/>
          <a:lstStyle/>
          <a:p>
            <a:pPr algn="ctr"/>
          </a:p>
        </p:txBody>
      </p:sp>
      <p:sp>
        <p:nvSpPr>
          <p:cNvPr id="6" name="Rectangle 5"/>
          <p:cNvSpPr/>
          <p:nvPr/>
        </p:nvSpPr>
        <p:spPr>
          <a:xfrm>
            <a:off x="594360" y="1965960"/>
            <a:ext cx="5623560" cy="292608"/>
          </a:xfrm>
          <a:prstGeom prst="rect">
            <a:avLst/>
          </a:prstGeom>
          <a:solidFill>
            <a:srgbClr val="EDF4FE"/>
          </a:solidFill>
          <a:ln>
            <a:noFill/>
          </a:ln>
          <a:effectLst/>
        </p:spPr>
        <p:txBody>
          <a:bodyPr rtlCol="0" anchor="ctr" lIns="73152" rIns="73152" tIns="36576" bIns="36576"/>
          <a:lstStyle/>
          <a:p>
            <a:pPr algn="ctr"/>
          </a:p>
        </p:txBody>
      </p:sp>
      <p:sp>
        <p:nvSpPr>
          <p:cNvPr id="7" name="Oval 6"/>
          <p:cNvSpPr/>
          <p:nvPr/>
        </p:nvSpPr>
        <p:spPr>
          <a:xfrm>
            <a:off x="722376"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8" name="Oval 7"/>
          <p:cNvSpPr/>
          <p:nvPr/>
        </p:nvSpPr>
        <p:spPr>
          <a:xfrm>
            <a:off x="877824"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9" name="Oval 8"/>
          <p:cNvSpPr/>
          <p:nvPr/>
        </p:nvSpPr>
        <p:spPr>
          <a:xfrm>
            <a:off x="1033272" y="2066543"/>
            <a:ext cx="91440" cy="91440"/>
          </a:xfrm>
          <a:prstGeom prst="ellipse">
            <a:avLst/>
          </a:prstGeom>
          <a:solidFill>
            <a:srgbClr val="B8CFEE"/>
          </a:solidFill>
          <a:ln>
            <a:noFill/>
          </a:ln>
          <a:effectLst/>
        </p:spPr>
        <p:txBody>
          <a:bodyPr rtlCol="0" anchor="ctr" lIns="73152" rIns="73152" tIns="36576" bIns="36576"/>
          <a:lstStyle/>
          <a:p>
            <a:pPr algn="ctr"/>
          </a:p>
        </p:txBody>
      </p:sp>
      <p:sp>
        <p:nvSpPr>
          <p:cNvPr id="10" name="TextBox 9"/>
          <p:cNvSpPr txBox="1"/>
          <p:nvPr/>
        </p:nvSpPr>
        <p:spPr>
          <a:xfrm>
            <a:off x="1325880" y="2029967"/>
            <a:ext cx="2743200" cy="182880"/>
          </a:xfrm>
          <a:prstGeom prst="rect">
            <a:avLst/>
          </a:prstGeom>
          <a:noFill/>
        </p:spPr>
        <p:txBody>
          <a:bodyPr wrap="square" lIns="0" rIns="0" tIns="0" bIns="0" anchor="t"/>
          <a:lstStyle/>
          <a:p>
            <a:pPr algn="l">
              <a:lnSpc>
                <a:spcPct val="115000"/>
              </a:lnSpc>
              <a:spcAft>
                <a:spcPts val="0"/>
              </a:spcAft>
            </a:pPr>
            <a:r>
              <a:rPr sz="850" b="1" i="0">
                <a:solidFill>
                  <a:srgbClr val="61738A"/>
                </a:solidFill>
                <a:latin typeface="Inter"/>
              </a:rPr>
              <a:t>Founder OS</a:t>
            </a:r>
          </a:p>
        </p:txBody>
      </p:sp>
      <p:sp>
        <p:nvSpPr>
          <p:cNvPr id="11" name="Rectangle 10"/>
          <p:cNvSpPr/>
          <p:nvPr/>
        </p:nvSpPr>
        <p:spPr>
          <a:xfrm>
            <a:off x="594360" y="2258568"/>
            <a:ext cx="1234440" cy="3639312"/>
          </a:xfrm>
          <a:prstGeom prst="rect">
            <a:avLst/>
          </a:prstGeom>
          <a:solidFill>
            <a:srgbClr val="10213B"/>
          </a:solidFill>
          <a:ln>
            <a:noFill/>
          </a:ln>
          <a:effectLst/>
        </p:spPr>
        <p:txBody>
          <a:bodyPr rtlCol="0" anchor="ctr" lIns="73152" rIns="73152" tIns="36576" bIns="36576"/>
          <a:lstStyle/>
          <a:p>
            <a:pPr algn="ctr"/>
          </a:p>
        </p:txBody>
      </p:sp>
      <p:sp>
        <p:nvSpPr>
          <p:cNvPr id="12" name="TextBox 11"/>
          <p:cNvSpPr txBox="1"/>
          <p:nvPr/>
        </p:nvSpPr>
        <p:spPr>
          <a:xfrm>
            <a:off x="758952" y="2468880"/>
            <a:ext cx="1051560" cy="228600"/>
          </a:xfrm>
          <a:prstGeom prst="rect">
            <a:avLst/>
          </a:prstGeom>
          <a:noFill/>
        </p:spPr>
        <p:txBody>
          <a:bodyPr wrap="square" lIns="0" rIns="0" tIns="0" bIns="0" anchor="t"/>
          <a:lstStyle/>
          <a:p>
            <a:pPr algn="l">
              <a:lnSpc>
                <a:spcPct val="115000"/>
              </a:lnSpc>
              <a:spcAft>
                <a:spcPts val="0"/>
              </a:spcAft>
            </a:pPr>
            <a:r>
              <a:rPr sz="900" b="1" i="0">
                <a:solidFill>
                  <a:srgbClr val="FFFFFF"/>
                </a:solidFill>
                <a:latin typeface="Inter"/>
              </a:rPr>
              <a:t>Dashboard</a:t>
            </a:r>
          </a:p>
        </p:txBody>
      </p:sp>
      <p:sp>
        <p:nvSpPr>
          <p:cNvPr id="13" name="TextBox 12"/>
          <p:cNvSpPr txBox="1"/>
          <p:nvPr/>
        </p:nvSpPr>
        <p:spPr>
          <a:xfrm>
            <a:off x="758952" y="2816352"/>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My startup</a:t>
            </a:r>
          </a:p>
        </p:txBody>
      </p:sp>
      <p:sp>
        <p:nvSpPr>
          <p:cNvPr id="14" name="TextBox 13"/>
          <p:cNvSpPr txBox="1"/>
          <p:nvPr/>
        </p:nvSpPr>
        <p:spPr>
          <a:xfrm>
            <a:off x="758952" y="3163824"/>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Next steps</a:t>
            </a:r>
          </a:p>
        </p:txBody>
      </p:sp>
      <p:sp>
        <p:nvSpPr>
          <p:cNvPr id="15" name="TextBox 14"/>
          <p:cNvSpPr txBox="1"/>
          <p:nvPr/>
        </p:nvSpPr>
        <p:spPr>
          <a:xfrm>
            <a:off x="758952" y="3511296"/>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Learn</a:t>
            </a:r>
          </a:p>
        </p:txBody>
      </p:sp>
      <p:sp>
        <p:nvSpPr>
          <p:cNvPr id="16" name="TextBox 15"/>
          <p:cNvSpPr txBox="1"/>
          <p:nvPr/>
        </p:nvSpPr>
        <p:spPr>
          <a:xfrm>
            <a:off x="758952" y="3858768"/>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People</a:t>
            </a:r>
          </a:p>
        </p:txBody>
      </p:sp>
      <p:sp>
        <p:nvSpPr>
          <p:cNvPr id="17" name="TextBox 16"/>
          <p:cNvSpPr txBox="1"/>
          <p:nvPr/>
        </p:nvSpPr>
        <p:spPr>
          <a:xfrm>
            <a:off x="758952" y="4206240"/>
            <a:ext cx="1051560" cy="228600"/>
          </a:xfrm>
          <a:prstGeom prst="rect">
            <a:avLst/>
          </a:prstGeom>
          <a:noFill/>
        </p:spPr>
        <p:txBody>
          <a:bodyPr wrap="square" lIns="0" rIns="0" tIns="0" bIns="0" anchor="t"/>
          <a:lstStyle/>
          <a:p>
            <a:pPr algn="l">
              <a:lnSpc>
                <a:spcPct val="115000"/>
              </a:lnSpc>
              <a:spcAft>
                <a:spcPts val="0"/>
              </a:spcAft>
            </a:pPr>
            <a:r>
              <a:rPr sz="900" b="0" i="0">
                <a:solidFill>
                  <a:srgbClr val="9FB2CC"/>
                </a:solidFill>
                <a:latin typeface="Inter"/>
              </a:rPr>
              <a:t>Opportunities</a:t>
            </a:r>
          </a:p>
        </p:txBody>
      </p:sp>
      <p:sp>
        <p:nvSpPr>
          <p:cNvPr id="18" name="TextBox 17"/>
          <p:cNvSpPr txBox="1"/>
          <p:nvPr/>
        </p:nvSpPr>
        <p:spPr>
          <a:xfrm>
            <a:off x="2057400" y="2423160"/>
            <a:ext cx="3931920" cy="274320"/>
          </a:xfrm>
          <a:prstGeom prst="rect">
            <a:avLst/>
          </a:prstGeom>
          <a:noFill/>
        </p:spPr>
        <p:txBody>
          <a:bodyPr wrap="square" lIns="0" rIns="0" tIns="0" bIns="0" anchor="t"/>
          <a:lstStyle/>
          <a:p>
            <a:pPr algn="l">
              <a:lnSpc>
                <a:spcPct val="115000"/>
              </a:lnSpc>
              <a:spcAft>
                <a:spcPts val="0"/>
              </a:spcAft>
            </a:pPr>
            <a:r>
              <a:rPr sz="850" b="0" i="0">
                <a:solidFill>
                  <a:srgbClr val="61738A"/>
                </a:solidFill>
                <a:latin typeface="Inter"/>
              </a:rPr>
              <a:t>Your current stage</a:t>
            </a:r>
          </a:p>
        </p:txBody>
      </p:sp>
      <p:sp>
        <p:nvSpPr>
          <p:cNvPr id="19" name="TextBox 18"/>
          <p:cNvSpPr txBox="1"/>
          <p:nvPr/>
        </p:nvSpPr>
        <p:spPr>
          <a:xfrm>
            <a:off x="2057400" y="2624328"/>
            <a:ext cx="3931920" cy="320040"/>
          </a:xfrm>
          <a:prstGeom prst="rect">
            <a:avLst/>
          </a:prstGeom>
          <a:noFill/>
        </p:spPr>
        <p:txBody>
          <a:bodyPr wrap="square" lIns="0" rIns="0" tIns="0" bIns="0" anchor="t"/>
          <a:lstStyle/>
          <a:p>
            <a:pPr algn="l">
              <a:lnSpc>
                <a:spcPct val="115000"/>
              </a:lnSpc>
              <a:spcAft>
                <a:spcPts val="0"/>
              </a:spcAft>
            </a:pPr>
            <a:r>
              <a:rPr sz="1600" b="1" i="0">
                <a:solidFill>
                  <a:srgbClr val="10213B"/>
                </a:solidFill>
                <a:latin typeface="Inter"/>
              </a:rPr>
              <a:t>Validate</a:t>
            </a:r>
          </a:p>
        </p:txBody>
      </p:sp>
      <p:sp>
        <p:nvSpPr>
          <p:cNvPr id="20" name="Rectangle 19"/>
          <p:cNvSpPr/>
          <p:nvPr/>
        </p:nvSpPr>
        <p:spPr>
          <a:xfrm>
            <a:off x="2057400" y="3017520"/>
            <a:ext cx="566928" cy="73152"/>
          </a:xfrm>
          <a:prstGeom prst="rect">
            <a:avLst/>
          </a:prstGeom>
          <a:solidFill>
            <a:srgbClr val="1765D1"/>
          </a:solidFill>
          <a:ln>
            <a:noFill/>
          </a:ln>
          <a:effectLst/>
        </p:spPr>
        <p:txBody>
          <a:bodyPr rtlCol="0" anchor="ctr" lIns="73152" rIns="73152" tIns="36576" bIns="36576"/>
          <a:lstStyle/>
          <a:p>
            <a:pPr algn="ctr"/>
          </a:p>
        </p:txBody>
      </p:sp>
      <p:sp>
        <p:nvSpPr>
          <p:cNvPr id="21" name="Rectangle 20"/>
          <p:cNvSpPr/>
          <p:nvPr/>
        </p:nvSpPr>
        <p:spPr>
          <a:xfrm>
            <a:off x="2697480" y="3017520"/>
            <a:ext cx="566928" cy="73152"/>
          </a:xfrm>
          <a:prstGeom prst="rect">
            <a:avLst/>
          </a:prstGeom>
          <a:solidFill>
            <a:srgbClr val="1765D1"/>
          </a:solidFill>
          <a:ln>
            <a:noFill/>
          </a:ln>
          <a:effectLst/>
        </p:spPr>
        <p:txBody>
          <a:bodyPr rtlCol="0" anchor="ctr" lIns="73152" rIns="73152" tIns="36576" bIns="36576"/>
          <a:lstStyle/>
          <a:p>
            <a:pPr algn="ctr"/>
          </a:p>
        </p:txBody>
      </p:sp>
      <p:sp>
        <p:nvSpPr>
          <p:cNvPr id="22" name="Rectangle 21"/>
          <p:cNvSpPr/>
          <p:nvPr/>
        </p:nvSpPr>
        <p:spPr>
          <a:xfrm>
            <a:off x="3337560"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3" name="Rectangle 22"/>
          <p:cNvSpPr/>
          <p:nvPr/>
        </p:nvSpPr>
        <p:spPr>
          <a:xfrm>
            <a:off x="3977639"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4" name="Rectangle 23"/>
          <p:cNvSpPr/>
          <p:nvPr/>
        </p:nvSpPr>
        <p:spPr>
          <a:xfrm>
            <a:off x="4617720"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5" name="Rectangle 24"/>
          <p:cNvSpPr/>
          <p:nvPr/>
        </p:nvSpPr>
        <p:spPr>
          <a:xfrm>
            <a:off x="5257800" y="3017520"/>
            <a:ext cx="566928" cy="73152"/>
          </a:xfrm>
          <a:prstGeom prst="rect">
            <a:avLst/>
          </a:prstGeom>
          <a:solidFill>
            <a:srgbClr val="D9E5F6"/>
          </a:solidFill>
          <a:ln>
            <a:noFill/>
          </a:ln>
          <a:effectLst/>
        </p:spPr>
        <p:txBody>
          <a:bodyPr rtlCol="0" anchor="ctr" lIns="73152" rIns="73152" tIns="36576" bIns="36576"/>
          <a:lstStyle/>
          <a:p>
            <a:pPr algn="ctr"/>
          </a:p>
        </p:txBody>
      </p:sp>
      <p:sp>
        <p:nvSpPr>
          <p:cNvPr id="26" name="Rectangle 25"/>
          <p:cNvSpPr/>
          <p:nvPr/>
        </p:nvSpPr>
        <p:spPr>
          <a:xfrm>
            <a:off x="2057400" y="3291839"/>
            <a:ext cx="3977639" cy="1097280"/>
          </a:xfrm>
          <a:prstGeom prst="rect">
            <a:avLst/>
          </a:prstGeom>
          <a:solidFill>
            <a:srgbClr val="EDF4FE"/>
          </a:solidFill>
          <a:ln>
            <a:noFill/>
          </a:ln>
          <a:effectLst/>
        </p:spPr>
        <p:txBody>
          <a:bodyPr rtlCol="0" anchor="ctr" lIns="73152" rIns="73152" tIns="36576" bIns="36576"/>
          <a:lstStyle/>
          <a:p>
            <a:pPr algn="ctr"/>
          </a:p>
        </p:txBody>
      </p:sp>
      <p:sp>
        <p:nvSpPr>
          <p:cNvPr id="27" name="TextBox 26"/>
          <p:cNvSpPr txBox="1"/>
          <p:nvPr/>
        </p:nvSpPr>
        <p:spPr>
          <a:xfrm>
            <a:off x="2194560" y="3383280"/>
            <a:ext cx="3657600" cy="228600"/>
          </a:xfrm>
          <a:prstGeom prst="rect">
            <a:avLst/>
          </a:prstGeom>
          <a:noFill/>
        </p:spPr>
        <p:txBody>
          <a:bodyPr wrap="square" lIns="0" rIns="0" tIns="0" bIns="0" anchor="t"/>
          <a:lstStyle/>
          <a:p>
            <a:pPr algn="l">
              <a:lnSpc>
                <a:spcPct val="115000"/>
              </a:lnSpc>
              <a:spcAft>
                <a:spcPts val="0"/>
              </a:spcAft>
            </a:pPr>
            <a:r>
              <a:rPr sz="750" b="1" i="0" spc="80">
                <a:solidFill>
                  <a:srgbClr val="1765D1"/>
                </a:solidFill>
                <a:latin typeface="Inter"/>
              </a:rPr>
              <a:t>SUGGESTED NEXT STEP</a:t>
            </a:r>
          </a:p>
        </p:txBody>
      </p:sp>
      <p:sp>
        <p:nvSpPr>
          <p:cNvPr id="28" name="TextBox 27"/>
          <p:cNvSpPr txBox="1"/>
          <p:nvPr/>
        </p:nvSpPr>
        <p:spPr>
          <a:xfrm>
            <a:off x="2194560" y="3611880"/>
            <a:ext cx="3749039" cy="457200"/>
          </a:xfrm>
          <a:prstGeom prst="rect">
            <a:avLst/>
          </a:prstGeom>
          <a:noFill/>
        </p:spPr>
        <p:txBody>
          <a:bodyPr wrap="square" lIns="0" rIns="0" tIns="0" bIns="0" anchor="t"/>
          <a:lstStyle/>
          <a:p>
            <a:pPr algn="l">
              <a:lnSpc>
                <a:spcPct val="110000"/>
              </a:lnSpc>
              <a:spcAft>
                <a:spcPts val="0"/>
              </a:spcAft>
            </a:pPr>
            <a:r>
              <a:rPr sz="1100" b="1" i="0">
                <a:solidFill>
                  <a:srgbClr val="10213B"/>
                </a:solidFill>
                <a:latin typeface="Inter"/>
              </a:rPr>
              <a:t>Run five customer conversations using the interview guide</a:t>
            </a:r>
          </a:p>
        </p:txBody>
      </p:sp>
      <p:sp>
        <p:nvSpPr>
          <p:cNvPr id="29" name="Rounded Rectangle 28"/>
          <p:cNvSpPr/>
          <p:nvPr/>
        </p:nvSpPr>
        <p:spPr>
          <a:xfrm>
            <a:off x="2194560" y="4023360"/>
            <a:ext cx="1143000" cy="256032"/>
          </a:xfrm>
          <a:prstGeom prst="roundRect">
            <a:avLst>
              <a:gd name="adj" fmla="val 3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800" b="1" i="0">
                <a:solidFill>
                  <a:srgbClr val="FFFFFF"/>
                </a:solidFill>
                <a:latin typeface="Inter"/>
              </a:rPr>
              <a:t>Open guide</a:t>
            </a:r>
          </a:p>
        </p:txBody>
      </p:sp>
      <p:sp>
        <p:nvSpPr>
          <p:cNvPr id="30" name="TextBox 29"/>
          <p:cNvSpPr txBox="1"/>
          <p:nvPr/>
        </p:nvSpPr>
        <p:spPr>
          <a:xfrm>
            <a:off x="2057400" y="4572000"/>
            <a:ext cx="914400" cy="274320"/>
          </a:xfrm>
          <a:prstGeom prst="rect">
            <a:avLst/>
          </a:prstGeom>
          <a:noFill/>
        </p:spPr>
        <p:txBody>
          <a:bodyPr wrap="square" lIns="0" rIns="0" tIns="0" bIns="0" anchor="t"/>
          <a:lstStyle/>
          <a:p>
            <a:pPr algn="l">
              <a:lnSpc>
                <a:spcPct val="115000"/>
              </a:lnSpc>
              <a:spcAft>
                <a:spcPts val="0"/>
              </a:spcAft>
            </a:pPr>
            <a:r>
              <a:rPr sz="750" b="1" i="0" spc="60">
                <a:solidFill>
                  <a:srgbClr val="1765D1"/>
                </a:solidFill>
                <a:latin typeface="Inter"/>
              </a:rPr>
              <a:t>RESOURCE</a:t>
            </a:r>
          </a:p>
        </p:txBody>
      </p:sp>
      <p:sp>
        <p:nvSpPr>
          <p:cNvPr id="31" name="TextBox 30"/>
          <p:cNvSpPr txBox="1"/>
          <p:nvPr/>
        </p:nvSpPr>
        <p:spPr>
          <a:xfrm>
            <a:off x="2971800" y="4553712"/>
            <a:ext cx="3017520" cy="27432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Customer interview template</a:t>
            </a:r>
          </a:p>
        </p:txBody>
      </p:sp>
      <p:cxnSp>
        <p:nvCxnSpPr>
          <p:cNvPr id="32" name="Connector 31"/>
          <p:cNvCxnSpPr/>
          <p:nvPr/>
        </p:nvCxnSpPr>
        <p:spPr>
          <a:xfrm>
            <a:off x="2057400" y="4864608"/>
            <a:ext cx="3977640" cy="0"/>
          </a:xfrm>
          <a:prstGeom prst="line">
            <a:avLst/>
          </a:prstGeom>
          <a:ln w="12700">
            <a:solidFill>
              <a:srgbClr val="E3ECF8"/>
            </a:solidFill>
          </a:ln>
        </p:spPr>
      </p:cxnSp>
      <p:sp>
        <p:nvSpPr>
          <p:cNvPr id="33" name="TextBox 32"/>
          <p:cNvSpPr txBox="1"/>
          <p:nvPr/>
        </p:nvSpPr>
        <p:spPr>
          <a:xfrm>
            <a:off x="2057400" y="4956048"/>
            <a:ext cx="914400" cy="274320"/>
          </a:xfrm>
          <a:prstGeom prst="rect">
            <a:avLst/>
          </a:prstGeom>
          <a:noFill/>
        </p:spPr>
        <p:txBody>
          <a:bodyPr wrap="square" lIns="0" rIns="0" tIns="0" bIns="0" anchor="t"/>
          <a:lstStyle/>
          <a:p>
            <a:pPr algn="l">
              <a:lnSpc>
                <a:spcPct val="115000"/>
              </a:lnSpc>
              <a:spcAft>
                <a:spcPts val="0"/>
              </a:spcAft>
            </a:pPr>
            <a:r>
              <a:rPr sz="750" b="1" i="0" spc="60">
                <a:solidFill>
                  <a:srgbClr val="1765D1"/>
                </a:solidFill>
                <a:latin typeface="Inter"/>
              </a:rPr>
              <a:t>SESSION</a:t>
            </a:r>
          </a:p>
        </p:txBody>
      </p:sp>
      <p:sp>
        <p:nvSpPr>
          <p:cNvPr id="34" name="TextBox 33"/>
          <p:cNvSpPr txBox="1"/>
          <p:nvPr/>
        </p:nvSpPr>
        <p:spPr>
          <a:xfrm>
            <a:off x="2971800" y="4937760"/>
            <a:ext cx="3017520" cy="27432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Validation clinic — book a slot</a:t>
            </a:r>
          </a:p>
        </p:txBody>
      </p:sp>
      <p:cxnSp>
        <p:nvCxnSpPr>
          <p:cNvPr id="35" name="Connector 34"/>
          <p:cNvCxnSpPr/>
          <p:nvPr/>
        </p:nvCxnSpPr>
        <p:spPr>
          <a:xfrm>
            <a:off x="2057400" y="5248656"/>
            <a:ext cx="3977640" cy="0"/>
          </a:xfrm>
          <a:prstGeom prst="line">
            <a:avLst/>
          </a:prstGeom>
          <a:ln w="12700">
            <a:solidFill>
              <a:srgbClr val="E3ECF8"/>
            </a:solidFill>
          </a:ln>
        </p:spPr>
      </p:cxnSp>
      <p:sp>
        <p:nvSpPr>
          <p:cNvPr id="36" name="TextBox 35"/>
          <p:cNvSpPr txBox="1"/>
          <p:nvPr/>
        </p:nvSpPr>
        <p:spPr>
          <a:xfrm>
            <a:off x="2057400" y="5340096"/>
            <a:ext cx="914400" cy="274320"/>
          </a:xfrm>
          <a:prstGeom prst="rect">
            <a:avLst/>
          </a:prstGeom>
          <a:noFill/>
        </p:spPr>
        <p:txBody>
          <a:bodyPr wrap="square" lIns="0" rIns="0" tIns="0" bIns="0" anchor="t"/>
          <a:lstStyle/>
          <a:p>
            <a:pPr algn="l">
              <a:lnSpc>
                <a:spcPct val="115000"/>
              </a:lnSpc>
              <a:spcAft>
                <a:spcPts val="0"/>
              </a:spcAft>
            </a:pPr>
            <a:r>
              <a:rPr sz="750" b="1" i="0" spc="60">
                <a:solidFill>
                  <a:srgbClr val="1765D1"/>
                </a:solidFill>
                <a:latin typeface="Inter"/>
              </a:rPr>
              <a:t>CONNECT</a:t>
            </a:r>
          </a:p>
        </p:txBody>
      </p:sp>
      <p:sp>
        <p:nvSpPr>
          <p:cNvPr id="37" name="TextBox 36"/>
          <p:cNvSpPr txBox="1"/>
          <p:nvPr/>
        </p:nvSpPr>
        <p:spPr>
          <a:xfrm>
            <a:off x="2971800" y="5321808"/>
            <a:ext cx="3017520" cy="274320"/>
          </a:xfrm>
          <a:prstGeom prst="rect">
            <a:avLst/>
          </a:prstGeom>
          <a:noFill/>
        </p:spPr>
        <p:txBody>
          <a:bodyPr wrap="square" lIns="0" rIns="0" tIns="0" bIns="0" anchor="t"/>
          <a:lstStyle/>
          <a:p>
            <a:pPr algn="l">
              <a:lnSpc>
                <a:spcPct val="115000"/>
              </a:lnSpc>
              <a:spcAft>
                <a:spcPts val="0"/>
              </a:spcAft>
            </a:pPr>
            <a:r>
              <a:rPr sz="950" b="0" i="0">
                <a:solidFill>
                  <a:srgbClr val="253650"/>
                </a:solidFill>
                <a:latin typeface="Inter"/>
              </a:rPr>
              <a:t>Request a mentor in your sector</a:t>
            </a:r>
          </a:p>
        </p:txBody>
      </p:sp>
      <p:cxnSp>
        <p:nvCxnSpPr>
          <p:cNvPr id="38" name="Connector 37"/>
          <p:cNvCxnSpPr/>
          <p:nvPr/>
        </p:nvCxnSpPr>
        <p:spPr>
          <a:xfrm>
            <a:off x="2057400" y="5632704"/>
            <a:ext cx="3977640" cy="0"/>
          </a:xfrm>
          <a:prstGeom prst="line">
            <a:avLst/>
          </a:prstGeom>
          <a:ln w="12700">
            <a:solidFill>
              <a:srgbClr val="E3ECF8"/>
            </a:solidFill>
          </a:ln>
        </p:spPr>
      </p:cxnSp>
      <p:sp>
        <p:nvSpPr>
          <p:cNvPr id="39" name="TextBox 38"/>
          <p:cNvSpPr txBox="1"/>
          <p:nvPr/>
        </p:nvSpPr>
        <p:spPr>
          <a:xfrm>
            <a:off x="594360" y="5989319"/>
            <a:ext cx="5623560" cy="228600"/>
          </a:xfrm>
          <a:prstGeom prst="rect">
            <a:avLst/>
          </a:prstGeom>
          <a:noFill/>
        </p:spPr>
        <p:txBody>
          <a:bodyPr wrap="square" lIns="0" rIns="0" tIns="0" bIns="0" anchor="t"/>
          <a:lstStyle/>
          <a:p>
            <a:pPr algn="l">
              <a:lnSpc>
                <a:spcPct val="115000"/>
              </a:lnSpc>
              <a:spcAft>
                <a:spcPts val="0"/>
              </a:spcAft>
            </a:pPr>
            <a:r>
              <a:rPr sz="900" b="0" i="1">
                <a:solidFill>
                  <a:srgbClr val="61738A"/>
                </a:solidFill>
                <a:latin typeface="Inter"/>
              </a:rPr>
              <a:t>Illustrative product concept — not a live screen.</a:t>
            </a:r>
          </a:p>
        </p:txBody>
      </p:sp>
      <p:sp>
        <p:nvSpPr>
          <p:cNvPr id="40" name="Oval 39"/>
          <p:cNvSpPr/>
          <p:nvPr/>
        </p:nvSpPr>
        <p:spPr>
          <a:xfrm>
            <a:off x="6629400" y="2011679"/>
            <a:ext cx="365760" cy="365760"/>
          </a:xfrm>
          <a:prstGeom prst="ellipse">
            <a:avLst/>
          </a:prstGeom>
          <a:solidFill>
            <a:srgbClr val="1765D1"/>
          </a:solidFill>
          <a:ln>
            <a:noFill/>
          </a:ln>
          <a:effectLst/>
        </p:spPr>
        <p:txBody>
          <a:bodyPr rtlCol="0" anchor="ctr" lIns="73152" rIns="73152" tIns="36576" bIns="36576"/>
          <a:lstStyle/>
          <a:p>
            <a:pPr algn="ctr"/>
          </a:p>
        </p:txBody>
      </p:sp>
      <p:sp>
        <p:nvSpPr>
          <p:cNvPr id="41" name="TextBox 40"/>
          <p:cNvSpPr txBox="1"/>
          <p:nvPr/>
        </p:nvSpPr>
        <p:spPr>
          <a:xfrm>
            <a:off x="6629400" y="2057400"/>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1</a:t>
            </a:r>
          </a:p>
        </p:txBody>
      </p:sp>
      <p:sp>
        <p:nvSpPr>
          <p:cNvPr id="42" name="TextBox 41"/>
          <p:cNvSpPr txBox="1"/>
          <p:nvPr/>
        </p:nvSpPr>
        <p:spPr>
          <a:xfrm>
            <a:off x="7178040" y="1965960"/>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My startup</a:t>
            </a:r>
          </a:p>
        </p:txBody>
      </p:sp>
      <p:sp>
        <p:nvSpPr>
          <p:cNvPr id="43" name="TextBox 42"/>
          <p:cNvSpPr txBox="1"/>
          <p:nvPr/>
        </p:nvSpPr>
        <p:spPr>
          <a:xfrm>
            <a:off x="7178040" y="2313432"/>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Founder profile · stage and goals · personal dashboard</a:t>
            </a:r>
          </a:p>
        </p:txBody>
      </p:sp>
      <p:sp>
        <p:nvSpPr>
          <p:cNvPr id="44" name="Oval 43"/>
          <p:cNvSpPr/>
          <p:nvPr/>
        </p:nvSpPr>
        <p:spPr>
          <a:xfrm>
            <a:off x="6629400" y="2999232"/>
            <a:ext cx="365760" cy="365760"/>
          </a:xfrm>
          <a:prstGeom prst="ellipse">
            <a:avLst/>
          </a:prstGeom>
          <a:solidFill>
            <a:srgbClr val="10213B"/>
          </a:solidFill>
          <a:ln>
            <a:noFill/>
          </a:ln>
          <a:effectLst/>
        </p:spPr>
        <p:txBody>
          <a:bodyPr rtlCol="0" anchor="ctr" lIns="73152" rIns="73152" tIns="36576" bIns="36576"/>
          <a:lstStyle/>
          <a:p>
            <a:pPr algn="ctr"/>
          </a:p>
        </p:txBody>
      </p:sp>
      <p:sp>
        <p:nvSpPr>
          <p:cNvPr id="45" name="TextBox 44"/>
          <p:cNvSpPr txBox="1"/>
          <p:nvPr/>
        </p:nvSpPr>
        <p:spPr>
          <a:xfrm>
            <a:off x="6629400" y="3044952"/>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2</a:t>
            </a:r>
          </a:p>
        </p:txBody>
      </p:sp>
      <p:sp>
        <p:nvSpPr>
          <p:cNvPr id="46" name="TextBox 45"/>
          <p:cNvSpPr txBox="1"/>
          <p:nvPr/>
        </p:nvSpPr>
        <p:spPr>
          <a:xfrm>
            <a:off x="7178040" y="2953512"/>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Next steps</a:t>
            </a:r>
          </a:p>
        </p:txBody>
      </p:sp>
      <p:sp>
        <p:nvSpPr>
          <p:cNvPr id="47" name="TextBox 46"/>
          <p:cNvSpPr txBox="1"/>
          <p:nvPr/>
        </p:nvSpPr>
        <p:spPr>
          <a:xfrm>
            <a:off x="7178040" y="3300984"/>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Tasks · resources and templates · learning progress</a:t>
            </a:r>
          </a:p>
        </p:txBody>
      </p:sp>
      <p:sp>
        <p:nvSpPr>
          <p:cNvPr id="48" name="Oval 47"/>
          <p:cNvSpPr/>
          <p:nvPr/>
        </p:nvSpPr>
        <p:spPr>
          <a:xfrm>
            <a:off x="6629400" y="3986784"/>
            <a:ext cx="365760" cy="365760"/>
          </a:xfrm>
          <a:prstGeom prst="ellipse">
            <a:avLst/>
          </a:prstGeom>
          <a:solidFill>
            <a:srgbClr val="1765D1"/>
          </a:solidFill>
          <a:ln>
            <a:noFill/>
          </a:ln>
          <a:effectLst/>
        </p:spPr>
        <p:txBody>
          <a:bodyPr rtlCol="0" anchor="ctr" lIns="73152" rIns="73152" tIns="36576" bIns="36576"/>
          <a:lstStyle/>
          <a:p>
            <a:pPr algn="ctr"/>
          </a:p>
        </p:txBody>
      </p:sp>
      <p:sp>
        <p:nvSpPr>
          <p:cNvPr id="49" name="TextBox 48"/>
          <p:cNvSpPr txBox="1"/>
          <p:nvPr/>
        </p:nvSpPr>
        <p:spPr>
          <a:xfrm>
            <a:off x="6629400" y="4032504"/>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3</a:t>
            </a:r>
          </a:p>
        </p:txBody>
      </p:sp>
      <p:sp>
        <p:nvSpPr>
          <p:cNvPr id="50" name="TextBox 49"/>
          <p:cNvSpPr txBox="1"/>
          <p:nvPr/>
        </p:nvSpPr>
        <p:spPr>
          <a:xfrm>
            <a:off x="7178040" y="3941064"/>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People and support</a:t>
            </a:r>
          </a:p>
        </p:txBody>
      </p:sp>
      <p:sp>
        <p:nvSpPr>
          <p:cNvPr id="51" name="TextBox 50"/>
          <p:cNvSpPr txBox="1"/>
          <p:nvPr/>
        </p:nvSpPr>
        <p:spPr>
          <a:xfrm>
            <a:off x="7178040" y="4288536"/>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Mentor and specialist discovery · connection requests · service requests</a:t>
            </a:r>
          </a:p>
        </p:txBody>
      </p:sp>
      <p:sp>
        <p:nvSpPr>
          <p:cNvPr id="52" name="Oval 51"/>
          <p:cNvSpPr/>
          <p:nvPr/>
        </p:nvSpPr>
        <p:spPr>
          <a:xfrm>
            <a:off x="6629400" y="4974336"/>
            <a:ext cx="365760" cy="365760"/>
          </a:xfrm>
          <a:prstGeom prst="ellipse">
            <a:avLst/>
          </a:prstGeom>
          <a:solidFill>
            <a:srgbClr val="10213B"/>
          </a:solidFill>
          <a:ln>
            <a:noFill/>
          </a:ln>
          <a:effectLst/>
        </p:spPr>
        <p:txBody>
          <a:bodyPr rtlCol="0" anchor="ctr" lIns="73152" rIns="73152" tIns="36576" bIns="36576"/>
          <a:lstStyle/>
          <a:p>
            <a:pPr algn="ctr"/>
          </a:p>
        </p:txBody>
      </p:sp>
      <p:sp>
        <p:nvSpPr>
          <p:cNvPr id="53" name="TextBox 52"/>
          <p:cNvSpPr txBox="1"/>
          <p:nvPr/>
        </p:nvSpPr>
        <p:spPr>
          <a:xfrm>
            <a:off x="6629400" y="5020056"/>
            <a:ext cx="365760" cy="274320"/>
          </a:xfrm>
          <a:prstGeom prst="rect">
            <a:avLst/>
          </a:prstGeom>
          <a:noFill/>
        </p:spPr>
        <p:txBody>
          <a:bodyPr wrap="square" lIns="0" rIns="0" tIns="0" bIns="0" anchor="t"/>
          <a:lstStyle/>
          <a:p>
            <a:pPr algn="ctr">
              <a:lnSpc>
                <a:spcPct val="115000"/>
              </a:lnSpc>
              <a:spcAft>
                <a:spcPts val="0"/>
              </a:spcAft>
            </a:pPr>
            <a:r>
              <a:rPr sz="1200" b="1" i="0">
                <a:solidFill>
                  <a:srgbClr val="FFFFFF"/>
                </a:solidFill>
                <a:latin typeface="Inter"/>
              </a:rPr>
              <a:t>4</a:t>
            </a:r>
          </a:p>
        </p:txBody>
      </p:sp>
      <p:sp>
        <p:nvSpPr>
          <p:cNvPr id="54" name="TextBox 53"/>
          <p:cNvSpPr txBox="1"/>
          <p:nvPr/>
        </p:nvSpPr>
        <p:spPr>
          <a:xfrm>
            <a:off x="7178040" y="4928616"/>
            <a:ext cx="438912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Opportunities and progress</a:t>
            </a:r>
          </a:p>
        </p:txBody>
      </p:sp>
      <p:sp>
        <p:nvSpPr>
          <p:cNvPr id="55" name="TextBox 54"/>
          <p:cNvSpPr txBox="1"/>
          <p:nvPr/>
        </p:nvSpPr>
        <p:spPr>
          <a:xfrm>
            <a:off x="7178040" y="5276088"/>
            <a:ext cx="4389120" cy="54864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Relevant opportunities · activity and progress tracking</a:t>
            </a:r>
          </a:p>
        </p:txBody>
      </p:sp>
      <p:sp>
        <p:nvSpPr>
          <p:cNvPr id="56" name="TextBox 55"/>
          <p:cNvSpPr txBox="1"/>
          <p:nvPr/>
        </p:nvSpPr>
        <p:spPr>
          <a:xfrm>
            <a:off x="6629400" y="5943600"/>
            <a:ext cx="4937760" cy="36576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Capabilities will be prioritised with pilot founders and released step by step.</a:t>
            </a:r>
          </a:p>
        </p:txBody>
      </p:sp>
      <p:sp>
        <p:nvSpPr>
          <p:cNvPr id="57" name="TextBox 56"/>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58" name="TextBox 57"/>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08</a:t>
            </a:r>
            <a:r>
              <a:rPr sz="1000" b="1" i="0" spc="150">
                <a:solidFill>
                  <a:srgbClr val="1765D1"/>
                </a:solidFill>
                <a:latin typeface="Inter"/>
              </a:rPr>
              <a:t>   THE FOUNDER EXPERIENCE</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A founder joins with an idea and needs to validate demand.</a:t>
            </a:r>
          </a:p>
        </p:txBody>
      </p:sp>
      <p:sp>
        <p:nvSpPr>
          <p:cNvPr id="4" name="Rounded Rectangle 3"/>
          <p:cNvSpPr/>
          <p:nvPr/>
        </p:nvSpPr>
        <p:spPr>
          <a:xfrm>
            <a:off x="9629363" y="402336"/>
            <a:ext cx="19679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ILLUSTRATIVE SCENARIO</a:t>
            </a:r>
          </a:p>
        </p:txBody>
      </p:sp>
      <p:sp>
        <p:nvSpPr>
          <p:cNvPr id="5" name="Rectangle 4"/>
          <p:cNvSpPr/>
          <p:nvPr/>
        </p:nvSpPr>
        <p:spPr>
          <a:xfrm>
            <a:off x="594360" y="1965960"/>
            <a:ext cx="3063240" cy="4251960"/>
          </a:xfrm>
          <a:prstGeom prst="rect">
            <a:avLst/>
          </a:prstGeom>
          <a:solidFill>
            <a:srgbClr val="EDF4FE"/>
          </a:solidFill>
          <a:ln>
            <a:noFill/>
          </a:ln>
          <a:effectLst/>
        </p:spPr>
        <p:txBody>
          <a:bodyPr rtlCol="0" anchor="ctr" lIns="73152" rIns="73152" tIns="36576" bIns="36576"/>
          <a:lstStyle/>
          <a:p>
            <a:pPr algn="ctr"/>
          </a:p>
        </p:txBody>
      </p:sp>
      <p:sp>
        <p:nvSpPr>
          <p:cNvPr id="6" name="TextBox 5"/>
          <p:cNvSpPr txBox="1"/>
          <p:nvPr/>
        </p:nvSpPr>
        <p:spPr>
          <a:xfrm>
            <a:off x="868680" y="2194560"/>
            <a:ext cx="2560320" cy="274320"/>
          </a:xfrm>
          <a:prstGeom prst="rect">
            <a:avLst/>
          </a:prstGeom>
          <a:noFill/>
        </p:spPr>
        <p:txBody>
          <a:bodyPr wrap="square" lIns="0" rIns="0" tIns="0" bIns="0" anchor="t"/>
          <a:lstStyle/>
          <a:p>
            <a:pPr algn="l">
              <a:lnSpc>
                <a:spcPct val="115000"/>
              </a:lnSpc>
              <a:spcAft>
                <a:spcPts val="0"/>
              </a:spcAft>
            </a:pPr>
            <a:r>
              <a:rPr sz="950" b="1" i="0" spc="120">
                <a:solidFill>
                  <a:srgbClr val="1765D1"/>
                </a:solidFill>
                <a:latin typeface="Inter"/>
              </a:rPr>
              <a:t>THE SCENARIO</a:t>
            </a:r>
          </a:p>
        </p:txBody>
      </p:sp>
      <p:sp>
        <p:nvSpPr>
          <p:cNvPr id="7" name="TextBox 6"/>
          <p:cNvSpPr txBox="1"/>
          <p:nvPr/>
        </p:nvSpPr>
        <p:spPr>
          <a:xfrm>
            <a:off x="868680" y="2560320"/>
            <a:ext cx="2606040" cy="2011680"/>
          </a:xfrm>
          <a:prstGeom prst="rect">
            <a:avLst/>
          </a:prstGeom>
          <a:noFill/>
        </p:spPr>
        <p:txBody>
          <a:bodyPr wrap="square" lIns="0" rIns="0" tIns="0" bIns="0" anchor="t"/>
          <a:lstStyle/>
          <a:p>
            <a:pPr algn="l">
              <a:lnSpc>
                <a:spcPct val="130000"/>
              </a:lnSpc>
              <a:spcAft>
                <a:spcPts val="0"/>
              </a:spcAft>
            </a:pPr>
            <a:r>
              <a:rPr sz="1350" b="0" i="0">
                <a:solidFill>
                  <a:srgbClr val="10213B"/>
                </a:solidFill>
                <a:latin typeface="Inter"/>
              </a:rPr>
              <a:t>A first-time founder in Dubai wants to launch a healthy-snack brand. The recipe is ready and the enthusiasm is real, but there is no evidence yet that customers will buy.</a:t>
            </a:r>
          </a:p>
        </p:txBody>
      </p:sp>
      <p:sp>
        <p:nvSpPr>
          <p:cNvPr id="8" name="TextBox 7"/>
          <p:cNvSpPr txBox="1"/>
          <p:nvPr/>
        </p:nvSpPr>
        <p:spPr>
          <a:xfrm>
            <a:off x="868680" y="4617720"/>
            <a:ext cx="2606040" cy="1371600"/>
          </a:xfrm>
          <a:prstGeom prst="rect">
            <a:avLst/>
          </a:prstGeom>
          <a:noFill/>
        </p:spPr>
        <p:txBody>
          <a:bodyPr wrap="square" lIns="0" rIns="0" tIns="0" bIns="0" anchor="t"/>
          <a:lstStyle/>
          <a:p>
            <a:pPr algn="l">
              <a:lnSpc>
                <a:spcPct val="125000"/>
              </a:lnSpc>
              <a:spcAft>
                <a:spcPts val="0"/>
              </a:spcAft>
            </a:pPr>
            <a:r>
              <a:rPr sz="1100" b="0" i="1">
                <a:solidFill>
                  <a:srgbClr val="61738A"/>
                </a:solidFill>
                <a:latin typeface="Inter"/>
              </a:rPr>
              <a:t>This is an example of how the experience is designed to work — not a real customer case.</a:t>
            </a:r>
          </a:p>
        </p:txBody>
      </p:sp>
      <p:sp>
        <p:nvSpPr>
          <p:cNvPr id="9" name="Oval 8"/>
          <p:cNvSpPr/>
          <p:nvPr/>
        </p:nvSpPr>
        <p:spPr>
          <a:xfrm>
            <a:off x="4023360" y="201168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1</a:t>
            </a:r>
          </a:p>
        </p:txBody>
      </p:sp>
      <p:cxnSp>
        <p:nvCxnSpPr>
          <p:cNvPr id="10" name="Connector 9"/>
          <p:cNvCxnSpPr/>
          <p:nvPr/>
        </p:nvCxnSpPr>
        <p:spPr>
          <a:xfrm>
            <a:off x="4617720" y="2258568"/>
            <a:ext cx="1920240" cy="0"/>
          </a:xfrm>
          <a:prstGeom prst="line">
            <a:avLst/>
          </a:prstGeom>
          <a:ln w="15875">
            <a:solidFill>
              <a:srgbClr val="B8CFEE"/>
            </a:solidFill>
            <a:tailEnd type="triangle" w="med" len="med"/>
          </a:ln>
        </p:spPr>
      </p:cxnSp>
      <p:sp>
        <p:nvSpPr>
          <p:cNvPr id="11" name="TextBox 10"/>
          <p:cNvSpPr txBox="1"/>
          <p:nvPr/>
        </p:nvSpPr>
        <p:spPr>
          <a:xfrm>
            <a:off x="4023360" y="267004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Complete a profile</a:t>
            </a:r>
          </a:p>
        </p:txBody>
      </p:sp>
      <p:sp>
        <p:nvSpPr>
          <p:cNvPr id="12" name="TextBox 11"/>
          <p:cNvSpPr txBox="1"/>
          <p:nvPr/>
        </p:nvSpPr>
        <p:spPr>
          <a:xfrm>
            <a:off x="4023360" y="320040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Stage, sector, goals and time available.</a:t>
            </a:r>
          </a:p>
        </p:txBody>
      </p:sp>
      <p:sp>
        <p:nvSpPr>
          <p:cNvPr id="13" name="Oval 12"/>
          <p:cNvSpPr/>
          <p:nvPr/>
        </p:nvSpPr>
        <p:spPr>
          <a:xfrm>
            <a:off x="6629400" y="201168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2</a:t>
            </a:r>
          </a:p>
        </p:txBody>
      </p:sp>
      <p:cxnSp>
        <p:nvCxnSpPr>
          <p:cNvPr id="14" name="Connector 13"/>
          <p:cNvCxnSpPr/>
          <p:nvPr/>
        </p:nvCxnSpPr>
        <p:spPr>
          <a:xfrm>
            <a:off x="7223760" y="2258568"/>
            <a:ext cx="1920240" cy="0"/>
          </a:xfrm>
          <a:prstGeom prst="line">
            <a:avLst/>
          </a:prstGeom>
          <a:ln w="15875">
            <a:solidFill>
              <a:srgbClr val="B8CFEE"/>
            </a:solidFill>
            <a:tailEnd type="triangle" w="med" len="med"/>
          </a:ln>
        </p:spPr>
      </p:cxnSp>
      <p:sp>
        <p:nvSpPr>
          <p:cNvPr id="15" name="TextBox 14"/>
          <p:cNvSpPr txBox="1"/>
          <p:nvPr/>
        </p:nvSpPr>
        <p:spPr>
          <a:xfrm>
            <a:off x="6629400" y="267004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Identify the challenge</a:t>
            </a:r>
          </a:p>
        </p:txBody>
      </p:sp>
      <p:sp>
        <p:nvSpPr>
          <p:cNvPr id="16" name="TextBox 15"/>
          <p:cNvSpPr txBox="1"/>
          <p:nvPr/>
        </p:nvSpPr>
        <p:spPr>
          <a:xfrm>
            <a:off x="6629400" y="320040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“I don’t know if anyone will pay for this.”</a:t>
            </a:r>
          </a:p>
        </p:txBody>
      </p:sp>
      <p:sp>
        <p:nvSpPr>
          <p:cNvPr id="17" name="Oval 16"/>
          <p:cNvSpPr/>
          <p:nvPr/>
        </p:nvSpPr>
        <p:spPr>
          <a:xfrm>
            <a:off x="9235440" y="201168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3</a:t>
            </a:r>
          </a:p>
        </p:txBody>
      </p:sp>
      <p:sp>
        <p:nvSpPr>
          <p:cNvPr id="18" name="TextBox 17"/>
          <p:cNvSpPr txBox="1"/>
          <p:nvPr/>
        </p:nvSpPr>
        <p:spPr>
          <a:xfrm>
            <a:off x="9235440" y="267004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Get a relevant next step</a:t>
            </a:r>
          </a:p>
        </p:txBody>
      </p:sp>
      <p:sp>
        <p:nvSpPr>
          <p:cNvPr id="19" name="TextBox 18"/>
          <p:cNvSpPr txBox="1"/>
          <p:nvPr/>
        </p:nvSpPr>
        <p:spPr>
          <a:xfrm>
            <a:off x="9235440" y="320040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An interview guide and a short validation task.</a:t>
            </a:r>
          </a:p>
        </p:txBody>
      </p:sp>
      <p:sp>
        <p:nvSpPr>
          <p:cNvPr id="20" name="Oval 19"/>
          <p:cNvSpPr/>
          <p:nvPr/>
        </p:nvSpPr>
        <p:spPr>
          <a:xfrm>
            <a:off x="4023360" y="411480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4</a:t>
            </a:r>
          </a:p>
        </p:txBody>
      </p:sp>
      <p:cxnSp>
        <p:nvCxnSpPr>
          <p:cNvPr id="21" name="Connector 20"/>
          <p:cNvCxnSpPr/>
          <p:nvPr/>
        </p:nvCxnSpPr>
        <p:spPr>
          <a:xfrm>
            <a:off x="4617720" y="4361688"/>
            <a:ext cx="1920240" cy="0"/>
          </a:xfrm>
          <a:prstGeom prst="line">
            <a:avLst/>
          </a:prstGeom>
          <a:ln w="15875">
            <a:solidFill>
              <a:srgbClr val="B8CFEE"/>
            </a:solidFill>
            <a:tailEnd type="triangle" w="med" len="med"/>
          </a:ln>
        </p:spPr>
      </p:cxnSp>
      <p:sp>
        <p:nvSpPr>
          <p:cNvPr id="22" name="TextBox 21"/>
          <p:cNvSpPr txBox="1"/>
          <p:nvPr/>
        </p:nvSpPr>
        <p:spPr>
          <a:xfrm>
            <a:off x="4023360" y="477316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Attend a clinic or ask for help</a:t>
            </a:r>
          </a:p>
        </p:txBody>
      </p:sp>
      <p:sp>
        <p:nvSpPr>
          <p:cNvPr id="23" name="TextBox 22"/>
          <p:cNvSpPr txBox="1"/>
          <p:nvPr/>
        </p:nvSpPr>
        <p:spPr>
          <a:xfrm>
            <a:off x="4023360" y="530352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A group validation clinic or a mentor request.</a:t>
            </a:r>
          </a:p>
        </p:txBody>
      </p:sp>
      <p:sp>
        <p:nvSpPr>
          <p:cNvPr id="24" name="Oval 23"/>
          <p:cNvSpPr/>
          <p:nvPr/>
        </p:nvSpPr>
        <p:spPr>
          <a:xfrm>
            <a:off x="6629400" y="4114800"/>
            <a:ext cx="502920" cy="50292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5</a:t>
            </a:r>
          </a:p>
        </p:txBody>
      </p:sp>
      <p:cxnSp>
        <p:nvCxnSpPr>
          <p:cNvPr id="25" name="Connector 24"/>
          <p:cNvCxnSpPr/>
          <p:nvPr/>
        </p:nvCxnSpPr>
        <p:spPr>
          <a:xfrm>
            <a:off x="7223760" y="4361688"/>
            <a:ext cx="1920240" cy="0"/>
          </a:xfrm>
          <a:prstGeom prst="line">
            <a:avLst/>
          </a:prstGeom>
          <a:ln w="15875">
            <a:solidFill>
              <a:srgbClr val="B8CFEE"/>
            </a:solidFill>
            <a:tailEnd type="triangle" w="med" len="med"/>
          </a:ln>
        </p:spPr>
      </p:cxnSp>
      <p:sp>
        <p:nvSpPr>
          <p:cNvPr id="26" name="TextBox 25"/>
          <p:cNvSpPr txBox="1"/>
          <p:nvPr/>
        </p:nvSpPr>
        <p:spPr>
          <a:xfrm>
            <a:off x="6629400" y="477316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Record progress</a:t>
            </a:r>
          </a:p>
        </p:txBody>
      </p:sp>
      <p:sp>
        <p:nvSpPr>
          <p:cNvPr id="27" name="TextBox 26"/>
          <p:cNvSpPr txBox="1"/>
          <p:nvPr/>
        </p:nvSpPr>
        <p:spPr>
          <a:xfrm>
            <a:off x="6629400" y="530352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Notes from 12 conversations; pricing feedback logged.</a:t>
            </a:r>
          </a:p>
        </p:txBody>
      </p:sp>
      <p:sp>
        <p:nvSpPr>
          <p:cNvPr id="28" name="Oval 27"/>
          <p:cNvSpPr/>
          <p:nvPr/>
        </p:nvSpPr>
        <p:spPr>
          <a:xfrm>
            <a:off x="9235440" y="4114800"/>
            <a:ext cx="502920" cy="502920"/>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500" b="1" i="0">
                <a:solidFill>
                  <a:srgbClr val="FFFFFF"/>
                </a:solidFill>
                <a:latin typeface="Inter"/>
              </a:rPr>
              <a:t>6</a:t>
            </a:r>
          </a:p>
        </p:txBody>
      </p:sp>
      <p:sp>
        <p:nvSpPr>
          <p:cNvPr id="29" name="TextBox 28"/>
          <p:cNvSpPr txBox="1"/>
          <p:nvPr/>
        </p:nvSpPr>
        <p:spPr>
          <a:xfrm>
            <a:off x="9235440" y="4773168"/>
            <a:ext cx="2331720" cy="54864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Return for the next step</a:t>
            </a:r>
          </a:p>
        </p:txBody>
      </p:sp>
      <p:sp>
        <p:nvSpPr>
          <p:cNvPr id="30" name="TextBox 29"/>
          <p:cNvSpPr txBox="1"/>
          <p:nvPr/>
        </p:nvSpPr>
        <p:spPr>
          <a:xfrm>
            <a:off x="9235440" y="5303520"/>
            <a:ext cx="2286000" cy="73152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Move on to testing a first offer.</a:t>
            </a:r>
          </a:p>
        </p:txBody>
      </p:sp>
      <p:sp>
        <p:nvSpPr>
          <p:cNvPr id="31" name="TextBox 3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2" name="TextBox 3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09</a:t>
            </a:r>
            <a:r>
              <a:rPr sz="1000" b="1" i="0" spc="150">
                <a:solidFill>
                  <a:srgbClr val="1765D1"/>
                </a:solidFill>
                <a:latin typeface="Inter"/>
              </a:rPr>
              <a:t>   AI GUIDANCE WITH HUMAN SUPPORT</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Digital guidance, strengthened by human experience.</a:t>
            </a:r>
          </a:p>
        </p:txBody>
      </p:sp>
      <p:sp>
        <p:nvSpPr>
          <p:cNvPr id="4" name="Rounded Rectangle 3"/>
          <p:cNvSpPr/>
          <p:nvPr/>
        </p:nvSpPr>
        <p:spPr>
          <a:xfrm>
            <a:off x="9951963" y="402336"/>
            <a:ext cx="16453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APPROACH</a:t>
            </a:r>
          </a:p>
        </p:txBody>
      </p:sp>
      <p:sp>
        <p:nvSpPr>
          <p:cNvPr id="5" name="Rectangle 4"/>
          <p:cNvSpPr/>
          <p:nvPr/>
        </p:nvSpPr>
        <p:spPr>
          <a:xfrm>
            <a:off x="594360" y="2011680"/>
            <a:ext cx="4206240" cy="73152"/>
          </a:xfrm>
          <a:prstGeom prst="rect">
            <a:avLst/>
          </a:prstGeom>
          <a:solidFill>
            <a:srgbClr val="1765D1"/>
          </a:solidFill>
          <a:ln>
            <a:noFill/>
          </a:ln>
          <a:effectLst/>
        </p:spPr>
        <p:txBody>
          <a:bodyPr rtlCol="0" anchor="ctr" lIns="73152" rIns="73152" tIns="36576" bIns="36576"/>
          <a:lstStyle/>
          <a:p>
            <a:pPr algn="ctr"/>
          </a:p>
        </p:txBody>
      </p:sp>
      <p:sp>
        <p:nvSpPr>
          <p:cNvPr id="6" name="TextBox 5"/>
          <p:cNvSpPr txBox="1"/>
          <p:nvPr/>
        </p:nvSpPr>
        <p:spPr>
          <a:xfrm>
            <a:off x="594360" y="2240280"/>
            <a:ext cx="4206240" cy="274320"/>
          </a:xfrm>
          <a:prstGeom prst="rect">
            <a:avLst/>
          </a:prstGeom>
          <a:noFill/>
        </p:spPr>
        <p:txBody>
          <a:bodyPr wrap="square" lIns="0" rIns="0" tIns="0" bIns="0" anchor="t"/>
          <a:lstStyle/>
          <a:p>
            <a:pPr algn="l">
              <a:lnSpc>
                <a:spcPct val="115000"/>
              </a:lnSpc>
              <a:spcAft>
                <a:spcPts val="0"/>
              </a:spcAft>
            </a:pPr>
            <a:r>
              <a:rPr sz="1000" b="1" i="0" spc="130">
                <a:solidFill>
                  <a:srgbClr val="1765D1"/>
                </a:solidFill>
                <a:latin typeface="Inter"/>
              </a:rPr>
              <a:t>AI-ASSISTED SUPPORT</a:t>
            </a:r>
          </a:p>
        </p:txBody>
      </p:sp>
      <p:sp>
        <p:nvSpPr>
          <p:cNvPr id="7" name="TextBox 6"/>
          <p:cNvSpPr txBox="1"/>
          <p:nvPr/>
        </p:nvSpPr>
        <p:spPr>
          <a:xfrm>
            <a:off x="594360" y="2542032"/>
            <a:ext cx="4206240"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Helps founders prepare and keep momentum</a:t>
            </a:r>
          </a:p>
        </p:txBody>
      </p:sp>
      <p:cxnSp>
        <p:nvCxnSpPr>
          <p:cNvPr id="8" name="Connector 7"/>
          <p:cNvCxnSpPr/>
          <p:nvPr/>
        </p:nvCxnSpPr>
        <p:spPr>
          <a:xfrm>
            <a:off x="594360" y="3108960"/>
            <a:ext cx="4206240" cy="0"/>
          </a:xfrm>
          <a:prstGeom prst="line">
            <a:avLst/>
          </a:prstGeom>
          <a:ln w="12700">
            <a:solidFill>
              <a:srgbClr val="D5E2F3"/>
            </a:solidFill>
          </a:ln>
        </p:spPr>
      </p:cxnSp>
      <p:sp>
        <p:nvSpPr>
          <p:cNvPr id="9" name="TextBox 8"/>
          <p:cNvSpPr txBox="1"/>
          <p:nvPr/>
        </p:nvSpPr>
        <p:spPr>
          <a:xfrm>
            <a:off x="594360" y="322783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Organising information</a:t>
            </a:r>
          </a:p>
        </p:txBody>
      </p:sp>
      <p:cxnSp>
        <p:nvCxnSpPr>
          <p:cNvPr id="10" name="Connector 9"/>
          <p:cNvCxnSpPr/>
          <p:nvPr/>
        </p:nvCxnSpPr>
        <p:spPr>
          <a:xfrm>
            <a:off x="594360" y="3657600"/>
            <a:ext cx="4206240" cy="0"/>
          </a:xfrm>
          <a:prstGeom prst="line">
            <a:avLst/>
          </a:prstGeom>
          <a:ln w="12700">
            <a:solidFill>
              <a:srgbClr val="D5E2F3"/>
            </a:solidFill>
          </a:ln>
        </p:spPr>
      </p:cxnSp>
      <p:sp>
        <p:nvSpPr>
          <p:cNvPr id="11" name="TextBox 10"/>
          <p:cNvSpPr txBox="1"/>
          <p:nvPr/>
        </p:nvSpPr>
        <p:spPr>
          <a:xfrm>
            <a:off x="594360" y="377647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Exploring questions</a:t>
            </a:r>
          </a:p>
        </p:txBody>
      </p:sp>
      <p:cxnSp>
        <p:nvCxnSpPr>
          <p:cNvPr id="12" name="Connector 11"/>
          <p:cNvCxnSpPr/>
          <p:nvPr/>
        </p:nvCxnSpPr>
        <p:spPr>
          <a:xfrm>
            <a:off x="594360" y="4206240"/>
            <a:ext cx="4206240" cy="0"/>
          </a:xfrm>
          <a:prstGeom prst="line">
            <a:avLst/>
          </a:prstGeom>
          <a:ln w="12700">
            <a:solidFill>
              <a:srgbClr val="D5E2F3"/>
            </a:solidFill>
          </a:ln>
        </p:spPr>
      </p:cxnSp>
      <p:sp>
        <p:nvSpPr>
          <p:cNvPr id="13" name="TextBox 12"/>
          <p:cNvSpPr txBox="1"/>
          <p:nvPr/>
        </p:nvSpPr>
        <p:spPr>
          <a:xfrm>
            <a:off x="594360" y="432511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Drafting plans</a:t>
            </a:r>
          </a:p>
        </p:txBody>
      </p:sp>
      <p:cxnSp>
        <p:nvCxnSpPr>
          <p:cNvPr id="14" name="Connector 13"/>
          <p:cNvCxnSpPr/>
          <p:nvPr/>
        </p:nvCxnSpPr>
        <p:spPr>
          <a:xfrm>
            <a:off x="594360" y="4754879"/>
            <a:ext cx="4206240" cy="0"/>
          </a:xfrm>
          <a:prstGeom prst="line">
            <a:avLst/>
          </a:prstGeom>
          <a:ln w="12700">
            <a:solidFill>
              <a:srgbClr val="D5E2F3"/>
            </a:solidFill>
          </a:ln>
        </p:spPr>
      </p:cxnSp>
      <p:sp>
        <p:nvSpPr>
          <p:cNvPr id="15" name="TextBox 14"/>
          <p:cNvSpPr txBox="1"/>
          <p:nvPr/>
        </p:nvSpPr>
        <p:spPr>
          <a:xfrm>
            <a:off x="594360" y="4873751"/>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Suggesting resources</a:t>
            </a:r>
          </a:p>
        </p:txBody>
      </p:sp>
      <p:cxnSp>
        <p:nvCxnSpPr>
          <p:cNvPr id="16" name="Connector 15"/>
          <p:cNvCxnSpPr/>
          <p:nvPr/>
        </p:nvCxnSpPr>
        <p:spPr>
          <a:xfrm>
            <a:off x="594360" y="5303520"/>
            <a:ext cx="4206240" cy="0"/>
          </a:xfrm>
          <a:prstGeom prst="line">
            <a:avLst/>
          </a:prstGeom>
          <a:ln w="12700">
            <a:solidFill>
              <a:srgbClr val="D5E2F3"/>
            </a:solidFill>
          </a:ln>
        </p:spPr>
      </p:cxnSp>
      <p:sp>
        <p:nvSpPr>
          <p:cNvPr id="17" name="TextBox 16"/>
          <p:cNvSpPr txBox="1"/>
          <p:nvPr/>
        </p:nvSpPr>
        <p:spPr>
          <a:xfrm>
            <a:off x="594360" y="542239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Tracking next steps</a:t>
            </a:r>
          </a:p>
        </p:txBody>
      </p:sp>
      <p:sp>
        <p:nvSpPr>
          <p:cNvPr id="18" name="Rectangle 17"/>
          <p:cNvSpPr/>
          <p:nvPr/>
        </p:nvSpPr>
        <p:spPr>
          <a:xfrm>
            <a:off x="7388352" y="2011680"/>
            <a:ext cx="4206240" cy="73152"/>
          </a:xfrm>
          <a:prstGeom prst="rect">
            <a:avLst/>
          </a:prstGeom>
          <a:solidFill>
            <a:srgbClr val="10213B"/>
          </a:solidFill>
          <a:ln>
            <a:noFill/>
          </a:ln>
          <a:effectLst/>
        </p:spPr>
        <p:txBody>
          <a:bodyPr rtlCol="0" anchor="ctr" lIns="73152" rIns="73152" tIns="36576" bIns="36576"/>
          <a:lstStyle/>
          <a:p>
            <a:pPr algn="ctr"/>
          </a:p>
        </p:txBody>
      </p:sp>
      <p:sp>
        <p:nvSpPr>
          <p:cNvPr id="19" name="TextBox 18"/>
          <p:cNvSpPr txBox="1"/>
          <p:nvPr/>
        </p:nvSpPr>
        <p:spPr>
          <a:xfrm>
            <a:off x="7388352" y="2240280"/>
            <a:ext cx="4206240" cy="274320"/>
          </a:xfrm>
          <a:prstGeom prst="rect">
            <a:avLst/>
          </a:prstGeom>
          <a:noFill/>
        </p:spPr>
        <p:txBody>
          <a:bodyPr wrap="square" lIns="0" rIns="0" tIns="0" bIns="0" anchor="t"/>
          <a:lstStyle/>
          <a:p>
            <a:pPr algn="l">
              <a:lnSpc>
                <a:spcPct val="115000"/>
              </a:lnSpc>
              <a:spcAft>
                <a:spcPts val="0"/>
              </a:spcAft>
            </a:pPr>
            <a:r>
              <a:rPr sz="1000" b="1" i="0" spc="130">
                <a:solidFill>
                  <a:srgbClr val="10213B"/>
                </a:solidFill>
                <a:latin typeface="Inter"/>
              </a:rPr>
              <a:t>HUMAN SUPPORT</a:t>
            </a:r>
          </a:p>
        </p:txBody>
      </p:sp>
      <p:sp>
        <p:nvSpPr>
          <p:cNvPr id="20" name="TextBox 19"/>
          <p:cNvSpPr txBox="1"/>
          <p:nvPr/>
        </p:nvSpPr>
        <p:spPr>
          <a:xfrm>
            <a:off x="7388352" y="2542032"/>
            <a:ext cx="4206240" cy="365760"/>
          </a:xfrm>
          <a:prstGeom prst="rect">
            <a:avLst/>
          </a:prstGeom>
          <a:noFill/>
        </p:spPr>
        <p:txBody>
          <a:bodyPr wrap="square" lIns="0" rIns="0" tIns="0" bIns="0" anchor="t"/>
          <a:lstStyle/>
          <a:p>
            <a:pPr algn="l">
              <a:lnSpc>
                <a:spcPct val="115000"/>
              </a:lnSpc>
              <a:spcAft>
                <a:spcPts val="0"/>
              </a:spcAft>
            </a:pPr>
            <a:r>
              <a:rPr sz="1400" b="1" i="0">
                <a:solidFill>
                  <a:srgbClr val="10213B"/>
                </a:solidFill>
                <a:latin typeface="Inter"/>
              </a:rPr>
              <a:t>Brings judgement and real-world context</a:t>
            </a:r>
          </a:p>
        </p:txBody>
      </p:sp>
      <p:cxnSp>
        <p:nvCxnSpPr>
          <p:cNvPr id="21" name="Connector 20"/>
          <p:cNvCxnSpPr/>
          <p:nvPr/>
        </p:nvCxnSpPr>
        <p:spPr>
          <a:xfrm>
            <a:off x="7388352" y="3108960"/>
            <a:ext cx="4206240" cy="0"/>
          </a:xfrm>
          <a:prstGeom prst="line">
            <a:avLst/>
          </a:prstGeom>
          <a:ln w="12700">
            <a:solidFill>
              <a:srgbClr val="D5E2F3"/>
            </a:solidFill>
          </a:ln>
        </p:spPr>
      </p:cxnSp>
      <p:sp>
        <p:nvSpPr>
          <p:cNvPr id="22" name="TextBox 21"/>
          <p:cNvSpPr txBox="1"/>
          <p:nvPr/>
        </p:nvSpPr>
        <p:spPr>
          <a:xfrm>
            <a:off x="7388352" y="322783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Mentoring</a:t>
            </a:r>
          </a:p>
        </p:txBody>
      </p:sp>
      <p:cxnSp>
        <p:nvCxnSpPr>
          <p:cNvPr id="23" name="Connector 22"/>
          <p:cNvCxnSpPr/>
          <p:nvPr/>
        </p:nvCxnSpPr>
        <p:spPr>
          <a:xfrm>
            <a:off x="7388352" y="3657600"/>
            <a:ext cx="4206240" cy="0"/>
          </a:xfrm>
          <a:prstGeom prst="line">
            <a:avLst/>
          </a:prstGeom>
          <a:ln w="12700">
            <a:solidFill>
              <a:srgbClr val="D5E2F3"/>
            </a:solidFill>
          </a:ln>
        </p:spPr>
      </p:cxnSp>
      <p:sp>
        <p:nvSpPr>
          <p:cNvPr id="24" name="TextBox 23"/>
          <p:cNvSpPr txBox="1"/>
          <p:nvPr/>
        </p:nvSpPr>
        <p:spPr>
          <a:xfrm>
            <a:off x="7388352" y="377647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Specialist judgement</a:t>
            </a:r>
          </a:p>
        </p:txBody>
      </p:sp>
      <p:cxnSp>
        <p:nvCxnSpPr>
          <p:cNvPr id="25" name="Connector 24"/>
          <p:cNvCxnSpPr/>
          <p:nvPr/>
        </p:nvCxnSpPr>
        <p:spPr>
          <a:xfrm>
            <a:off x="7388352" y="4206240"/>
            <a:ext cx="4206240" cy="0"/>
          </a:xfrm>
          <a:prstGeom prst="line">
            <a:avLst/>
          </a:prstGeom>
          <a:ln w="12700">
            <a:solidFill>
              <a:srgbClr val="D5E2F3"/>
            </a:solidFill>
          </a:ln>
        </p:spPr>
      </p:cxnSp>
      <p:sp>
        <p:nvSpPr>
          <p:cNvPr id="26" name="TextBox 25"/>
          <p:cNvSpPr txBox="1"/>
          <p:nvPr/>
        </p:nvSpPr>
        <p:spPr>
          <a:xfrm>
            <a:off x="7388352" y="432511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Practical feedback</a:t>
            </a:r>
          </a:p>
        </p:txBody>
      </p:sp>
      <p:cxnSp>
        <p:nvCxnSpPr>
          <p:cNvPr id="27" name="Connector 26"/>
          <p:cNvCxnSpPr/>
          <p:nvPr/>
        </p:nvCxnSpPr>
        <p:spPr>
          <a:xfrm>
            <a:off x="7388352" y="4754879"/>
            <a:ext cx="4206240" cy="0"/>
          </a:xfrm>
          <a:prstGeom prst="line">
            <a:avLst/>
          </a:prstGeom>
          <a:ln w="12700">
            <a:solidFill>
              <a:srgbClr val="D5E2F3"/>
            </a:solidFill>
          </a:ln>
        </p:spPr>
      </p:cxnSp>
      <p:sp>
        <p:nvSpPr>
          <p:cNvPr id="28" name="TextBox 27"/>
          <p:cNvSpPr txBox="1"/>
          <p:nvPr/>
        </p:nvSpPr>
        <p:spPr>
          <a:xfrm>
            <a:off x="7388352" y="4873751"/>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Complex business decisions</a:t>
            </a:r>
          </a:p>
        </p:txBody>
      </p:sp>
      <p:cxnSp>
        <p:nvCxnSpPr>
          <p:cNvPr id="29" name="Connector 28"/>
          <p:cNvCxnSpPr/>
          <p:nvPr/>
        </p:nvCxnSpPr>
        <p:spPr>
          <a:xfrm>
            <a:off x="7388352" y="5303520"/>
            <a:ext cx="4206240" cy="0"/>
          </a:xfrm>
          <a:prstGeom prst="line">
            <a:avLst/>
          </a:prstGeom>
          <a:ln w="12700">
            <a:solidFill>
              <a:srgbClr val="D5E2F3"/>
            </a:solidFill>
          </a:ln>
        </p:spPr>
      </p:cxnSp>
      <p:sp>
        <p:nvSpPr>
          <p:cNvPr id="30" name="TextBox 29"/>
          <p:cNvSpPr txBox="1"/>
          <p:nvPr/>
        </p:nvSpPr>
        <p:spPr>
          <a:xfrm>
            <a:off x="7388352" y="5422392"/>
            <a:ext cx="4206240" cy="365760"/>
          </a:xfrm>
          <a:prstGeom prst="rect">
            <a:avLst/>
          </a:prstGeom>
          <a:noFill/>
        </p:spPr>
        <p:txBody>
          <a:bodyPr wrap="square" lIns="0" rIns="0" tIns="0" bIns="0" anchor="t"/>
          <a:lstStyle/>
          <a:p>
            <a:pPr algn="l">
              <a:lnSpc>
                <a:spcPct val="115000"/>
              </a:lnSpc>
              <a:spcAft>
                <a:spcPts val="0"/>
              </a:spcAft>
            </a:pPr>
            <a:r>
              <a:rPr sz="1400" b="0" i="0">
                <a:solidFill>
                  <a:srgbClr val="253650"/>
                </a:solidFill>
                <a:latin typeface="Inter"/>
              </a:rPr>
              <a:t>Sector expertise</a:t>
            </a:r>
          </a:p>
        </p:txBody>
      </p:sp>
      <p:sp>
        <p:nvSpPr>
          <p:cNvPr id="31" name="Oval 30"/>
          <p:cNvSpPr/>
          <p:nvPr/>
        </p:nvSpPr>
        <p:spPr>
          <a:xfrm>
            <a:off x="5074920" y="2606040"/>
            <a:ext cx="2057400" cy="2057400"/>
          </a:xfrm>
          <a:prstGeom prst="ellipse">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500" b="1" i="0">
                <a:solidFill>
                  <a:srgbClr val="10213B"/>
                </a:solidFill>
                <a:latin typeface="Inter"/>
              </a:rPr>
              <a:t>The founder
decides</a:t>
            </a:r>
          </a:p>
        </p:txBody>
      </p:sp>
      <p:sp>
        <p:nvSpPr>
          <p:cNvPr id="32" name="TextBox 31"/>
          <p:cNvSpPr txBox="1"/>
          <p:nvPr/>
        </p:nvSpPr>
        <p:spPr>
          <a:xfrm>
            <a:off x="594360" y="5943600"/>
            <a:ext cx="10972800" cy="320040"/>
          </a:xfrm>
          <a:prstGeom prst="rect">
            <a:avLst/>
          </a:prstGeom>
          <a:noFill/>
        </p:spPr>
        <p:txBody>
          <a:bodyPr wrap="square" lIns="0" rIns="0" tIns="0" bIns="0" anchor="t"/>
          <a:lstStyle/>
          <a:p>
            <a:pPr algn="l">
              <a:lnSpc>
                <a:spcPct val="115000"/>
              </a:lnSpc>
              <a:spcAft>
                <a:spcPts val="0"/>
              </a:spcAft>
            </a:pPr>
            <a:r>
              <a:rPr sz="1150" b="1" i="0">
                <a:solidFill>
                  <a:srgbClr val="10213B"/>
                </a:solidFill>
                <a:latin typeface="Inter"/>
              </a:rPr>
              <a:t>Principle: </a:t>
            </a:r>
            <a:r>
              <a:rPr sz="1150" b="0" i="0">
                <a:solidFill>
                  <a:srgbClr val="61738A"/>
                </a:solidFill>
                <a:latin typeface="Inter"/>
              </a:rPr>
              <a:t>AI prepares, people judge, founders decide. AI features will be tested with pilot founders before release; none is presented here as live.</a:t>
            </a:r>
          </a:p>
        </p:txBody>
      </p:sp>
      <p:sp>
        <p:nvSpPr>
          <p:cNvPr id="33" name="TextBox 32"/>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4" name="TextBox 33"/>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10</a:t>
            </a:r>
            <a:r>
              <a:rPr sz="1000" b="1" i="0" spc="150">
                <a:solidFill>
                  <a:srgbClr val="1765D1"/>
                </a:solidFill>
                <a:latin typeface="Inter"/>
              </a:rPr>
              <a:t>   COMMUNITY AND MEANINGFUL CONNECTIONS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Relevant connections, measured by what happens next.</a:t>
            </a:r>
          </a:p>
        </p:txBody>
      </p:sp>
      <p:sp>
        <p:nvSpPr>
          <p:cNvPr id="4" name="Pentagon 3"/>
          <p:cNvSpPr/>
          <p:nvPr/>
        </p:nvSpPr>
        <p:spPr>
          <a:xfrm>
            <a:off x="594360" y="2148840"/>
            <a:ext cx="1888693" cy="548640"/>
          </a:xfrm>
          <a:prstGeom prst="homePlate">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Request</a:t>
            </a:r>
          </a:p>
        </p:txBody>
      </p:sp>
      <p:sp>
        <p:nvSpPr>
          <p:cNvPr id="5" name="Chevron 4"/>
          <p:cNvSpPr/>
          <p:nvPr/>
        </p:nvSpPr>
        <p:spPr>
          <a:xfrm>
            <a:off x="2428189" y="2148840"/>
            <a:ext cx="1888693" cy="548640"/>
          </a:xfrm>
          <a:prstGeom prst="chevron">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Consent</a:t>
            </a:r>
          </a:p>
        </p:txBody>
      </p:sp>
      <p:sp>
        <p:nvSpPr>
          <p:cNvPr id="6" name="Chevron 5"/>
          <p:cNvSpPr/>
          <p:nvPr/>
        </p:nvSpPr>
        <p:spPr>
          <a:xfrm>
            <a:off x="4262018" y="2148840"/>
            <a:ext cx="1888693" cy="54864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Introduction</a:t>
            </a:r>
          </a:p>
        </p:txBody>
      </p:sp>
      <p:sp>
        <p:nvSpPr>
          <p:cNvPr id="7" name="Chevron 6"/>
          <p:cNvSpPr/>
          <p:nvPr/>
        </p:nvSpPr>
        <p:spPr>
          <a:xfrm>
            <a:off x="6095847" y="2148840"/>
            <a:ext cx="1888693" cy="54864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Conversation</a:t>
            </a:r>
          </a:p>
        </p:txBody>
      </p:sp>
      <p:sp>
        <p:nvSpPr>
          <p:cNvPr id="8" name="Chevron 7"/>
          <p:cNvSpPr/>
          <p:nvPr/>
        </p:nvSpPr>
        <p:spPr>
          <a:xfrm>
            <a:off x="7929676" y="2148840"/>
            <a:ext cx="1888693" cy="548640"/>
          </a:xfrm>
          <a:prstGeom prst="chevron">
            <a:avLst/>
          </a:prstGeom>
          <a:solidFill>
            <a:srgbClr val="EDF4FE"/>
          </a:solidFill>
          <a:ln>
            <a:noFill/>
          </a:ln>
          <a:effectLst/>
        </p:spPr>
        <p:txBody>
          <a:bodyPr rtlCol="0" anchor="ctr" lIns="73152" rIns="73152" tIns="27432" bIns="27432" wrap="square"/>
          <a:lstStyle/>
          <a:p>
            <a:pPr algn="ctr">
              <a:lnSpc>
                <a:spcPct val="110000"/>
              </a:lnSpc>
              <a:spcAft>
                <a:spcPts val="0"/>
              </a:spcAft>
            </a:pPr>
            <a:r>
              <a:rPr sz="1200" b="1" i="0">
                <a:solidFill>
                  <a:srgbClr val="10213B"/>
                </a:solidFill>
                <a:latin typeface="Inter"/>
              </a:rPr>
              <a:t>Follow-up</a:t>
            </a:r>
          </a:p>
        </p:txBody>
      </p:sp>
      <p:sp>
        <p:nvSpPr>
          <p:cNvPr id="9" name="Chevron 8"/>
          <p:cNvSpPr/>
          <p:nvPr/>
        </p:nvSpPr>
        <p:spPr>
          <a:xfrm>
            <a:off x="9763506" y="2148840"/>
            <a:ext cx="1888693" cy="548640"/>
          </a:xfrm>
          <a:prstGeom prst="chevron">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200" b="1" i="0">
                <a:solidFill>
                  <a:srgbClr val="FFFFFF"/>
                </a:solidFill>
                <a:latin typeface="Inter"/>
              </a:rPr>
              <a:t>Outcome noted</a:t>
            </a:r>
          </a:p>
        </p:txBody>
      </p:sp>
      <p:sp>
        <p:nvSpPr>
          <p:cNvPr id="10" name="TextBox 9"/>
          <p:cNvSpPr txBox="1"/>
          <p:nvPr/>
        </p:nvSpPr>
        <p:spPr>
          <a:xfrm>
            <a:off x="594360" y="2816352"/>
            <a:ext cx="10972800" cy="27432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How a useful connection is designed to work — each introduction is opt-in on both sides and followed up.</a:t>
            </a:r>
          </a:p>
        </p:txBody>
      </p:sp>
      <p:sp>
        <p:nvSpPr>
          <p:cNvPr id="11" name="TextBox 10"/>
          <p:cNvSpPr txBox="1"/>
          <p:nvPr/>
        </p:nvSpPr>
        <p:spPr>
          <a:xfrm>
            <a:off x="594360" y="338328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WAYS PEOPLE MAY CONNECT</a:t>
            </a:r>
          </a:p>
        </p:txBody>
      </p:sp>
      <p:sp>
        <p:nvSpPr>
          <p:cNvPr id="12" name="TextBox 11"/>
          <p:cNvSpPr txBox="1"/>
          <p:nvPr/>
        </p:nvSpPr>
        <p:spPr>
          <a:xfrm>
            <a:off x="594360" y="3730752"/>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Founder introductions</a:t>
            </a:r>
          </a:p>
          <a:p>
            <a:pPr algn="l">
              <a:lnSpc>
                <a:spcPct val="110000"/>
              </a:lnSpc>
              <a:spcAft>
                <a:spcPts val="0"/>
              </a:spcAft>
            </a:pPr>
            <a:r>
              <a:rPr sz="1100" b="0" i="0">
                <a:solidFill>
                  <a:srgbClr val="61738A"/>
                </a:solidFill>
                <a:latin typeface="Inter"/>
              </a:rPr>
              <a:t>matched by need, stage or sector</a:t>
            </a:r>
          </a:p>
        </p:txBody>
      </p:sp>
      <p:sp>
        <p:nvSpPr>
          <p:cNvPr id="13" name="TextBox 12"/>
          <p:cNvSpPr txBox="1"/>
          <p:nvPr/>
        </p:nvSpPr>
        <p:spPr>
          <a:xfrm>
            <a:off x="3931920" y="3730752"/>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Peer groups</a:t>
            </a:r>
          </a:p>
          <a:p>
            <a:pPr algn="l">
              <a:lnSpc>
                <a:spcPct val="110000"/>
              </a:lnSpc>
              <a:spcAft>
                <a:spcPts val="0"/>
              </a:spcAft>
            </a:pPr>
            <a:r>
              <a:rPr sz="1100" b="0" i="0">
                <a:solidFill>
                  <a:srgbClr val="61738A"/>
                </a:solidFill>
                <a:latin typeface="Inter"/>
              </a:rPr>
              <a:t>small cohorts facing similar problems</a:t>
            </a:r>
          </a:p>
        </p:txBody>
      </p:sp>
      <p:sp>
        <p:nvSpPr>
          <p:cNvPr id="14" name="TextBox 13"/>
          <p:cNvSpPr txBox="1"/>
          <p:nvPr/>
        </p:nvSpPr>
        <p:spPr>
          <a:xfrm>
            <a:off x="594360" y="4297680"/>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Office hours</a:t>
            </a:r>
          </a:p>
          <a:p>
            <a:pPr algn="l">
              <a:lnSpc>
                <a:spcPct val="110000"/>
              </a:lnSpc>
              <a:spcAft>
                <a:spcPts val="0"/>
              </a:spcAft>
            </a:pPr>
            <a:r>
              <a:rPr sz="1100" b="0" i="0">
                <a:solidFill>
                  <a:srgbClr val="61738A"/>
                </a:solidFill>
                <a:latin typeface="Inter"/>
              </a:rPr>
              <a:t>short, bookable time with experts</a:t>
            </a:r>
          </a:p>
        </p:txBody>
      </p:sp>
      <p:sp>
        <p:nvSpPr>
          <p:cNvPr id="15" name="TextBox 14"/>
          <p:cNvSpPr txBox="1"/>
          <p:nvPr/>
        </p:nvSpPr>
        <p:spPr>
          <a:xfrm>
            <a:off x="3931920" y="4297680"/>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Mentor sessions</a:t>
            </a:r>
          </a:p>
          <a:p>
            <a:pPr algn="l">
              <a:lnSpc>
                <a:spcPct val="110000"/>
              </a:lnSpc>
              <a:spcAft>
                <a:spcPts val="0"/>
              </a:spcAft>
            </a:pPr>
            <a:r>
              <a:rPr sz="1100" b="0" i="0">
                <a:solidFill>
                  <a:srgbClr val="61738A"/>
                </a:solidFill>
                <a:latin typeface="Inter"/>
              </a:rPr>
              <a:t>focused conversations with follow-up</a:t>
            </a:r>
          </a:p>
        </p:txBody>
      </p:sp>
      <p:sp>
        <p:nvSpPr>
          <p:cNvPr id="16" name="TextBox 15"/>
          <p:cNvSpPr txBox="1"/>
          <p:nvPr/>
        </p:nvSpPr>
        <p:spPr>
          <a:xfrm>
            <a:off x="594360" y="4864608"/>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Small gatherings</a:t>
            </a:r>
          </a:p>
          <a:p>
            <a:pPr algn="l">
              <a:lnSpc>
                <a:spcPct val="110000"/>
              </a:lnSpc>
              <a:spcAft>
                <a:spcPts val="0"/>
              </a:spcAft>
            </a:pPr>
            <a:r>
              <a:rPr sz="1100" b="0" i="0">
                <a:solidFill>
                  <a:srgbClr val="61738A"/>
                </a:solidFill>
                <a:latin typeface="Inter"/>
              </a:rPr>
              <a:t>in-person meetups in the UAE</a:t>
            </a:r>
          </a:p>
        </p:txBody>
      </p:sp>
      <p:sp>
        <p:nvSpPr>
          <p:cNvPr id="17" name="TextBox 16"/>
          <p:cNvSpPr txBox="1"/>
          <p:nvPr/>
        </p:nvSpPr>
        <p:spPr>
          <a:xfrm>
            <a:off x="3931920" y="4864608"/>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Community discussions</a:t>
            </a:r>
          </a:p>
          <a:p>
            <a:pPr algn="l">
              <a:lnSpc>
                <a:spcPct val="110000"/>
              </a:lnSpc>
              <a:spcAft>
                <a:spcPts val="0"/>
              </a:spcAft>
            </a:pPr>
            <a:r>
              <a:rPr sz="1100" b="0" i="0">
                <a:solidFill>
                  <a:srgbClr val="61738A"/>
                </a:solidFill>
                <a:latin typeface="Inter"/>
              </a:rPr>
              <a:t>questions answered by peers</a:t>
            </a:r>
          </a:p>
        </p:txBody>
      </p:sp>
      <p:sp>
        <p:nvSpPr>
          <p:cNvPr id="18" name="TextBox 17"/>
          <p:cNvSpPr txBox="1"/>
          <p:nvPr/>
        </p:nvSpPr>
        <p:spPr>
          <a:xfrm>
            <a:off x="594360" y="5431536"/>
            <a:ext cx="3246120" cy="548640"/>
          </a:xfrm>
          <a:prstGeom prst="rect">
            <a:avLst/>
          </a:prstGeom>
          <a:noFill/>
        </p:spPr>
        <p:txBody>
          <a:bodyPr wrap="square" lIns="0" rIns="0" tIns="0" bIns="0" anchor="t"/>
          <a:lstStyle/>
          <a:p>
            <a:pPr algn="l">
              <a:lnSpc>
                <a:spcPct val="110000"/>
              </a:lnSpc>
              <a:spcAft>
                <a:spcPts val="0"/>
              </a:spcAft>
            </a:pPr>
            <a:r>
              <a:rPr sz="1250" b="1" i="0">
                <a:solidFill>
                  <a:srgbClr val="10213B"/>
                </a:solidFill>
                <a:latin typeface="Inter"/>
              </a:rPr>
              <a:t>Accountability</a:t>
            </a:r>
          </a:p>
          <a:p>
            <a:pPr algn="l">
              <a:lnSpc>
                <a:spcPct val="110000"/>
              </a:lnSpc>
              <a:spcAft>
                <a:spcPts val="0"/>
              </a:spcAft>
            </a:pPr>
            <a:r>
              <a:rPr sz="1100" b="0" i="0">
                <a:solidFill>
                  <a:srgbClr val="61738A"/>
                </a:solidFill>
                <a:latin typeface="Inter"/>
              </a:rPr>
              <a:t>check-ins on commitments made</a:t>
            </a:r>
          </a:p>
        </p:txBody>
      </p:sp>
      <p:sp>
        <p:nvSpPr>
          <p:cNvPr id="19" name="Rectangle 18"/>
          <p:cNvSpPr/>
          <p:nvPr/>
        </p:nvSpPr>
        <p:spPr>
          <a:xfrm>
            <a:off x="7589520" y="3383280"/>
            <a:ext cx="4005072" cy="2788920"/>
          </a:xfrm>
          <a:prstGeom prst="rect">
            <a:avLst/>
          </a:prstGeom>
          <a:solidFill>
            <a:srgbClr val="10213B"/>
          </a:solidFill>
          <a:ln>
            <a:noFill/>
          </a:ln>
          <a:effectLst/>
        </p:spPr>
        <p:txBody>
          <a:bodyPr rtlCol="0" anchor="ctr" lIns="73152" rIns="73152" tIns="36576" bIns="36576"/>
          <a:lstStyle/>
          <a:p>
            <a:pPr algn="ctr"/>
          </a:p>
        </p:txBody>
      </p:sp>
      <p:sp>
        <p:nvSpPr>
          <p:cNvPr id="20" name="TextBox 19"/>
          <p:cNvSpPr txBox="1"/>
          <p:nvPr/>
        </p:nvSpPr>
        <p:spPr>
          <a:xfrm>
            <a:off x="7863840" y="3584448"/>
            <a:ext cx="3474720" cy="274320"/>
          </a:xfrm>
          <a:prstGeom prst="rect">
            <a:avLst/>
          </a:prstGeom>
          <a:noFill/>
        </p:spPr>
        <p:txBody>
          <a:bodyPr wrap="square" lIns="0" rIns="0" tIns="0" bIns="0" anchor="t"/>
          <a:lstStyle/>
          <a:p>
            <a:pPr algn="l">
              <a:lnSpc>
                <a:spcPct val="115000"/>
              </a:lnSpc>
              <a:spcAft>
                <a:spcPts val="0"/>
              </a:spcAft>
            </a:pPr>
            <a:r>
              <a:rPr sz="950" b="1" i="0" spc="130">
                <a:solidFill>
                  <a:srgbClr val="4F8BE0"/>
                </a:solidFill>
                <a:latin typeface="Inter"/>
              </a:rPr>
              <a:t>PRODUCT PRINCIPLES</a:t>
            </a:r>
          </a:p>
        </p:txBody>
      </p:sp>
      <p:sp>
        <p:nvSpPr>
          <p:cNvPr id="21" name="TextBox 20"/>
          <p:cNvSpPr txBox="1"/>
          <p:nvPr/>
        </p:nvSpPr>
        <p:spPr>
          <a:xfrm>
            <a:off x="7863840" y="3950208"/>
            <a:ext cx="3520440" cy="73152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Consent first</a:t>
            </a:r>
          </a:p>
          <a:p>
            <a:pPr algn="l">
              <a:lnSpc>
                <a:spcPct val="115000"/>
              </a:lnSpc>
              <a:spcAft>
                <a:spcPts val="0"/>
              </a:spcAft>
            </a:pPr>
            <a:r>
              <a:rPr sz="1100" b="0" i="0">
                <a:solidFill>
                  <a:srgbClr val="C9D6E8"/>
                </a:solidFill>
                <a:latin typeface="Inter"/>
              </a:rPr>
              <a:t>No introduction without agreement from both sides.</a:t>
            </a:r>
          </a:p>
        </p:txBody>
      </p:sp>
      <p:sp>
        <p:nvSpPr>
          <p:cNvPr id="22" name="TextBox 21"/>
          <p:cNvSpPr txBox="1"/>
          <p:nvPr/>
        </p:nvSpPr>
        <p:spPr>
          <a:xfrm>
            <a:off x="7863840" y="4681728"/>
            <a:ext cx="3520440" cy="73152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Founder-controlled visibility</a:t>
            </a:r>
          </a:p>
          <a:p>
            <a:pPr algn="l">
              <a:lnSpc>
                <a:spcPct val="115000"/>
              </a:lnSpc>
              <a:spcAft>
                <a:spcPts val="0"/>
              </a:spcAft>
            </a:pPr>
            <a:r>
              <a:rPr sz="1100" b="0" i="0">
                <a:solidFill>
                  <a:srgbClr val="C9D6E8"/>
                </a:solidFill>
                <a:latin typeface="Inter"/>
              </a:rPr>
              <a:t>Founders choose what their profile shows, and to whom.</a:t>
            </a:r>
          </a:p>
        </p:txBody>
      </p:sp>
      <p:sp>
        <p:nvSpPr>
          <p:cNvPr id="23" name="TextBox 22"/>
          <p:cNvSpPr txBox="1"/>
          <p:nvPr/>
        </p:nvSpPr>
        <p:spPr>
          <a:xfrm>
            <a:off x="7863840" y="5413248"/>
            <a:ext cx="3520440" cy="731520"/>
          </a:xfrm>
          <a:prstGeom prst="rect">
            <a:avLst/>
          </a:prstGeom>
          <a:noFill/>
        </p:spPr>
        <p:txBody>
          <a:bodyPr wrap="square" lIns="0" rIns="0" tIns="0" bIns="0" anchor="t"/>
          <a:lstStyle/>
          <a:p>
            <a:pPr algn="l">
              <a:lnSpc>
                <a:spcPct val="115000"/>
              </a:lnSpc>
              <a:spcAft>
                <a:spcPts val="0"/>
              </a:spcAft>
            </a:pPr>
            <a:r>
              <a:rPr sz="1300" b="1" i="0">
                <a:solidFill>
                  <a:srgbClr val="FFFFFF"/>
                </a:solidFill>
                <a:latin typeface="Inter"/>
              </a:rPr>
              <a:t>Quality over size</a:t>
            </a:r>
          </a:p>
          <a:p>
            <a:pPr algn="l">
              <a:lnSpc>
                <a:spcPct val="115000"/>
              </a:lnSpc>
              <a:spcAft>
                <a:spcPts val="0"/>
              </a:spcAft>
            </a:pPr>
            <a:r>
              <a:rPr sz="1100" b="0" i="0">
                <a:solidFill>
                  <a:srgbClr val="C9D6E8"/>
                </a:solidFill>
                <a:latin typeface="Inter"/>
              </a:rPr>
              <a:t>We track completed, useful interactions — not directory size.</a:t>
            </a:r>
          </a:p>
        </p:txBody>
      </p:sp>
      <p:sp>
        <p:nvSpPr>
          <p:cNvPr id="24" name="TextBox 2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5" name="TextBox 2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11</a:t>
            </a:r>
            <a:r>
              <a:rPr sz="1000" b="1" i="0" spc="150">
                <a:solidFill>
                  <a:srgbClr val="1765D1"/>
                </a:solidFill>
                <a:latin typeface="Inter"/>
              </a:rPr>
              <a:t>   FOUNDER ACADEMY</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Practical learning that ends in action.</a:t>
            </a:r>
          </a:p>
        </p:txBody>
      </p:sp>
      <p:sp>
        <p:nvSpPr>
          <p:cNvPr id="4" name="Rounded Rectangle 3"/>
          <p:cNvSpPr/>
          <p:nvPr/>
        </p:nvSpPr>
        <p:spPr>
          <a:xfrm>
            <a:off x="10113264" y="402336"/>
            <a:ext cx="1484071" cy="256032"/>
          </a:xfrm>
          <a:prstGeom prst="roundRect">
            <a:avLst>
              <a:gd name="adj" fmla="val 50000"/>
            </a:avLst>
          </a:prstGeom>
          <a:solidFill>
            <a:srgbClr val="EDF4FE"/>
          </a:solidFill>
          <a:ln>
            <a:noFill/>
          </a:ln>
          <a:effectLst/>
        </p:spPr>
        <p:txBody>
          <a:bodyPr rtlCol="0" anchor="ctr" lIns="54864" rIns="54864" tIns="27432" bIns="27432" wrap="none"/>
          <a:lstStyle/>
          <a:p>
            <a:pPr algn="ctr">
              <a:lnSpc>
                <a:spcPct val="110000"/>
              </a:lnSpc>
              <a:spcAft>
                <a:spcPts val="0"/>
              </a:spcAft>
            </a:pPr>
            <a:r>
              <a:rPr sz="900" b="1" i="0" spc="80">
                <a:solidFill>
                  <a:srgbClr val="1765D1"/>
                </a:solidFill>
                <a:latin typeface="Inter"/>
              </a:rPr>
              <a:t>PROPOSED THEMES</a:t>
            </a:r>
          </a:p>
        </p:txBody>
      </p:sp>
      <p:cxnSp>
        <p:nvCxnSpPr>
          <p:cNvPr id="5" name="Connector 4"/>
          <p:cNvCxnSpPr/>
          <p:nvPr/>
        </p:nvCxnSpPr>
        <p:spPr>
          <a:xfrm>
            <a:off x="594360" y="2057400"/>
            <a:ext cx="3017519" cy="0"/>
          </a:xfrm>
          <a:prstGeom prst="line">
            <a:avLst/>
          </a:prstGeom>
          <a:ln w="12700">
            <a:solidFill>
              <a:srgbClr val="10213B"/>
            </a:solidFill>
          </a:ln>
        </p:spPr>
      </p:cxnSp>
      <p:sp>
        <p:nvSpPr>
          <p:cNvPr id="6" name="TextBox 5"/>
          <p:cNvSpPr txBox="1"/>
          <p:nvPr/>
        </p:nvSpPr>
        <p:spPr>
          <a:xfrm>
            <a:off x="594360" y="2185416"/>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01</a:t>
            </a:r>
          </a:p>
        </p:txBody>
      </p:sp>
      <p:sp>
        <p:nvSpPr>
          <p:cNvPr id="7" name="TextBox 6"/>
          <p:cNvSpPr txBox="1"/>
          <p:nvPr/>
        </p:nvSpPr>
        <p:spPr>
          <a:xfrm>
            <a:off x="1051560" y="2167128"/>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Idea validation</a:t>
            </a:r>
          </a:p>
        </p:txBody>
      </p:sp>
      <p:cxnSp>
        <p:nvCxnSpPr>
          <p:cNvPr id="8" name="Connector 7"/>
          <p:cNvCxnSpPr/>
          <p:nvPr/>
        </p:nvCxnSpPr>
        <p:spPr>
          <a:xfrm>
            <a:off x="3840480" y="2057400"/>
            <a:ext cx="3017520" cy="0"/>
          </a:xfrm>
          <a:prstGeom prst="line">
            <a:avLst/>
          </a:prstGeom>
          <a:ln w="12700">
            <a:solidFill>
              <a:srgbClr val="10213B"/>
            </a:solidFill>
          </a:ln>
        </p:spPr>
      </p:cxnSp>
      <p:sp>
        <p:nvSpPr>
          <p:cNvPr id="9" name="TextBox 8"/>
          <p:cNvSpPr txBox="1"/>
          <p:nvPr/>
        </p:nvSpPr>
        <p:spPr>
          <a:xfrm>
            <a:off x="3840480" y="2185416"/>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02</a:t>
            </a:r>
          </a:p>
        </p:txBody>
      </p:sp>
      <p:sp>
        <p:nvSpPr>
          <p:cNvPr id="10" name="TextBox 9"/>
          <p:cNvSpPr txBox="1"/>
          <p:nvPr/>
        </p:nvSpPr>
        <p:spPr>
          <a:xfrm>
            <a:off x="4297680" y="2167128"/>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Business models</a:t>
            </a:r>
          </a:p>
        </p:txBody>
      </p:sp>
      <p:cxnSp>
        <p:nvCxnSpPr>
          <p:cNvPr id="11" name="Connector 10"/>
          <p:cNvCxnSpPr/>
          <p:nvPr/>
        </p:nvCxnSpPr>
        <p:spPr>
          <a:xfrm>
            <a:off x="594360" y="2953512"/>
            <a:ext cx="3017519" cy="0"/>
          </a:xfrm>
          <a:prstGeom prst="line">
            <a:avLst/>
          </a:prstGeom>
          <a:ln w="12700">
            <a:solidFill>
              <a:srgbClr val="D5E2F3"/>
            </a:solidFill>
          </a:ln>
        </p:spPr>
      </p:cxnSp>
      <p:sp>
        <p:nvSpPr>
          <p:cNvPr id="12" name="TextBox 11"/>
          <p:cNvSpPr txBox="1"/>
          <p:nvPr/>
        </p:nvSpPr>
        <p:spPr>
          <a:xfrm>
            <a:off x="594360" y="3081528"/>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03</a:t>
            </a:r>
          </a:p>
        </p:txBody>
      </p:sp>
      <p:sp>
        <p:nvSpPr>
          <p:cNvPr id="13" name="TextBox 12"/>
          <p:cNvSpPr txBox="1"/>
          <p:nvPr/>
        </p:nvSpPr>
        <p:spPr>
          <a:xfrm>
            <a:off x="1051560" y="3063240"/>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AI and automation</a:t>
            </a:r>
          </a:p>
        </p:txBody>
      </p:sp>
      <p:cxnSp>
        <p:nvCxnSpPr>
          <p:cNvPr id="14" name="Connector 13"/>
          <p:cNvCxnSpPr/>
          <p:nvPr/>
        </p:nvCxnSpPr>
        <p:spPr>
          <a:xfrm>
            <a:off x="3840480" y="2953512"/>
            <a:ext cx="3017520" cy="0"/>
          </a:xfrm>
          <a:prstGeom prst="line">
            <a:avLst/>
          </a:prstGeom>
          <a:ln w="12700">
            <a:solidFill>
              <a:srgbClr val="D5E2F3"/>
            </a:solidFill>
          </a:ln>
        </p:spPr>
      </p:cxnSp>
      <p:sp>
        <p:nvSpPr>
          <p:cNvPr id="15" name="TextBox 14"/>
          <p:cNvSpPr txBox="1"/>
          <p:nvPr/>
        </p:nvSpPr>
        <p:spPr>
          <a:xfrm>
            <a:off x="3840480" y="3081528"/>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04</a:t>
            </a:r>
          </a:p>
        </p:txBody>
      </p:sp>
      <p:sp>
        <p:nvSpPr>
          <p:cNvPr id="16" name="TextBox 15"/>
          <p:cNvSpPr txBox="1"/>
          <p:nvPr/>
        </p:nvSpPr>
        <p:spPr>
          <a:xfrm>
            <a:off x="4297680" y="3063240"/>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Go-to-market and customer acquisition</a:t>
            </a:r>
          </a:p>
        </p:txBody>
      </p:sp>
      <p:cxnSp>
        <p:nvCxnSpPr>
          <p:cNvPr id="17" name="Connector 16"/>
          <p:cNvCxnSpPr/>
          <p:nvPr/>
        </p:nvCxnSpPr>
        <p:spPr>
          <a:xfrm>
            <a:off x="594360" y="3849624"/>
            <a:ext cx="3017519" cy="0"/>
          </a:xfrm>
          <a:prstGeom prst="line">
            <a:avLst/>
          </a:prstGeom>
          <a:ln w="12700">
            <a:solidFill>
              <a:srgbClr val="D5E2F3"/>
            </a:solidFill>
          </a:ln>
        </p:spPr>
      </p:cxnSp>
      <p:sp>
        <p:nvSpPr>
          <p:cNvPr id="18" name="TextBox 17"/>
          <p:cNvSpPr txBox="1"/>
          <p:nvPr/>
        </p:nvSpPr>
        <p:spPr>
          <a:xfrm>
            <a:off x="594360" y="3977639"/>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05</a:t>
            </a:r>
          </a:p>
        </p:txBody>
      </p:sp>
      <p:sp>
        <p:nvSpPr>
          <p:cNvPr id="19" name="TextBox 18"/>
          <p:cNvSpPr txBox="1"/>
          <p:nvPr/>
        </p:nvSpPr>
        <p:spPr>
          <a:xfrm>
            <a:off x="1051560" y="3959352"/>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Pricing and unit economics</a:t>
            </a:r>
          </a:p>
        </p:txBody>
      </p:sp>
      <p:cxnSp>
        <p:nvCxnSpPr>
          <p:cNvPr id="20" name="Connector 19"/>
          <p:cNvCxnSpPr/>
          <p:nvPr/>
        </p:nvCxnSpPr>
        <p:spPr>
          <a:xfrm>
            <a:off x="3840480" y="3849624"/>
            <a:ext cx="3017520" cy="0"/>
          </a:xfrm>
          <a:prstGeom prst="line">
            <a:avLst/>
          </a:prstGeom>
          <a:ln w="12700">
            <a:solidFill>
              <a:srgbClr val="D5E2F3"/>
            </a:solidFill>
          </a:ln>
        </p:spPr>
      </p:cxnSp>
      <p:sp>
        <p:nvSpPr>
          <p:cNvPr id="21" name="TextBox 20"/>
          <p:cNvSpPr txBox="1"/>
          <p:nvPr/>
        </p:nvSpPr>
        <p:spPr>
          <a:xfrm>
            <a:off x="3840480" y="3977639"/>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06</a:t>
            </a:r>
          </a:p>
        </p:txBody>
      </p:sp>
      <p:sp>
        <p:nvSpPr>
          <p:cNvPr id="22" name="TextBox 21"/>
          <p:cNvSpPr txBox="1"/>
          <p:nvPr/>
        </p:nvSpPr>
        <p:spPr>
          <a:xfrm>
            <a:off x="4297680" y="3959352"/>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Pitch readiness</a:t>
            </a:r>
          </a:p>
        </p:txBody>
      </p:sp>
      <p:cxnSp>
        <p:nvCxnSpPr>
          <p:cNvPr id="23" name="Connector 22"/>
          <p:cNvCxnSpPr/>
          <p:nvPr/>
        </p:nvCxnSpPr>
        <p:spPr>
          <a:xfrm>
            <a:off x="594360" y="4745736"/>
            <a:ext cx="3017519" cy="0"/>
          </a:xfrm>
          <a:prstGeom prst="line">
            <a:avLst/>
          </a:prstGeom>
          <a:ln w="12700">
            <a:solidFill>
              <a:srgbClr val="D5E2F3"/>
            </a:solidFill>
          </a:ln>
        </p:spPr>
      </p:cxnSp>
      <p:sp>
        <p:nvSpPr>
          <p:cNvPr id="24" name="TextBox 23"/>
          <p:cNvSpPr txBox="1"/>
          <p:nvPr/>
        </p:nvSpPr>
        <p:spPr>
          <a:xfrm>
            <a:off x="594360" y="4873751"/>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07</a:t>
            </a:r>
          </a:p>
        </p:txBody>
      </p:sp>
      <p:sp>
        <p:nvSpPr>
          <p:cNvPr id="25" name="TextBox 24"/>
          <p:cNvSpPr txBox="1"/>
          <p:nvPr/>
        </p:nvSpPr>
        <p:spPr>
          <a:xfrm>
            <a:off x="1051560" y="4855464"/>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Legal and operational foundations</a:t>
            </a:r>
          </a:p>
        </p:txBody>
      </p:sp>
      <p:cxnSp>
        <p:nvCxnSpPr>
          <p:cNvPr id="26" name="Connector 25"/>
          <p:cNvCxnSpPr/>
          <p:nvPr/>
        </p:nvCxnSpPr>
        <p:spPr>
          <a:xfrm>
            <a:off x="3840480" y="4745736"/>
            <a:ext cx="3017520" cy="0"/>
          </a:xfrm>
          <a:prstGeom prst="line">
            <a:avLst/>
          </a:prstGeom>
          <a:ln w="12700">
            <a:solidFill>
              <a:srgbClr val="D5E2F3"/>
            </a:solidFill>
          </a:ln>
        </p:spPr>
      </p:cxnSp>
      <p:sp>
        <p:nvSpPr>
          <p:cNvPr id="27" name="TextBox 26"/>
          <p:cNvSpPr txBox="1"/>
          <p:nvPr/>
        </p:nvSpPr>
        <p:spPr>
          <a:xfrm>
            <a:off x="3840480" y="4873751"/>
            <a:ext cx="457200" cy="274320"/>
          </a:xfrm>
          <a:prstGeom prst="rect">
            <a:avLst/>
          </a:prstGeom>
          <a:noFill/>
        </p:spPr>
        <p:txBody>
          <a:bodyPr wrap="square" lIns="0" rIns="0" tIns="0" bIns="0" anchor="t"/>
          <a:lstStyle/>
          <a:p>
            <a:pPr algn="l">
              <a:lnSpc>
                <a:spcPct val="115000"/>
              </a:lnSpc>
              <a:spcAft>
                <a:spcPts val="0"/>
              </a:spcAft>
            </a:pPr>
            <a:r>
              <a:rPr sz="1100" b="1" i="0">
                <a:solidFill>
                  <a:srgbClr val="1765D1"/>
                </a:solidFill>
                <a:latin typeface="Inter"/>
              </a:rPr>
              <a:t>08</a:t>
            </a:r>
          </a:p>
        </p:txBody>
      </p:sp>
      <p:sp>
        <p:nvSpPr>
          <p:cNvPr id="28" name="TextBox 27"/>
          <p:cNvSpPr txBox="1"/>
          <p:nvPr/>
        </p:nvSpPr>
        <p:spPr>
          <a:xfrm>
            <a:off x="4297680" y="4855464"/>
            <a:ext cx="2560320" cy="685800"/>
          </a:xfrm>
          <a:prstGeom prst="rect">
            <a:avLst/>
          </a:prstGeom>
          <a:noFill/>
        </p:spPr>
        <p:txBody>
          <a:bodyPr wrap="square" lIns="0" rIns="0" tIns="0" bIns="0" anchor="t"/>
          <a:lstStyle/>
          <a:p>
            <a:pPr algn="l">
              <a:lnSpc>
                <a:spcPct val="110000"/>
              </a:lnSpc>
              <a:spcAft>
                <a:spcPts val="0"/>
              </a:spcAft>
            </a:pPr>
            <a:r>
              <a:rPr sz="1350" b="1" i="0">
                <a:solidFill>
                  <a:srgbClr val="10213B"/>
                </a:solidFill>
                <a:latin typeface="Inter"/>
              </a:rPr>
              <a:t>Consumer-brand and retail development</a:t>
            </a:r>
          </a:p>
        </p:txBody>
      </p:sp>
      <p:sp>
        <p:nvSpPr>
          <p:cNvPr id="29" name="TextBox 28"/>
          <p:cNvSpPr txBox="1"/>
          <p:nvPr/>
        </p:nvSpPr>
        <p:spPr>
          <a:xfrm>
            <a:off x="594360" y="5715000"/>
            <a:ext cx="6309360" cy="548640"/>
          </a:xfrm>
          <a:prstGeom prst="rect">
            <a:avLst/>
          </a:prstGeom>
          <a:noFill/>
        </p:spPr>
        <p:txBody>
          <a:bodyPr wrap="square" lIns="0" rIns="0" tIns="0" bIns="0" anchor="t"/>
          <a:lstStyle/>
          <a:p>
            <a:pPr algn="l">
              <a:lnSpc>
                <a:spcPct val="125000"/>
              </a:lnSpc>
              <a:spcAft>
                <a:spcPts val="0"/>
              </a:spcAft>
            </a:pPr>
            <a:r>
              <a:rPr sz="1100" b="0" i="0">
                <a:solidFill>
                  <a:srgbClr val="61738A"/>
                </a:solidFill>
                <a:latin typeface="Inter"/>
              </a:rPr>
              <a:t>Themes are a starting point; sessions and depth will be shaped with founders and contributors during the pilot.</a:t>
            </a:r>
          </a:p>
        </p:txBody>
      </p:sp>
      <p:sp>
        <p:nvSpPr>
          <p:cNvPr id="30" name="Oval 29"/>
          <p:cNvSpPr/>
          <p:nvPr/>
        </p:nvSpPr>
        <p:spPr>
          <a:xfrm>
            <a:off x="7772400" y="2286000"/>
            <a:ext cx="3200400" cy="3200400"/>
          </a:xfrm>
          <a:prstGeom prst="ellipse">
            <a:avLst/>
          </a:prstGeom>
          <a:noFill/>
          <a:ln w="25400">
            <a:solidFill>
              <a:srgbClr val="B8CFEE"/>
            </a:solidFill>
          </a:ln>
          <a:effectLst/>
        </p:spPr>
        <p:txBody>
          <a:bodyPr rtlCol="0" anchor="ctr" lIns="73152" rIns="73152" tIns="36576" bIns="36576"/>
          <a:lstStyle/>
          <a:p>
            <a:pPr algn="ctr"/>
          </a:p>
        </p:txBody>
      </p:sp>
      <p:sp>
        <p:nvSpPr>
          <p:cNvPr id="31" name="Rounded Rectangle 30"/>
          <p:cNvSpPr/>
          <p:nvPr/>
        </p:nvSpPr>
        <p:spPr>
          <a:xfrm>
            <a:off x="8778240" y="2039112"/>
            <a:ext cx="1188720" cy="493776"/>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Learn</a:t>
            </a:r>
          </a:p>
        </p:txBody>
      </p:sp>
      <p:sp>
        <p:nvSpPr>
          <p:cNvPr id="32" name="Rounded Rectangle 31"/>
          <p:cNvSpPr/>
          <p:nvPr/>
        </p:nvSpPr>
        <p:spPr>
          <a:xfrm>
            <a:off x="10378440" y="3639312"/>
            <a:ext cx="1188720" cy="493776"/>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Apply</a:t>
            </a:r>
          </a:p>
        </p:txBody>
      </p:sp>
      <p:sp>
        <p:nvSpPr>
          <p:cNvPr id="33" name="Rounded Rectangle 32"/>
          <p:cNvSpPr/>
          <p:nvPr/>
        </p:nvSpPr>
        <p:spPr>
          <a:xfrm>
            <a:off x="8778240" y="5239512"/>
            <a:ext cx="1188720" cy="493776"/>
          </a:xfrm>
          <a:prstGeom prst="roundRect">
            <a:avLst>
              <a:gd name="adj" fmla="val 50000"/>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Feedback</a:t>
            </a:r>
          </a:p>
        </p:txBody>
      </p:sp>
      <p:sp>
        <p:nvSpPr>
          <p:cNvPr id="34" name="Rounded Rectangle 33"/>
          <p:cNvSpPr/>
          <p:nvPr/>
        </p:nvSpPr>
        <p:spPr>
          <a:xfrm>
            <a:off x="7178040" y="3639312"/>
            <a:ext cx="1188720" cy="493776"/>
          </a:xfrm>
          <a:prstGeom prst="roundRect">
            <a:avLst>
              <a:gd name="adj" fmla="val 50000"/>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Next action</a:t>
            </a:r>
          </a:p>
        </p:txBody>
      </p:sp>
      <p:sp>
        <p:nvSpPr>
          <p:cNvPr id="35" name="TextBox 34"/>
          <p:cNvSpPr txBox="1"/>
          <p:nvPr/>
        </p:nvSpPr>
        <p:spPr>
          <a:xfrm>
            <a:off x="8503920" y="3429000"/>
            <a:ext cx="1737360" cy="914400"/>
          </a:xfrm>
          <a:prstGeom prst="rect">
            <a:avLst/>
          </a:prstGeom>
          <a:noFill/>
        </p:spPr>
        <p:txBody>
          <a:bodyPr wrap="square" lIns="0" rIns="0" tIns="0" bIns="0" anchor="t"/>
          <a:lstStyle/>
          <a:p>
            <a:pPr algn="ctr">
              <a:lnSpc>
                <a:spcPct val="115000"/>
              </a:lnSpc>
              <a:spcAft>
                <a:spcPts val="0"/>
              </a:spcAft>
            </a:pPr>
            <a:r>
              <a:rPr sz="1200" b="1" i="0">
                <a:solidFill>
                  <a:srgbClr val="10213B"/>
                </a:solidFill>
                <a:latin typeface="Inter"/>
              </a:rPr>
              <a:t>Every session</a:t>
            </a:r>
          </a:p>
          <a:p>
            <a:pPr algn="ctr">
              <a:lnSpc>
                <a:spcPct val="115000"/>
              </a:lnSpc>
              <a:spcAft>
                <a:spcPts val="0"/>
              </a:spcAft>
            </a:pPr>
            <a:r>
              <a:rPr sz="1050" b="0" i="0">
                <a:solidFill>
                  <a:srgbClr val="253650"/>
                </a:solidFill>
                <a:latin typeface="Inter"/>
              </a:rPr>
              <a:t>ends with a task the founder applies to their own business</a:t>
            </a:r>
          </a:p>
        </p:txBody>
      </p:sp>
      <p:sp>
        <p:nvSpPr>
          <p:cNvPr id="36" name="TextBox 3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7" name="TextBox 3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12</a:t>
            </a:r>
            <a:r>
              <a:rPr sz="1000" b="1" i="0" spc="150">
                <a:solidFill>
                  <a:srgbClr val="1765D1"/>
                </a:solidFill>
                <a:latin typeface="Inter"/>
              </a:rPr>
              <a:t>   EXPERT SERVICES AND PARTNER TOOLS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The right specialist or tool, at the right moment.</a:t>
            </a:r>
          </a:p>
        </p:txBody>
      </p:sp>
      <p:sp>
        <p:nvSpPr>
          <p:cNvPr id="4" name="TextBox 3"/>
          <p:cNvSpPr txBox="1"/>
          <p:nvPr/>
        </p:nvSpPr>
        <p:spPr>
          <a:xfrm>
            <a:off x="594360" y="2011680"/>
            <a:ext cx="45720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POTENTIAL SERVICE CATEGORIES</a:t>
            </a:r>
          </a:p>
        </p:txBody>
      </p:sp>
      <p:sp>
        <p:nvSpPr>
          <p:cNvPr id="5" name="Rectangle 4"/>
          <p:cNvSpPr/>
          <p:nvPr/>
        </p:nvSpPr>
        <p:spPr>
          <a:xfrm>
            <a:off x="594360" y="2377440"/>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Legal</a:t>
            </a:r>
          </a:p>
        </p:txBody>
      </p:sp>
      <p:sp>
        <p:nvSpPr>
          <p:cNvPr id="6" name="Rectangle 5"/>
          <p:cNvSpPr/>
          <p:nvPr/>
        </p:nvSpPr>
        <p:spPr>
          <a:xfrm>
            <a:off x="2971800" y="2377440"/>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Accounting and finance</a:t>
            </a:r>
          </a:p>
        </p:txBody>
      </p:sp>
      <p:sp>
        <p:nvSpPr>
          <p:cNvPr id="7" name="Rectangle 6"/>
          <p:cNvSpPr/>
          <p:nvPr/>
        </p:nvSpPr>
        <p:spPr>
          <a:xfrm>
            <a:off x="594360" y="3127248"/>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Branding and design</a:t>
            </a:r>
          </a:p>
        </p:txBody>
      </p:sp>
      <p:sp>
        <p:nvSpPr>
          <p:cNvPr id="8" name="Rectangle 7"/>
          <p:cNvSpPr/>
          <p:nvPr/>
        </p:nvSpPr>
        <p:spPr>
          <a:xfrm>
            <a:off x="2971800" y="3127248"/>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Technology and automation</a:t>
            </a:r>
          </a:p>
        </p:txBody>
      </p:sp>
      <p:sp>
        <p:nvSpPr>
          <p:cNvPr id="9" name="Rectangle 8"/>
          <p:cNvSpPr/>
          <p:nvPr/>
        </p:nvSpPr>
        <p:spPr>
          <a:xfrm>
            <a:off x="594360" y="3877056"/>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Marketing and sales</a:t>
            </a:r>
          </a:p>
        </p:txBody>
      </p:sp>
      <p:sp>
        <p:nvSpPr>
          <p:cNvPr id="10" name="Rectangle 9"/>
          <p:cNvSpPr/>
          <p:nvPr/>
        </p:nvSpPr>
        <p:spPr>
          <a:xfrm>
            <a:off x="2971800" y="3877056"/>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Customer communication</a:t>
            </a:r>
          </a:p>
        </p:txBody>
      </p:sp>
      <p:sp>
        <p:nvSpPr>
          <p:cNvPr id="11" name="Rectangle 10"/>
          <p:cNvSpPr/>
          <p:nvPr/>
        </p:nvSpPr>
        <p:spPr>
          <a:xfrm>
            <a:off x="594360" y="4626864"/>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Business setup</a:t>
            </a:r>
          </a:p>
        </p:txBody>
      </p:sp>
      <p:sp>
        <p:nvSpPr>
          <p:cNvPr id="12" name="Rectangle 11"/>
          <p:cNvSpPr/>
          <p:nvPr/>
        </p:nvSpPr>
        <p:spPr>
          <a:xfrm>
            <a:off x="2971800" y="4626864"/>
            <a:ext cx="2240280" cy="621792"/>
          </a:xfrm>
          <a:prstGeom prst="rect">
            <a:avLst/>
          </a:prstGeom>
          <a:solidFill>
            <a:srgbClr val="EDF4FE"/>
          </a:solidFill>
          <a:ln>
            <a:noFill/>
          </a:ln>
          <a:effectLst/>
        </p:spPr>
        <p:txBody>
          <a:bodyPr rtlCol="0" anchor="ctr" lIns="164592" rIns="164592" tIns="27432" bIns="27432" wrap="square"/>
          <a:lstStyle/>
          <a:p>
            <a:pPr algn="l">
              <a:lnSpc>
                <a:spcPct val="110000"/>
              </a:lnSpc>
              <a:spcAft>
                <a:spcPts val="0"/>
              </a:spcAft>
            </a:pPr>
            <a:r>
              <a:rPr sz="1200" b="1" i="0">
                <a:solidFill>
                  <a:srgbClr val="10213B"/>
                </a:solidFill>
                <a:latin typeface="Inter"/>
              </a:rPr>
              <a:t>Product and retail guidance</a:t>
            </a:r>
          </a:p>
        </p:txBody>
      </p:sp>
      <p:sp>
        <p:nvSpPr>
          <p:cNvPr id="13" name="TextBox 12"/>
          <p:cNvSpPr txBox="1"/>
          <p:nvPr/>
        </p:nvSpPr>
        <p:spPr>
          <a:xfrm>
            <a:off x="5760720" y="2011680"/>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THREE POSSIBLE DELIVERY ROUTES</a:t>
            </a:r>
          </a:p>
        </p:txBody>
      </p:sp>
      <p:sp>
        <p:nvSpPr>
          <p:cNvPr id="14" name="Rectangle 13"/>
          <p:cNvSpPr/>
          <p:nvPr/>
        </p:nvSpPr>
        <p:spPr>
          <a:xfrm>
            <a:off x="5760720" y="2377440"/>
            <a:ext cx="54864" cy="822960"/>
          </a:xfrm>
          <a:prstGeom prst="rect">
            <a:avLst/>
          </a:prstGeom>
          <a:solidFill>
            <a:srgbClr val="1765D1"/>
          </a:solidFill>
          <a:ln>
            <a:noFill/>
          </a:ln>
          <a:effectLst/>
        </p:spPr>
        <p:txBody>
          <a:bodyPr rtlCol="0" anchor="ctr" lIns="73152" rIns="73152" tIns="36576" bIns="36576"/>
          <a:lstStyle/>
          <a:p>
            <a:pPr algn="ctr"/>
          </a:p>
        </p:txBody>
      </p:sp>
      <p:sp>
        <p:nvSpPr>
          <p:cNvPr id="15" name="TextBox 14"/>
          <p:cNvSpPr txBox="1"/>
          <p:nvPr/>
        </p:nvSpPr>
        <p:spPr>
          <a:xfrm>
            <a:off x="5989320" y="2395728"/>
            <a:ext cx="548640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Expert sessions</a:t>
            </a:r>
          </a:p>
        </p:txBody>
      </p:sp>
      <p:sp>
        <p:nvSpPr>
          <p:cNvPr id="16" name="TextBox 15"/>
          <p:cNvSpPr txBox="1"/>
          <p:nvPr/>
        </p:nvSpPr>
        <p:spPr>
          <a:xfrm>
            <a:off x="5989320" y="2761488"/>
            <a:ext cx="5577840" cy="45720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Short clinics and one-to-one sessions with experienced practitioners.</a:t>
            </a:r>
          </a:p>
        </p:txBody>
      </p:sp>
      <p:sp>
        <p:nvSpPr>
          <p:cNvPr id="17" name="Rectangle 16"/>
          <p:cNvSpPr/>
          <p:nvPr/>
        </p:nvSpPr>
        <p:spPr>
          <a:xfrm>
            <a:off x="5760720" y="3383280"/>
            <a:ext cx="54864" cy="822960"/>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5989320" y="3401568"/>
            <a:ext cx="548640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Partner-provided services</a:t>
            </a:r>
          </a:p>
        </p:txBody>
      </p:sp>
      <p:sp>
        <p:nvSpPr>
          <p:cNvPr id="19" name="TextBox 18"/>
          <p:cNvSpPr txBox="1"/>
          <p:nvPr/>
        </p:nvSpPr>
        <p:spPr>
          <a:xfrm>
            <a:off x="5989320" y="3767328"/>
            <a:ext cx="5577840" cy="45720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Defined packages from vetted providers, with clear scope before work starts.</a:t>
            </a:r>
          </a:p>
        </p:txBody>
      </p:sp>
      <p:sp>
        <p:nvSpPr>
          <p:cNvPr id="20" name="Rectangle 19"/>
          <p:cNvSpPr/>
          <p:nvPr/>
        </p:nvSpPr>
        <p:spPr>
          <a:xfrm>
            <a:off x="5760720" y="4389120"/>
            <a:ext cx="54864" cy="822960"/>
          </a:xfrm>
          <a:prstGeom prst="rect">
            <a:avLst/>
          </a:prstGeom>
          <a:solidFill>
            <a:srgbClr val="10213B"/>
          </a:solidFill>
          <a:ln>
            <a:noFill/>
          </a:ln>
          <a:effectLst/>
        </p:spPr>
        <p:txBody>
          <a:bodyPr rtlCol="0" anchor="ctr" lIns="73152" rIns="73152" tIns="36576" bIns="36576"/>
          <a:lstStyle/>
          <a:p>
            <a:pPr algn="ctr"/>
          </a:p>
        </p:txBody>
      </p:sp>
      <p:sp>
        <p:nvSpPr>
          <p:cNvPr id="21" name="TextBox 20"/>
          <p:cNvSpPr txBox="1"/>
          <p:nvPr/>
        </p:nvSpPr>
        <p:spPr>
          <a:xfrm>
            <a:off x="5989320" y="4407408"/>
            <a:ext cx="5486400" cy="320040"/>
          </a:xfrm>
          <a:prstGeom prst="rect">
            <a:avLst/>
          </a:prstGeom>
          <a:noFill/>
        </p:spPr>
        <p:txBody>
          <a:bodyPr wrap="square" lIns="0" rIns="0" tIns="0" bIns="0" anchor="t"/>
          <a:lstStyle/>
          <a:p>
            <a:pPr algn="l">
              <a:lnSpc>
                <a:spcPct val="115000"/>
              </a:lnSpc>
              <a:spcAft>
                <a:spcPts val="0"/>
              </a:spcAft>
            </a:pPr>
            <a:r>
              <a:rPr sz="1500" b="1" i="0">
                <a:solidFill>
                  <a:srgbClr val="10213B"/>
                </a:solidFill>
                <a:latin typeface="Inter"/>
              </a:rPr>
              <a:t>Integrated or white-label tools</a:t>
            </a:r>
          </a:p>
        </p:txBody>
      </p:sp>
      <p:sp>
        <p:nvSpPr>
          <p:cNvPr id="22" name="TextBox 21"/>
          <p:cNvSpPr txBox="1"/>
          <p:nvPr/>
        </p:nvSpPr>
        <p:spPr>
          <a:xfrm>
            <a:off x="5989320" y="4773168"/>
            <a:ext cx="5577840" cy="457200"/>
          </a:xfrm>
          <a:prstGeom prst="rect">
            <a:avLst/>
          </a:prstGeom>
          <a:noFill/>
        </p:spPr>
        <p:txBody>
          <a:bodyPr wrap="square" lIns="0" rIns="0" tIns="0" bIns="0" anchor="t"/>
          <a:lstStyle/>
          <a:p>
            <a:pPr algn="l">
              <a:lnSpc>
                <a:spcPct val="120000"/>
              </a:lnSpc>
              <a:spcAft>
                <a:spcPts val="0"/>
              </a:spcAft>
            </a:pPr>
            <a:r>
              <a:rPr sz="1200" b="0" i="0">
                <a:solidFill>
                  <a:srgbClr val="253650"/>
                </a:solidFill>
                <a:latin typeface="Inter"/>
              </a:rPr>
              <a:t>Useful software inside Founder OS, where commercial rights allow.</a:t>
            </a:r>
          </a:p>
        </p:txBody>
      </p:sp>
      <p:sp>
        <p:nvSpPr>
          <p:cNvPr id="23" name="Rectangle 22"/>
          <p:cNvSpPr/>
          <p:nvPr/>
        </p:nvSpPr>
        <p:spPr>
          <a:xfrm>
            <a:off x="5760720" y="5468112"/>
            <a:ext cx="5836615" cy="731520"/>
          </a:xfrm>
          <a:prstGeom prst="rect">
            <a:avLst/>
          </a:prstGeom>
          <a:solidFill>
            <a:srgbClr val="10213B"/>
          </a:solidFill>
          <a:ln>
            <a:noFill/>
          </a:ln>
          <a:effectLst/>
        </p:spPr>
        <p:txBody>
          <a:bodyPr rtlCol="0" anchor="ctr" lIns="73152" rIns="73152" tIns="36576" bIns="36576"/>
          <a:lstStyle/>
          <a:p>
            <a:pPr algn="ctr"/>
          </a:p>
        </p:txBody>
      </p:sp>
      <p:sp>
        <p:nvSpPr>
          <p:cNvPr id="24" name="TextBox 23"/>
          <p:cNvSpPr txBox="1"/>
          <p:nvPr/>
        </p:nvSpPr>
        <p:spPr>
          <a:xfrm>
            <a:off x="5989320" y="5559552"/>
            <a:ext cx="5379415" cy="594360"/>
          </a:xfrm>
          <a:prstGeom prst="rect">
            <a:avLst/>
          </a:prstGeom>
          <a:noFill/>
        </p:spPr>
        <p:txBody>
          <a:bodyPr wrap="square" lIns="0" rIns="0" tIns="0" bIns="0" anchor="ctr"/>
          <a:lstStyle/>
          <a:p>
            <a:pPr algn="l">
              <a:lnSpc>
                <a:spcPct val="120000"/>
              </a:lnSpc>
              <a:spcAft>
                <a:spcPts val="0"/>
              </a:spcAft>
            </a:pPr>
            <a:r>
              <a:rPr sz="1150" b="0" i="0">
                <a:solidFill>
                  <a:srgbClr val="FFFFFF"/>
                </a:solidFill>
                <a:latin typeface="Inter"/>
              </a:rPr>
              <a:t>Packages, providers, integrations and fulfilment will be validated during the pilot. No supplier is presented here as a confirmed partner.</a:t>
            </a:r>
          </a:p>
        </p:txBody>
      </p:sp>
      <p:sp>
        <p:nvSpPr>
          <p:cNvPr id="25" name="TextBox 24"/>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6" name="TextBox 25"/>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13</a:t>
            </a:r>
            <a:r>
              <a:rPr sz="1000" b="1" i="0" spc="150">
                <a:solidFill>
                  <a:srgbClr val="1765D1"/>
                </a:solidFill>
                <a:latin typeface="Inter"/>
              </a:rPr>
              <a:t>   STARTUP INSIGHTS, MEDIA AND OPPORTUNITIES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What matters to a founder this week — with context.</a:t>
            </a:r>
          </a:p>
        </p:txBody>
      </p:sp>
      <p:sp>
        <p:nvSpPr>
          <p:cNvPr id="4" name="Oval 3"/>
          <p:cNvSpPr/>
          <p:nvPr/>
        </p:nvSpPr>
        <p:spPr>
          <a:xfrm>
            <a:off x="1325879" y="2194560"/>
            <a:ext cx="3840480" cy="3840480"/>
          </a:xfrm>
          <a:prstGeom prst="ellipse">
            <a:avLst/>
          </a:prstGeom>
          <a:solidFill>
            <a:srgbClr val="EDF4FE"/>
          </a:solidFill>
          <a:ln>
            <a:noFill/>
          </a:ln>
          <a:effectLst/>
        </p:spPr>
        <p:txBody>
          <a:bodyPr rtlCol="0" anchor="ctr" lIns="73152" rIns="73152" tIns="36576" bIns="36576"/>
          <a:lstStyle/>
          <a:p>
            <a:pPr algn="ctr"/>
          </a:p>
        </p:txBody>
      </p:sp>
      <p:sp>
        <p:nvSpPr>
          <p:cNvPr id="5" name="Oval 4"/>
          <p:cNvSpPr/>
          <p:nvPr/>
        </p:nvSpPr>
        <p:spPr>
          <a:xfrm>
            <a:off x="1874519" y="2743200"/>
            <a:ext cx="2743200" cy="2743200"/>
          </a:xfrm>
          <a:prstGeom prst="ellipse">
            <a:avLst/>
          </a:prstGeom>
          <a:solidFill>
            <a:srgbClr val="DCE8FB"/>
          </a:solidFill>
          <a:ln>
            <a:noFill/>
          </a:ln>
          <a:effectLst/>
        </p:spPr>
        <p:txBody>
          <a:bodyPr rtlCol="0" anchor="ctr" lIns="73152" rIns="73152" tIns="36576" bIns="36576"/>
          <a:lstStyle/>
          <a:p>
            <a:pPr algn="ctr"/>
          </a:p>
        </p:txBody>
      </p:sp>
      <p:sp>
        <p:nvSpPr>
          <p:cNvPr id="6" name="Oval 5"/>
          <p:cNvSpPr/>
          <p:nvPr/>
        </p:nvSpPr>
        <p:spPr>
          <a:xfrm>
            <a:off x="2423160" y="3291840"/>
            <a:ext cx="1645920" cy="1645920"/>
          </a:xfrm>
          <a:prstGeom prst="ellipse">
            <a:avLst/>
          </a:prstGeom>
          <a:solidFill>
            <a:srgbClr val="C4D8F6"/>
          </a:solidFill>
          <a:ln>
            <a:noFill/>
          </a:ln>
          <a:effectLst/>
        </p:spPr>
        <p:txBody>
          <a:bodyPr rtlCol="0" anchor="ctr" lIns="73152" rIns="73152" tIns="36576" bIns="36576"/>
          <a:lstStyle/>
          <a:p>
            <a:pPr algn="ctr"/>
          </a:p>
        </p:txBody>
      </p:sp>
      <p:cxnSp>
        <p:nvCxnSpPr>
          <p:cNvPr id="7" name="Connector 6"/>
          <p:cNvCxnSpPr/>
          <p:nvPr/>
        </p:nvCxnSpPr>
        <p:spPr>
          <a:xfrm>
            <a:off x="1325879" y="4114800"/>
            <a:ext cx="3840481" cy="0"/>
          </a:xfrm>
          <a:prstGeom prst="line">
            <a:avLst/>
          </a:prstGeom>
          <a:ln w="9525">
            <a:solidFill>
              <a:srgbClr val="B8CFEE"/>
            </a:solidFill>
          </a:ln>
        </p:spPr>
      </p:cxnSp>
      <p:cxnSp>
        <p:nvCxnSpPr>
          <p:cNvPr id="8" name="Connector 7"/>
          <p:cNvCxnSpPr/>
          <p:nvPr/>
        </p:nvCxnSpPr>
        <p:spPr>
          <a:xfrm>
            <a:off x="3246120" y="2194560"/>
            <a:ext cx="0" cy="3840480"/>
          </a:xfrm>
          <a:prstGeom prst="line">
            <a:avLst/>
          </a:prstGeom>
          <a:ln w="9525">
            <a:solidFill>
              <a:srgbClr val="B8CFEE"/>
            </a:solidFill>
          </a:ln>
        </p:spPr>
      </p:cxnSp>
      <p:sp>
        <p:nvSpPr>
          <p:cNvPr id="9" name="Oval 8"/>
          <p:cNvSpPr/>
          <p:nvPr/>
        </p:nvSpPr>
        <p:spPr>
          <a:xfrm>
            <a:off x="2807208" y="3675887"/>
            <a:ext cx="877824" cy="877824"/>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150" b="1" i="0">
                <a:solidFill>
                  <a:srgbClr val="FFFFFF"/>
                </a:solidFill>
                <a:latin typeface="Inter"/>
              </a:rPr>
              <a:t>Radar</a:t>
            </a:r>
          </a:p>
        </p:txBody>
      </p:sp>
      <p:sp>
        <p:nvSpPr>
          <p:cNvPr id="10" name="TextBox 9"/>
          <p:cNvSpPr txBox="1"/>
          <p:nvPr/>
        </p:nvSpPr>
        <p:spPr>
          <a:xfrm>
            <a:off x="1554479" y="269748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Startup updates</a:t>
            </a:r>
          </a:p>
        </p:txBody>
      </p:sp>
      <p:sp>
        <p:nvSpPr>
          <p:cNvPr id="11" name="TextBox 10"/>
          <p:cNvSpPr txBox="1"/>
          <p:nvPr/>
        </p:nvSpPr>
        <p:spPr>
          <a:xfrm>
            <a:off x="3474720" y="269748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Relevant events</a:t>
            </a:r>
          </a:p>
        </p:txBody>
      </p:sp>
      <p:sp>
        <p:nvSpPr>
          <p:cNvPr id="12" name="TextBox 11"/>
          <p:cNvSpPr txBox="1"/>
          <p:nvPr/>
        </p:nvSpPr>
        <p:spPr>
          <a:xfrm>
            <a:off x="1554479" y="480060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Funding and programme opportunities</a:t>
            </a:r>
          </a:p>
        </p:txBody>
      </p:sp>
      <p:sp>
        <p:nvSpPr>
          <p:cNvPr id="13" name="TextBox 12"/>
          <p:cNvSpPr txBox="1"/>
          <p:nvPr/>
        </p:nvSpPr>
        <p:spPr>
          <a:xfrm>
            <a:off x="3474720" y="4800600"/>
            <a:ext cx="1463040" cy="731520"/>
          </a:xfrm>
          <a:prstGeom prst="rect">
            <a:avLst/>
          </a:prstGeom>
          <a:noFill/>
        </p:spPr>
        <p:txBody>
          <a:bodyPr wrap="square" lIns="0" rIns="0" tIns="0" bIns="0" anchor="ctr"/>
          <a:lstStyle/>
          <a:p>
            <a:pPr algn="ctr">
              <a:lnSpc>
                <a:spcPct val="110000"/>
              </a:lnSpc>
              <a:spcAft>
                <a:spcPts val="0"/>
              </a:spcAft>
            </a:pPr>
            <a:r>
              <a:rPr sz="1100" b="1" i="0">
                <a:solidFill>
                  <a:srgbClr val="10213B"/>
                </a:solidFill>
                <a:latin typeface="Inter"/>
              </a:rPr>
              <a:t>Founder interviews and media</a:t>
            </a:r>
          </a:p>
        </p:txBody>
      </p:sp>
      <p:sp>
        <p:nvSpPr>
          <p:cNvPr id="14" name="Oval 13"/>
          <p:cNvSpPr/>
          <p:nvPr/>
        </p:nvSpPr>
        <p:spPr>
          <a:xfrm>
            <a:off x="3182112" y="2953512"/>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5" name="Oval 14"/>
          <p:cNvSpPr/>
          <p:nvPr/>
        </p:nvSpPr>
        <p:spPr>
          <a:xfrm>
            <a:off x="4279392" y="4050791"/>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6" name="Oval 15"/>
          <p:cNvSpPr/>
          <p:nvPr/>
        </p:nvSpPr>
        <p:spPr>
          <a:xfrm>
            <a:off x="3182112" y="5148072"/>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7" name="Oval 16"/>
          <p:cNvSpPr/>
          <p:nvPr/>
        </p:nvSpPr>
        <p:spPr>
          <a:xfrm>
            <a:off x="2084831" y="4050791"/>
            <a:ext cx="128016" cy="128016"/>
          </a:xfrm>
          <a:prstGeom prst="ellipse">
            <a:avLst/>
          </a:prstGeom>
          <a:solidFill>
            <a:srgbClr val="1765D1"/>
          </a:solidFill>
          <a:ln>
            <a:noFill/>
          </a:ln>
          <a:effectLst/>
        </p:spPr>
        <p:txBody>
          <a:bodyPr rtlCol="0" anchor="ctr" lIns="73152" rIns="73152" tIns="36576" bIns="36576"/>
          <a:lstStyle/>
          <a:p>
            <a:pPr algn="ctr"/>
          </a:p>
        </p:txBody>
      </p:sp>
      <p:sp>
        <p:nvSpPr>
          <p:cNvPr id="18" name="TextBox 17"/>
          <p:cNvSpPr txBox="1"/>
          <p:nvPr/>
        </p:nvSpPr>
        <p:spPr>
          <a:xfrm>
            <a:off x="5852160" y="2011680"/>
            <a:ext cx="5760720" cy="822960"/>
          </a:xfrm>
          <a:prstGeom prst="rect">
            <a:avLst/>
          </a:prstGeom>
          <a:noFill/>
        </p:spPr>
        <p:txBody>
          <a:bodyPr wrap="square" lIns="0" rIns="0" tIns="0" bIns="0" anchor="t"/>
          <a:lstStyle/>
          <a:p>
            <a:pPr algn="l">
              <a:lnSpc>
                <a:spcPct val="120000"/>
              </a:lnSpc>
              <a:spcAft>
                <a:spcPts val="0"/>
              </a:spcAft>
            </a:pPr>
            <a:r>
              <a:rPr sz="1600" b="1" i="0">
                <a:solidFill>
                  <a:srgbClr val="10213B"/>
                </a:solidFill>
                <a:latin typeface="Inter"/>
              </a:rPr>
              <a:t>Startup Roof Radar</a:t>
            </a:r>
          </a:p>
          <a:p>
            <a:pPr algn="l">
              <a:lnSpc>
                <a:spcPct val="120000"/>
              </a:lnSpc>
              <a:spcAft>
                <a:spcPts val="0"/>
              </a:spcAft>
            </a:pPr>
            <a:r>
              <a:rPr sz="1250" b="0" i="0">
                <a:solidFill>
                  <a:srgbClr val="253650"/>
                </a:solidFill>
                <a:latin typeface="Inter"/>
              </a:rPr>
              <a:t>A planned, curated view of updates, events and opportunities — starting with the UAE and widening over time.</a:t>
            </a:r>
          </a:p>
        </p:txBody>
      </p:sp>
      <p:cxnSp>
        <p:nvCxnSpPr>
          <p:cNvPr id="19" name="Connector 18"/>
          <p:cNvCxnSpPr/>
          <p:nvPr/>
        </p:nvCxnSpPr>
        <p:spPr>
          <a:xfrm>
            <a:off x="5852160" y="3063240"/>
            <a:ext cx="5745175" cy="0"/>
          </a:xfrm>
          <a:prstGeom prst="line">
            <a:avLst/>
          </a:prstGeom>
          <a:ln w="12700">
            <a:solidFill>
              <a:srgbClr val="D5E2F3"/>
            </a:solidFill>
          </a:ln>
        </p:spPr>
      </p:cxnSp>
      <p:sp>
        <p:nvSpPr>
          <p:cNvPr id="20" name="TextBox 19"/>
          <p:cNvSpPr txBox="1"/>
          <p:nvPr/>
        </p:nvSpPr>
        <p:spPr>
          <a:xfrm>
            <a:off x="5852160" y="3191256"/>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Relevance</a:t>
            </a:r>
          </a:p>
        </p:txBody>
      </p:sp>
      <p:sp>
        <p:nvSpPr>
          <p:cNvPr id="21" name="TextBox 20"/>
          <p:cNvSpPr txBox="1"/>
          <p:nvPr/>
        </p:nvSpPr>
        <p:spPr>
          <a:xfrm>
            <a:off x="7772400" y="3191256"/>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Filtered by a founder’s stage, sector and location.</a:t>
            </a:r>
          </a:p>
        </p:txBody>
      </p:sp>
      <p:cxnSp>
        <p:nvCxnSpPr>
          <p:cNvPr id="22" name="Connector 21"/>
          <p:cNvCxnSpPr/>
          <p:nvPr/>
        </p:nvCxnSpPr>
        <p:spPr>
          <a:xfrm>
            <a:off x="5852160" y="3721608"/>
            <a:ext cx="5745175" cy="0"/>
          </a:xfrm>
          <a:prstGeom prst="line">
            <a:avLst/>
          </a:prstGeom>
          <a:ln w="12700">
            <a:solidFill>
              <a:srgbClr val="D5E2F3"/>
            </a:solidFill>
          </a:ln>
        </p:spPr>
      </p:cxnSp>
      <p:sp>
        <p:nvSpPr>
          <p:cNvPr id="23" name="TextBox 22"/>
          <p:cNvSpPr txBox="1"/>
          <p:nvPr/>
        </p:nvSpPr>
        <p:spPr>
          <a:xfrm>
            <a:off x="5852160" y="3849624"/>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Attribution</a:t>
            </a:r>
          </a:p>
        </p:txBody>
      </p:sp>
      <p:sp>
        <p:nvSpPr>
          <p:cNvPr id="24" name="TextBox 23"/>
          <p:cNvSpPr txBox="1"/>
          <p:nvPr/>
        </p:nvSpPr>
        <p:spPr>
          <a:xfrm>
            <a:off x="7772400" y="3849624"/>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Every item credits and links to its original source.</a:t>
            </a:r>
          </a:p>
        </p:txBody>
      </p:sp>
      <p:cxnSp>
        <p:nvCxnSpPr>
          <p:cNvPr id="25" name="Connector 24"/>
          <p:cNvCxnSpPr/>
          <p:nvPr/>
        </p:nvCxnSpPr>
        <p:spPr>
          <a:xfrm>
            <a:off x="5852160" y="4379976"/>
            <a:ext cx="5745175" cy="0"/>
          </a:xfrm>
          <a:prstGeom prst="line">
            <a:avLst/>
          </a:prstGeom>
          <a:ln w="12700">
            <a:solidFill>
              <a:srgbClr val="D5E2F3"/>
            </a:solidFill>
          </a:ln>
        </p:spPr>
      </p:cxnSp>
      <p:sp>
        <p:nvSpPr>
          <p:cNvPr id="26" name="TextBox 25"/>
          <p:cNvSpPr txBox="1"/>
          <p:nvPr/>
        </p:nvSpPr>
        <p:spPr>
          <a:xfrm>
            <a:off x="5852160" y="4507992"/>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Freshness</a:t>
            </a:r>
          </a:p>
        </p:txBody>
      </p:sp>
      <p:sp>
        <p:nvSpPr>
          <p:cNvPr id="27" name="TextBox 26"/>
          <p:cNvSpPr txBox="1"/>
          <p:nvPr/>
        </p:nvSpPr>
        <p:spPr>
          <a:xfrm>
            <a:off x="7772400" y="4507992"/>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Dated, and removed when no longer current.</a:t>
            </a:r>
          </a:p>
        </p:txBody>
      </p:sp>
      <p:cxnSp>
        <p:nvCxnSpPr>
          <p:cNvPr id="28" name="Connector 27"/>
          <p:cNvCxnSpPr/>
          <p:nvPr/>
        </p:nvCxnSpPr>
        <p:spPr>
          <a:xfrm>
            <a:off x="5852160" y="5038344"/>
            <a:ext cx="5745175" cy="0"/>
          </a:xfrm>
          <a:prstGeom prst="line">
            <a:avLst/>
          </a:prstGeom>
          <a:ln w="12700">
            <a:solidFill>
              <a:srgbClr val="D5E2F3"/>
            </a:solidFill>
          </a:ln>
        </p:spPr>
      </p:cxnSp>
      <p:sp>
        <p:nvSpPr>
          <p:cNvPr id="29" name="TextBox 28"/>
          <p:cNvSpPr txBox="1"/>
          <p:nvPr/>
        </p:nvSpPr>
        <p:spPr>
          <a:xfrm>
            <a:off x="5852160" y="5166359"/>
            <a:ext cx="1920240" cy="365760"/>
          </a:xfrm>
          <a:prstGeom prst="rect">
            <a:avLst/>
          </a:prstGeom>
          <a:noFill/>
        </p:spPr>
        <p:txBody>
          <a:bodyPr wrap="square" lIns="0" rIns="0" tIns="0" bIns="0" anchor="t"/>
          <a:lstStyle/>
          <a:p>
            <a:pPr algn="l">
              <a:lnSpc>
                <a:spcPct val="115000"/>
              </a:lnSpc>
              <a:spcAft>
                <a:spcPts val="0"/>
              </a:spcAft>
            </a:pPr>
            <a:r>
              <a:rPr sz="1350" b="1" i="0">
                <a:solidFill>
                  <a:srgbClr val="1765D1"/>
                </a:solidFill>
                <a:latin typeface="Inter"/>
              </a:rPr>
              <a:t>Founder context</a:t>
            </a:r>
          </a:p>
        </p:txBody>
      </p:sp>
      <p:sp>
        <p:nvSpPr>
          <p:cNvPr id="30" name="TextBox 29"/>
          <p:cNvSpPr txBox="1"/>
          <p:nvPr/>
        </p:nvSpPr>
        <p:spPr>
          <a:xfrm>
            <a:off x="7772400" y="5166359"/>
            <a:ext cx="3840480" cy="45720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A short note on why it matters and what to do next.</a:t>
            </a:r>
          </a:p>
        </p:txBody>
      </p:sp>
      <p:sp>
        <p:nvSpPr>
          <p:cNvPr id="31" name="TextBox 30"/>
          <p:cNvSpPr txBox="1"/>
          <p:nvPr/>
        </p:nvSpPr>
        <p:spPr>
          <a:xfrm>
            <a:off x="5852160" y="5760720"/>
            <a:ext cx="5760720" cy="45720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Coverage will be selective and grow step by step; it is not intended to be a complete news service.</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14</a:t>
            </a:r>
            <a:r>
              <a:rPr sz="1000" b="1" i="0" spc="150">
                <a:solidFill>
                  <a:srgbClr val="1765D1"/>
                </a:solidFill>
                <a:latin typeface="Inter"/>
              </a:rPr>
              <a:t>   INCUBATION AND COMMERCIAL READINESS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600" b="1" i="0">
                <a:solidFill>
                  <a:srgbClr val="10213B"/>
                </a:solidFill>
                <a:latin typeface="Inter"/>
              </a:rPr>
              <a:t>Selective, structured support where it can make a difference.</a:t>
            </a:r>
          </a:p>
        </p:txBody>
      </p:sp>
      <p:sp>
        <p:nvSpPr>
          <p:cNvPr id="4" name="Oval 3"/>
          <p:cNvSpPr/>
          <p:nvPr/>
        </p:nvSpPr>
        <p:spPr>
          <a:xfrm>
            <a:off x="594360"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1</a:t>
            </a:r>
          </a:p>
        </p:txBody>
      </p:sp>
      <p:cxnSp>
        <p:nvCxnSpPr>
          <p:cNvPr id="5" name="Connector 4"/>
          <p:cNvCxnSpPr/>
          <p:nvPr/>
        </p:nvCxnSpPr>
        <p:spPr>
          <a:xfrm>
            <a:off x="1143000" y="2331720"/>
            <a:ext cx="1212037" cy="0"/>
          </a:xfrm>
          <a:prstGeom prst="line">
            <a:avLst/>
          </a:prstGeom>
          <a:ln w="15875">
            <a:solidFill>
              <a:srgbClr val="B8CFEE"/>
            </a:solidFill>
            <a:tailEnd type="triangle" w="med" len="med"/>
          </a:ln>
        </p:spPr>
      </p:cxnSp>
      <p:sp>
        <p:nvSpPr>
          <p:cNvPr id="6" name="TextBox 5"/>
          <p:cNvSpPr txBox="1"/>
          <p:nvPr/>
        </p:nvSpPr>
        <p:spPr>
          <a:xfrm>
            <a:off x="594360"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Understand the founder’s needs</a:t>
            </a:r>
          </a:p>
        </p:txBody>
      </p:sp>
      <p:sp>
        <p:nvSpPr>
          <p:cNvPr id="7" name="Oval 6"/>
          <p:cNvSpPr/>
          <p:nvPr/>
        </p:nvSpPr>
        <p:spPr>
          <a:xfrm>
            <a:off x="2428189" y="2103120"/>
            <a:ext cx="457200" cy="457200"/>
          </a:xfrm>
          <a:prstGeom prst="ellipse">
            <a:avLst/>
          </a:prstGeom>
          <a:solidFill>
            <a:srgbClr val="10213B"/>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2</a:t>
            </a:r>
          </a:p>
        </p:txBody>
      </p:sp>
      <p:cxnSp>
        <p:nvCxnSpPr>
          <p:cNvPr id="8" name="Connector 7"/>
          <p:cNvCxnSpPr/>
          <p:nvPr/>
        </p:nvCxnSpPr>
        <p:spPr>
          <a:xfrm>
            <a:off x="2976829" y="2331720"/>
            <a:ext cx="1212037" cy="0"/>
          </a:xfrm>
          <a:prstGeom prst="line">
            <a:avLst/>
          </a:prstGeom>
          <a:ln w="15875">
            <a:solidFill>
              <a:srgbClr val="B8CFEE"/>
            </a:solidFill>
            <a:tailEnd type="triangle" w="med" len="med"/>
          </a:ln>
        </p:spPr>
      </p:cxnSp>
      <p:sp>
        <p:nvSpPr>
          <p:cNvPr id="9" name="TextBox 8"/>
          <p:cNvSpPr txBox="1"/>
          <p:nvPr/>
        </p:nvSpPr>
        <p:spPr>
          <a:xfrm>
            <a:off x="2428189"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Assess suitability</a:t>
            </a:r>
          </a:p>
        </p:txBody>
      </p:sp>
      <p:sp>
        <p:nvSpPr>
          <p:cNvPr id="10" name="Oval 9"/>
          <p:cNvSpPr/>
          <p:nvPr/>
        </p:nvSpPr>
        <p:spPr>
          <a:xfrm>
            <a:off x="4262018"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3</a:t>
            </a:r>
          </a:p>
        </p:txBody>
      </p:sp>
      <p:cxnSp>
        <p:nvCxnSpPr>
          <p:cNvPr id="11" name="Connector 10"/>
          <p:cNvCxnSpPr/>
          <p:nvPr/>
        </p:nvCxnSpPr>
        <p:spPr>
          <a:xfrm>
            <a:off x="4810658" y="2331720"/>
            <a:ext cx="1212037" cy="0"/>
          </a:xfrm>
          <a:prstGeom prst="line">
            <a:avLst/>
          </a:prstGeom>
          <a:ln w="15875">
            <a:solidFill>
              <a:srgbClr val="B8CFEE"/>
            </a:solidFill>
            <a:tailEnd type="triangle" w="med" len="med"/>
          </a:ln>
        </p:spPr>
      </p:cxnSp>
      <p:sp>
        <p:nvSpPr>
          <p:cNvPr id="12" name="TextBox 11"/>
          <p:cNvSpPr txBox="1"/>
          <p:nvPr/>
        </p:nvSpPr>
        <p:spPr>
          <a:xfrm>
            <a:off x="4262018"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Define a practical support plan</a:t>
            </a:r>
          </a:p>
        </p:txBody>
      </p:sp>
      <p:sp>
        <p:nvSpPr>
          <p:cNvPr id="13" name="Oval 12"/>
          <p:cNvSpPr/>
          <p:nvPr/>
        </p:nvSpPr>
        <p:spPr>
          <a:xfrm>
            <a:off x="6095847"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4</a:t>
            </a:r>
          </a:p>
        </p:txBody>
      </p:sp>
      <p:cxnSp>
        <p:nvCxnSpPr>
          <p:cNvPr id="14" name="Connector 13"/>
          <p:cNvCxnSpPr/>
          <p:nvPr/>
        </p:nvCxnSpPr>
        <p:spPr>
          <a:xfrm>
            <a:off x="6644487" y="2331720"/>
            <a:ext cx="1212037" cy="0"/>
          </a:xfrm>
          <a:prstGeom prst="line">
            <a:avLst/>
          </a:prstGeom>
          <a:ln w="15875">
            <a:solidFill>
              <a:srgbClr val="B8CFEE"/>
            </a:solidFill>
            <a:tailEnd type="triangle" w="med" len="med"/>
          </a:ln>
        </p:spPr>
      </p:cxnSp>
      <p:sp>
        <p:nvSpPr>
          <p:cNvPr id="15" name="TextBox 14"/>
          <p:cNvSpPr txBox="1"/>
          <p:nvPr/>
        </p:nvSpPr>
        <p:spPr>
          <a:xfrm>
            <a:off x="6095847"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Match mentors and specialists</a:t>
            </a:r>
          </a:p>
        </p:txBody>
      </p:sp>
      <p:sp>
        <p:nvSpPr>
          <p:cNvPr id="16" name="Oval 15"/>
          <p:cNvSpPr/>
          <p:nvPr/>
        </p:nvSpPr>
        <p:spPr>
          <a:xfrm>
            <a:off x="7929676"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5</a:t>
            </a:r>
          </a:p>
        </p:txBody>
      </p:sp>
      <p:cxnSp>
        <p:nvCxnSpPr>
          <p:cNvPr id="17" name="Connector 16"/>
          <p:cNvCxnSpPr/>
          <p:nvPr/>
        </p:nvCxnSpPr>
        <p:spPr>
          <a:xfrm>
            <a:off x="8478316" y="2331720"/>
            <a:ext cx="1212038" cy="0"/>
          </a:xfrm>
          <a:prstGeom prst="line">
            <a:avLst/>
          </a:prstGeom>
          <a:ln w="15875">
            <a:solidFill>
              <a:srgbClr val="B8CFEE"/>
            </a:solidFill>
            <a:tailEnd type="triangle" w="med" len="med"/>
          </a:ln>
        </p:spPr>
      </p:cxnSp>
      <p:sp>
        <p:nvSpPr>
          <p:cNvPr id="18" name="TextBox 17"/>
          <p:cNvSpPr txBox="1"/>
          <p:nvPr/>
        </p:nvSpPr>
        <p:spPr>
          <a:xfrm>
            <a:off x="7929676"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Agree milestones</a:t>
            </a:r>
          </a:p>
        </p:txBody>
      </p:sp>
      <p:sp>
        <p:nvSpPr>
          <p:cNvPr id="19" name="Oval 18"/>
          <p:cNvSpPr/>
          <p:nvPr/>
        </p:nvSpPr>
        <p:spPr>
          <a:xfrm>
            <a:off x="9763506" y="2103120"/>
            <a:ext cx="457200" cy="457200"/>
          </a:xfrm>
          <a:prstGeom prst="ellipse">
            <a:avLst/>
          </a:prstGeom>
          <a:solidFill>
            <a:srgbClr val="1765D1"/>
          </a:solidFill>
          <a:ln>
            <a:noFill/>
          </a:ln>
          <a:effectLst/>
        </p:spPr>
        <p:txBody>
          <a:bodyPr rtlCol="0" anchor="ctr" lIns="73152" rIns="73152" tIns="27432" bIns="27432" wrap="square"/>
          <a:lstStyle/>
          <a:p>
            <a:pPr algn="ctr">
              <a:lnSpc>
                <a:spcPct val="110000"/>
              </a:lnSpc>
              <a:spcAft>
                <a:spcPts val="0"/>
              </a:spcAft>
            </a:pPr>
            <a:r>
              <a:rPr sz="1300" b="1" i="0">
                <a:solidFill>
                  <a:srgbClr val="FFFFFF"/>
                </a:solidFill>
                <a:latin typeface="Inter"/>
              </a:rPr>
              <a:t>6</a:t>
            </a:r>
          </a:p>
        </p:txBody>
      </p:sp>
      <p:sp>
        <p:nvSpPr>
          <p:cNvPr id="20" name="TextBox 19"/>
          <p:cNvSpPr txBox="1"/>
          <p:nvPr/>
        </p:nvSpPr>
        <p:spPr>
          <a:xfrm>
            <a:off x="9763506" y="2697479"/>
            <a:ext cx="1650949" cy="685800"/>
          </a:xfrm>
          <a:prstGeom prst="rect">
            <a:avLst/>
          </a:prstGeom>
          <a:noFill/>
        </p:spPr>
        <p:txBody>
          <a:bodyPr wrap="square" lIns="0" rIns="0" tIns="0" bIns="0" anchor="t"/>
          <a:lstStyle/>
          <a:p>
            <a:pPr algn="l">
              <a:lnSpc>
                <a:spcPct val="112000"/>
              </a:lnSpc>
              <a:spcAft>
                <a:spcPts val="0"/>
              </a:spcAft>
            </a:pPr>
            <a:r>
              <a:rPr sz="1250" b="1" i="0">
                <a:solidFill>
                  <a:srgbClr val="10213B"/>
                </a:solidFill>
                <a:latin typeface="Inter"/>
              </a:rPr>
              <a:t>Review progress</a:t>
            </a:r>
          </a:p>
        </p:txBody>
      </p:sp>
      <p:sp>
        <p:nvSpPr>
          <p:cNvPr id="21" name="Rounded Rectangle 20"/>
          <p:cNvSpPr/>
          <p:nvPr/>
        </p:nvSpPr>
        <p:spPr>
          <a:xfrm>
            <a:off x="2382469" y="3429000"/>
            <a:ext cx="1742389" cy="274320"/>
          </a:xfrm>
          <a:prstGeom prst="roundRect">
            <a:avLst>
              <a:gd name="adj" fmla="val 50000"/>
            </a:avLst>
          </a:prstGeom>
          <a:solidFill>
            <a:srgbClr val="EDF4FE"/>
          </a:solidFill>
          <a:ln>
            <a:noFill/>
          </a:ln>
          <a:effectLst/>
        </p:spPr>
        <p:txBody>
          <a:bodyPr rtlCol="0" anchor="ctr" lIns="73152" rIns="73152" tIns="27432" bIns="27432" wrap="square"/>
          <a:lstStyle/>
          <a:p>
            <a:pPr algn="ctr">
              <a:lnSpc>
                <a:spcPct val="110000"/>
              </a:lnSpc>
              <a:spcAft>
                <a:spcPts val="0"/>
              </a:spcAft>
            </a:pPr>
            <a:r>
              <a:rPr sz="900" b="1" i="0">
                <a:solidFill>
                  <a:srgbClr val="1765D1"/>
                </a:solidFill>
                <a:latin typeface="Inter"/>
              </a:rPr>
              <a:t>Selection point</a:t>
            </a:r>
          </a:p>
        </p:txBody>
      </p:sp>
      <p:sp>
        <p:nvSpPr>
          <p:cNvPr id="22" name="TextBox 21"/>
          <p:cNvSpPr txBox="1"/>
          <p:nvPr/>
        </p:nvSpPr>
        <p:spPr>
          <a:xfrm>
            <a:off x="594360" y="3886200"/>
            <a:ext cx="73152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EXAMPLE SUPPORT PLANS</a:t>
            </a:r>
          </a:p>
        </p:txBody>
      </p:sp>
      <p:graphicFrame>
        <p:nvGraphicFramePr>
          <p:cNvPr id="23" name="Table 22"/>
          <p:cNvGraphicFramePr>
            <a:graphicFrameLocks noGrp="1"/>
          </p:cNvGraphicFramePr>
          <p:nvPr/>
        </p:nvGraphicFramePr>
        <p:xfrm>
          <a:off x="594360" y="4206240"/>
          <a:ext cx="7589520" cy="1645920"/>
        </p:xfrm>
        <a:graphic>
          <a:graphicData uri="http://schemas.openxmlformats.org/drawingml/2006/table">
            <a:tbl>
              <a:tblPr firstRow="0" bandRow="0">
                <a:tableStyleId>{5C22544A-7EE6-4342-B048-85BDC9FD1C3A}</a:tableStyleId>
              </a:tblPr>
              <a:tblGrid>
                <a:gridCol w="1828800"/>
                <a:gridCol w="2880360"/>
                <a:gridCol w="2880360"/>
              </a:tblGrid>
              <a:tr h="411480">
                <a:tc>
                  <a:txBody>
                    <a:bodyPr wrap="square" anchor="t"/>
                    <a:lstStyle/>
                    <a:p>
                      <a:pPr algn="l">
                        <a:lnSpc>
                          <a:spcPct val="115000"/>
                        </a:lnSpc>
                        <a:spcAft>
                          <a:spcPts val="0"/>
                        </a:spcAft>
                      </a:pPr>
                      <a:r>
                        <a:rPr sz="1050" b="1" i="0" spc="60">
                          <a:solidFill>
                            <a:srgbClr val="FFFFFF"/>
                          </a:solidFill>
                          <a:latin typeface="Inter"/>
                        </a:rPr>
                        <a:t/>
                      </a:r>
                    </a:p>
                  </a:txBody>
                  <a:tcPr marL="109728" marR="109728" marT="54864" marB="54864" anchor="ctr">
                    <a:solidFill>
                      <a:srgbClr val="10213B"/>
                    </a:solidFill>
                  </a:tcPr>
                </a:tc>
                <a:tc>
                  <a:txBody>
                    <a:bodyPr wrap="square" anchor="t"/>
                    <a:lstStyle/>
                    <a:p>
                      <a:pPr algn="l">
                        <a:lnSpc>
                          <a:spcPct val="115000"/>
                        </a:lnSpc>
                        <a:spcAft>
                          <a:spcPts val="0"/>
                        </a:spcAft>
                      </a:pPr>
                      <a:r>
                        <a:rPr sz="1050" b="1" i="0" spc="60">
                          <a:solidFill>
                            <a:srgbClr val="FFFFFF"/>
                          </a:solidFill>
                          <a:latin typeface="Inter"/>
                        </a:rPr>
                        <a:t>Technology startup</a:t>
                      </a:r>
                    </a:p>
                  </a:txBody>
                  <a:tcPr marL="109728" marR="109728" marT="54864" marB="54864" anchor="ctr">
                    <a:solidFill>
                      <a:srgbClr val="10213B"/>
                    </a:solidFill>
                  </a:tcPr>
                </a:tc>
                <a:tc>
                  <a:txBody>
                    <a:bodyPr wrap="square" anchor="t"/>
                    <a:lstStyle/>
                    <a:p>
                      <a:pPr algn="l">
                        <a:lnSpc>
                          <a:spcPct val="115000"/>
                        </a:lnSpc>
                        <a:spcAft>
                          <a:spcPts val="0"/>
                        </a:spcAft>
                      </a:pPr>
                      <a:r>
                        <a:rPr sz="1050" b="1" i="0" spc="60">
                          <a:solidFill>
                            <a:srgbClr val="FFFFFF"/>
                          </a:solidFill>
                          <a:latin typeface="Inter"/>
                        </a:rPr>
                        <a:t>Consumer or service business</a:t>
                      </a:r>
                    </a:p>
                  </a:txBody>
                  <a:tcPr marL="109728" marR="109728" marT="54864" marB="54864" anchor="ctr">
                    <a:solidFill>
                      <a:srgbClr val="10213B"/>
                    </a:solidFill>
                  </a:tcPr>
                </a:tc>
              </a:tr>
              <a:tr h="411480">
                <a:tc>
                  <a:txBody>
                    <a:bodyPr wrap="square" anchor="t"/>
                    <a:lstStyle/>
                    <a:p>
                      <a:pPr algn="l">
                        <a:lnSpc>
                          <a:spcPct val="115000"/>
                        </a:lnSpc>
                        <a:spcAft>
                          <a:spcPts val="0"/>
                        </a:spcAft>
                      </a:pPr>
                      <a:r>
                        <a:rPr sz="1100" b="1" i="0">
                          <a:solidFill>
                            <a:srgbClr val="10213B"/>
                          </a:solidFill>
                          <a:latin typeface="Inter"/>
                        </a:rPr>
                        <a:t>Typical focus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Product–market fit, early traction, technical choices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Unit economics, channels, supply and operations</a:t>
                      </a:r>
                    </a:p>
                  </a:txBody>
                  <a:tcPr marL="109728" marR="109728" marT="54864" marB="54864" anchor="ctr">
                    <a:solidFill>
                      <a:srgbClr val="FFFFFF"/>
                    </a:solidFill>
                  </a:tcPr>
                </a:tc>
              </a:tr>
              <a:tr h="411480">
                <a:tc>
                  <a:txBody>
                    <a:bodyPr wrap="square" anchor="t"/>
                    <a:lstStyle/>
                    <a:p>
                      <a:pPr algn="l">
                        <a:lnSpc>
                          <a:spcPct val="115000"/>
                        </a:lnSpc>
                        <a:spcAft>
                          <a:spcPts val="0"/>
                        </a:spcAft>
                      </a:pPr>
                      <a:r>
                        <a:rPr sz="1100" b="1" i="0">
                          <a:solidFill>
                            <a:srgbClr val="10213B"/>
                          </a:solidFill>
                          <a:latin typeface="Inter"/>
                        </a:rPr>
                        <a:t>Example milestone</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First ten paying customers on a defined plan</a:t>
                      </a:r>
                    </a:p>
                  </a:txBody>
                  <a:tcPr marL="109728" marR="109728" marT="54864" marB="54864" anchor="ctr">
                    <a:solidFill>
                      <a:srgbClr val="EDF4FE"/>
                    </a:solidFill>
                  </a:tcPr>
                </a:tc>
                <a:tc>
                  <a:txBody>
                    <a:bodyPr wrap="square" anchor="t"/>
                    <a:lstStyle/>
                    <a:p>
                      <a:pPr algn="l">
                        <a:lnSpc>
                          <a:spcPct val="115000"/>
                        </a:lnSpc>
                        <a:spcAft>
                          <a:spcPts val="0"/>
                        </a:spcAft>
                      </a:pPr>
                      <a:r>
                        <a:rPr sz="1100" b="0" i="0">
                          <a:solidFill>
                            <a:srgbClr val="253650"/>
                          </a:solidFill>
                          <a:latin typeface="Inter"/>
                        </a:rPr>
                        <a:t>Margin-positive pilot with one retail or online channel</a:t>
                      </a:r>
                    </a:p>
                  </a:txBody>
                  <a:tcPr marL="109728" marR="109728" marT="54864" marB="54864" anchor="ctr">
                    <a:solidFill>
                      <a:srgbClr val="EDF4FE"/>
                    </a:solidFill>
                  </a:tcPr>
                </a:tc>
              </a:tr>
              <a:tr h="411480">
                <a:tc>
                  <a:txBody>
                    <a:bodyPr wrap="square" anchor="t"/>
                    <a:lstStyle/>
                    <a:p>
                      <a:pPr algn="l">
                        <a:lnSpc>
                          <a:spcPct val="115000"/>
                        </a:lnSpc>
                        <a:spcAft>
                          <a:spcPts val="0"/>
                        </a:spcAft>
                      </a:pPr>
                      <a:r>
                        <a:rPr sz="1100" b="1" i="0">
                          <a:solidFill>
                            <a:srgbClr val="10213B"/>
                          </a:solidFill>
                          <a:latin typeface="Inter"/>
                        </a:rPr>
                        <a:t>Typical specialists</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Product, AI/automation, go-to-market</a:t>
                      </a:r>
                    </a:p>
                  </a:txBody>
                  <a:tcPr marL="109728" marR="109728" marT="54864" marB="54864" anchor="ctr">
                    <a:solidFill>
                      <a:srgbClr val="FFFFFF"/>
                    </a:solidFill>
                  </a:tcPr>
                </a:tc>
                <a:tc>
                  <a:txBody>
                    <a:bodyPr wrap="square" anchor="t"/>
                    <a:lstStyle/>
                    <a:p>
                      <a:pPr algn="l">
                        <a:lnSpc>
                          <a:spcPct val="115000"/>
                        </a:lnSpc>
                        <a:spcAft>
                          <a:spcPts val="0"/>
                        </a:spcAft>
                      </a:pPr>
                      <a:r>
                        <a:rPr sz="1100" b="0" i="0">
                          <a:solidFill>
                            <a:srgbClr val="253650"/>
                          </a:solidFill>
                          <a:latin typeface="Inter"/>
                        </a:rPr>
                        <a:t>Brand, retail, sourcing, finance</a:t>
                      </a:r>
                    </a:p>
                  </a:txBody>
                  <a:tcPr marL="109728" marR="109728" marT="54864" marB="54864" anchor="ctr">
                    <a:solidFill>
                      <a:srgbClr val="FFFFFF"/>
                    </a:solidFill>
                  </a:tcPr>
                </a:tc>
              </a:tr>
            </a:tbl>
          </a:graphicData>
        </a:graphic>
      </p:graphicFrame>
      <p:sp>
        <p:nvSpPr>
          <p:cNvPr id="24" name="Rectangle 23"/>
          <p:cNvSpPr/>
          <p:nvPr/>
        </p:nvSpPr>
        <p:spPr>
          <a:xfrm>
            <a:off x="8503920" y="3886200"/>
            <a:ext cx="3093415" cy="2286000"/>
          </a:xfrm>
          <a:prstGeom prst="rect">
            <a:avLst/>
          </a:prstGeom>
          <a:solidFill>
            <a:srgbClr val="10213B"/>
          </a:solidFill>
          <a:ln>
            <a:noFill/>
          </a:ln>
          <a:effectLst/>
        </p:spPr>
        <p:txBody>
          <a:bodyPr rtlCol="0" anchor="ctr" lIns="73152" rIns="73152" tIns="36576" bIns="36576"/>
          <a:lstStyle/>
          <a:p>
            <a:pPr algn="ctr"/>
          </a:p>
        </p:txBody>
      </p:sp>
      <p:sp>
        <p:nvSpPr>
          <p:cNvPr id="25" name="TextBox 24"/>
          <p:cNvSpPr txBox="1"/>
          <p:nvPr/>
        </p:nvSpPr>
        <p:spPr>
          <a:xfrm>
            <a:off x="8732520" y="4069080"/>
            <a:ext cx="2926080" cy="2011680"/>
          </a:xfrm>
          <a:prstGeom prst="rect">
            <a:avLst/>
          </a:prstGeom>
          <a:noFill/>
        </p:spPr>
        <p:txBody>
          <a:bodyPr wrap="square" lIns="0" rIns="0" tIns="0" bIns="0" anchor="t"/>
          <a:lstStyle/>
          <a:p>
            <a:pPr algn="l">
              <a:lnSpc>
                <a:spcPct val="125000"/>
              </a:lnSpc>
              <a:spcAft>
                <a:spcPts val="0"/>
              </a:spcAft>
            </a:pPr>
            <a:r>
              <a:rPr sz="1400" b="1" i="0">
                <a:solidFill>
                  <a:srgbClr val="FFFFFF"/>
                </a:solidFill>
                <a:latin typeface="Inter"/>
              </a:rPr>
              <a:t>Intensive support is selective.</a:t>
            </a:r>
          </a:p>
          <a:p>
            <a:pPr algn="l">
              <a:lnSpc>
                <a:spcPct val="125000"/>
              </a:lnSpc>
              <a:spcBef>
                <a:spcPts val="600"/>
              </a:spcBef>
              <a:spcAft>
                <a:spcPts val="0"/>
              </a:spcAft>
            </a:pPr>
            <a:r>
              <a:rPr sz="1150" b="0" i="0">
                <a:solidFill>
                  <a:srgbClr val="C9D6E8"/>
                </a:solidFill>
                <a:latin typeface="Inter"/>
              </a:rPr>
              <a:t>Places depend on fit, the founder’s commitment and our delivery capacity. Terms are agreed separately with each business.</a:t>
            </a:r>
          </a:p>
        </p:txBody>
      </p:sp>
      <p:sp>
        <p:nvSpPr>
          <p:cNvPr id="26" name="TextBox 25"/>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7" name="TextBox 26"/>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15</a:t>
            </a:r>
            <a:r>
              <a:rPr sz="1000" b="1" i="0" spc="150">
                <a:solidFill>
                  <a:srgbClr val="1765D1"/>
                </a:solidFill>
                <a:latin typeface="Inter"/>
              </a:rPr>
              <a:t>   VALUE FOR INVESTORS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Better-prepared founders. More useful conversations.</a:t>
            </a:r>
          </a:p>
        </p:txBody>
      </p:sp>
      <p:sp>
        <p:nvSpPr>
          <p:cNvPr id="4" name="Rectangle 3"/>
          <p:cNvSpPr/>
          <p:nvPr/>
        </p:nvSpPr>
        <p:spPr>
          <a:xfrm>
            <a:off x="594360" y="2084832"/>
            <a:ext cx="109728" cy="109728"/>
          </a:xfrm>
          <a:prstGeom prst="rect">
            <a:avLst/>
          </a:prstGeom>
          <a:solidFill>
            <a:srgbClr val="1765D1"/>
          </a:solidFill>
          <a:ln>
            <a:noFill/>
          </a:ln>
          <a:effectLst/>
        </p:spPr>
        <p:txBody>
          <a:bodyPr rtlCol="0" anchor="ctr" lIns="73152" rIns="73152" tIns="36576" bIns="36576"/>
          <a:lstStyle/>
          <a:p>
            <a:pPr algn="ctr"/>
          </a:p>
        </p:txBody>
      </p:sp>
      <p:sp>
        <p:nvSpPr>
          <p:cNvPr id="5" name="TextBox 4"/>
          <p:cNvSpPr txBox="1"/>
          <p:nvPr/>
        </p:nvSpPr>
        <p:spPr>
          <a:xfrm>
            <a:off x="868680" y="20116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Better founder preparation</a:t>
            </a:r>
          </a:p>
        </p:txBody>
      </p:sp>
      <p:sp>
        <p:nvSpPr>
          <p:cNvPr id="6" name="TextBox 5"/>
          <p:cNvSpPr txBox="1"/>
          <p:nvPr/>
        </p:nvSpPr>
        <p:spPr>
          <a:xfrm>
            <a:off x="868680" y="23134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Founders work through readiness before an introduction.</a:t>
            </a:r>
          </a:p>
        </p:txBody>
      </p:sp>
      <p:sp>
        <p:nvSpPr>
          <p:cNvPr id="7" name="Rectangle 6"/>
          <p:cNvSpPr/>
          <p:nvPr/>
        </p:nvSpPr>
        <p:spPr>
          <a:xfrm>
            <a:off x="594360" y="2770632"/>
            <a:ext cx="109728" cy="109728"/>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868680" y="26974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More structured information</a:t>
            </a:r>
          </a:p>
        </p:txBody>
      </p:sp>
      <p:sp>
        <p:nvSpPr>
          <p:cNvPr id="9" name="TextBox 8"/>
          <p:cNvSpPr txBox="1"/>
          <p:nvPr/>
        </p:nvSpPr>
        <p:spPr>
          <a:xfrm>
            <a:off x="868680" y="29992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Consistent profiles, stage and progress — shared with consent.</a:t>
            </a:r>
          </a:p>
        </p:txBody>
      </p:sp>
      <p:sp>
        <p:nvSpPr>
          <p:cNvPr id="10" name="Rectangle 9"/>
          <p:cNvSpPr/>
          <p:nvPr/>
        </p:nvSpPr>
        <p:spPr>
          <a:xfrm>
            <a:off x="594360" y="3456432"/>
            <a:ext cx="109728" cy="109728"/>
          </a:xfrm>
          <a:prstGeom prst="rect">
            <a:avLst/>
          </a:prstGeom>
          <a:solidFill>
            <a:srgbClr val="1765D1"/>
          </a:solidFill>
          <a:ln>
            <a:noFill/>
          </a:ln>
          <a:effectLst/>
        </p:spPr>
        <p:txBody>
          <a:bodyPr rtlCol="0" anchor="ctr" lIns="73152" rIns="73152" tIns="36576" bIns="36576"/>
          <a:lstStyle/>
          <a:p>
            <a:pPr algn="ctr"/>
          </a:p>
        </p:txBody>
      </p:sp>
      <p:sp>
        <p:nvSpPr>
          <p:cNvPr id="11" name="TextBox 10"/>
          <p:cNvSpPr txBox="1"/>
          <p:nvPr/>
        </p:nvSpPr>
        <p:spPr>
          <a:xfrm>
            <a:off x="868680" y="33832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Relevant discovery</a:t>
            </a:r>
          </a:p>
        </p:txBody>
      </p:sp>
      <p:sp>
        <p:nvSpPr>
          <p:cNvPr id="12" name="TextBox 11"/>
          <p:cNvSpPr txBox="1"/>
          <p:nvPr/>
        </p:nvSpPr>
        <p:spPr>
          <a:xfrm>
            <a:off x="868680" y="36850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Filter by sector, stage and geography.</a:t>
            </a:r>
          </a:p>
        </p:txBody>
      </p:sp>
      <p:sp>
        <p:nvSpPr>
          <p:cNvPr id="13" name="Rectangle 12"/>
          <p:cNvSpPr/>
          <p:nvPr/>
        </p:nvSpPr>
        <p:spPr>
          <a:xfrm>
            <a:off x="594360" y="4142232"/>
            <a:ext cx="109728" cy="109728"/>
          </a:xfrm>
          <a:prstGeom prst="rect">
            <a:avLst/>
          </a:prstGeom>
          <a:solidFill>
            <a:srgbClr val="1765D1"/>
          </a:solidFill>
          <a:ln>
            <a:noFill/>
          </a:ln>
          <a:effectLst/>
        </p:spPr>
        <p:txBody>
          <a:bodyPr rtlCol="0" anchor="ctr" lIns="73152" rIns="73152" tIns="36576" bIns="36576"/>
          <a:lstStyle/>
          <a:p>
            <a:pPr algn="ctr"/>
          </a:p>
        </p:txBody>
      </p:sp>
      <p:sp>
        <p:nvSpPr>
          <p:cNvPr id="14" name="TextBox 13"/>
          <p:cNvSpPr txBox="1"/>
          <p:nvPr/>
        </p:nvSpPr>
        <p:spPr>
          <a:xfrm>
            <a:off x="868680" y="40690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Sector-specific engagement</a:t>
            </a:r>
          </a:p>
        </p:txBody>
      </p:sp>
      <p:sp>
        <p:nvSpPr>
          <p:cNvPr id="15" name="TextBox 14"/>
          <p:cNvSpPr txBox="1"/>
          <p:nvPr/>
        </p:nvSpPr>
        <p:spPr>
          <a:xfrm>
            <a:off x="868680" y="43708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Join sessions in areas you know well.</a:t>
            </a:r>
          </a:p>
        </p:txBody>
      </p:sp>
      <p:sp>
        <p:nvSpPr>
          <p:cNvPr id="16" name="Rectangle 15"/>
          <p:cNvSpPr/>
          <p:nvPr/>
        </p:nvSpPr>
        <p:spPr>
          <a:xfrm>
            <a:off x="594360" y="4828032"/>
            <a:ext cx="109728" cy="109728"/>
          </a:xfrm>
          <a:prstGeom prst="rect">
            <a:avLst/>
          </a:prstGeom>
          <a:solidFill>
            <a:srgbClr val="1765D1"/>
          </a:solidFill>
          <a:ln>
            <a:noFill/>
          </a:ln>
          <a:effectLst/>
        </p:spPr>
        <p:txBody>
          <a:bodyPr rtlCol="0" anchor="ctr" lIns="73152" rIns="73152" tIns="36576" bIns="36576"/>
          <a:lstStyle/>
          <a:p>
            <a:pPr algn="ctr"/>
          </a:p>
        </p:txBody>
      </p:sp>
      <p:sp>
        <p:nvSpPr>
          <p:cNvPr id="17" name="TextBox 16"/>
          <p:cNvSpPr txBox="1"/>
          <p:nvPr/>
        </p:nvSpPr>
        <p:spPr>
          <a:xfrm>
            <a:off x="868680" y="47548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More useful introductions</a:t>
            </a:r>
          </a:p>
        </p:txBody>
      </p:sp>
      <p:sp>
        <p:nvSpPr>
          <p:cNvPr id="18" name="TextBox 17"/>
          <p:cNvSpPr txBox="1"/>
          <p:nvPr/>
        </p:nvSpPr>
        <p:spPr>
          <a:xfrm>
            <a:off x="868680" y="50566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Fewer, better-matched conversations.</a:t>
            </a:r>
          </a:p>
        </p:txBody>
      </p:sp>
      <p:sp>
        <p:nvSpPr>
          <p:cNvPr id="19" name="Rectangle 18"/>
          <p:cNvSpPr/>
          <p:nvPr/>
        </p:nvSpPr>
        <p:spPr>
          <a:xfrm>
            <a:off x="594360" y="5513832"/>
            <a:ext cx="109728" cy="109728"/>
          </a:xfrm>
          <a:prstGeom prst="rect">
            <a:avLst/>
          </a:prstGeom>
          <a:solidFill>
            <a:srgbClr val="1765D1"/>
          </a:solidFill>
          <a:ln>
            <a:noFill/>
          </a:ln>
          <a:effectLst/>
        </p:spPr>
        <p:txBody>
          <a:bodyPr rtlCol="0" anchor="ctr" lIns="73152" rIns="73152" tIns="36576" bIns="36576"/>
          <a:lstStyle/>
          <a:p>
            <a:pPr algn="ctr"/>
          </a:p>
        </p:txBody>
      </p:sp>
      <p:sp>
        <p:nvSpPr>
          <p:cNvPr id="20" name="TextBox 19"/>
          <p:cNvSpPr txBox="1"/>
          <p:nvPr/>
        </p:nvSpPr>
        <p:spPr>
          <a:xfrm>
            <a:off x="868680" y="5440680"/>
            <a:ext cx="4846320"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Ongoing ecosystem relationships</a:t>
            </a:r>
          </a:p>
        </p:txBody>
      </p:sp>
      <p:sp>
        <p:nvSpPr>
          <p:cNvPr id="21" name="TextBox 20"/>
          <p:cNvSpPr txBox="1"/>
          <p:nvPr/>
        </p:nvSpPr>
        <p:spPr>
          <a:xfrm>
            <a:off x="868680" y="5742432"/>
            <a:ext cx="4846320" cy="320040"/>
          </a:xfrm>
          <a:prstGeom prst="rect">
            <a:avLst/>
          </a:prstGeom>
          <a:noFill/>
        </p:spPr>
        <p:txBody>
          <a:bodyPr wrap="square" lIns="0" rIns="0" tIns="0" bIns="0" anchor="t"/>
          <a:lstStyle/>
          <a:p>
            <a:pPr algn="l">
              <a:lnSpc>
                <a:spcPct val="115000"/>
              </a:lnSpc>
              <a:spcAft>
                <a:spcPts val="0"/>
              </a:spcAft>
            </a:pPr>
            <a:r>
              <a:rPr sz="1150" b="0" i="0">
                <a:solidFill>
                  <a:srgbClr val="61738A"/>
                </a:solidFill>
                <a:latin typeface="Inter"/>
              </a:rPr>
              <a:t>Stay close to founders and mentors over time.</a:t>
            </a:r>
          </a:p>
        </p:txBody>
      </p:sp>
      <p:graphicFrame>
        <p:nvGraphicFramePr>
          <p:cNvPr id="22" name="Table 21"/>
          <p:cNvGraphicFramePr>
            <a:graphicFrameLocks noGrp="1"/>
          </p:cNvGraphicFramePr>
          <p:nvPr/>
        </p:nvGraphicFramePr>
        <p:xfrm>
          <a:off x="5989320" y="2011680"/>
          <a:ext cx="5605272" cy="3200400"/>
        </p:xfrm>
        <a:graphic>
          <a:graphicData uri="http://schemas.openxmlformats.org/drawingml/2006/table">
            <a:tbl>
              <a:tblPr firstRow="0" bandRow="0">
                <a:tableStyleId>{5C22544A-7EE6-4342-B048-85BDC9FD1C3A}</a:tableStyleId>
              </a:tblPr>
              <a:tblGrid>
                <a:gridCol w="2807208"/>
                <a:gridCol w="2798064"/>
              </a:tblGrid>
              <a:tr h="640080">
                <a:tc>
                  <a:txBody>
                    <a:bodyPr wrap="square" anchor="t"/>
                    <a:lstStyle/>
                    <a:p>
                      <a:pPr algn="l">
                        <a:lnSpc>
                          <a:spcPct val="115000"/>
                        </a:lnSpc>
                        <a:spcAft>
                          <a:spcPts val="0"/>
                        </a:spcAft>
                      </a:pPr>
                      <a:r>
                        <a:rPr sz="1050" b="1" i="0" spc="60">
                          <a:solidFill>
                            <a:srgbClr val="FFFFFF"/>
                          </a:solidFill>
                          <a:latin typeface="Inter"/>
                        </a:rPr>
                        <a:t>STARTUP ROOF AIMS TO</a:t>
                      </a:r>
                    </a:p>
                  </a:txBody>
                  <a:tcPr marL="109728" marR="109728" marT="54864" marB="54864" anchor="ctr">
                    <a:solidFill>
                      <a:srgbClr val="10213B"/>
                    </a:solidFill>
                  </a:tcPr>
                </a:tc>
                <a:tc>
                  <a:txBody>
                    <a:bodyPr wrap="square" anchor="t"/>
                    <a:lstStyle/>
                    <a:p>
                      <a:pPr algn="l">
                        <a:lnSpc>
                          <a:spcPct val="115000"/>
                        </a:lnSpc>
                        <a:spcAft>
                          <a:spcPts val="0"/>
                        </a:spcAft>
                      </a:pPr>
                      <a:r>
                        <a:rPr sz="1050" b="1" i="0" spc="60">
                          <a:solidFill>
                            <a:srgbClr val="FFFFFF"/>
                          </a:solidFill>
                          <a:latin typeface="Inter"/>
                        </a:rPr>
                        <a:t>STARTUP ROOF DOES NOT</a:t>
                      </a:r>
                    </a:p>
                  </a:txBody>
                  <a:tcPr marL="109728" marR="109728" marT="54864" marB="54864" anchor="ctr">
                    <a:solidFill>
                      <a:srgbClr val="10213B"/>
                    </a:solidFill>
                  </a:tcPr>
                </a:tc>
              </a:tr>
              <a:tr h="640080">
                <a:tc>
                  <a:txBody>
                    <a:bodyPr wrap="square" anchor="t"/>
                    <a:lstStyle/>
                    <a:p>
                      <a:pPr algn="l">
                        <a:lnSpc>
                          <a:spcPct val="115000"/>
                        </a:lnSpc>
                        <a:spcAft>
                          <a:spcPts val="0"/>
                        </a:spcAft>
                      </a:pPr>
                      <a:r>
                        <a:rPr sz="1200" b="0" i="0">
                          <a:solidFill>
                            <a:srgbClr val="253650"/>
                          </a:solidFill>
                          <a:latin typeface="Inter"/>
                        </a:rPr>
                        <a:t>Help founders become investor-ready</a:t>
                      </a:r>
                    </a:p>
                  </a:txBody>
                  <a:tcPr marL="109728" marR="109728" marT="54864" marB="54864" anchor="ctr">
                    <a:solidFill>
                      <a:srgbClr val="FFFFFF"/>
                    </a:solidFill>
                  </a:tcPr>
                </a:tc>
                <a:tc>
                  <a:txBody>
                    <a:bodyPr wrap="square" anchor="t"/>
                    <a:lstStyle/>
                    <a:p>
                      <a:pPr algn="l">
                        <a:lnSpc>
                          <a:spcPct val="115000"/>
                        </a:lnSpc>
                        <a:spcAft>
                          <a:spcPts val="0"/>
                        </a:spcAft>
                      </a:pPr>
                      <a:r>
                        <a:rPr sz="1200" b="0" i="0">
                          <a:solidFill>
                            <a:srgbClr val="253650"/>
                          </a:solidFill>
                          <a:latin typeface="Inter"/>
                        </a:rPr>
                        <a:t>Operate its own investment fund today</a:t>
                      </a:r>
                    </a:p>
                  </a:txBody>
                  <a:tcPr marL="109728" marR="109728" marT="54864" marB="54864" anchor="ctr">
                    <a:solidFill>
                      <a:srgbClr val="FFFFFF"/>
                    </a:solidFill>
                  </a:tcPr>
                </a:tc>
              </a:tr>
              <a:tr h="640080">
                <a:tc>
                  <a:txBody>
                    <a:bodyPr wrap="square" anchor="t"/>
                    <a:lstStyle/>
                    <a:p>
                      <a:pPr algn="l">
                        <a:lnSpc>
                          <a:spcPct val="115000"/>
                        </a:lnSpc>
                        <a:spcAft>
                          <a:spcPts val="0"/>
                        </a:spcAft>
                      </a:pPr>
                      <a:r>
                        <a:rPr sz="1200" b="0" i="0">
                          <a:solidFill>
                            <a:srgbClr val="253650"/>
                          </a:solidFill>
                          <a:latin typeface="Inter"/>
                        </a:rPr>
                        <a:t>Make relevant, consented introductions</a:t>
                      </a:r>
                    </a:p>
                  </a:txBody>
                  <a:tcPr marL="109728" marR="109728" marT="54864" marB="54864" anchor="ctr">
                    <a:solidFill>
                      <a:srgbClr val="EDF4FE"/>
                    </a:solidFill>
                  </a:tcPr>
                </a:tc>
                <a:tc>
                  <a:txBody>
                    <a:bodyPr wrap="square" anchor="t"/>
                    <a:lstStyle/>
                    <a:p>
                      <a:pPr algn="l">
                        <a:lnSpc>
                          <a:spcPct val="115000"/>
                        </a:lnSpc>
                        <a:spcAft>
                          <a:spcPts val="0"/>
                        </a:spcAft>
                      </a:pPr>
                      <a:r>
                        <a:rPr sz="1200" b="0" i="0">
                          <a:solidFill>
                            <a:srgbClr val="253650"/>
                          </a:solidFill>
                          <a:latin typeface="Inter"/>
                        </a:rPr>
                        <a:t>Promise deal flow, exclusivity or returns</a:t>
                      </a:r>
                    </a:p>
                  </a:txBody>
                  <a:tcPr marL="109728" marR="109728" marT="54864" marB="54864" anchor="ctr">
                    <a:solidFill>
                      <a:srgbClr val="EDF4FE"/>
                    </a:solidFill>
                  </a:tcPr>
                </a:tc>
              </a:tr>
              <a:tr h="640080">
                <a:tc>
                  <a:txBody>
                    <a:bodyPr wrap="square" anchor="t"/>
                    <a:lstStyle/>
                    <a:p>
                      <a:pPr algn="l">
                        <a:lnSpc>
                          <a:spcPct val="115000"/>
                        </a:lnSpc>
                        <a:spcAft>
                          <a:spcPts val="0"/>
                        </a:spcAft>
                      </a:pPr>
                      <a:r>
                        <a:rPr sz="1200" b="0" i="0">
                          <a:solidFill>
                            <a:srgbClr val="253650"/>
                          </a:solidFill>
                          <a:latin typeface="Inter"/>
                        </a:rPr>
                        <a:t>Share structured founder information</a:t>
                      </a:r>
                    </a:p>
                  </a:txBody>
                  <a:tcPr marL="109728" marR="109728" marT="54864" marB="54864" anchor="ctr">
                    <a:solidFill>
                      <a:srgbClr val="FFFFFF"/>
                    </a:solidFill>
                  </a:tcPr>
                </a:tc>
                <a:tc>
                  <a:txBody>
                    <a:bodyPr wrap="square" anchor="t"/>
                    <a:lstStyle/>
                    <a:p>
                      <a:pPr algn="l">
                        <a:lnSpc>
                          <a:spcPct val="115000"/>
                        </a:lnSpc>
                        <a:spcAft>
                          <a:spcPts val="0"/>
                        </a:spcAft>
                      </a:pPr>
                      <a:r>
                        <a:rPr sz="1200" b="0" i="0">
                          <a:solidFill>
                            <a:srgbClr val="253650"/>
                          </a:solidFill>
                          <a:latin typeface="Inter"/>
                        </a:rPr>
                        <a:t>Recommend or endorse specific investments</a:t>
                      </a:r>
                    </a:p>
                  </a:txBody>
                  <a:tcPr marL="109728" marR="109728" marT="54864" marB="54864" anchor="ctr">
                    <a:solidFill>
                      <a:srgbClr val="FFFFFF"/>
                    </a:solidFill>
                  </a:tcPr>
                </a:tc>
              </a:tr>
              <a:tr h="640080">
                <a:tc>
                  <a:txBody>
                    <a:bodyPr wrap="square" anchor="t"/>
                    <a:lstStyle/>
                    <a:p>
                      <a:pPr algn="l">
                        <a:lnSpc>
                          <a:spcPct val="115000"/>
                        </a:lnSpc>
                        <a:spcAft>
                          <a:spcPts val="0"/>
                        </a:spcAft>
                      </a:pPr>
                      <a:r>
                        <a:rPr sz="1200" b="0" i="0">
                          <a:solidFill>
                            <a:srgbClr val="253650"/>
                          </a:solidFill>
                          <a:latin typeface="Inter"/>
                        </a:rPr>
                        <a:t>Host sector sessions with investors</a:t>
                      </a:r>
                    </a:p>
                  </a:txBody>
                  <a:tcPr marL="109728" marR="109728" marT="54864" marB="54864" anchor="ctr">
                    <a:solidFill>
                      <a:srgbClr val="EDF4FE"/>
                    </a:solidFill>
                  </a:tcPr>
                </a:tc>
                <a:tc>
                  <a:txBody>
                    <a:bodyPr wrap="square" anchor="t"/>
                    <a:lstStyle/>
                    <a:p>
                      <a:pPr algn="l">
                        <a:lnSpc>
                          <a:spcPct val="115000"/>
                        </a:lnSpc>
                        <a:spcAft>
                          <a:spcPts val="0"/>
                        </a:spcAft>
                      </a:pPr>
                      <a:r>
                        <a:rPr sz="1200" b="0" i="0">
                          <a:solidFill>
                            <a:srgbClr val="253650"/>
                          </a:solidFill>
                          <a:latin typeface="Inter"/>
                        </a:rPr>
                        <a:t>Assume every founder should raise capital</a:t>
                      </a:r>
                    </a:p>
                  </a:txBody>
                  <a:tcPr marL="109728" marR="109728" marT="54864" marB="54864" anchor="ctr">
                    <a:solidFill>
                      <a:srgbClr val="EDF4FE"/>
                    </a:solidFill>
                  </a:tcPr>
                </a:tc>
              </a:tr>
            </a:tbl>
          </a:graphicData>
        </a:graphic>
      </p:graphicFrame>
      <p:sp>
        <p:nvSpPr>
          <p:cNvPr id="23" name="TextBox 22"/>
          <p:cNvSpPr txBox="1"/>
          <p:nvPr/>
        </p:nvSpPr>
        <p:spPr>
          <a:xfrm>
            <a:off x="5989320" y="5532120"/>
            <a:ext cx="5608015" cy="64008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Any future investment activity would require its own structure, approvals and terms.</a:t>
            </a:r>
          </a:p>
        </p:txBody>
      </p:sp>
      <p:sp>
        <p:nvSpPr>
          <p:cNvPr id="24" name="TextBox 23"/>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5" name="TextBox 24"/>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DF4FE"/>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16</a:t>
            </a:r>
            <a:r>
              <a:rPr sz="1000" b="1" i="0" spc="150">
                <a:solidFill>
                  <a:srgbClr val="1765D1"/>
                </a:solidFill>
                <a:latin typeface="Inter"/>
              </a:rPr>
              <a:t>   VALUE FOR ECOSYSTEM PARTNERS</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Collaborations that are useful to founders and to partners.</a:t>
            </a:r>
          </a:p>
        </p:txBody>
      </p:sp>
      <p:sp>
        <p:nvSpPr>
          <p:cNvPr id="4" name="TextBox 3"/>
          <p:cNvSpPr txBox="1"/>
          <p:nvPr/>
        </p:nvSpPr>
        <p:spPr>
          <a:xfrm>
            <a:off x="594360" y="2011680"/>
            <a:ext cx="36576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WHY PARTNERS MAY TAKE PART</a:t>
            </a:r>
          </a:p>
        </p:txBody>
      </p:sp>
      <p:sp>
        <p:nvSpPr>
          <p:cNvPr id="5" name="TextBox 4"/>
          <p:cNvSpPr txBox="1"/>
          <p:nvPr/>
        </p:nvSpPr>
        <p:spPr>
          <a:xfrm>
            <a:off x="594360" y="2395728"/>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01</a:t>
            </a:r>
          </a:p>
        </p:txBody>
      </p:sp>
      <p:sp>
        <p:nvSpPr>
          <p:cNvPr id="6" name="TextBox 5"/>
          <p:cNvSpPr txBox="1"/>
          <p:nvPr/>
        </p:nvSpPr>
        <p:spPr>
          <a:xfrm>
            <a:off x="1051560" y="2395728"/>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Reach relevant founders</a:t>
            </a:r>
          </a:p>
        </p:txBody>
      </p:sp>
      <p:sp>
        <p:nvSpPr>
          <p:cNvPr id="7" name="TextBox 6"/>
          <p:cNvSpPr txBox="1"/>
          <p:nvPr/>
        </p:nvSpPr>
        <p:spPr>
          <a:xfrm>
            <a:off x="594360" y="2971800"/>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02</a:t>
            </a:r>
          </a:p>
        </p:txBody>
      </p:sp>
      <p:sp>
        <p:nvSpPr>
          <p:cNvPr id="8" name="TextBox 7"/>
          <p:cNvSpPr txBox="1"/>
          <p:nvPr/>
        </p:nvSpPr>
        <p:spPr>
          <a:xfrm>
            <a:off x="1051560" y="2971800"/>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Deliver education or specialist support</a:t>
            </a:r>
          </a:p>
        </p:txBody>
      </p:sp>
      <p:sp>
        <p:nvSpPr>
          <p:cNvPr id="9" name="TextBox 8"/>
          <p:cNvSpPr txBox="1"/>
          <p:nvPr/>
        </p:nvSpPr>
        <p:spPr>
          <a:xfrm>
            <a:off x="594360" y="3547872"/>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03</a:t>
            </a:r>
          </a:p>
        </p:txBody>
      </p:sp>
      <p:sp>
        <p:nvSpPr>
          <p:cNvPr id="10" name="TextBox 9"/>
          <p:cNvSpPr txBox="1"/>
          <p:nvPr/>
        </p:nvSpPr>
        <p:spPr>
          <a:xfrm>
            <a:off x="1051560" y="3547872"/>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Test useful services</a:t>
            </a:r>
          </a:p>
        </p:txBody>
      </p:sp>
      <p:sp>
        <p:nvSpPr>
          <p:cNvPr id="11" name="TextBox 10"/>
          <p:cNvSpPr txBox="1"/>
          <p:nvPr/>
        </p:nvSpPr>
        <p:spPr>
          <a:xfrm>
            <a:off x="594360" y="4123944"/>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04</a:t>
            </a:r>
          </a:p>
        </p:txBody>
      </p:sp>
      <p:sp>
        <p:nvSpPr>
          <p:cNvPr id="12" name="TextBox 11"/>
          <p:cNvSpPr txBox="1"/>
          <p:nvPr/>
        </p:nvSpPr>
        <p:spPr>
          <a:xfrm>
            <a:off x="1051560" y="4123944"/>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Build long-term relationships</a:t>
            </a:r>
          </a:p>
        </p:txBody>
      </p:sp>
      <p:sp>
        <p:nvSpPr>
          <p:cNvPr id="13" name="TextBox 12"/>
          <p:cNvSpPr txBox="1"/>
          <p:nvPr/>
        </p:nvSpPr>
        <p:spPr>
          <a:xfrm>
            <a:off x="594360" y="4700016"/>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05</a:t>
            </a:r>
          </a:p>
        </p:txBody>
      </p:sp>
      <p:sp>
        <p:nvSpPr>
          <p:cNvPr id="14" name="TextBox 13"/>
          <p:cNvSpPr txBox="1"/>
          <p:nvPr/>
        </p:nvSpPr>
        <p:spPr>
          <a:xfrm>
            <a:off x="1051560" y="4700016"/>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Support entrepreneurship programmes</a:t>
            </a:r>
          </a:p>
        </p:txBody>
      </p:sp>
      <p:sp>
        <p:nvSpPr>
          <p:cNvPr id="15" name="TextBox 14"/>
          <p:cNvSpPr txBox="1"/>
          <p:nvPr/>
        </p:nvSpPr>
        <p:spPr>
          <a:xfrm>
            <a:off x="594360" y="5276088"/>
            <a:ext cx="411480" cy="365760"/>
          </a:xfrm>
          <a:prstGeom prst="rect">
            <a:avLst/>
          </a:prstGeom>
          <a:noFill/>
        </p:spPr>
        <p:txBody>
          <a:bodyPr wrap="square" lIns="0" rIns="0" tIns="0" bIns="0" anchor="t"/>
          <a:lstStyle/>
          <a:p>
            <a:pPr algn="l">
              <a:lnSpc>
                <a:spcPct val="115000"/>
              </a:lnSpc>
              <a:spcAft>
                <a:spcPts val="0"/>
              </a:spcAft>
            </a:pPr>
            <a:r>
              <a:rPr sz="1200" b="1" i="0">
                <a:solidFill>
                  <a:srgbClr val="1765D1"/>
                </a:solidFill>
                <a:latin typeface="Inter"/>
              </a:rPr>
              <a:t>06</a:t>
            </a:r>
          </a:p>
        </p:txBody>
      </p:sp>
      <p:sp>
        <p:nvSpPr>
          <p:cNvPr id="16" name="TextBox 15"/>
          <p:cNvSpPr txBox="1"/>
          <p:nvPr/>
        </p:nvSpPr>
        <p:spPr>
          <a:xfrm>
            <a:off x="1051560" y="5276088"/>
            <a:ext cx="3291840" cy="45720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Explore commercial distribution</a:t>
            </a:r>
          </a:p>
        </p:txBody>
      </p:sp>
      <p:graphicFrame>
        <p:nvGraphicFramePr>
          <p:cNvPr id="17" name="Table 16"/>
          <p:cNvGraphicFramePr>
            <a:graphicFrameLocks noGrp="1"/>
          </p:cNvGraphicFramePr>
          <p:nvPr/>
        </p:nvGraphicFramePr>
        <p:xfrm>
          <a:off x="4434840" y="2011680"/>
          <a:ext cx="7159752" cy="3840480"/>
        </p:xfrm>
        <a:graphic>
          <a:graphicData uri="http://schemas.openxmlformats.org/drawingml/2006/table">
            <a:tbl>
              <a:tblPr firstRow="0" bandRow="0">
                <a:tableStyleId>{5C22544A-7EE6-4342-B048-85BDC9FD1C3A}</a:tableStyleId>
              </a:tblPr>
              <a:tblGrid>
                <a:gridCol w="2057400"/>
                <a:gridCol w="2148840"/>
                <a:gridCol w="2953512"/>
              </a:tblGrid>
              <a:tr h="548640">
                <a:tc>
                  <a:txBody>
                    <a:bodyPr wrap="square" anchor="t"/>
                    <a:lstStyle/>
                    <a:p>
                      <a:pPr algn="l">
                        <a:lnSpc>
                          <a:spcPct val="115000"/>
                        </a:lnSpc>
                        <a:spcAft>
                          <a:spcPts val="0"/>
                        </a:spcAft>
                      </a:pPr>
                      <a:r>
                        <a:rPr sz="1000" b="1" i="0" spc="60">
                          <a:solidFill>
                            <a:srgbClr val="FFFFFF"/>
                          </a:solidFill>
                          <a:latin typeface="Inter"/>
                        </a:rPr>
                        <a:t>COLLABORATION FORMAT</a:t>
                      </a:r>
                    </a:p>
                  </a:txBody>
                  <a:tcPr marL="109728" marR="109728" marT="54864" marB="54864" anchor="ctr">
                    <a:solidFill>
                      <a:srgbClr val="10213B"/>
                    </a:solidFill>
                  </a:tcPr>
                </a:tc>
                <a:tc>
                  <a:txBody>
                    <a:bodyPr wrap="square" anchor="t"/>
                    <a:lstStyle/>
                    <a:p>
                      <a:pPr algn="l">
                        <a:lnSpc>
                          <a:spcPct val="115000"/>
                        </a:lnSpc>
                        <a:spcAft>
                          <a:spcPts val="0"/>
                        </a:spcAft>
                      </a:pPr>
                      <a:r>
                        <a:rPr sz="1000" b="1" i="0" spc="60">
                          <a:solidFill>
                            <a:srgbClr val="FFFFFF"/>
                          </a:solidFill>
                          <a:latin typeface="Inter"/>
                        </a:rPr>
                        <a:t>SUITS</a:t>
                      </a:r>
                    </a:p>
                  </a:txBody>
                  <a:tcPr marL="109728" marR="109728" marT="54864" marB="54864" anchor="ctr">
                    <a:solidFill>
                      <a:srgbClr val="10213B"/>
                    </a:solidFill>
                  </a:tcPr>
                </a:tc>
                <a:tc>
                  <a:txBody>
                    <a:bodyPr wrap="square" anchor="t"/>
                    <a:lstStyle/>
                    <a:p>
                      <a:pPr algn="l">
                        <a:lnSpc>
                          <a:spcPct val="115000"/>
                        </a:lnSpc>
                        <a:spcAft>
                          <a:spcPts val="0"/>
                        </a:spcAft>
                      </a:pPr>
                      <a:r>
                        <a:rPr sz="1000" b="1" i="0" spc="60">
                          <a:solidFill>
                            <a:srgbClr val="FFFFFF"/>
                          </a:solidFill>
                          <a:latin typeface="Inter"/>
                        </a:rPr>
                        <a:t>WHAT IT COULD LOOK LIKE</a:t>
                      </a:r>
                    </a:p>
                  </a:txBody>
                  <a:tcPr marL="109728" marR="109728" marT="54864" marB="54864" anchor="ctr">
                    <a:solidFill>
                      <a:srgbClr val="10213B"/>
                    </a:solidFill>
                  </a:tcPr>
                </a:tc>
              </a:tr>
              <a:tr h="548640">
                <a:tc>
                  <a:txBody>
                    <a:bodyPr wrap="square" anchor="t"/>
                    <a:lstStyle/>
                    <a:p>
                      <a:pPr algn="l">
                        <a:lnSpc>
                          <a:spcPct val="115000"/>
                        </a:lnSpc>
                        <a:spcAft>
                          <a:spcPts val="0"/>
                        </a:spcAft>
                      </a:pPr>
                      <a:r>
                        <a:rPr sz="1150" b="1" i="0">
                          <a:solidFill>
                            <a:srgbClr val="10213B"/>
                          </a:solidFill>
                          <a:latin typeface="Inter"/>
                        </a:rPr>
                        <a:t>Workshops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Specialists, firms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A practical 90-minute session on a founder topic</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Office hours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Mentors, advisers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Regular bookable slots with short follow-up</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University programmes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Universities, incubators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Support for student and alumni founders</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Tool or service pilots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Technology and service providers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A limited trial with feedback from founders</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Community activities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Corporates, venues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Hosting a meetup or a themed founder evening</a:t>
                      </a:r>
                    </a:p>
                  </a:txBody>
                  <a:tcPr marL="109728" marR="109728" marT="54864" marB="54864" anchor="ctr">
                    <a:solidFill>
                      <a:srgbClr val="FFFFFF"/>
                    </a:solidFill>
                  </a:tcPr>
                </a:tc>
              </a:tr>
              <a:tr h="548640">
                <a:tc>
                  <a:txBody>
                    <a:bodyPr wrap="square" anchor="t"/>
                    <a:lstStyle/>
                    <a:p>
                      <a:pPr algn="l">
                        <a:lnSpc>
                          <a:spcPct val="115000"/>
                        </a:lnSpc>
                        <a:spcAft>
                          <a:spcPts val="0"/>
                        </a:spcAft>
                      </a:pPr>
                      <a:r>
                        <a:rPr sz="1150" b="1" i="0">
                          <a:solidFill>
                            <a:srgbClr val="10213B"/>
                          </a:solidFill>
                          <a:latin typeface="Inter"/>
                        </a:rPr>
                        <a:t>Content collaboration</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Media, experts</a:t>
                      </a:r>
                    </a:p>
                  </a:txBody>
                  <a:tcPr marL="109728" marR="109728" marT="54864" marB="54864" anchor="ctr">
                    <a:solidFill>
                      <a:srgbClr val="FFFFFF"/>
                    </a:solidFill>
                  </a:tcPr>
                </a:tc>
                <a:tc>
                  <a:txBody>
                    <a:bodyPr wrap="square" anchor="t"/>
                    <a:lstStyle/>
                    <a:p>
                      <a:pPr algn="l">
                        <a:lnSpc>
                          <a:spcPct val="115000"/>
                        </a:lnSpc>
                        <a:spcAft>
                          <a:spcPts val="0"/>
                        </a:spcAft>
                      </a:pPr>
                      <a:r>
                        <a:rPr sz="1150" b="0" i="0">
                          <a:solidFill>
                            <a:srgbClr val="253650"/>
                          </a:solidFill>
                          <a:latin typeface="Inter"/>
                        </a:rPr>
                        <a:t>Guides, interviews or co-created resources</a:t>
                      </a:r>
                    </a:p>
                  </a:txBody>
                  <a:tcPr marL="109728" marR="109728" marT="54864" marB="54864" anchor="ctr">
                    <a:solidFill>
                      <a:srgbClr val="FFFFFF"/>
                    </a:solidFill>
                  </a:tcPr>
                </a:tc>
              </a:tr>
            </a:tbl>
          </a:graphicData>
        </a:graphic>
      </p:graphicFrame>
      <p:sp>
        <p:nvSpPr>
          <p:cNvPr id="18" name="TextBox 17"/>
          <p:cNvSpPr txBox="1"/>
          <p:nvPr/>
        </p:nvSpPr>
        <p:spPr>
          <a:xfrm>
            <a:off x="4434840" y="6035040"/>
            <a:ext cx="7132320" cy="274320"/>
          </a:xfrm>
          <a:prstGeom prst="rect">
            <a:avLst/>
          </a:prstGeom>
          <a:noFill/>
        </p:spPr>
        <p:txBody>
          <a:bodyPr wrap="square" lIns="0" rIns="0" tIns="0" bIns="0" anchor="t"/>
          <a:lstStyle/>
          <a:p>
            <a:pPr algn="l">
              <a:lnSpc>
                <a:spcPct val="115000"/>
              </a:lnSpc>
              <a:spcAft>
                <a:spcPts val="0"/>
              </a:spcAft>
            </a:pPr>
            <a:r>
              <a:rPr sz="1100" b="0" i="0">
                <a:solidFill>
                  <a:srgbClr val="61738A"/>
                </a:solidFill>
                <a:latin typeface="Inter"/>
              </a:rPr>
              <a:t>These are possible formats to explore together; no partnerships are presented here as signed.</a:t>
            </a:r>
          </a:p>
        </p:txBody>
      </p:sp>
      <p:sp>
        <p:nvSpPr>
          <p:cNvPr id="19" name="TextBox 18"/>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20" name="TextBox 19"/>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17</a:t>
            </a:r>
            <a:r>
              <a:rPr sz="1000" b="1" i="0" spc="150">
                <a:solidFill>
                  <a:srgbClr val="1765D1"/>
                </a:solidFill>
                <a:latin typeface="Inter"/>
              </a:rPr>
              <a:t>   A SUSTAINABLE COMMERCIAL MODEL</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700" b="1" i="0">
                <a:solidFill>
                  <a:srgbClr val="10213B"/>
                </a:solidFill>
                <a:latin typeface="Inter"/>
              </a:rPr>
              <a:t>Free access can create reach.
Useful services must create sustainable value.</a:t>
            </a:r>
          </a:p>
        </p:txBody>
      </p:sp>
      <p:sp>
        <p:nvSpPr>
          <p:cNvPr id="4" name="Rectangle 3"/>
          <p:cNvSpPr/>
          <p:nvPr/>
        </p:nvSpPr>
        <p:spPr>
          <a:xfrm>
            <a:off x="594360" y="2148840"/>
            <a:ext cx="2613583" cy="1508760"/>
          </a:xfrm>
          <a:prstGeom prst="rect">
            <a:avLst/>
          </a:prstGeom>
          <a:solidFill>
            <a:srgbClr val="EDF4FE"/>
          </a:solidFill>
          <a:ln>
            <a:noFill/>
          </a:ln>
          <a:effectLst/>
        </p:spPr>
        <p:txBody>
          <a:bodyPr rtlCol="0" anchor="ctr" lIns="73152" rIns="73152" tIns="36576" bIns="36576"/>
          <a:lstStyle/>
          <a:p>
            <a:pPr algn="ctr"/>
          </a:p>
        </p:txBody>
      </p:sp>
      <p:sp>
        <p:nvSpPr>
          <p:cNvPr id="5" name="TextBox 4"/>
          <p:cNvSpPr txBox="1"/>
          <p:nvPr/>
        </p:nvSpPr>
        <p:spPr>
          <a:xfrm>
            <a:off x="777240"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Free access</a:t>
            </a:r>
          </a:p>
        </p:txBody>
      </p:sp>
      <p:sp>
        <p:nvSpPr>
          <p:cNvPr id="6" name="TextBox 5"/>
          <p:cNvSpPr txBox="1"/>
          <p:nvPr/>
        </p:nvSpPr>
        <p:spPr>
          <a:xfrm>
            <a:off x="777240"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Community, resources and discovery build reach and trust.</a:t>
            </a:r>
          </a:p>
        </p:txBody>
      </p:sp>
      <p:sp>
        <p:nvSpPr>
          <p:cNvPr id="7" name="Rectangle 6"/>
          <p:cNvSpPr/>
          <p:nvPr/>
        </p:nvSpPr>
        <p:spPr>
          <a:xfrm>
            <a:off x="3390823" y="2148840"/>
            <a:ext cx="2613583" cy="1508760"/>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3573703"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FFFFFF"/>
                </a:solidFill>
                <a:latin typeface="Inter"/>
              </a:rPr>
              <a:t>Optional paid value</a:t>
            </a:r>
          </a:p>
        </p:txBody>
      </p:sp>
      <p:sp>
        <p:nvSpPr>
          <p:cNvPr id="9" name="TextBox 8"/>
          <p:cNvSpPr txBox="1"/>
          <p:nvPr/>
        </p:nvSpPr>
        <p:spPr>
          <a:xfrm>
            <a:off x="3573703"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FFFFFF"/>
                </a:solidFill>
                <a:latin typeface="Inter"/>
              </a:rPr>
              <a:t>Founders and partners pay only for what is clearly useful.</a:t>
            </a:r>
          </a:p>
        </p:txBody>
      </p:sp>
      <p:sp>
        <p:nvSpPr>
          <p:cNvPr id="10" name="Rectangle 9"/>
          <p:cNvSpPr/>
          <p:nvPr/>
        </p:nvSpPr>
        <p:spPr>
          <a:xfrm>
            <a:off x="6187287" y="2148840"/>
            <a:ext cx="2613583" cy="1508760"/>
          </a:xfrm>
          <a:prstGeom prst="rect">
            <a:avLst/>
          </a:prstGeom>
          <a:solidFill>
            <a:srgbClr val="DCE8FB"/>
          </a:solidFill>
          <a:ln>
            <a:noFill/>
          </a:ln>
          <a:effectLst/>
        </p:spPr>
        <p:txBody>
          <a:bodyPr rtlCol="0" anchor="ctr" lIns="73152" rIns="73152" tIns="36576" bIns="36576"/>
          <a:lstStyle/>
          <a:p>
            <a:pPr algn="ctr"/>
          </a:p>
        </p:txBody>
      </p:sp>
      <p:sp>
        <p:nvSpPr>
          <p:cNvPr id="11" name="TextBox 10"/>
          <p:cNvSpPr txBox="1"/>
          <p:nvPr/>
        </p:nvSpPr>
        <p:spPr>
          <a:xfrm>
            <a:off x="6370167"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10213B"/>
                </a:solidFill>
                <a:latin typeface="Inter"/>
              </a:rPr>
              <a:t>Delivery costs</a:t>
            </a:r>
          </a:p>
        </p:txBody>
      </p:sp>
      <p:sp>
        <p:nvSpPr>
          <p:cNvPr id="12" name="TextBox 11"/>
          <p:cNvSpPr txBox="1"/>
          <p:nvPr/>
        </p:nvSpPr>
        <p:spPr>
          <a:xfrm>
            <a:off x="6370167"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253650"/>
                </a:solidFill>
                <a:latin typeface="Inter"/>
              </a:rPr>
              <a:t>Expert time, platform, events and support all have real costs.</a:t>
            </a:r>
          </a:p>
        </p:txBody>
      </p:sp>
      <p:sp>
        <p:nvSpPr>
          <p:cNvPr id="13" name="Rectangle 12"/>
          <p:cNvSpPr/>
          <p:nvPr/>
        </p:nvSpPr>
        <p:spPr>
          <a:xfrm>
            <a:off x="8983751" y="2148840"/>
            <a:ext cx="2613583" cy="1508760"/>
          </a:xfrm>
          <a:prstGeom prst="rect">
            <a:avLst/>
          </a:prstGeom>
          <a:solidFill>
            <a:srgbClr val="10213B"/>
          </a:solidFill>
          <a:ln>
            <a:noFill/>
          </a:ln>
          <a:effectLst/>
        </p:spPr>
        <p:txBody>
          <a:bodyPr rtlCol="0" anchor="ctr" lIns="73152" rIns="73152" tIns="36576" bIns="36576"/>
          <a:lstStyle/>
          <a:p>
            <a:pPr algn="ctr"/>
          </a:p>
        </p:txBody>
      </p:sp>
      <p:sp>
        <p:nvSpPr>
          <p:cNvPr id="14" name="TextBox 13"/>
          <p:cNvSpPr txBox="1"/>
          <p:nvPr/>
        </p:nvSpPr>
        <p:spPr>
          <a:xfrm>
            <a:off x="9166631" y="2286000"/>
            <a:ext cx="2247823" cy="320040"/>
          </a:xfrm>
          <a:prstGeom prst="rect">
            <a:avLst/>
          </a:prstGeom>
          <a:noFill/>
        </p:spPr>
        <p:txBody>
          <a:bodyPr wrap="square" lIns="0" rIns="0" tIns="0" bIns="0" anchor="t"/>
          <a:lstStyle/>
          <a:p>
            <a:pPr algn="l">
              <a:lnSpc>
                <a:spcPct val="115000"/>
              </a:lnSpc>
              <a:spcAft>
                <a:spcPts val="0"/>
              </a:spcAft>
            </a:pPr>
            <a:r>
              <a:rPr sz="1350" b="1" i="0">
                <a:solidFill>
                  <a:srgbClr val="FFFFFF"/>
                </a:solidFill>
                <a:latin typeface="Inter"/>
              </a:rPr>
              <a:t>Unit economics</a:t>
            </a:r>
          </a:p>
        </p:txBody>
      </p:sp>
      <p:sp>
        <p:nvSpPr>
          <p:cNvPr id="15" name="TextBox 14"/>
          <p:cNvSpPr txBox="1"/>
          <p:nvPr/>
        </p:nvSpPr>
        <p:spPr>
          <a:xfrm>
            <a:off x="9166631" y="2697480"/>
            <a:ext cx="2247823" cy="914400"/>
          </a:xfrm>
          <a:prstGeom prst="rect">
            <a:avLst/>
          </a:prstGeom>
          <a:noFill/>
        </p:spPr>
        <p:txBody>
          <a:bodyPr wrap="square" lIns="0" rIns="0" tIns="0" bIns="0" anchor="t"/>
          <a:lstStyle/>
          <a:p>
            <a:pPr algn="l">
              <a:lnSpc>
                <a:spcPct val="120000"/>
              </a:lnSpc>
              <a:spcAft>
                <a:spcPts val="0"/>
              </a:spcAft>
            </a:pPr>
            <a:r>
              <a:rPr sz="1150" b="0" i="0">
                <a:solidFill>
                  <a:srgbClr val="DCE6F5"/>
                </a:solidFill>
                <a:latin typeface="Inter"/>
              </a:rPr>
              <a:t>To validate: each service must cover its costs and contribute to the whole.</a:t>
            </a:r>
          </a:p>
        </p:txBody>
      </p:sp>
      <p:sp>
        <p:nvSpPr>
          <p:cNvPr id="16" name="TextBox 15"/>
          <p:cNvSpPr txBox="1"/>
          <p:nvPr/>
        </p:nvSpPr>
        <p:spPr>
          <a:xfrm>
            <a:off x="594360" y="3977639"/>
            <a:ext cx="54864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REVENUE HYPOTHESES TO TEST</a:t>
            </a:r>
          </a:p>
        </p:txBody>
      </p:sp>
      <p:sp>
        <p:nvSpPr>
          <p:cNvPr id="17" name="Rectangle 16"/>
          <p:cNvSpPr/>
          <p:nvPr/>
        </p:nvSpPr>
        <p:spPr>
          <a:xfrm>
            <a:off x="594360" y="4407407"/>
            <a:ext cx="91440" cy="91440"/>
          </a:xfrm>
          <a:prstGeom prst="rect">
            <a:avLst/>
          </a:prstGeom>
          <a:solidFill>
            <a:srgbClr val="1765D1"/>
          </a:solidFill>
          <a:ln>
            <a:noFill/>
          </a:ln>
          <a:effectLst/>
        </p:spPr>
        <p:txBody>
          <a:bodyPr rtlCol="0" anchor="ctr" lIns="73152" rIns="73152" tIns="36576" bIns="36576"/>
          <a:lstStyle/>
          <a:p>
            <a:pPr algn="ctr"/>
          </a:p>
        </p:txBody>
      </p:sp>
      <p:sp>
        <p:nvSpPr>
          <p:cNvPr id="18" name="TextBox 17"/>
          <p:cNvSpPr txBox="1"/>
          <p:nvPr/>
        </p:nvSpPr>
        <p:spPr>
          <a:xfrm>
            <a:off x="822960" y="43159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Paid memberships or tools</a:t>
            </a:r>
          </a:p>
        </p:txBody>
      </p:sp>
      <p:sp>
        <p:nvSpPr>
          <p:cNvPr id="19" name="Rectangle 18"/>
          <p:cNvSpPr/>
          <p:nvPr/>
        </p:nvSpPr>
        <p:spPr>
          <a:xfrm>
            <a:off x="594360" y="4864607"/>
            <a:ext cx="91440" cy="91440"/>
          </a:xfrm>
          <a:prstGeom prst="rect">
            <a:avLst/>
          </a:prstGeom>
          <a:solidFill>
            <a:srgbClr val="1765D1"/>
          </a:solidFill>
          <a:ln>
            <a:noFill/>
          </a:ln>
          <a:effectLst/>
        </p:spPr>
        <p:txBody>
          <a:bodyPr rtlCol="0" anchor="ctr" lIns="73152" rIns="73152" tIns="36576" bIns="36576"/>
          <a:lstStyle/>
          <a:p>
            <a:pPr algn="ctr"/>
          </a:p>
        </p:txBody>
      </p:sp>
      <p:sp>
        <p:nvSpPr>
          <p:cNvPr id="20" name="TextBox 19"/>
          <p:cNvSpPr txBox="1"/>
          <p:nvPr/>
        </p:nvSpPr>
        <p:spPr>
          <a:xfrm>
            <a:off x="822960" y="47731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Specialist support packages</a:t>
            </a:r>
          </a:p>
        </p:txBody>
      </p:sp>
      <p:sp>
        <p:nvSpPr>
          <p:cNvPr id="21" name="Rectangle 20"/>
          <p:cNvSpPr/>
          <p:nvPr/>
        </p:nvSpPr>
        <p:spPr>
          <a:xfrm>
            <a:off x="594360" y="5321807"/>
            <a:ext cx="91440" cy="91440"/>
          </a:xfrm>
          <a:prstGeom prst="rect">
            <a:avLst/>
          </a:prstGeom>
          <a:solidFill>
            <a:srgbClr val="1765D1"/>
          </a:solidFill>
          <a:ln>
            <a:noFill/>
          </a:ln>
          <a:effectLst/>
        </p:spPr>
        <p:txBody>
          <a:bodyPr rtlCol="0" anchor="ctr" lIns="73152" rIns="73152" tIns="36576" bIns="36576"/>
          <a:lstStyle/>
          <a:p>
            <a:pPr algn="ctr"/>
          </a:p>
        </p:txBody>
      </p:sp>
      <p:sp>
        <p:nvSpPr>
          <p:cNvPr id="22" name="TextBox 21"/>
          <p:cNvSpPr txBox="1"/>
          <p:nvPr/>
        </p:nvSpPr>
        <p:spPr>
          <a:xfrm>
            <a:off x="822960" y="52303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Structured programmes</a:t>
            </a:r>
          </a:p>
        </p:txBody>
      </p:sp>
      <p:sp>
        <p:nvSpPr>
          <p:cNvPr id="23" name="Rectangle 22"/>
          <p:cNvSpPr/>
          <p:nvPr/>
        </p:nvSpPr>
        <p:spPr>
          <a:xfrm>
            <a:off x="594360" y="5779007"/>
            <a:ext cx="91440" cy="91440"/>
          </a:xfrm>
          <a:prstGeom prst="rect">
            <a:avLst/>
          </a:prstGeom>
          <a:solidFill>
            <a:srgbClr val="1765D1"/>
          </a:solidFill>
          <a:ln>
            <a:noFill/>
          </a:ln>
          <a:effectLst/>
        </p:spPr>
        <p:txBody>
          <a:bodyPr rtlCol="0" anchor="ctr" lIns="73152" rIns="73152" tIns="36576" bIns="36576"/>
          <a:lstStyle/>
          <a:p>
            <a:pPr algn="ctr"/>
          </a:p>
        </p:txBody>
      </p:sp>
      <p:sp>
        <p:nvSpPr>
          <p:cNvPr id="24" name="TextBox 23"/>
          <p:cNvSpPr txBox="1"/>
          <p:nvPr/>
        </p:nvSpPr>
        <p:spPr>
          <a:xfrm>
            <a:off x="822960" y="56875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Partner and service revenue arrangements</a:t>
            </a:r>
          </a:p>
        </p:txBody>
      </p:sp>
      <p:sp>
        <p:nvSpPr>
          <p:cNvPr id="25" name="Rectangle 24"/>
          <p:cNvSpPr/>
          <p:nvPr/>
        </p:nvSpPr>
        <p:spPr>
          <a:xfrm>
            <a:off x="6172200" y="4407407"/>
            <a:ext cx="91440" cy="91440"/>
          </a:xfrm>
          <a:prstGeom prst="rect">
            <a:avLst/>
          </a:prstGeom>
          <a:solidFill>
            <a:srgbClr val="1765D1"/>
          </a:solidFill>
          <a:ln>
            <a:noFill/>
          </a:ln>
          <a:effectLst/>
        </p:spPr>
        <p:txBody>
          <a:bodyPr rtlCol="0" anchor="ctr" lIns="73152" rIns="73152" tIns="36576" bIns="36576"/>
          <a:lstStyle/>
          <a:p>
            <a:pPr algn="ctr"/>
          </a:p>
        </p:txBody>
      </p:sp>
      <p:sp>
        <p:nvSpPr>
          <p:cNvPr id="26" name="TextBox 25"/>
          <p:cNvSpPr txBox="1"/>
          <p:nvPr/>
        </p:nvSpPr>
        <p:spPr>
          <a:xfrm>
            <a:off x="6400800" y="43159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Corporate or university programmes</a:t>
            </a:r>
          </a:p>
        </p:txBody>
      </p:sp>
      <p:sp>
        <p:nvSpPr>
          <p:cNvPr id="27" name="Rectangle 26"/>
          <p:cNvSpPr/>
          <p:nvPr/>
        </p:nvSpPr>
        <p:spPr>
          <a:xfrm>
            <a:off x="6172200" y="4864607"/>
            <a:ext cx="91440" cy="91440"/>
          </a:xfrm>
          <a:prstGeom prst="rect">
            <a:avLst/>
          </a:prstGeom>
          <a:solidFill>
            <a:srgbClr val="1765D1"/>
          </a:solidFill>
          <a:ln>
            <a:noFill/>
          </a:ln>
          <a:effectLst/>
        </p:spPr>
        <p:txBody>
          <a:bodyPr rtlCol="0" anchor="ctr" lIns="73152" rIns="73152" tIns="36576" bIns="36576"/>
          <a:lstStyle/>
          <a:p>
            <a:pPr algn="ctr"/>
          </a:p>
        </p:txBody>
      </p:sp>
      <p:sp>
        <p:nvSpPr>
          <p:cNvPr id="28" name="TextBox 27"/>
          <p:cNvSpPr txBox="1"/>
          <p:nvPr/>
        </p:nvSpPr>
        <p:spPr>
          <a:xfrm>
            <a:off x="6400800" y="47731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Sponsorship of suitable activities</a:t>
            </a:r>
          </a:p>
        </p:txBody>
      </p:sp>
      <p:sp>
        <p:nvSpPr>
          <p:cNvPr id="29" name="Rectangle 28"/>
          <p:cNvSpPr/>
          <p:nvPr/>
        </p:nvSpPr>
        <p:spPr>
          <a:xfrm>
            <a:off x="6172200" y="5321807"/>
            <a:ext cx="91440" cy="91440"/>
          </a:xfrm>
          <a:prstGeom prst="rect">
            <a:avLst/>
          </a:prstGeom>
          <a:solidFill>
            <a:srgbClr val="1765D1"/>
          </a:solidFill>
          <a:ln>
            <a:noFill/>
          </a:ln>
          <a:effectLst/>
        </p:spPr>
        <p:txBody>
          <a:bodyPr rtlCol="0" anchor="ctr" lIns="73152" rIns="73152" tIns="36576" bIns="36576"/>
          <a:lstStyle/>
          <a:p>
            <a:pPr algn="ctr"/>
          </a:p>
        </p:txBody>
      </p:sp>
      <p:sp>
        <p:nvSpPr>
          <p:cNvPr id="30" name="TextBox 29"/>
          <p:cNvSpPr txBox="1"/>
          <p:nvPr/>
        </p:nvSpPr>
        <p:spPr>
          <a:xfrm>
            <a:off x="6400800" y="5230368"/>
            <a:ext cx="5212080" cy="41148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Selective incubation arrangements, where separately agreed</a:t>
            </a:r>
          </a:p>
        </p:txBody>
      </p:sp>
      <p:sp>
        <p:nvSpPr>
          <p:cNvPr id="31" name="TextBox 30"/>
          <p:cNvSpPr txBox="1"/>
          <p:nvPr/>
        </p:nvSpPr>
        <p:spPr>
          <a:xfrm>
            <a:off x="6172200" y="5715000"/>
            <a:ext cx="5486400" cy="548640"/>
          </a:xfrm>
          <a:prstGeom prst="rect">
            <a:avLst/>
          </a:prstGeom>
          <a:noFill/>
        </p:spPr>
        <p:txBody>
          <a:bodyPr wrap="square" lIns="0" rIns="0" tIns="0" bIns="0" anchor="t"/>
          <a:lstStyle/>
          <a:p>
            <a:pPr algn="l">
              <a:lnSpc>
                <a:spcPct val="120000"/>
              </a:lnSpc>
              <a:spcAft>
                <a:spcPts val="0"/>
              </a:spcAft>
            </a:pPr>
            <a:r>
              <a:rPr sz="1100" b="0" i="0">
                <a:solidFill>
                  <a:srgbClr val="61738A"/>
                </a:solidFill>
                <a:latin typeface="Inter"/>
              </a:rPr>
              <a:t>No financial forecast is presented. Pricing and margins will be tested in the pilot before any are published.</a:t>
            </a:r>
          </a:p>
        </p:txBody>
      </p:sp>
      <p:sp>
        <p:nvSpPr>
          <p:cNvPr id="32" name="TextBox 31"/>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3" name="TextBox 32"/>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18</a:t>
            </a:r>
            <a:r>
              <a:rPr sz="1000" b="1" i="0" spc="150">
                <a:solidFill>
                  <a:srgbClr val="1765D1"/>
                </a:solidFill>
                <a:latin typeface="Inter"/>
              </a:rPr>
              <a:t>   TRIAL, VALIDATION AND ROADMAP</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Shape, test, then expand what works.</a:t>
            </a:r>
          </a:p>
        </p:txBody>
      </p:sp>
      <p:sp>
        <p:nvSpPr>
          <p:cNvPr id="4" name="Pentagon 3"/>
          <p:cNvSpPr/>
          <p:nvPr/>
        </p:nvSpPr>
        <p:spPr>
          <a:xfrm>
            <a:off x="594360" y="2011680"/>
            <a:ext cx="3682898" cy="502920"/>
          </a:xfrm>
          <a:prstGeom prst="homePlate">
            <a:avLst/>
          </a:prstGeom>
          <a:solidFill>
            <a:srgbClr val="1765D1"/>
          </a:solidFill>
          <a:ln>
            <a:noFill/>
          </a:ln>
          <a:effectLst/>
        </p:spPr>
        <p:txBody>
          <a:bodyPr rtlCol="0" anchor="ctr" lIns="274320" rIns="274320" tIns="27432" bIns="27432" wrap="square"/>
          <a:lstStyle/>
          <a:p>
            <a:pPr algn="l">
              <a:lnSpc>
                <a:spcPct val="110000"/>
              </a:lnSpc>
              <a:spcAft>
                <a:spcPts val="0"/>
              </a:spcAft>
            </a:pPr>
            <a:r>
              <a:rPr sz="1300" b="1" i="0" spc="150">
                <a:solidFill>
                  <a:srgbClr val="FFFFFF"/>
                </a:solidFill>
                <a:latin typeface="Inter"/>
              </a:rPr>
              <a:t>NOW</a:t>
            </a:r>
            <a:r>
              <a:rPr sz="1300" b="0" i="0">
                <a:solidFill>
                  <a:srgbClr val="FFFFFF"/>
                </a:solidFill>
                <a:latin typeface="Inter"/>
              </a:rPr>
              <a:t>   Shape and test</a:t>
            </a:r>
          </a:p>
        </p:txBody>
      </p:sp>
      <p:sp>
        <p:nvSpPr>
          <p:cNvPr id="5" name="Rectangle 4"/>
          <p:cNvSpPr/>
          <p:nvPr/>
        </p:nvSpPr>
        <p:spPr>
          <a:xfrm>
            <a:off x="640080" y="2816352"/>
            <a:ext cx="82296" cy="82296"/>
          </a:xfrm>
          <a:prstGeom prst="rect">
            <a:avLst/>
          </a:prstGeom>
          <a:solidFill>
            <a:srgbClr val="1765D1"/>
          </a:solidFill>
          <a:ln>
            <a:noFill/>
          </a:ln>
          <a:effectLst/>
        </p:spPr>
        <p:txBody>
          <a:bodyPr rtlCol="0" anchor="ctr" lIns="73152" rIns="73152" tIns="36576" bIns="36576"/>
          <a:lstStyle/>
          <a:p>
            <a:pPr algn="ctr"/>
          </a:p>
        </p:txBody>
      </p:sp>
      <p:sp>
        <p:nvSpPr>
          <p:cNvPr id="6" name="TextBox 5"/>
          <p:cNvSpPr txBox="1"/>
          <p:nvPr/>
        </p:nvSpPr>
        <p:spPr>
          <a:xfrm>
            <a:off x="850392" y="2724912"/>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Founder interviews</a:t>
            </a:r>
          </a:p>
        </p:txBody>
      </p:sp>
      <p:sp>
        <p:nvSpPr>
          <p:cNvPr id="7" name="Rectangle 6"/>
          <p:cNvSpPr/>
          <p:nvPr/>
        </p:nvSpPr>
        <p:spPr>
          <a:xfrm>
            <a:off x="640080" y="3200400"/>
            <a:ext cx="82296" cy="82296"/>
          </a:xfrm>
          <a:prstGeom prst="rect">
            <a:avLst/>
          </a:prstGeom>
          <a:solidFill>
            <a:srgbClr val="1765D1"/>
          </a:solidFill>
          <a:ln>
            <a:noFill/>
          </a:ln>
          <a:effectLst/>
        </p:spPr>
        <p:txBody>
          <a:bodyPr rtlCol="0" anchor="ctr" lIns="73152" rIns="73152" tIns="36576" bIns="36576"/>
          <a:lstStyle/>
          <a:p>
            <a:pPr algn="ctr"/>
          </a:p>
        </p:txBody>
      </p:sp>
      <p:sp>
        <p:nvSpPr>
          <p:cNvPr id="8" name="TextBox 7"/>
          <p:cNvSpPr txBox="1"/>
          <p:nvPr/>
        </p:nvSpPr>
        <p:spPr>
          <a:xfrm>
            <a:off x="850392" y="3108960"/>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Participant contributions</a:t>
            </a:r>
          </a:p>
        </p:txBody>
      </p:sp>
      <p:sp>
        <p:nvSpPr>
          <p:cNvPr id="9" name="Rectangle 8"/>
          <p:cNvSpPr/>
          <p:nvPr/>
        </p:nvSpPr>
        <p:spPr>
          <a:xfrm>
            <a:off x="640080" y="3584448"/>
            <a:ext cx="82296" cy="82296"/>
          </a:xfrm>
          <a:prstGeom prst="rect">
            <a:avLst/>
          </a:prstGeom>
          <a:solidFill>
            <a:srgbClr val="1765D1"/>
          </a:solidFill>
          <a:ln>
            <a:noFill/>
          </a:ln>
          <a:effectLst/>
        </p:spPr>
        <p:txBody>
          <a:bodyPr rtlCol="0" anchor="ctr" lIns="73152" rIns="73152" tIns="36576" bIns="36576"/>
          <a:lstStyle/>
          <a:p>
            <a:pPr algn="ctr"/>
          </a:p>
        </p:txBody>
      </p:sp>
      <p:sp>
        <p:nvSpPr>
          <p:cNvPr id="10" name="TextBox 9"/>
          <p:cNvSpPr txBox="1"/>
          <p:nvPr/>
        </p:nvSpPr>
        <p:spPr>
          <a:xfrm>
            <a:off x="850392" y="3493008"/>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Service selection</a:t>
            </a:r>
          </a:p>
        </p:txBody>
      </p:sp>
      <p:sp>
        <p:nvSpPr>
          <p:cNvPr id="11" name="Rectangle 10"/>
          <p:cNvSpPr/>
          <p:nvPr/>
        </p:nvSpPr>
        <p:spPr>
          <a:xfrm>
            <a:off x="640080" y="3968496"/>
            <a:ext cx="82296" cy="82296"/>
          </a:xfrm>
          <a:prstGeom prst="rect">
            <a:avLst/>
          </a:prstGeom>
          <a:solidFill>
            <a:srgbClr val="1765D1"/>
          </a:solidFill>
          <a:ln>
            <a:noFill/>
          </a:ln>
          <a:effectLst/>
        </p:spPr>
        <p:txBody>
          <a:bodyPr rtlCol="0" anchor="ctr" lIns="73152" rIns="73152" tIns="36576" bIns="36576"/>
          <a:lstStyle/>
          <a:p>
            <a:pPr algn="ctr"/>
          </a:p>
        </p:txBody>
      </p:sp>
      <p:sp>
        <p:nvSpPr>
          <p:cNvPr id="12" name="TextBox 11"/>
          <p:cNvSpPr txBox="1"/>
          <p:nvPr/>
        </p:nvSpPr>
        <p:spPr>
          <a:xfrm>
            <a:off x="850392" y="3877056"/>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Platform requirements</a:t>
            </a:r>
          </a:p>
        </p:txBody>
      </p:sp>
      <p:sp>
        <p:nvSpPr>
          <p:cNvPr id="13" name="Chevron 12"/>
          <p:cNvSpPr/>
          <p:nvPr/>
        </p:nvSpPr>
        <p:spPr>
          <a:xfrm>
            <a:off x="4322978" y="2011680"/>
            <a:ext cx="3682898" cy="502920"/>
          </a:xfrm>
          <a:prstGeom prst="chevron">
            <a:avLst/>
          </a:prstGeom>
          <a:solidFill>
            <a:srgbClr val="1A55AC"/>
          </a:solidFill>
          <a:ln>
            <a:noFill/>
          </a:ln>
          <a:effectLst/>
        </p:spPr>
        <p:txBody>
          <a:bodyPr rtlCol="0" anchor="ctr" lIns="274320" rIns="274320" tIns="27432" bIns="27432" wrap="square"/>
          <a:lstStyle/>
          <a:p>
            <a:pPr algn="l">
              <a:lnSpc>
                <a:spcPct val="110000"/>
              </a:lnSpc>
              <a:spcAft>
                <a:spcPts val="0"/>
              </a:spcAft>
            </a:pPr>
            <a:r>
              <a:rPr sz="1300" b="1" i="0" spc="150">
                <a:solidFill>
                  <a:srgbClr val="FFFFFF"/>
                </a:solidFill>
                <a:latin typeface="Inter"/>
              </a:rPr>
              <a:t>NEXT</a:t>
            </a:r>
            <a:r>
              <a:rPr sz="1300" b="0" i="0">
                <a:solidFill>
                  <a:srgbClr val="FFFFFF"/>
                </a:solidFill>
                <a:latin typeface="Inter"/>
              </a:rPr>
              <a:t>   Deliver a small pilot</a:t>
            </a:r>
          </a:p>
        </p:txBody>
      </p:sp>
      <p:sp>
        <p:nvSpPr>
          <p:cNvPr id="14" name="Rectangle 13"/>
          <p:cNvSpPr/>
          <p:nvPr/>
        </p:nvSpPr>
        <p:spPr>
          <a:xfrm>
            <a:off x="4368698" y="2816352"/>
            <a:ext cx="82296" cy="82296"/>
          </a:xfrm>
          <a:prstGeom prst="rect">
            <a:avLst/>
          </a:prstGeom>
          <a:solidFill>
            <a:srgbClr val="1A55AC"/>
          </a:solidFill>
          <a:ln>
            <a:noFill/>
          </a:ln>
          <a:effectLst/>
        </p:spPr>
        <p:txBody>
          <a:bodyPr rtlCol="0" anchor="ctr" lIns="73152" rIns="73152" tIns="36576" bIns="36576"/>
          <a:lstStyle/>
          <a:p>
            <a:pPr algn="ctr"/>
          </a:p>
        </p:txBody>
      </p:sp>
      <p:sp>
        <p:nvSpPr>
          <p:cNvPr id="15" name="TextBox 14"/>
          <p:cNvSpPr txBox="1"/>
          <p:nvPr/>
        </p:nvSpPr>
        <p:spPr>
          <a:xfrm>
            <a:off x="4579010" y="2724912"/>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Useful sessions</a:t>
            </a:r>
          </a:p>
        </p:txBody>
      </p:sp>
      <p:sp>
        <p:nvSpPr>
          <p:cNvPr id="16" name="Rectangle 15"/>
          <p:cNvSpPr/>
          <p:nvPr/>
        </p:nvSpPr>
        <p:spPr>
          <a:xfrm>
            <a:off x="4368698" y="3200400"/>
            <a:ext cx="82296" cy="82296"/>
          </a:xfrm>
          <a:prstGeom prst="rect">
            <a:avLst/>
          </a:prstGeom>
          <a:solidFill>
            <a:srgbClr val="1A55AC"/>
          </a:solidFill>
          <a:ln>
            <a:noFill/>
          </a:ln>
          <a:effectLst/>
        </p:spPr>
        <p:txBody>
          <a:bodyPr rtlCol="0" anchor="ctr" lIns="73152" rIns="73152" tIns="36576" bIns="36576"/>
          <a:lstStyle/>
          <a:p>
            <a:pPr algn="ctr"/>
          </a:p>
        </p:txBody>
      </p:sp>
      <p:sp>
        <p:nvSpPr>
          <p:cNvPr id="17" name="TextBox 16"/>
          <p:cNvSpPr txBox="1"/>
          <p:nvPr/>
        </p:nvSpPr>
        <p:spPr>
          <a:xfrm>
            <a:off x="4579010" y="3108960"/>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Onboarding and follow-up</a:t>
            </a:r>
          </a:p>
        </p:txBody>
      </p:sp>
      <p:sp>
        <p:nvSpPr>
          <p:cNvPr id="18" name="Rectangle 17"/>
          <p:cNvSpPr/>
          <p:nvPr/>
        </p:nvSpPr>
        <p:spPr>
          <a:xfrm>
            <a:off x="4368698" y="3584448"/>
            <a:ext cx="82296" cy="82296"/>
          </a:xfrm>
          <a:prstGeom prst="rect">
            <a:avLst/>
          </a:prstGeom>
          <a:solidFill>
            <a:srgbClr val="1A55AC"/>
          </a:solidFill>
          <a:ln>
            <a:noFill/>
          </a:ln>
          <a:effectLst/>
        </p:spPr>
        <p:txBody>
          <a:bodyPr rtlCol="0" anchor="ctr" lIns="73152" rIns="73152" tIns="36576" bIns="36576"/>
          <a:lstStyle/>
          <a:p>
            <a:pPr algn="ctr"/>
          </a:p>
        </p:txBody>
      </p:sp>
      <p:sp>
        <p:nvSpPr>
          <p:cNvPr id="19" name="TextBox 18"/>
          <p:cNvSpPr txBox="1"/>
          <p:nvPr/>
        </p:nvSpPr>
        <p:spPr>
          <a:xfrm>
            <a:off x="4579010" y="3493008"/>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Growth experiments</a:t>
            </a:r>
          </a:p>
        </p:txBody>
      </p:sp>
      <p:sp>
        <p:nvSpPr>
          <p:cNvPr id="20" name="Rectangle 19"/>
          <p:cNvSpPr/>
          <p:nvPr/>
        </p:nvSpPr>
        <p:spPr>
          <a:xfrm>
            <a:off x="4368698" y="3968496"/>
            <a:ext cx="82296" cy="82296"/>
          </a:xfrm>
          <a:prstGeom prst="rect">
            <a:avLst/>
          </a:prstGeom>
          <a:solidFill>
            <a:srgbClr val="1A55AC"/>
          </a:solidFill>
          <a:ln>
            <a:noFill/>
          </a:ln>
          <a:effectLst/>
        </p:spPr>
        <p:txBody>
          <a:bodyPr rtlCol="0" anchor="ctr" lIns="73152" rIns="73152" tIns="36576" bIns="36576"/>
          <a:lstStyle/>
          <a:p>
            <a:pPr algn="ctr"/>
          </a:p>
        </p:txBody>
      </p:sp>
      <p:sp>
        <p:nvSpPr>
          <p:cNvPr id="21" name="TextBox 20"/>
          <p:cNvSpPr txBox="1"/>
          <p:nvPr/>
        </p:nvSpPr>
        <p:spPr>
          <a:xfrm>
            <a:off x="4579010" y="3877056"/>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Measure delivery costs</a:t>
            </a:r>
          </a:p>
        </p:txBody>
      </p:sp>
      <p:sp>
        <p:nvSpPr>
          <p:cNvPr id="22" name="Chevron 21"/>
          <p:cNvSpPr/>
          <p:nvPr/>
        </p:nvSpPr>
        <p:spPr>
          <a:xfrm>
            <a:off x="8051596" y="2011680"/>
            <a:ext cx="3545738" cy="502920"/>
          </a:xfrm>
          <a:prstGeom prst="chevron">
            <a:avLst/>
          </a:prstGeom>
          <a:solidFill>
            <a:srgbClr val="10213B"/>
          </a:solidFill>
          <a:ln>
            <a:noFill/>
          </a:ln>
          <a:effectLst/>
        </p:spPr>
        <p:txBody>
          <a:bodyPr rtlCol="0" anchor="ctr" lIns="274320" rIns="274320" tIns="27432" bIns="27432" wrap="square"/>
          <a:lstStyle/>
          <a:p>
            <a:pPr algn="l">
              <a:lnSpc>
                <a:spcPct val="110000"/>
              </a:lnSpc>
              <a:spcAft>
                <a:spcPts val="0"/>
              </a:spcAft>
            </a:pPr>
            <a:r>
              <a:rPr sz="1300" b="1" i="0" spc="150">
                <a:solidFill>
                  <a:srgbClr val="FFFFFF"/>
                </a:solidFill>
                <a:latin typeface="Inter"/>
              </a:rPr>
              <a:t>THEN</a:t>
            </a:r>
            <a:r>
              <a:rPr sz="1300" b="0" i="0">
                <a:solidFill>
                  <a:srgbClr val="FFFFFF"/>
                </a:solidFill>
                <a:latin typeface="Inter"/>
              </a:rPr>
              <a:t>   Expand what works</a:t>
            </a:r>
          </a:p>
        </p:txBody>
      </p:sp>
      <p:sp>
        <p:nvSpPr>
          <p:cNvPr id="23" name="Rectangle 22"/>
          <p:cNvSpPr/>
          <p:nvPr/>
        </p:nvSpPr>
        <p:spPr>
          <a:xfrm>
            <a:off x="8097316" y="2816352"/>
            <a:ext cx="82296" cy="82296"/>
          </a:xfrm>
          <a:prstGeom prst="rect">
            <a:avLst/>
          </a:prstGeom>
          <a:solidFill>
            <a:srgbClr val="10213B"/>
          </a:solidFill>
          <a:ln>
            <a:noFill/>
          </a:ln>
          <a:effectLst/>
        </p:spPr>
        <p:txBody>
          <a:bodyPr rtlCol="0" anchor="ctr" lIns="73152" rIns="73152" tIns="36576" bIns="36576"/>
          <a:lstStyle/>
          <a:p>
            <a:pPr algn="ctr"/>
          </a:p>
        </p:txBody>
      </p:sp>
      <p:sp>
        <p:nvSpPr>
          <p:cNvPr id="24" name="TextBox 23"/>
          <p:cNvSpPr txBox="1"/>
          <p:nvPr/>
        </p:nvSpPr>
        <p:spPr>
          <a:xfrm>
            <a:off x="8307628" y="2724912"/>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Repeat strong services</a:t>
            </a:r>
          </a:p>
        </p:txBody>
      </p:sp>
      <p:sp>
        <p:nvSpPr>
          <p:cNvPr id="25" name="Rectangle 24"/>
          <p:cNvSpPr/>
          <p:nvPr/>
        </p:nvSpPr>
        <p:spPr>
          <a:xfrm>
            <a:off x="8097316" y="3200400"/>
            <a:ext cx="82296" cy="82296"/>
          </a:xfrm>
          <a:prstGeom prst="rect">
            <a:avLst/>
          </a:prstGeom>
          <a:solidFill>
            <a:srgbClr val="10213B"/>
          </a:solidFill>
          <a:ln>
            <a:noFill/>
          </a:ln>
          <a:effectLst/>
        </p:spPr>
        <p:txBody>
          <a:bodyPr rtlCol="0" anchor="ctr" lIns="73152" rIns="73152" tIns="36576" bIns="36576"/>
          <a:lstStyle/>
          <a:p>
            <a:pPr algn="ctr"/>
          </a:p>
        </p:txBody>
      </p:sp>
      <p:sp>
        <p:nvSpPr>
          <p:cNvPr id="26" name="TextBox 25"/>
          <p:cNvSpPr txBox="1"/>
          <p:nvPr/>
        </p:nvSpPr>
        <p:spPr>
          <a:xfrm>
            <a:off x="8307628" y="3108960"/>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Improve the platform</a:t>
            </a:r>
          </a:p>
        </p:txBody>
      </p:sp>
      <p:sp>
        <p:nvSpPr>
          <p:cNvPr id="27" name="Rectangle 26"/>
          <p:cNvSpPr/>
          <p:nvPr/>
        </p:nvSpPr>
        <p:spPr>
          <a:xfrm>
            <a:off x="8097316" y="3584448"/>
            <a:ext cx="82296" cy="82296"/>
          </a:xfrm>
          <a:prstGeom prst="rect">
            <a:avLst/>
          </a:prstGeom>
          <a:solidFill>
            <a:srgbClr val="10213B"/>
          </a:solidFill>
          <a:ln>
            <a:noFill/>
          </a:ln>
          <a:effectLst/>
        </p:spPr>
        <p:txBody>
          <a:bodyPr rtlCol="0" anchor="ctr" lIns="73152" rIns="73152" tIns="36576" bIns="36576"/>
          <a:lstStyle/>
          <a:p>
            <a:pPr algn="ctr"/>
          </a:p>
        </p:txBody>
      </p:sp>
      <p:sp>
        <p:nvSpPr>
          <p:cNvPr id="28" name="TextBox 27"/>
          <p:cNvSpPr txBox="1"/>
          <p:nvPr/>
        </p:nvSpPr>
        <p:spPr>
          <a:xfrm>
            <a:off x="8307628" y="3493008"/>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Formalise responsibilities</a:t>
            </a:r>
          </a:p>
        </p:txBody>
      </p:sp>
      <p:sp>
        <p:nvSpPr>
          <p:cNvPr id="29" name="Rectangle 28"/>
          <p:cNvSpPr/>
          <p:nvPr/>
        </p:nvSpPr>
        <p:spPr>
          <a:xfrm>
            <a:off x="8097316" y="3968496"/>
            <a:ext cx="82296" cy="82296"/>
          </a:xfrm>
          <a:prstGeom prst="rect">
            <a:avLst/>
          </a:prstGeom>
          <a:solidFill>
            <a:srgbClr val="10213B"/>
          </a:solidFill>
          <a:ln>
            <a:noFill/>
          </a:ln>
          <a:effectLst/>
        </p:spPr>
        <p:txBody>
          <a:bodyPr rtlCol="0" anchor="ctr" lIns="73152" rIns="73152" tIns="36576" bIns="36576"/>
          <a:lstStyle/>
          <a:p>
            <a:pPr algn="ctr"/>
          </a:p>
        </p:txBody>
      </p:sp>
      <p:sp>
        <p:nvSpPr>
          <p:cNvPr id="30" name="TextBox 29"/>
          <p:cNvSpPr txBox="1"/>
          <p:nvPr/>
        </p:nvSpPr>
        <p:spPr>
          <a:xfrm>
            <a:off x="8307628" y="3877056"/>
            <a:ext cx="3179978" cy="320040"/>
          </a:xfrm>
          <a:prstGeom prst="rect">
            <a:avLst/>
          </a:prstGeom>
          <a:noFill/>
        </p:spPr>
        <p:txBody>
          <a:bodyPr wrap="square" lIns="0" rIns="0" tIns="0" bIns="0" anchor="t"/>
          <a:lstStyle/>
          <a:p>
            <a:pPr algn="l">
              <a:lnSpc>
                <a:spcPct val="115000"/>
              </a:lnSpc>
              <a:spcAft>
                <a:spcPts val="0"/>
              </a:spcAft>
            </a:pPr>
            <a:r>
              <a:rPr sz="1250" b="0" i="0">
                <a:solidFill>
                  <a:srgbClr val="253650"/>
                </a:solidFill>
                <a:latin typeface="Inter"/>
              </a:rPr>
              <a:t>Build partnerships</a:t>
            </a:r>
          </a:p>
        </p:txBody>
      </p:sp>
      <p:sp>
        <p:nvSpPr>
          <p:cNvPr id="31" name="Rectangle 30"/>
          <p:cNvSpPr/>
          <p:nvPr/>
        </p:nvSpPr>
        <p:spPr>
          <a:xfrm>
            <a:off x="594360" y="4389120"/>
            <a:ext cx="11002975" cy="1828800"/>
          </a:xfrm>
          <a:prstGeom prst="rect">
            <a:avLst/>
          </a:prstGeom>
          <a:solidFill>
            <a:srgbClr val="EDF4FE"/>
          </a:solidFill>
          <a:ln>
            <a:noFill/>
          </a:ln>
          <a:effectLst/>
        </p:spPr>
        <p:txBody>
          <a:bodyPr rtlCol="0" anchor="ctr" lIns="73152" rIns="73152" tIns="36576" bIns="36576"/>
          <a:lstStyle/>
          <a:p>
            <a:pPr algn="ctr"/>
          </a:p>
        </p:txBody>
      </p:sp>
      <p:sp>
        <p:nvSpPr>
          <p:cNvPr id="32" name="TextBox 31"/>
          <p:cNvSpPr txBox="1"/>
          <p:nvPr/>
        </p:nvSpPr>
        <p:spPr>
          <a:xfrm>
            <a:off x="868680" y="4572000"/>
            <a:ext cx="36576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MILESTONES WE ARE WORKING TOWARDS</a:t>
            </a:r>
          </a:p>
        </p:txBody>
      </p:sp>
      <p:sp>
        <p:nvSpPr>
          <p:cNvPr id="33" name="TextBox 32"/>
          <p:cNvSpPr txBox="1"/>
          <p:nvPr/>
        </p:nvSpPr>
        <p:spPr>
          <a:xfrm>
            <a:off x="868680" y="4919472"/>
            <a:ext cx="3301898" cy="502920"/>
          </a:xfrm>
          <a:prstGeom prst="rect">
            <a:avLst/>
          </a:prstGeom>
          <a:noFill/>
        </p:spPr>
        <p:txBody>
          <a:bodyPr wrap="square" lIns="0" rIns="0" tIns="0" bIns="0" anchor="t"/>
          <a:lstStyle/>
          <a:p>
            <a:pPr algn="l">
              <a:lnSpc>
                <a:spcPct val="115000"/>
              </a:lnSpc>
              <a:spcAft>
                <a:spcPts val="0"/>
              </a:spcAft>
            </a:pPr>
            <a:r>
              <a:rPr sz="2400" b="1" i="0">
                <a:solidFill>
                  <a:srgbClr val="10213B"/>
                </a:solidFill>
                <a:latin typeface="Inter"/>
              </a:rPr>
              <a:t>10,000</a:t>
            </a:r>
            <a:r>
              <a:rPr sz="1200" b="0" i="0">
                <a:solidFill>
                  <a:srgbClr val="61738A"/>
                </a:solidFill>
                <a:latin typeface="Inter"/>
              </a:rPr>
              <a:t>  free users</a:t>
            </a:r>
          </a:p>
        </p:txBody>
      </p:sp>
      <p:sp>
        <p:nvSpPr>
          <p:cNvPr id="34" name="TextBox 33"/>
          <p:cNvSpPr txBox="1"/>
          <p:nvPr/>
        </p:nvSpPr>
        <p:spPr>
          <a:xfrm>
            <a:off x="868680" y="5440680"/>
            <a:ext cx="3210458" cy="36576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Threshold for a public launch event</a:t>
            </a:r>
          </a:p>
        </p:txBody>
      </p:sp>
      <p:sp>
        <p:nvSpPr>
          <p:cNvPr id="35" name="TextBox 34"/>
          <p:cNvSpPr txBox="1"/>
          <p:nvPr/>
        </p:nvSpPr>
        <p:spPr>
          <a:xfrm>
            <a:off x="4353458" y="4919472"/>
            <a:ext cx="3301898" cy="502920"/>
          </a:xfrm>
          <a:prstGeom prst="rect">
            <a:avLst/>
          </a:prstGeom>
          <a:noFill/>
        </p:spPr>
        <p:txBody>
          <a:bodyPr wrap="square" lIns="0" rIns="0" tIns="0" bIns="0" anchor="t"/>
          <a:lstStyle/>
          <a:p>
            <a:pPr algn="l">
              <a:lnSpc>
                <a:spcPct val="115000"/>
              </a:lnSpc>
              <a:spcAft>
                <a:spcPts val="0"/>
              </a:spcAft>
            </a:pPr>
            <a:r>
              <a:rPr sz="2400" b="1" i="0">
                <a:solidFill>
                  <a:srgbClr val="10213B"/>
                </a:solidFill>
                <a:latin typeface="Inter"/>
              </a:rPr>
              <a:t>March 2027</a:t>
            </a:r>
            <a:r>
              <a:rPr sz="1200" b="0" i="0">
                <a:solidFill>
                  <a:srgbClr val="61738A"/>
                </a:solidFill>
                <a:latin typeface="Inter"/>
              </a:rPr>
              <a:t>  tentative</a:t>
            </a:r>
          </a:p>
        </p:txBody>
      </p:sp>
      <p:sp>
        <p:nvSpPr>
          <p:cNvPr id="36" name="TextBox 35"/>
          <p:cNvSpPr txBox="1"/>
          <p:nvPr/>
        </p:nvSpPr>
        <p:spPr>
          <a:xfrm>
            <a:off x="4353458" y="5440680"/>
            <a:ext cx="3210458" cy="36576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Target timing, subject to readiness</a:t>
            </a:r>
          </a:p>
        </p:txBody>
      </p:sp>
      <p:sp>
        <p:nvSpPr>
          <p:cNvPr id="37" name="TextBox 36"/>
          <p:cNvSpPr txBox="1"/>
          <p:nvPr/>
        </p:nvSpPr>
        <p:spPr>
          <a:xfrm>
            <a:off x="7838236" y="4919472"/>
            <a:ext cx="3301898" cy="502920"/>
          </a:xfrm>
          <a:prstGeom prst="rect">
            <a:avLst/>
          </a:prstGeom>
          <a:noFill/>
        </p:spPr>
        <p:txBody>
          <a:bodyPr wrap="square" lIns="0" rIns="0" tIns="0" bIns="0" anchor="t"/>
          <a:lstStyle/>
          <a:p>
            <a:pPr algn="l">
              <a:lnSpc>
                <a:spcPct val="115000"/>
              </a:lnSpc>
              <a:spcAft>
                <a:spcPts val="0"/>
              </a:spcAft>
            </a:pPr>
            <a:r>
              <a:rPr sz="2400" b="1" i="0">
                <a:solidFill>
                  <a:srgbClr val="10213B"/>
                </a:solidFill>
                <a:latin typeface="Inter"/>
              </a:rPr>
              <a:t>100,000</a:t>
            </a:r>
            <a:r>
              <a:rPr sz="1200" b="0" i="0">
                <a:solidFill>
                  <a:srgbClr val="61738A"/>
                </a:solidFill>
                <a:latin typeface="Inter"/>
              </a:rPr>
              <a:t>  free users</a:t>
            </a:r>
          </a:p>
        </p:txBody>
      </p:sp>
      <p:sp>
        <p:nvSpPr>
          <p:cNvPr id="38" name="TextBox 37"/>
          <p:cNvSpPr txBox="1"/>
          <p:nvPr/>
        </p:nvSpPr>
        <p:spPr>
          <a:xfrm>
            <a:off x="7838236" y="5440680"/>
            <a:ext cx="3210458" cy="365760"/>
          </a:xfrm>
          <a:prstGeom prst="rect">
            <a:avLst/>
          </a:prstGeom>
          <a:noFill/>
        </p:spPr>
        <p:txBody>
          <a:bodyPr wrap="square" lIns="0" rIns="0" tIns="0" bIns="0" anchor="t"/>
          <a:lstStyle/>
          <a:p>
            <a:pPr algn="l">
              <a:lnSpc>
                <a:spcPct val="115000"/>
              </a:lnSpc>
              <a:spcAft>
                <a:spcPts val="0"/>
              </a:spcAft>
            </a:pPr>
            <a:r>
              <a:rPr sz="1200" b="0" i="0">
                <a:solidFill>
                  <a:srgbClr val="253650"/>
                </a:solidFill>
                <a:latin typeface="Inter"/>
              </a:rPr>
              <a:t>Wider, longer-term ambition</a:t>
            </a:r>
          </a:p>
        </p:txBody>
      </p:sp>
      <p:sp>
        <p:nvSpPr>
          <p:cNvPr id="39" name="TextBox 38"/>
          <p:cNvSpPr txBox="1"/>
          <p:nvPr/>
        </p:nvSpPr>
        <p:spPr>
          <a:xfrm>
            <a:off x="868680" y="5870448"/>
            <a:ext cx="10515600" cy="274320"/>
          </a:xfrm>
          <a:prstGeom prst="rect">
            <a:avLst/>
          </a:prstGeom>
          <a:noFill/>
        </p:spPr>
        <p:txBody>
          <a:bodyPr wrap="square" lIns="0" rIns="0" tIns="0" bIns="0" anchor="t"/>
          <a:lstStyle/>
          <a:p>
            <a:pPr algn="l">
              <a:lnSpc>
                <a:spcPct val="115000"/>
              </a:lnSpc>
              <a:spcAft>
                <a:spcPts val="0"/>
              </a:spcAft>
            </a:pPr>
            <a:r>
              <a:rPr sz="1100" b="1" i="0">
                <a:solidFill>
                  <a:srgbClr val="10213B"/>
                </a:solidFill>
                <a:latin typeface="Inter"/>
              </a:rPr>
              <a:t>Targets and timing will be refined through the pilot. </a:t>
            </a:r>
            <a:r>
              <a:rPr sz="1100" b="0" i="0">
                <a:solidFill>
                  <a:srgbClr val="61738A"/>
                </a:solidFill>
                <a:latin typeface="Inter"/>
              </a:rPr>
              <a:t>These are ambitions, not current traction.</a:t>
            </a:r>
          </a:p>
        </p:txBody>
      </p:sp>
      <p:sp>
        <p:nvSpPr>
          <p:cNvPr id="40" name="TextBox 39"/>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41" name="TextBox 40"/>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1765D1"/>
                </a:solidFill>
                <a:latin typeface="Inter"/>
              </a:rPr>
              <a:t>19</a:t>
            </a:r>
            <a:r>
              <a:rPr sz="1000" b="1" i="0" spc="150">
                <a:solidFill>
                  <a:srgbClr val="1765D1"/>
                </a:solidFill>
                <a:latin typeface="Inter"/>
              </a:rPr>
              <a:t>   PEOPLE AND COLLABORATION</a:t>
            </a:r>
          </a:p>
        </p:txBody>
      </p:sp>
      <p:sp>
        <p:nvSpPr>
          <p:cNvPr id="3" name="TextBox 2"/>
          <p:cNvSpPr txBox="1"/>
          <p:nvPr/>
        </p:nvSpPr>
        <p:spPr>
          <a:xfrm>
            <a:off x="594360" y="749808"/>
            <a:ext cx="10607040" cy="1005840"/>
          </a:xfrm>
          <a:prstGeom prst="rect">
            <a:avLst/>
          </a:prstGeom>
          <a:noFill/>
        </p:spPr>
        <p:txBody>
          <a:bodyPr wrap="square" lIns="0" rIns="0" tIns="0" bIns="0" anchor="t"/>
          <a:lstStyle/>
          <a:p>
            <a:pPr algn="l">
              <a:lnSpc>
                <a:spcPct val="102000"/>
              </a:lnSpc>
              <a:spcAft>
                <a:spcPts val="0"/>
              </a:spcAft>
            </a:pPr>
            <a:r>
              <a:rPr sz="2800" b="1" i="0">
                <a:solidFill>
                  <a:srgbClr val="10213B"/>
                </a:solidFill>
                <a:latin typeface="Inter"/>
              </a:rPr>
              <a:t>Bringing complementary experience together.</a:t>
            </a:r>
          </a:p>
        </p:txBody>
      </p:sp>
      <p:sp>
        <p:nvSpPr>
          <p:cNvPr id="4" name="Rectangle 3"/>
          <p:cNvSpPr/>
          <p:nvPr/>
        </p:nvSpPr>
        <p:spPr>
          <a:xfrm>
            <a:off x="594360" y="2011680"/>
            <a:ext cx="3383280" cy="2011680"/>
          </a:xfrm>
          <a:prstGeom prst="rect">
            <a:avLst/>
          </a:prstGeom>
          <a:solidFill>
            <a:srgbClr val="EDF4FE"/>
          </a:solidFill>
          <a:ln>
            <a:noFill/>
          </a:ln>
          <a:effectLst/>
        </p:spPr>
        <p:txBody>
          <a:bodyPr rtlCol="0" anchor="ctr" lIns="73152" rIns="73152" tIns="36576" bIns="36576"/>
          <a:lstStyle/>
          <a:p>
            <a:pPr algn="ctr"/>
          </a:p>
        </p:txBody>
      </p:sp>
      <p:sp>
        <p:nvSpPr>
          <p:cNvPr id="5" name="Rectangle 4"/>
          <p:cNvSpPr/>
          <p:nvPr/>
        </p:nvSpPr>
        <p:spPr>
          <a:xfrm>
            <a:off x="594360" y="2011680"/>
            <a:ext cx="3383280" cy="64008"/>
          </a:xfrm>
          <a:prstGeom prst="rect">
            <a:avLst/>
          </a:prstGeom>
          <a:solidFill>
            <a:srgbClr val="10213B"/>
          </a:solidFill>
          <a:ln>
            <a:noFill/>
          </a:ln>
          <a:effectLst/>
        </p:spPr>
        <p:txBody>
          <a:bodyPr rtlCol="0" anchor="ctr" lIns="73152" rIns="73152" tIns="36576" bIns="36576"/>
          <a:lstStyle/>
          <a:p>
            <a:pPr algn="ctr"/>
          </a:p>
        </p:txBody>
      </p:sp>
      <p:sp>
        <p:nvSpPr>
          <p:cNvPr id="6" name="TextBox 5"/>
          <p:cNvSpPr txBox="1"/>
          <p:nvPr/>
        </p:nvSpPr>
        <p:spPr>
          <a:xfrm>
            <a:off x="795528" y="221284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0213B"/>
                </a:solidFill>
                <a:latin typeface="Inter"/>
              </a:rPr>
              <a:t>STRATEGY AND COMMERCIAL</a:t>
            </a:r>
          </a:p>
        </p:txBody>
      </p:sp>
      <p:sp>
        <p:nvSpPr>
          <p:cNvPr id="7" name="Rounded Rectangle 6"/>
          <p:cNvSpPr/>
          <p:nvPr/>
        </p:nvSpPr>
        <p:spPr>
          <a:xfrm>
            <a:off x="795528" y="25786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Commercial leadership</a:t>
            </a:r>
          </a:p>
        </p:txBody>
      </p:sp>
      <p:sp>
        <p:nvSpPr>
          <p:cNvPr id="8" name="Rounded Rectangle 7"/>
          <p:cNvSpPr/>
          <p:nvPr/>
        </p:nvSpPr>
        <p:spPr>
          <a:xfrm>
            <a:off x="795528" y="30358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GTM and customer lifecycle</a:t>
            </a:r>
          </a:p>
        </p:txBody>
      </p:sp>
      <p:sp>
        <p:nvSpPr>
          <p:cNvPr id="9" name="Rounded Rectangle 8"/>
          <p:cNvSpPr/>
          <p:nvPr/>
        </p:nvSpPr>
        <p:spPr>
          <a:xfrm>
            <a:off x="795528" y="34930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Legal and governance</a:t>
            </a:r>
          </a:p>
        </p:txBody>
      </p:sp>
      <p:sp>
        <p:nvSpPr>
          <p:cNvPr id="10" name="Rectangle 9"/>
          <p:cNvSpPr/>
          <p:nvPr/>
        </p:nvSpPr>
        <p:spPr>
          <a:xfrm>
            <a:off x="4114800" y="2011680"/>
            <a:ext cx="3383280" cy="2011680"/>
          </a:xfrm>
          <a:prstGeom prst="rect">
            <a:avLst/>
          </a:prstGeom>
          <a:solidFill>
            <a:srgbClr val="EDF4FE"/>
          </a:solidFill>
          <a:ln>
            <a:noFill/>
          </a:ln>
          <a:effectLst/>
        </p:spPr>
        <p:txBody>
          <a:bodyPr rtlCol="0" anchor="ctr" lIns="73152" rIns="73152" tIns="36576" bIns="36576"/>
          <a:lstStyle/>
          <a:p>
            <a:pPr algn="ctr"/>
          </a:p>
        </p:txBody>
      </p:sp>
      <p:sp>
        <p:nvSpPr>
          <p:cNvPr id="11" name="Rectangle 10"/>
          <p:cNvSpPr/>
          <p:nvPr/>
        </p:nvSpPr>
        <p:spPr>
          <a:xfrm>
            <a:off x="4114800" y="2011680"/>
            <a:ext cx="3383280" cy="64008"/>
          </a:xfrm>
          <a:prstGeom prst="rect">
            <a:avLst/>
          </a:prstGeom>
          <a:solidFill>
            <a:srgbClr val="1765D1"/>
          </a:solidFill>
          <a:ln>
            <a:noFill/>
          </a:ln>
          <a:effectLst/>
        </p:spPr>
        <p:txBody>
          <a:bodyPr rtlCol="0" anchor="ctr" lIns="73152" rIns="73152" tIns="36576" bIns="36576"/>
          <a:lstStyle/>
          <a:p>
            <a:pPr algn="ctr"/>
          </a:p>
        </p:txBody>
      </p:sp>
      <p:sp>
        <p:nvSpPr>
          <p:cNvPr id="12" name="TextBox 11"/>
          <p:cNvSpPr txBox="1"/>
          <p:nvPr/>
        </p:nvSpPr>
        <p:spPr>
          <a:xfrm>
            <a:off x="4315968" y="221284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765D1"/>
                </a:solidFill>
                <a:latin typeface="Inter"/>
              </a:rPr>
              <a:t>FOUNDER SUPPORT</a:t>
            </a:r>
          </a:p>
        </p:txBody>
      </p:sp>
      <p:sp>
        <p:nvSpPr>
          <p:cNvPr id="13" name="Rounded Rectangle 12"/>
          <p:cNvSpPr/>
          <p:nvPr/>
        </p:nvSpPr>
        <p:spPr>
          <a:xfrm>
            <a:off x="4315968" y="25786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Startup and incubation experience</a:t>
            </a:r>
          </a:p>
        </p:txBody>
      </p:sp>
      <p:sp>
        <p:nvSpPr>
          <p:cNvPr id="14" name="Rounded Rectangle 13"/>
          <p:cNvSpPr/>
          <p:nvPr/>
        </p:nvSpPr>
        <p:spPr>
          <a:xfrm>
            <a:off x="4315968" y="30358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Consumer-business mentoring</a:t>
            </a:r>
          </a:p>
        </p:txBody>
      </p:sp>
      <p:sp>
        <p:nvSpPr>
          <p:cNvPr id="15" name="Rounded Rectangle 14"/>
          <p:cNvSpPr/>
          <p:nvPr/>
        </p:nvSpPr>
        <p:spPr>
          <a:xfrm>
            <a:off x="4315968" y="349300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Education and university outreach</a:t>
            </a:r>
          </a:p>
        </p:txBody>
      </p:sp>
      <p:sp>
        <p:nvSpPr>
          <p:cNvPr id="16" name="Rectangle 15"/>
          <p:cNvSpPr/>
          <p:nvPr/>
        </p:nvSpPr>
        <p:spPr>
          <a:xfrm>
            <a:off x="594360" y="4160520"/>
            <a:ext cx="3383280" cy="2011680"/>
          </a:xfrm>
          <a:prstGeom prst="rect">
            <a:avLst/>
          </a:prstGeom>
          <a:solidFill>
            <a:srgbClr val="EDF4FE"/>
          </a:solidFill>
          <a:ln>
            <a:noFill/>
          </a:ln>
          <a:effectLst/>
        </p:spPr>
        <p:txBody>
          <a:bodyPr rtlCol="0" anchor="ctr" lIns="73152" rIns="73152" tIns="36576" bIns="36576"/>
          <a:lstStyle/>
          <a:p>
            <a:pPr algn="ctr"/>
          </a:p>
        </p:txBody>
      </p:sp>
      <p:sp>
        <p:nvSpPr>
          <p:cNvPr id="17" name="Rectangle 16"/>
          <p:cNvSpPr/>
          <p:nvPr/>
        </p:nvSpPr>
        <p:spPr>
          <a:xfrm>
            <a:off x="594360" y="4160520"/>
            <a:ext cx="3383280" cy="64008"/>
          </a:xfrm>
          <a:prstGeom prst="rect">
            <a:avLst/>
          </a:prstGeom>
          <a:solidFill>
            <a:srgbClr val="1A55AC"/>
          </a:solidFill>
          <a:ln>
            <a:noFill/>
          </a:ln>
          <a:effectLst/>
        </p:spPr>
        <p:txBody>
          <a:bodyPr rtlCol="0" anchor="ctr" lIns="73152" rIns="73152" tIns="36576" bIns="36576"/>
          <a:lstStyle/>
          <a:p>
            <a:pPr algn="ctr"/>
          </a:p>
        </p:txBody>
      </p:sp>
      <p:sp>
        <p:nvSpPr>
          <p:cNvPr id="18" name="TextBox 17"/>
          <p:cNvSpPr txBox="1"/>
          <p:nvPr/>
        </p:nvSpPr>
        <p:spPr>
          <a:xfrm>
            <a:off x="795528" y="436168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A55AC"/>
                </a:solidFill>
                <a:latin typeface="Inter"/>
              </a:rPr>
              <a:t>PLATFORM AND GROWTH</a:t>
            </a:r>
          </a:p>
        </p:txBody>
      </p:sp>
      <p:sp>
        <p:nvSpPr>
          <p:cNvPr id="19" name="Rounded Rectangle 18"/>
          <p:cNvSpPr/>
          <p:nvPr/>
        </p:nvSpPr>
        <p:spPr>
          <a:xfrm>
            <a:off x="795528" y="47274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AI and business systems</a:t>
            </a:r>
          </a:p>
        </p:txBody>
      </p:sp>
      <p:sp>
        <p:nvSpPr>
          <p:cNvPr id="20" name="Rounded Rectangle 19"/>
          <p:cNvSpPr/>
          <p:nvPr/>
        </p:nvSpPr>
        <p:spPr>
          <a:xfrm>
            <a:off x="795528" y="51846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Branding and growth</a:t>
            </a:r>
          </a:p>
        </p:txBody>
      </p:sp>
      <p:sp>
        <p:nvSpPr>
          <p:cNvPr id="21" name="Rectangle 20"/>
          <p:cNvSpPr/>
          <p:nvPr/>
        </p:nvSpPr>
        <p:spPr>
          <a:xfrm>
            <a:off x="4114800" y="4160520"/>
            <a:ext cx="3383280" cy="2011680"/>
          </a:xfrm>
          <a:prstGeom prst="rect">
            <a:avLst/>
          </a:prstGeom>
          <a:solidFill>
            <a:srgbClr val="EDF4FE"/>
          </a:solidFill>
          <a:ln>
            <a:noFill/>
          </a:ln>
          <a:effectLst/>
        </p:spPr>
        <p:txBody>
          <a:bodyPr rtlCol="0" anchor="ctr" lIns="73152" rIns="73152" tIns="36576" bIns="36576"/>
          <a:lstStyle/>
          <a:p>
            <a:pPr algn="ctr"/>
          </a:p>
        </p:txBody>
      </p:sp>
      <p:sp>
        <p:nvSpPr>
          <p:cNvPr id="22" name="Rectangle 21"/>
          <p:cNvSpPr/>
          <p:nvPr/>
        </p:nvSpPr>
        <p:spPr>
          <a:xfrm>
            <a:off x="4114800" y="4160520"/>
            <a:ext cx="3383280" cy="64008"/>
          </a:xfrm>
          <a:prstGeom prst="rect">
            <a:avLst/>
          </a:prstGeom>
          <a:solidFill>
            <a:srgbClr val="17407F"/>
          </a:solidFill>
          <a:ln>
            <a:noFill/>
          </a:ln>
          <a:effectLst/>
        </p:spPr>
        <p:txBody>
          <a:bodyPr rtlCol="0" anchor="ctr" lIns="73152" rIns="73152" tIns="36576" bIns="36576"/>
          <a:lstStyle/>
          <a:p>
            <a:pPr algn="ctr"/>
          </a:p>
        </p:txBody>
      </p:sp>
      <p:sp>
        <p:nvSpPr>
          <p:cNvPr id="23" name="TextBox 22"/>
          <p:cNvSpPr txBox="1"/>
          <p:nvPr/>
        </p:nvSpPr>
        <p:spPr>
          <a:xfrm>
            <a:off x="4315968" y="4361688"/>
            <a:ext cx="3017520" cy="274320"/>
          </a:xfrm>
          <a:prstGeom prst="rect">
            <a:avLst/>
          </a:prstGeom>
          <a:noFill/>
        </p:spPr>
        <p:txBody>
          <a:bodyPr wrap="square" lIns="0" rIns="0" tIns="0" bIns="0" anchor="t"/>
          <a:lstStyle/>
          <a:p>
            <a:pPr algn="l">
              <a:lnSpc>
                <a:spcPct val="115000"/>
              </a:lnSpc>
              <a:spcAft>
                <a:spcPts val="0"/>
              </a:spcAft>
            </a:pPr>
            <a:r>
              <a:rPr sz="950" b="1" i="0" spc="110">
                <a:solidFill>
                  <a:srgbClr val="17407F"/>
                </a:solidFill>
                <a:latin typeface="Inter"/>
              </a:rPr>
              <a:t>COMMUNITY AND DELIVERY</a:t>
            </a:r>
          </a:p>
        </p:txBody>
      </p:sp>
      <p:sp>
        <p:nvSpPr>
          <p:cNvPr id="24" name="Rounded Rectangle 23"/>
          <p:cNvSpPr/>
          <p:nvPr/>
        </p:nvSpPr>
        <p:spPr>
          <a:xfrm>
            <a:off x="4315968" y="47274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Operations and community</a:t>
            </a:r>
          </a:p>
        </p:txBody>
      </p:sp>
      <p:sp>
        <p:nvSpPr>
          <p:cNvPr id="25" name="Rounded Rectangle 24"/>
          <p:cNvSpPr/>
          <p:nvPr/>
        </p:nvSpPr>
        <p:spPr>
          <a:xfrm>
            <a:off x="4315968" y="5184648"/>
            <a:ext cx="2980944" cy="365760"/>
          </a:xfrm>
          <a:prstGeom prst="roundRect">
            <a:avLst>
              <a:gd name="adj" fmla="val 50000"/>
            </a:avLst>
          </a:prstGeom>
          <a:solidFill>
            <a:srgbClr val="FFFFFF"/>
          </a:solidFill>
          <a:ln>
            <a:noFill/>
          </a:ln>
          <a:effectLst/>
        </p:spPr>
        <p:txBody>
          <a:bodyPr rtlCol="0" anchor="ctr" lIns="146304" rIns="146304" tIns="27432" bIns="27432" wrap="square"/>
          <a:lstStyle/>
          <a:p>
            <a:pPr algn="l">
              <a:lnSpc>
                <a:spcPct val="110000"/>
              </a:lnSpc>
              <a:spcAft>
                <a:spcPts val="0"/>
              </a:spcAft>
            </a:pPr>
            <a:r>
              <a:rPr sz="1100" b="1" i="0">
                <a:solidFill>
                  <a:srgbClr val="10213B"/>
                </a:solidFill>
                <a:latin typeface="Inter"/>
              </a:rPr>
              <a:t>Events and experiences</a:t>
            </a:r>
          </a:p>
        </p:txBody>
      </p:sp>
      <p:sp>
        <p:nvSpPr>
          <p:cNvPr id="26" name="TextBox 25"/>
          <p:cNvSpPr txBox="1"/>
          <p:nvPr/>
        </p:nvSpPr>
        <p:spPr>
          <a:xfrm>
            <a:off x="7772400" y="2011680"/>
            <a:ext cx="3822191" cy="1463040"/>
          </a:xfrm>
          <a:prstGeom prst="rect">
            <a:avLst/>
          </a:prstGeom>
          <a:noFill/>
        </p:spPr>
        <p:txBody>
          <a:bodyPr wrap="square" lIns="0" rIns="0" tIns="0" bIns="0" anchor="t"/>
          <a:lstStyle/>
          <a:p>
            <a:pPr algn="l">
              <a:lnSpc>
                <a:spcPct val="125000"/>
              </a:lnSpc>
              <a:spcAft>
                <a:spcPts val="0"/>
              </a:spcAft>
            </a:pPr>
            <a:r>
              <a:rPr sz="1500" b="1" i="0">
                <a:solidFill>
                  <a:srgbClr val="10213B"/>
                </a:solidFill>
                <a:latin typeface="Inter"/>
              </a:rPr>
              <a:t>We are exploring how like-minded contributors can participate through their experience, resources and available time.</a:t>
            </a:r>
          </a:p>
        </p:txBody>
      </p:sp>
      <p:sp>
        <p:nvSpPr>
          <p:cNvPr id="27" name="TextBox 26"/>
          <p:cNvSpPr txBox="1"/>
          <p:nvPr/>
        </p:nvSpPr>
        <p:spPr>
          <a:xfrm>
            <a:off x="7772400" y="3429000"/>
            <a:ext cx="4114800" cy="274320"/>
          </a:xfrm>
          <a:prstGeom prst="rect">
            <a:avLst/>
          </a:prstGeom>
          <a:noFill/>
        </p:spPr>
        <p:txBody>
          <a:bodyPr wrap="square" lIns="0" rIns="0" tIns="0" bIns="0" anchor="t"/>
          <a:lstStyle/>
          <a:p>
            <a:pPr algn="l">
              <a:lnSpc>
                <a:spcPct val="115000"/>
              </a:lnSpc>
              <a:spcAft>
                <a:spcPts val="0"/>
              </a:spcAft>
            </a:pPr>
            <a:r>
              <a:rPr sz="950" b="1" i="0" spc="130">
                <a:solidFill>
                  <a:srgbClr val="1765D1"/>
                </a:solidFill>
                <a:latin typeface="Inter"/>
              </a:rPr>
              <a:t>HOW ROLES WILL TAKE SHAPE</a:t>
            </a:r>
          </a:p>
        </p:txBody>
      </p:sp>
      <p:sp>
        <p:nvSpPr>
          <p:cNvPr id="28" name="TextBox 27"/>
          <p:cNvSpPr txBox="1"/>
          <p:nvPr/>
        </p:nvSpPr>
        <p:spPr>
          <a:xfrm>
            <a:off x="7772400" y="3749039"/>
            <a:ext cx="3822191" cy="1280160"/>
          </a:xfrm>
          <a:prstGeom prst="rect">
            <a:avLst/>
          </a:prstGeom>
          <a:noFill/>
        </p:spPr>
        <p:txBody>
          <a:bodyPr wrap="square" lIns="0" rIns="0" tIns="0" bIns="0" anchor="t"/>
          <a:lstStyle/>
          <a:p>
            <a:pPr algn="l">
              <a:lnSpc>
                <a:spcPct val="130000"/>
              </a:lnSpc>
              <a:spcAft>
                <a:spcPts val="0"/>
              </a:spcAft>
            </a:pPr>
            <a:r>
              <a:rPr sz="1200" b="0" i="0">
                <a:solidFill>
                  <a:srgbClr val="253650"/>
                </a:solidFill>
                <a:latin typeface="Inter"/>
              </a:rPr>
              <a:t>Longer-term roles and responsibilities will be considered as the project develops, based on contribution, time commitment, responsibility taken, reliable delivery and value created.</a:t>
            </a:r>
          </a:p>
        </p:txBody>
      </p:sp>
      <p:cxnSp>
        <p:nvCxnSpPr>
          <p:cNvPr id="29" name="Connector 28"/>
          <p:cNvCxnSpPr/>
          <p:nvPr/>
        </p:nvCxnSpPr>
        <p:spPr>
          <a:xfrm>
            <a:off x="7772400" y="5166360"/>
            <a:ext cx="3824935" cy="0"/>
          </a:xfrm>
          <a:prstGeom prst="line">
            <a:avLst/>
          </a:prstGeom>
          <a:ln w="12700">
            <a:solidFill>
              <a:srgbClr val="D5E2F3"/>
            </a:solidFill>
          </a:ln>
        </p:spPr>
      </p:cxnSp>
      <p:sp>
        <p:nvSpPr>
          <p:cNvPr id="30" name="TextBox 29"/>
          <p:cNvSpPr txBox="1"/>
          <p:nvPr/>
        </p:nvSpPr>
        <p:spPr>
          <a:xfrm>
            <a:off x="7772400" y="5303520"/>
            <a:ext cx="4114800" cy="640080"/>
          </a:xfrm>
          <a:prstGeom prst="rect">
            <a:avLst/>
          </a:prstGeom>
          <a:noFill/>
        </p:spPr>
        <p:txBody>
          <a:bodyPr wrap="square" lIns="0" rIns="0" tIns="0" bIns="0" anchor="t"/>
          <a:lstStyle/>
          <a:p>
            <a:pPr algn="l">
              <a:lnSpc>
                <a:spcPct val="120000"/>
              </a:lnSpc>
              <a:spcAft>
                <a:spcPts val="0"/>
              </a:spcAft>
            </a:pPr>
            <a:r>
              <a:rPr sz="1400" b="1" i="0">
                <a:solidFill>
                  <a:srgbClr val="10213B"/>
                </a:solidFill>
                <a:latin typeface="Inter"/>
              </a:rPr>
              <a:t>Ritesh Kumar</a:t>
            </a:r>
          </a:p>
          <a:p>
            <a:pPr algn="l">
              <a:lnSpc>
                <a:spcPct val="120000"/>
              </a:lnSpc>
              <a:spcAft>
                <a:spcPts val="0"/>
              </a:spcAft>
            </a:pPr>
            <a:r>
              <a:rPr sz="1200" b="0" i="0">
                <a:solidFill>
                  <a:srgbClr val="61738A"/>
                </a:solidFill>
                <a:latin typeface="Inter"/>
              </a:rPr>
              <a:t>Project Initiator</a:t>
            </a:r>
          </a:p>
        </p:txBody>
      </p:sp>
      <p:sp>
        <p:nvSpPr>
          <p:cNvPr id="31" name="TextBox 30"/>
          <p:cNvSpPr txBox="1"/>
          <p:nvPr/>
        </p:nvSpPr>
        <p:spPr>
          <a:xfrm>
            <a:off x="594360" y="6419088"/>
            <a:ext cx="2743200" cy="151130"/>
          </a:xfrm>
          <a:prstGeom prst="rect">
            <a:avLst/>
          </a:prstGeom>
          <a:noFill/>
        </p:spPr>
        <p:txBody>
          <a:bodyPr wrap="square" lIns="0" rIns="0" tIns="0" bIns="0" anchor="t"/>
          <a:lstStyle/>
          <a:p>
            <a:pPr algn="l">
              <a:lnSpc>
                <a:spcPct val="115000"/>
              </a:lnSpc>
              <a:spcAft>
                <a:spcPts val="0"/>
              </a:spcAft>
            </a:pPr>
            <a:r>
              <a:rPr sz="850" b="1" i="0" spc="102">
                <a:solidFill>
                  <a:srgbClr val="10213B"/>
                </a:solidFill>
                <a:latin typeface="Inter"/>
              </a:rPr>
              <a:t>STARTUP</a:t>
            </a:r>
            <a:r>
              <a:rPr sz="850" b="1" i="0" spc="102">
                <a:solidFill>
                  <a:srgbClr val="1765D1"/>
                </a:solidFill>
                <a:latin typeface="Inter"/>
              </a:rPr>
              <a:t> ROOF</a:t>
            </a:r>
          </a:p>
        </p:txBody>
      </p:sp>
      <p:sp>
        <p:nvSpPr>
          <p:cNvPr id="32" name="TextBox 31"/>
          <p:cNvSpPr txBox="1"/>
          <p:nvPr/>
        </p:nvSpPr>
        <p:spPr>
          <a:xfrm>
            <a:off x="8854135" y="6419088"/>
            <a:ext cx="2743200" cy="182880"/>
          </a:xfrm>
          <a:prstGeom prst="rect">
            <a:avLst/>
          </a:prstGeom>
          <a:noFill/>
        </p:spPr>
        <p:txBody>
          <a:bodyPr wrap="square" lIns="0" rIns="0" tIns="0" bIns="0" anchor="t"/>
          <a:lstStyle/>
          <a:p>
            <a:pPr algn="r">
              <a:lnSpc>
                <a:spcPct val="115000"/>
              </a:lnSpc>
              <a:spcAft>
                <a:spcPts val="0"/>
              </a:spcAft>
            </a:pPr>
            <a:r>
              <a:rPr sz="850" b="0" i="0">
                <a:solidFill>
                  <a:srgbClr val="61738A"/>
                </a:solidFill>
                <a:latin typeface="Inter"/>
              </a:rPr>
              <a:t>startuproof.com</a:t>
            </a:r>
            <a:r>
              <a:rPr sz="850" b="1" i="0">
                <a:solidFill>
                  <a:srgbClr val="61738A"/>
                </a:solidFill>
                <a:latin typeface="Inter"/>
              </a:rPr>
              <a:t>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13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765D1"/>
          </a:solidFill>
          <a:ln>
            <a:noFill/>
          </a:ln>
          <a:effectLst/>
        </p:spPr>
        <p:txBody>
          <a:bodyPr rtlCol="0" anchor="ctr" lIns="73152" rIns="73152" tIns="36576" bIns="36576"/>
          <a:lstStyle/>
          <a:p>
            <a:pPr algn="ctr"/>
          </a:p>
        </p:txBody>
      </p:sp>
      <p:sp>
        <p:nvSpPr>
          <p:cNvPr id="3" name="TextBox 2"/>
          <p:cNvSpPr txBox="1"/>
          <p:nvPr/>
        </p:nvSpPr>
        <p:spPr>
          <a:xfrm>
            <a:off x="685800" y="438912"/>
            <a:ext cx="7315200" cy="274320"/>
          </a:xfrm>
          <a:prstGeom prst="rect">
            <a:avLst/>
          </a:prstGeom>
          <a:noFill/>
        </p:spPr>
        <p:txBody>
          <a:bodyPr wrap="square" lIns="0" rIns="0" tIns="0" bIns="0" anchor="t"/>
          <a:lstStyle/>
          <a:p>
            <a:pPr algn="l">
              <a:lnSpc>
                <a:spcPct val="115000"/>
              </a:lnSpc>
              <a:spcAft>
                <a:spcPts val="0"/>
              </a:spcAft>
            </a:pPr>
            <a:r>
              <a:rPr sz="1000" b="1" i="0" spc="150">
                <a:solidFill>
                  <a:srgbClr val="4F8BE0"/>
                </a:solidFill>
                <a:latin typeface="Inter"/>
              </a:rPr>
              <a:t>20   INVITATION TO PARTICIPATE</a:t>
            </a:r>
          </a:p>
        </p:txBody>
      </p:sp>
      <p:sp>
        <p:nvSpPr>
          <p:cNvPr id="4" name="TextBox 3"/>
          <p:cNvSpPr txBox="1"/>
          <p:nvPr/>
        </p:nvSpPr>
        <p:spPr>
          <a:xfrm>
            <a:off x="685800" y="749808"/>
            <a:ext cx="7863840" cy="1188720"/>
          </a:xfrm>
          <a:prstGeom prst="rect">
            <a:avLst/>
          </a:prstGeom>
          <a:noFill/>
        </p:spPr>
        <p:txBody>
          <a:bodyPr wrap="square" lIns="0" rIns="0" tIns="0" bIns="0" anchor="t"/>
          <a:lstStyle/>
          <a:p>
            <a:pPr algn="l">
              <a:lnSpc>
                <a:spcPct val="105000"/>
              </a:lnSpc>
              <a:spcAft>
                <a:spcPts val="0"/>
              </a:spcAft>
            </a:pPr>
            <a:r>
              <a:rPr sz="3000" b="1" i="0">
                <a:solidFill>
                  <a:srgbClr val="FFFFFF"/>
                </a:solidFill>
                <a:latin typeface="Inter"/>
              </a:rPr>
              <a:t>Help shape a practical ecosystem for the founder journey.</a:t>
            </a:r>
          </a:p>
        </p:txBody>
      </p:sp>
      <p:cxnSp>
        <p:nvCxnSpPr>
          <p:cNvPr id="5" name="Connector 4"/>
          <p:cNvCxnSpPr/>
          <p:nvPr/>
        </p:nvCxnSpPr>
        <p:spPr>
          <a:xfrm>
            <a:off x="685800" y="2148840"/>
            <a:ext cx="7178040" cy="0"/>
          </a:xfrm>
          <a:prstGeom prst="line">
            <a:avLst/>
          </a:prstGeom>
          <a:ln w="9525">
            <a:solidFill>
              <a:srgbClr val="2E4A72"/>
            </a:solidFill>
          </a:ln>
        </p:spPr>
      </p:cxnSp>
      <p:sp>
        <p:nvSpPr>
          <p:cNvPr id="6" name="TextBox 5"/>
          <p:cNvSpPr txBox="1"/>
          <p:nvPr/>
        </p:nvSpPr>
        <p:spPr>
          <a:xfrm>
            <a:off x="685800" y="2304288"/>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Founders</a:t>
            </a:r>
          </a:p>
        </p:txBody>
      </p:sp>
      <p:sp>
        <p:nvSpPr>
          <p:cNvPr id="7" name="TextBox 6"/>
          <p:cNvSpPr txBox="1"/>
          <p:nvPr/>
        </p:nvSpPr>
        <p:spPr>
          <a:xfrm>
            <a:off x="3520440" y="2304288"/>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Help shape the platform and express interest in the pilot.</a:t>
            </a:r>
          </a:p>
        </p:txBody>
      </p:sp>
      <p:cxnSp>
        <p:nvCxnSpPr>
          <p:cNvPr id="8" name="Connector 7"/>
          <p:cNvCxnSpPr/>
          <p:nvPr/>
        </p:nvCxnSpPr>
        <p:spPr>
          <a:xfrm>
            <a:off x="685800" y="2898648"/>
            <a:ext cx="7178040" cy="0"/>
          </a:xfrm>
          <a:prstGeom prst="line">
            <a:avLst/>
          </a:prstGeom>
          <a:ln w="9525">
            <a:solidFill>
              <a:srgbClr val="2E4A72"/>
            </a:solidFill>
          </a:ln>
        </p:spPr>
      </p:cxnSp>
      <p:sp>
        <p:nvSpPr>
          <p:cNvPr id="9" name="TextBox 8"/>
          <p:cNvSpPr txBox="1"/>
          <p:nvPr/>
        </p:nvSpPr>
        <p:spPr>
          <a:xfrm>
            <a:off x="685800" y="3054096"/>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Mentors and specialists</a:t>
            </a:r>
          </a:p>
        </p:txBody>
      </p:sp>
      <p:sp>
        <p:nvSpPr>
          <p:cNvPr id="10" name="TextBox 9"/>
          <p:cNvSpPr txBox="1"/>
          <p:nvPr/>
        </p:nvSpPr>
        <p:spPr>
          <a:xfrm>
            <a:off x="3520440" y="3054096"/>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Contribute expertise and practical sessions.</a:t>
            </a:r>
          </a:p>
        </p:txBody>
      </p:sp>
      <p:cxnSp>
        <p:nvCxnSpPr>
          <p:cNvPr id="11" name="Connector 10"/>
          <p:cNvCxnSpPr/>
          <p:nvPr/>
        </p:nvCxnSpPr>
        <p:spPr>
          <a:xfrm>
            <a:off x="685800" y="3648456"/>
            <a:ext cx="7178040" cy="0"/>
          </a:xfrm>
          <a:prstGeom prst="line">
            <a:avLst/>
          </a:prstGeom>
          <a:ln w="9525">
            <a:solidFill>
              <a:srgbClr val="2E4A72"/>
            </a:solidFill>
          </a:ln>
        </p:spPr>
      </p:cxnSp>
      <p:sp>
        <p:nvSpPr>
          <p:cNvPr id="12" name="TextBox 11"/>
          <p:cNvSpPr txBox="1"/>
          <p:nvPr/>
        </p:nvSpPr>
        <p:spPr>
          <a:xfrm>
            <a:off x="685800" y="3803904"/>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Partners and universities</a:t>
            </a:r>
          </a:p>
        </p:txBody>
      </p:sp>
      <p:sp>
        <p:nvSpPr>
          <p:cNvPr id="13" name="TextBox 12"/>
          <p:cNvSpPr txBox="1"/>
          <p:nvPr/>
        </p:nvSpPr>
        <p:spPr>
          <a:xfrm>
            <a:off x="3520440" y="3803904"/>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Explore a useful collaboration.</a:t>
            </a:r>
          </a:p>
        </p:txBody>
      </p:sp>
      <p:cxnSp>
        <p:nvCxnSpPr>
          <p:cNvPr id="14" name="Connector 13"/>
          <p:cNvCxnSpPr/>
          <p:nvPr/>
        </p:nvCxnSpPr>
        <p:spPr>
          <a:xfrm>
            <a:off x="685800" y="4398264"/>
            <a:ext cx="7178040" cy="0"/>
          </a:xfrm>
          <a:prstGeom prst="line">
            <a:avLst/>
          </a:prstGeom>
          <a:ln w="9525">
            <a:solidFill>
              <a:srgbClr val="2E4A72"/>
            </a:solidFill>
          </a:ln>
        </p:spPr>
      </p:cxnSp>
      <p:sp>
        <p:nvSpPr>
          <p:cNvPr id="15" name="TextBox 14"/>
          <p:cNvSpPr txBox="1"/>
          <p:nvPr/>
        </p:nvSpPr>
        <p:spPr>
          <a:xfrm>
            <a:off x="685800" y="4553712"/>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Investors</a:t>
            </a:r>
          </a:p>
        </p:txBody>
      </p:sp>
      <p:sp>
        <p:nvSpPr>
          <p:cNvPr id="16" name="TextBox 15"/>
          <p:cNvSpPr txBox="1"/>
          <p:nvPr/>
        </p:nvSpPr>
        <p:spPr>
          <a:xfrm>
            <a:off x="3520440" y="4553712"/>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Connect around founder readiness and ecosystem opportunities.</a:t>
            </a:r>
          </a:p>
        </p:txBody>
      </p:sp>
      <p:cxnSp>
        <p:nvCxnSpPr>
          <p:cNvPr id="17" name="Connector 16"/>
          <p:cNvCxnSpPr/>
          <p:nvPr/>
        </p:nvCxnSpPr>
        <p:spPr>
          <a:xfrm>
            <a:off x="685800" y="5148072"/>
            <a:ext cx="7178040" cy="0"/>
          </a:xfrm>
          <a:prstGeom prst="line">
            <a:avLst/>
          </a:prstGeom>
          <a:ln w="9525">
            <a:solidFill>
              <a:srgbClr val="2E4A72"/>
            </a:solidFill>
          </a:ln>
        </p:spPr>
      </p:cxnSp>
      <p:sp>
        <p:nvSpPr>
          <p:cNvPr id="18" name="TextBox 17"/>
          <p:cNvSpPr txBox="1"/>
          <p:nvPr/>
        </p:nvSpPr>
        <p:spPr>
          <a:xfrm>
            <a:off x="685800" y="5303520"/>
            <a:ext cx="2651760" cy="457200"/>
          </a:xfrm>
          <a:prstGeom prst="rect">
            <a:avLst/>
          </a:prstGeom>
          <a:noFill/>
        </p:spPr>
        <p:txBody>
          <a:bodyPr wrap="square" lIns="0" rIns="0" tIns="0" bIns="0" anchor="t"/>
          <a:lstStyle/>
          <a:p>
            <a:pPr algn="l">
              <a:lnSpc>
                <a:spcPct val="115000"/>
              </a:lnSpc>
              <a:spcAft>
                <a:spcPts val="0"/>
              </a:spcAft>
            </a:pPr>
            <a:r>
              <a:rPr sz="1450" b="1" i="0">
                <a:solidFill>
                  <a:srgbClr val="FFFFFF"/>
                </a:solidFill>
                <a:latin typeface="Inter"/>
              </a:rPr>
              <a:t>Prospective collaborators</a:t>
            </a:r>
          </a:p>
        </p:txBody>
      </p:sp>
      <p:sp>
        <p:nvSpPr>
          <p:cNvPr id="19" name="TextBox 18"/>
          <p:cNvSpPr txBox="1"/>
          <p:nvPr/>
        </p:nvSpPr>
        <p:spPr>
          <a:xfrm>
            <a:off x="3520440" y="5303520"/>
            <a:ext cx="4389120" cy="502920"/>
          </a:xfrm>
          <a:prstGeom prst="rect">
            <a:avLst/>
          </a:prstGeom>
          <a:noFill/>
        </p:spPr>
        <p:txBody>
          <a:bodyPr wrap="square" lIns="0" rIns="0" tIns="0" bIns="0" anchor="t"/>
          <a:lstStyle/>
          <a:p>
            <a:pPr algn="l">
              <a:lnSpc>
                <a:spcPct val="120000"/>
              </a:lnSpc>
              <a:spcAft>
                <a:spcPts val="0"/>
              </a:spcAft>
            </a:pPr>
            <a:r>
              <a:rPr sz="1300" b="0" i="0">
                <a:solidFill>
                  <a:srgbClr val="C9D6E8"/>
                </a:solidFill>
                <a:latin typeface="Inter"/>
              </a:rPr>
              <a:t>Discuss how your skills and time can contribute.</a:t>
            </a:r>
          </a:p>
        </p:txBody>
      </p:sp>
      <p:sp>
        <p:nvSpPr>
          <p:cNvPr id="20" name="Rectangle 19"/>
          <p:cNvSpPr/>
          <p:nvPr/>
        </p:nvSpPr>
        <p:spPr>
          <a:xfrm>
            <a:off x="8732520" y="2103120"/>
            <a:ext cx="2834640" cy="2834640"/>
          </a:xfrm>
          <a:prstGeom prst="rect">
            <a:avLst/>
          </a:prstGeom>
          <a:solidFill>
            <a:srgbClr val="FFFFFF"/>
          </a:solidFill>
          <a:ln>
            <a:noFill/>
          </a:ln>
          <a:effectLst/>
        </p:spPr>
        <p:txBody>
          <a:bodyPr rtlCol="0" anchor="ctr" lIns="73152" rIns="73152" tIns="36576" bIns="36576"/>
          <a:lstStyle/>
          <a:p>
            <a:pPr algn="ctr"/>
          </a:p>
        </p:txBody>
      </p:sp>
      <p:pic>
        <p:nvPicPr>
          <p:cNvPr id="21" name="Picture 20" descr="image.png"/>
          <p:cNvPicPr>
            <a:picLocks noChangeAspect="1"/>
          </p:cNvPicPr>
          <p:nvPr/>
        </p:nvPicPr>
        <p:blipFill>
          <a:blip r:embed="rId2"/>
          <a:stretch>
            <a:fillRect/>
          </a:stretch>
        </p:blipFill>
        <p:spPr>
          <a:xfrm>
            <a:off x="8869680" y="2240280"/>
            <a:ext cx="2560320" cy="2560320"/>
          </a:xfrm>
          <a:prstGeom prst="rect">
            <a:avLst/>
          </a:prstGeom>
        </p:spPr>
      </p:pic>
      <p:sp>
        <p:nvSpPr>
          <p:cNvPr id="22" name="TextBox 21"/>
          <p:cNvSpPr txBox="1"/>
          <p:nvPr/>
        </p:nvSpPr>
        <p:spPr>
          <a:xfrm>
            <a:off x="8732520" y="5074920"/>
            <a:ext cx="2834640" cy="320040"/>
          </a:xfrm>
          <a:prstGeom prst="rect">
            <a:avLst/>
          </a:prstGeom>
          <a:noFill/>
        </p:spPr>
        <p:txBody>
          <a:bodyPr wrap="square" lIns="0" rIns="0" tIns="0" bIns="0" anchor="t"/>
          <a:lstStyle/>
          <a:p>
            <a:pPr algn="ctr">
              <a:lnSpc>
                <a:spcPct val="115000"/>
              </a:lnSpc>
              <a:spcAft>
                <a:spcPts val="0"/>
              </a:spcAft>
            </a:pPr>
            <a:r>
              <a:rPr sz="1600" b="1" i="0">
                <a:solidFill>
                  <a:srgbClr val="FFFFFF"/>
                </a:solidFill>
                <a:latin typeface="Inter"/>
              </a:rPr>
              <a:t>startuproof.com</a:t>
            </a:r>
          </a:p>
        </p:txBody>
      </p:sp>
      <p:sp>
        <p:nvSpPr>
          <p:cNvPr id="23" name="TextBox 22"/>
          <p:cNvSpPr txBox="1"/>
          <p:nvPr/>
        </p:nvSpPr>
        <p:spPr>
          <a:xfrm>
            <a:off x="8732520" y="5440680"/>
            <a:ext cx="2834640" cy="457200"/>
          </a:xfrm>
          <a:prstGeom prst="rect">
            <a:avLst/>
          </a:prstGeom>
          <a:noFill/>
        </p:spPr>
        <p:txBody>
          <a:bodyPr wrap="square" lIns="0" rIns="0" tIns="0" bIns="0" anchor="t"/>
          <a:lstStyle/>
          <a:p>
            <a:pPr algn="ctr">
              <a:lnSpc>
                <a:spcPct val="115000"/>
              </a:lnSpc>
              <a:spcAft>
                <a:spcPts val="0"/>
              </a:spcAft>
            </a:pPr>
            <a:r>
              <a:rPr sz="1100" b="0" i="0">
                <a:solidFill>
                  <a:srgbClr val="9FB2CC"/>
                </a:solidFill>
                <a:latin typeface="Inter"/>
              </a:rPr>
              <a:t>Scan to visit the website and get in touch.</a:t>
            </a:r>
          </a:p>
        </p:txBody>
      </p:sp>
      <p:sp>
        <p:nvSpPr>
          <p:cNvPr id="24" name="TextBox 23"/>
          <p:cNvSpPr txBox="1"/>
          <p:nvPr/>
        </p:nvSpPr>
        <p:spPr>
          <a:xfrm>
            <a:off x="685800" y="6263640"/>
            <a:ext cx="3657600" cy="195580"/>
          </a:xfrm>
          <a:prstGeom prst="rect">
            <a:avLst/>
          </a:prstGeom>
          <a:noFill/>
        </p:spPr>
        <p:txBody>
          <a:bodyPr wrap="square" lIns="0" rIns="0" tIns="0" bIns="0" anchor="t"/>
          <a:lstStyle/>
          <a:p>
            <a:pPr algn="l">
              <a:lnSpc>
                <a:spcPct val="115000"/>
              </a:lnSpc>
              <a:spcAft>
                <a:spcPts val="0"/>
              </a:spcAft>
            </a:pPr>
            <a:r>
              <a:rPr sz="1100" b="1" i="0" spc="131">
                <a:solidFill>
                  <a:srgbClr val="FFFFFF"/>
                </a:solidFill>
                <a:latin typeface="Inter"/>
              </a:rPr>
              <a:t>STARTUP</a:t>
            </a:r>
            <a:r>
              <a:rPr sz="1100" b="1" i="0" spc="131">
                <a:solidFill>
                  <a:srgbClr val="4F8BE0"/>
                </a:solidFill>
                <a:latin typeface="Inter"/>
              </a:rPr>
              <a:t> ROOF</a:t>
            </a:r>
          </a:p>
        </p:txBody>
      </p:sp>
      <p:sp>
        <p:nvSpPr>
          <p:cNvPr id="25" name="TextBox 24"/>
          <p:cNvSpPr txBox="1"/>
          <p:nvPr/>
        </p:nvSpPr>
        <p:spPr>
          <a:xfrm>
            <a:off x="4572000" y="6281928"/>
            <a:ext cx="7025335" cy="274320"/>
          </a:xfrm>
          <a:prstGeom prst="rect">
            <a:avLst/>
          </a:prstGeom>
          <a:noFill/>
        </p:spPr>
        <p:txBody>
          <a:bodyPr wrap="square" lIns="0" rIns="0" tIns="0" bIns="0" anchor="t"/>
          <a:lstStyle/>
          <a:p>
            <a:pPr algn="r">
              <a:lnSpc>
                <a:spcPct val="115000"/>
              </a:lnSpc>
              <a:spcAft>
                <a:spcPts val="0"/>
              </a:spcAft>
            </a:pPr>
            <a:r>
              <a:rPr sz="1050" b="0" i="0">
                <a:solidFill>
                  <a:srgbClr val="9FB2CC"/>
                </a:solidFill>
                <a:latin typeface="Inter"/>
              </a:rPr>
              <a:t>An ecosystem around the founder. A digital workspace for the journey.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