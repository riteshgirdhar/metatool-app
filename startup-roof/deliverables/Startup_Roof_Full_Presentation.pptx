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post-mortems</c:v>
                </c:pt>
              </c:strCache>
            </c:strRef>
          </c:tx>
          <c:spPr>
            <a:solidFill>
              <a:srgbClr val="1765D1"/>
            </a:solidFill>
          </c:spPr>
          <c:invertIfNegative val="0"/>
          <c:cat>
            <c:strRef>
              <c:f>Sheet1!$A$2:$A$4</c:f>
              <c:strCache>
                <c:ptCount val="3"/>
                <c:pt idx="0">
                  <c:v>Ran out of cash or
failed to raise</c:v>
                </c:pt>
                <c:pt idx="1">
                  <c:v>No market need</c:v>
                </c:pt>
                <c:pt idx="2">
                  <c:v>Got outcompeted</c:v>
                </c:pt>
              </c:strCache>
            </c:strRef>
          </c:cat>
          <c:val>
            <c:numRef>
              <c:f>Sheet1!$B$2:$B$4</c:f>
              <c:numCache>
                <c:formatCode>General</c:formatCode>
                <c:ptCount val="3"/>
                <c:pt idx="0">
                  <c:v>0.38</c:v>
                </c:pt>
                <c:pt idx="1">
                  <c:v>0.35</c:v>
                </c:pt>
                <c:pt idx="2">
                  <c:v>0.2</c:v>
                </c:pt>
              </c:numCache>
            </c:numRef>
          </c:val>
        </c:ser>
        <c:dLbls>
          <c:numFmt formatCode="0%" sourceLinked="0"/>
          <c:txPr>
            <a:bodyPr/>
            <a:lstStyle/>
            <a:p>
              <a:pPr>
                <a:defRPr sz="1200" b="1">
                  <a:solidFill>
                    <a:srgbClr val="10213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5E2F3"/>
            </a:solidFill>
          </a:ln>
        </c:spPr>
        <c:txPr>
          <a:bodyPr/>
          <a:lstStyle/>
          <a:p>
            <a:pPr>
              <a:defRPr sz="1200">
                <a:solidFill>
                  <a:srgbClr val="253650"/>
                </a:solidFill>
              </a:defRPr>
            </a:pPr>
          </a:p>
        </c:txPr>
        <c:crossAx val="-2113994440"/>
        <c:crosses val="autoZero"/>
        <c:auto val="1"/>
        <c:lblAlgn val="ctr"/>
        <c:lblOffset val="100"/>
        <c:noMultiLvlLbl val="0"/>
      </c:catAx>
      <c:valAx>
        <c:axId val="-2113994440"/>
        <c:scaling>
          <c:max val="0.45"/>
          <c:min val="0.0"/>
        </c:scaling>
        <c:delete/>
        <c:axPos val="b"/>
        <c:majorTickMark val="out"/>
        <c:minorTickMark val="none"/>
        <c:tickLblPos val="none"/>
        <c:spPr>
          <a:ln>
            <a:noFill/>
          </a:ln>
        </c:spPr>
        <c:txPr>
          <a:bodyPr/>
          <a:lstStyle/>
          <a:p>
            <a:pPr>
              <a:defRPr sz="1100">
                <a:solidFill>
                  <a:srgbClr val="61738A"/>
                </a:solidFill>
              </a:defRPr>
            </a:pPr>
          </a:p>
        </c:txPr>
        <c:crossAx val="-2068027336"/>
        <c:crosses val="autoZero"/>
      </c:valAx>
    </c:plotArea>
    <c:dispBlanksAs val="gap"/>
  </c:chart>
  <c:txPr>
    <a:bodyPr/>
    <a:lstStyle/>
    <a:p>
      <a:pPr>
        <a:defRPr sz="1200">
          <a:solidFill>
            <a:srgbClr val="253650"/>
          </a:solidFill>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Still operating</c:v>
                </c:pt>
              </c:strCache>
            </c:strRef>
          </c:tx>
          <c:spPr>
            <a:ln w="34925">
              <a:solidFill>
                <a:srgbClr val="1765D1"/>
              </a:solidFill>
            </a:ln>
          </c:spPr>
          <c:marker>
            <c:size val="8"/>
            <c:spPr>
              <a:solidFill>
                <a:srgbClr val="1765D1"/>
              </a:solidFill>
              <a:ln>
                <a:solidFill>
                  <a:srgbClr val="FFFFFF"/>
                </a:solidFill>
              </a:ln>
            </c:spPr>
          </c:marker>
          <c:cat>
            <c:strRef>
              <c:f>Sheet1!$A$2:$A$5</c:f>
              <c:strCache>
                <c:ptCount val="4"/>
                <c:pt idx="0">
                  <c:v>Start</c:v>
                </c:pt>
                <c:pt idx="1">
                  <c:v>After 1 year</c:v>
                </c:pt>
                <c:pt idx="2">
                  <c:v>After 5 years</c:v>
                </c:pt>
                <c:pt idx="3">
                  <c:v>After 10 years</c:v>
                </c:pt>
              </c:strCache>
            </c:strRef>
          </c:cat>
          <c:val>
            <c:numRef>
              <c:f>Sheet1!$B$2:$B$5</c:f>
              <c:numCache>
                <c:formatCode>General</c:formatCode>
                <c:ptCount val="4"/>
                <c:pt idx="0">
                  <c:v>1.0</c:v>
                </c:pt>
                <c:pt idx="1">
                  <c:v>0.796</c:v>
                </c:pt>
                <c:pt idx="2">
                  <c:v>0.496</c:v>
                </c:pt>
                <c:pt idx="3">
                  <c:v>0.336</c:v>
                </c:pt>
              </c:numCache>
            </c:numRef>
          </c:val>
          <c:smooth val="0"/>
        </c:ser>
        <c:dLbls>
          <c:numFmt formatCode="0.0%" sourceLinked="0"/>
          <c:txPr>
            <a:bodyPr/>
            <a:lstStyle/>
            <a:p>
              <a:pPr>
                <a:defRPr sz="1200" b="1">
                  <a:solidFill>
                    <a:srgbClr val="102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5E2F3"/>
            </a:solidFill>
          </a:ln>
        </c:spPr>
        <c:txPr>
          <a:bodyPr/>
          <a:lstStyle/>
          <a:p>
            <a:pPr>
              <a:defRPr sz="1200"/>
            </a:pPr>
          </a:p>
        </c:txPr>
        <c:crossAx val="2140495176"/>
        <c:crosses val="autoZero"/>
        <c:auto val="1"/>
        <c:lblAlgn val="ctr"/>
        <c:lblOffset val="100"/>
        <c:noMultiLvlLbl val="0"/>
      </c:catAx>
      <c:valAx>
        <c:axId val="2140495176"/>
        <c:scaling>
          <c:max val="1.15"/>
          <c:min val="0.0"/>
        </c:scaling>
        <c:delete/>
        <c:axPos val="l"/>
        <c:majorGridlines>
          <c:spPr>
            <a:ln>
              <a:solidFill>
                <a:srgbClr val="E6EEF9"/>
              </a:solidFill>
            </a:ln>
          </c:spPr>
        </c:majorGridlines>
        <c:majorTickMark val="out"/>
        <c:minorTickMark val="none"/>
        <c:tickLblPos val="nextTo"/>
        <c:crossAx val="2118791784"/>
        <c:crosses val="autoZero"/>
      </c:valAx>
    </c:plotArea>
    <c:plotVisOnly val="1"/>
    <c:dispBlanksAs val="gap"/>
    <c:showDLblsOverMax val="0"/>
  </c:chart>
  <c:txPr>
    <a:bodyPr/>
    <a:lstStyle/>
    <a:p>
      <a:pPr>
        <a:defRPr sz="1200">
          <a:solidFill>
            <a:srgbClr val="253650"/>
          </a:solidFill>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MENA startup funding, $bn</c:v>
                </c:pt>
              </c:strCache>
            </c:strRef>
          </c:tx>
          <c:spPr>
            <a:solidFill>
              <a:srgbClr val="1765D1"/>
            </a:solidFill>
          </c:spPr>
          <c:invertIfNegative val="0"/>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0.654</c:v>
                </c:pt>
                <c:pt idx="1">
                  <c:v>2.8</c:v>
                </c:pt>
                <c:pt idx="2">
                  <c:v>3.94</c:v>
                </c:pt>
                <c:pt idx="3">
                  <c:v>4.0</c:v>
                </c:pt>
                <c:pt idx="4">
                  <c:v>2.3</c:v>
                </c:pt>
                <c:pt idx="5">
                  <c:v>7.5</c:v>
                </c:pt>
              </c:numCache>
            </c:numRef>
          </c:val>
        </c:ser>
        <c:dLbls>
          <c:numFmt formatCode="&quot;$&quot;0.0&quot;bn&quot;" sourceLinked="0"/>
          <c:txPr>
            <a:bodyPr/>
            <a:lstStyle/>
            <a:p>
              <a:pPr>
                <a:defRPr sz="1200" b="1">
                  <a:solidFill>
                    <a:srgbClr val="10213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5E2F3"/>
            </a:solidFill>
          </a:ln>
        </c:spPr>
        <c:txPr>
          <a:bodyPr/>
          <a:lstStyle/>
          <a:p>
            <a:pPr>
              <a:defRPr sz="1200">
                <a:solidFill>
                  <a:srgbClr val="253650"/>
                </a:solidFill>
              </a:defRPr>
            </a:pPr>
          </a:p>
        </c:txPr>
        <c:crossAx val="-2113994440"/>
        <c:crosses val="autoZero"/>
        <c:auto val="1"/>
        <c:lblAlgn val="ctr"/>
        <c:lblOffset val="100"/>
        <c:noMultiLvlLbl val="0"/>
      </c:catAx>
      <c:valAx>
        <c:axId val="-2113994440"/>
        <c:scaling>
          <c:max val="8.6"/>
          <c:min val="0.0"/>
        </c:scaling>
        <c:delete/>
        <c:axPos val="l"/>
        <c:majorTickMark val="out"/>
        <c:minorTickMark val="none"/>
        <c:tickLblPos val="nextTo"/>
        <c:spPr>
          <a:ln>
            <a:noFill/>
          </a:ln>
        </c:spPr>
        <c:txPr>
          <a:bodyPr/>
          <a:lstStyle/>
          <a:p>
            <a:pPr>
              <a:defRPr sz="1100">
                <a:solidFill>
                  <a:srgbClr val="61738A"/>
                </a:solidFill>
              </a:defRPr>
            </a:pPr>
          </a:p>
        </c:txPr>
        <c:crossAx val="-2068027336"/>
        <c:crosses val="autoZero"/>
      </c:valAx>
    </c:plotArea>
    <c:dispBlanksAs val="gap"/>
  </c:chart>
  <c:txPr>
    <a:bodyPr/>
    <a:lstStyle/>
    <a:p>
      <a:pPr>
        <a:defRPr sz="1200">
          <a:solidFill>
            <a:srgbClr val="253650"/>
          </a:solidFill>
          <a:latin typeface="Inte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1765D1"/>
              </a:solidFill>
              <a:ln>
                <a:solidFill>
                  <a:srgbClr val="FFFFFF"/>
                </a:solidFill>
              </a:ln>
            </c:spPr>
          </c:dPt>
          <c:dPt>
            <c:idx val="1"/>
            <c:spPr>
              <a:solidFill>
                <a:srgbClr val="DCE8FB"/>
              </a:solidFill>
              <a:ln>
                <a:solidFill>
                  <a:srgbClr val="FFFFFF"/>
                </a:solidFill>
              </a:ln>
            </c:spPr>
          </c:dPt>
          <c:cat>
            <c:strRef>
              <c:f>Sheet1!$A$2:$A$3</c:f>
              <c:strCache>
                <c:ptCount val="2"/>
                <c:pt idx="0">
                  <c:v>Use generative AI</c:v>
                </c:pt>
                <c:pt idx="1">
                  <c:v>Do not</c:v>
                </c:pt>
              </c:strCache>
            </c:strRef>
          </c:cat>
          <c:val>
            <c:numRef>
              <c:f>Sheet1!$B$2:$B$3</c:f>
              <c:numCache>
                <c:formatCode>General</c:formatCode>
                <c:ptCount val="2"/>
                <c:pt idx="0">
                  <c:v>0.31</c:v>
                </c:pt>
                <c:pt idx="1">
                  <c:v>0.69</c:v>
                </c:pt>
              </c:numCache>
            </c:numRef>
          </c:val>
        </c:ser>
        <c:dLbls>
          <c:showLegendKey val="0"/>
          <c:showVal val="0"/>
          <c:showCatName val="0"/>
          <c:showSerName val="0"/>
          <c:showPercent val="0"/>
          <c:showBubbleSize val="0"/>
          <c:showLeaderLines val="1"/>
        </c:dLbls>
        <c:firstSliceAng val="0"/>
        <c:holeSize val="68"/>
      </c:doughnutChart>
    </c:plotArea>
    <c:plotVisOnly val="1"/>
    <c:dispBlanksAs val="gap"/>
    <c:showDLblsOverMax val="0"/>
  </c:chart>
  <c:txPr>
    <a:bodyPr/>
    <a:lstStyle/>
    <a:p>
      <a:pPr>
        <a:defRPr sz="1000">
          <a:solidFill>
            <a:srgbClr val="253650"/>
          </a:solidFill>
          <a:latin typeface="Inter"/>
        </a:defRPr>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 firms using AI</c:v>
                </c:pt>
              </c:strCache>
            </c:strRef>
          </c:tx>
          <c:spPr>
            <a:solidFill>
              <a:srgbClr val="1F4A85"/>
            </a:solidFill>
          </c:spPr>
          <c:invertIfNegative val="0"/>
          <c:cat>
            <c:strRef>
              <c:f>Sheet1!$A$2:$A$3</c:f>
              <c:strCache>
                <c:ptCount val="2"/>
                <c:pt idx="0">
                  <c:v>Early 2024</c:v>
                </c:pt>
                <c:pt idx="1">
                  <c:v>Sept 2025</c:v>
                </c:pt>
              </c:strCache>
            </c:strRef>
          </c:cat>
          <c:val>
            <c:numRef>
              <c:f>Sheet1!$B$2:$B$3</c:f>
              <c:numCache>
                <c:formatCode>General</c:formatCode>
                <c:ptCount val="2"/>
                <c:pt idx="0">
                  <c:v>0.046</c:v>
                </c:pt>
                <c:pt idx="1">
                  <c:v>0.1</c:v>
                </c:pt>
              </c:numCache>
            </c:numRef>
          </c:val>
        </c:ser>
        <c:dLbls>
          <c:numFmt formatCode="0.0%" sourceLinked="0"/>
          <c:txPr>
            <a:bodyPr/>
            <a:lstStyle/>
            <a:p>
              <a:pPr>
                <a:defRPr sz="1200" b="1">
                  <a:solidFill>
                    <a:srgbClr val="1021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5E2F3"/>
            </a:solidFill>
          </a:ln>
        </c:spPr>
        <c:txPr>
          <a:bodyPr/>
          <a:lstStyle/>
          <a:p>
            <a:pPr>
              <a:defRPr sz="1200">
                <a:solidFill>
                  <a:srgbClr val="253650"/>
                </a:solidFill>
              </a:defRPr>
            </a:pPr>
          </a:p>
        </c:txPr>
        <c:crossAx val="-2113994440"/>
        <c:crosses val="autoZero"/>
        <c:auto val="1"/>
        <c:lblAlgn val="ctr"/>
        <c:lblOffset val="100"/>
        <c:noMultiLvlLbl val="0"/>
      </c:catAx>
      <c:valAx>
        <c:axId val="-2113994440"/>
        <c:scaling>
          <c:max val="0.13"/>
          <c:min val="0.0"/>
        </c:scaling>
        <c:delete/>
        <c:axPos val="l"/>
        <c:majorTickMark val="out"/>
        <c:minorTickMark val="none"/>
        <c:tickLblPos val="nextTo"/>
        <c:spPr>
          <a:ln>
            <a:noFill/>
          </a:ln>
        </c:spPr>
        <c:txPr>
          <a:bodyPr/>
          <a:lstStyle/>
          <a:p>
            <a:pPr>
              <a:defRPr sz="1100">
                <a:solidFill>
                  <a:srgbClr val="61738A"/>
                </a:solidFill>
              </a:defRPr>
            </a:pPr>
          </a:p>
        </c:txPr>
        <c:crossAx val="-2068027336"/>
        <c:crosses val="autoZero"/>
      </c:valAx>
    </c:plotArea>
    <c:dispBlanksAs val="gap"/>
  </c:chart>
  <c:txPr>
    <a:bodyPr/>
    <a:lstStyle/>
    <a:p>
      <a:pPr>
        <a:defRPr sz="1200">
          <a:solidFill>
            <a:srgbClr val="253650"/>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idea: Startup Roof is a year-round ecosystem around the founder — guidance, tools, people and opportunities in one place. Founder OS is the digital workspace inside it. The visual is the idea in miniature: one roof over four things founders need — build, learn, connect, grow. Set expectations early: we are at an exploratory, pilot-shaping stage and this deck explains the concept and invites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one-page summary for anyone who only reads one slide. It answers what, for whom, how, where, the current stage and what happens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chapters. In a short meeting, use chapters 2, 4 and 8. The full deck is designed to be read without a presenter.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Why founders need a roof. The founder experience, why startups struggle and the UAE context.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pain points are the starting hypotheses, not research findings. They come from the experience of the people shaping the project and will be tested in founder interviews. The key message: the gap is rarely information — it is turning information into a practical next step with the right people around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CB Insights analysed 111 startup post-mortems in 2021. Founders could cite several reasons. Two of the top three — no market need and running out of cash — are exactly what disciplined validation and early financial literacy address.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US and OECD figures — comparable UAE survival data is not published in the same way. The pattern is consistent internationally: a sharp drop in year one and roughly half surviving five years.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with causality: mentored founders may differ in other ways. But the pattern across studies is consistent enough to justify building support around mentors, networks and structure — and to measure our own outcomes.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Wamda figures include debt financing, which inflates 2023 and 2025. MAGNiTT, which excludes debt and mega-deals, reports lower totals (for example $3.8bn in 2025). The direction is the same: capital is available, and founders who are prepared are better placed to access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here is from official or established sources (listed in the sources slide). The message: the UAE has deliberately built an entrepreneur-friendly environment, which makes it the right place to start — and a credible base for a global ambition.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GEM’s adult population survey shows high entrepreneurial intent in the UAE. The fear-of-failure finding is the most relevant for Startup Roof: structured validation and community make the first steps feel less risky.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OECD survey covers more than 5,000 SMEs in seven countries. The US Census figure measures firms using AI to produce goods or services — a stricter definition. Both show quick adoption, which makes practical AI guidance valuable.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not that support is missing — the UAE has strong momentum. The opportunity is continuity and relevance: joining existing support up around each founder and following through.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The Startup Roof concept. Ecosystem, pillars, audiences, sectors and the proposed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distinction in the deck. Startup Roof is the ecosystem — people, programmes, services and relationships. Founder OS is the software layer that helps a founder use that ecosystem: it organises their goals and next steps and routes them to the right resources and people. Neither replaces the other: software makes the ecosystem easier to navigate, and the ecosystem gives the software something real to connect 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pillars organise everything Startup Roof offers. Each pillar has an ecosystem service (people, sessions, partners) and a matching Founder OS capability (the digital workspace).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are the reason the ecosystem exists; everyone else participates because they get something useful from being near the right founders. Stress the breadth: this is not only for venture-backed tech. Consumer brands, wellness, retail and service businesses are equally in scope, and many will never need to raise venture funding.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Sector relevance is central. A consumer brand founder needs margin, sourcing and retail advice, not a SaaS playbook. The support and specialists will be matched by sector.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personas are illustrative composites used for design, not real people. They show how the same ecosystem produces different next steps depending on stage and sector.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ecosystem only lasts if every participant gets real value. This map makes the exchange explicit — it is also the basis for partner conversations and for the commercial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layers bottom-up. The free layer creates reach and trust. The paid layer is where useful tools and expert time are offered on fair terms. Incubation is selective because intensive support is expensive to deliver well. The top layer is about investor readiness and introductions — Startup Roof is not operating a fund, and anything like that would require its own structure, approvals and terms.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visual pause on place. The UAE is the starting point; the model is designed to be repeatable in other markets once it works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The founder journey. Six stages, practical checklists, key metrics and funding options.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one column top to bottom: the question a founder is really asking, the support that helps, and one concrete next action. The point is that Startup Roof meets founders where they are. A founder with an established consumer brand may start at Grow; a student may start at Explore. Capital is the last stage and explicitly optional.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and Validate are where most founders lose time. The checklist turns vague intent into small, concrete tests. The key signal is commitment — customers giving time or money.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means the simplest version people will pay for — not a perfect product. In the UAE, choosing the right setup route and licence is an early practical decision where specialists help.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is about removing bottlenecks while protecting cash. Capital is optional: the first step is deciding whether outside money is needed at all, and which kind fits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terms appear throughout startup conversations. Founder Academy will cover each one practically. The LTV:CAC ratio of around 3 is a widely used rule of thumb, not a law — it varies by sector and model.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founders think funding means venture capital. This table widens the view. Revenue-funded growth is a legitimate and often better route for consumer, retail and service businesses.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explanation of equity rounds for founders who are new to the vocabulary. No amounts are shown because round sizes vary widely by market, sector and year.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Founder OS. The planned digital workspace, illustrative screens and principles.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OS is planned, not live. The screen on the left is an illustrative concept to make the idea concrete. Its job is simple: know where a founder is, suggest a sensible next step, and route them to the right resource, session or person. The four capability groups will be prioritised with pilot founders — we will build the smallest useful version first.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Onboarding is short and practical. The profile determines the stage-specific guidance, the sessions suggested and who a founder might be introduced to. Founders control their profile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starts simple: stage playbooks and mentor-defined rules. AI assistance helps personalise and draft, and complex situations route to a human. Every completed step feeds the next suggestion.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clear this is a scenario, not a customer story. It shows how the ecosystem and the software work together: Founder OS captures the profile and suggests the next step; Startup Roof supplies the clinic, the mentor and the community. The founder records progress and comes back — the loop is the product. Success is measured by whether founders take and complete useful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suggests a small number of relevant people rather than a large directory. The founder requests; the expert accepts; only then is an introduction made. No real people are shown in this concept.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Radar inside Founder OS filters opportunities by a founder’s profile. Items are dated, credited and annotated. The examples on screen are samples, not real calls.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requests are a core paid-value hypothesis. The flow protects founders from vague, open-ended engagements. All safeguards will be tested in the pilot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are templates by stage that founders adapt. Completed steps are the core measure of whether Startup Roof is helping. Shown as a template — not a real founder’s data.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conceptual architecture, not a technical specification. The important ideas are modularity, a guidance layer that combines rules, AI and people, and trust built into the data layer.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the foundation of any ecosystem that handles founder information. These are design principles; a formal privacy and legal review will be part of preparing the platform for launch.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prioritisation keeps the first version small and testable. The pilot can even start with simple tools behind the scenes — the point is to learn what founders use before building heavily.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Ecosystem services. Community, mentoring, Academy, expert services, insights and incubation.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visual pause before the services chapter. The image represents founders working together; the message is that community is the foundation of the ecosystem.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useful for structure and speed: organising notes, drafting a plan, suggesting what to read next and reminding founders what they committed to. It is not a substitute for a mentor who has run a business in that sector. The design principle is that AI prepares, people judge and the founder decides. No AI integration is live today; features will be tested for usefulness and accuracy in the pilot.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networks measure how many people are listed. We want to measure whether introductions led to a real conversation and a useful outcome. Consent and profile visibility are product principles from day one: founders decide what is shared, and both sides opt in before any 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“Year-round” is a key difference from time-bound programmes. This is a proposed rhythm, not a published schedule; the pilot will test which formats founders value enough to attend.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Mentoring works best when it is focused and followed up. Both sides make clear commitments. Session length and frequency are proposals to test.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visual pause before the Academy detail. The message: learning is practical and immediately applied.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Academy is not a video library. Each theme follows a simple loop: learn a concept, apply it to your own business, get feedback from a mentor or peers, and leave with a next action. These eight themes are proposed — no course catalogue exists yet. Consumer-brand and retail development is included deliberately because many founders we want to serve are not building software.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sample curriculum to show the format, not a published course catalogue. Each session produces something a founder can use immediately. Content will be co-created with contributors and refined with pilot founders.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repeatedly need the same specialist help — legal, accounting, setup, branding, marketing. We want to make that help easier to find and fairer to buy. Three delivery routes are being explored. Which providers, at what price and with what quality controls, will be decided during the pilot. No partners are confirmed.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shows the breadth of practical help founders ask for, especially in the UAE where setup, licensing and banking are early hurdles. Packaging these needs clearly is the basis of the service model.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Radar is the working name for a curated feed of what is useful to founders now: news, events, programmes and funding calls. Our differentiator is not volume but relevance and context — each item credited to its source, dated, and annotated with why it matters. Founder interviews and media help share practical lessons. Coverage starts UAE-first and will be selective, not comprehensive.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deeper end of the model. The process starts by understanding the founder, then an honest suitability check — the selection point — before any plan is agreed. Plans have milestones and regular reviews. The examples show that the same process works for a tech startup and a consumer or service business; the specialists and milestones differ. Intensive support is limited by delivery capacity, so it will be selective.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checklist founders can work through in Founder OS. Readiness support is useful even for founders who decide not to raise — it makes the business stronger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Value for the ecosystem. Investors, universities, corporates and service partners.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investors the value is quality, not volume: founders who have done the groundwork and introductions that match their thesis. Be explicit about what we are not: Startup Roof is not operating a fund, does not promise returns or exclusive deals, and does not endorse investments. Investor engagement today means sessions, mentoring and relevant introductions.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Partners include universities, incubators, corporates, professional firms and technology providers. The table offers concrete, low-commitment ways to start — a workshop, office hours or a small pilot — so both sides can learn whether the collaboration is useful. No partnerships are signed; this slide is an invitation to explore.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Universities produce many founders but support often ends when a programme or course ends. Startup Roof can provide continuity. These are formats to explore; no university partnership is signed.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partner type has a concrete, low-commitment way to start. The aim is mutual value that can be measured, then expanded.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Model, pilot and roadmap. Commercial hypotheses, pilot design, measurement, milestones and risks.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is simple. Free access is how founders discover us — but free has a cost and must be funded. Revenue should come from things people choose to pay for because they are useful: tools, specialist packages, programmes and partner arrangements. Every one of these is a hypothesis. The pilot will measure delivery costs and willingness to pay before we commit to a model.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revenue idea should be tested at once. This matrix sets a sensible order: start with what founders most clearly value, test pricing in the pilot, and only scale what has proven unit economics.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framework, deliberately without numbers. Every paid service must cover its delivery and platform cost and contribute to the free layer. The pilot will put real numbers into this formula.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intentionally small. Its job is learning: what founders value, what contributors can deliver and what it costs. Cohort size and duration will be set once delivery capacity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in sign-ups is easy to chase and easy to misread. The north-star measure keeps the focus on founder outcomes. Supporting indicators cover quality, retention, delivery and economics.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in the NOW phase: interviewing founders, gathering contributions, choosing which services to test and defining platform requirements. NEXT is a deliberately small pilot where we measure usefulness and delivery cost. THEN we repeat what works. The milestones are targets: 10,000 free users is the threshold for a public launch event, March 2027 is a tentative target subject to readiness, and 100,000 is the wider ambition. None is current traction.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turns the milestones into a sequence. We do not move to the next step until the previous one is proven. The numbers are ambitions — not current traction.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the risks openly builds credibility with investors, partners and contributors. Most mitigations come down to starting small, measuring honestly and building only what is proven.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People and participation. Capabilities, contribution, FAQ, glossary and invitation.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capability map, not an org chart. It shows the mix of experience the project is bringing together across commercial, founder support, platform and community delivery. Contributors are participating during the shaping and pilot phase. Permanent roles, titles and any longer-term arrangements have not been set and will be considered later based on actual contribution and delivery.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is open and flexible. Permanent roles, titles and any longer-term arrangements have not been set and will be considered later on these five criteria.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for Q&amp;A and for readers without a presenter. Answers stay consistent with the current stage.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definitions so that the deck works for first-time founders and non-specialist partners.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external figures used in the deck, with source and year. Startup Roof has no traction data to report yet; the deck is clear about this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specific ask for each person in the room. Founders: help shape the pilot. Mentors and specialists: offer a session. Partners and universities: explore a first, small collaboration. Investors: engage around founder readiness. Collaborators: tell us what skills and time you can offer. Point to the website and QR code as the way to get in touch, and invite a follow-up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566928"/>
            <a:ext cx="3657600" cy="231140"/>
          </a:xfrm>
          <a:prstGeom prst="rect">
            <a:avLst/>
          </a:prstGeom>
          <a:noFill/>
        </p:spPr>
        <p:txBody>
          <a:bodyPr wrap="square" lIns="0" rIns="0" tIns="0" bIns="0" anchor="t"/>
          <a:lstStyle/>
          <a:p>
            <a:pPr algn="l">
              <a:lnSpc>
                <a:spcPct val="115000"/>
              </a:lnSpc>
              <a:spcAft>
                <a:spcPts val="0"/>
              </a:spcAft>
            </a:pPr>
            <a:r>
              <a:rPr sz="1300" b="1" i="0" spc="156">
                <a:solidFill>
                  <a:srgbClr val="FFFFFF"/>
                </a:solidFill>
                <a:latin typeface="Inter"/>
              </a:rPr>
              <a:t>STARTUP</a:t>
            </a:r>
            <a:r>
              <a:rPr sz="1300" b="1" i="0" spc="156">
                <a:solidFill>
                  <a:srgbClr val="4F8BE0"/>
                </a:solidFill>
                <a:latin typeface="Inter"/>
              </a:rPr>
              <a:t> ROOF</a:t>
            </a:r>
          </a:p>
        </p:txBody>
      </p:sp>
      <p:sp>
        <p:nvSpPr>
          <p:cNvPr id="4" name="TextBox 3"/>
          <p:cNvSpPr txBox="1"/>
          <p:nvPr/>
        </p:nvSpPr>
        <p:spPr>
          <a:xfrm>
            <a:off x="685800" y="1783080"/>
            <a:ext cx="6400800" cy="274320"/>
          </a:xfrm>
          <a:prstGeom prst="rect">
            <a:avLst/>
          </a:prstGeom>
          <a:noFill/>
        </p:spPr>
        <p:txBody>
          <a:bodyPr wrap="square" lIns="0" rIns="0" tIns="0" bIns="0" anchor="t"/>
          <a:lstStyle/>
          <a:p>
            <a:pPr algn="l">
              <a:lnSpc>
                <a:spcPct val="115000"/>
              </a:lnSpc>
              <a:spcAft>
                <a:spcPts val="0"/>
              </a:spcAft>
            </a:pPr>
            <a:r>
              <a:rPr sz="1050" b="1" i="0" spc="160">
                <a:solidFill>
                  <a:srgbClr val="4F8BE0"/>
                </a:solidFill>
                <a:latin typeface="Inter"/>
              </a:rPr>
              <a:t>A FOUNDER ECOSYSTEM  ·  UAE FIRST, GLOBAL AMBITION</a:t>
            </a:r>
          </a:p>
        </p:txBody>
      </p:sp>
      <p:sp>
        <p:nvSpPr>
          <p:cNvPr id="5" name="TextBox 4"/>
          <p:cNvSpPr txBox="1"/>
          <p:nvPr/>
        </p:nvSpPr>
        <p:spPr>
          <a:xfrm>
            <a:off x="685800" y="2148840"/>
            <a:ext cx="6583680" cy="1737360"/>
          </a:xfrm>
          <a:prstGeom prst="rect">
            <a:avLst/>
          </a:prstGeom>
          <a:noFill/>
        </p:spPr>
        <p:txBody>
          <a:bodyPr wrap="square" lIns="0" rIns="0" tIns="0" bIns="0" anchor="t"/>
          <a:lstStyle/>
          <a:p>
            <a:pPr algn="l">
              <a:lnSpc>
                <a:spcPct val="90000"/>
              </a:lnSpc>
              <a:spcAft>
                <a:spcPts val="0"/>
              </a:spcAft>
            </a:pPr>
            <a:r>
              <a:rPr sz="6600" b="1" i="0" spc="200">
                <a:solidFill>
                  <a:srgbClr val="FFFFFF"/>
                </a:solidFill>
                <a:latin typeface="Inter"/>
              </a:rPr>
              <a:t>STARTUP</a:t>
            </a:r>
            <a:r>
              <a:rPr sz="6600" b="1" i="0" spc="200">
                <a:solidFill>
                  <a:srgbClr val="FFFFFF"/>
                </a:solidFill>
                <a:latin typeface="Inter"/>
              </a:rPr>
              <a:t>
ROOF</a:t>
            </a:r>
          </a:p>
        </p:txBody>
      </p:sp>
      <p:sp>
        <p:nvSpPr>
          <p:cNvPr id="6" name="TextBox 5"/>
          <p:cNvSpPr txBox="1"/>
          <p:nvPr/>
        </p:nvSpPr>
        <p:spPr>
          <a:xfrm>
            <a:off x="685800" y="4114800"/>
            <a:ext cx="5852160" cy="914400"/>
          </a:xfrm>
          <a:prstGeom prst="rect">
            <a:avLst/>
          </a:prstGeom>
          <a:noFill/>
        </p:spPr>
        <p:txBody>
          <a:bodyPr wrap="square" lIns="0" rIns="0" tIns="0" bIns="0" anchor="t"/>
          <a:lstStyle/>
          <a:p>
            <a:pPr algn="l">
              <a:lnSpc>
                <a:spcPct val="115000"/>
              </a:lnSpc>
              <a:spcAft>
                <a:spcPts val="0"/>
              </a:spcAft>
            </a:pPr>
            <a:r>
              <a:rPr sz="2000" b="0" i="0">
                <a:solidFill>
                  <a:srgbClr val="D6E2F3"/>
                </a:solidFill>
                <a:latin typeface="Inter"/>
              </a:rPr>
              <a:t>A year-round ecosystem to help founders build, learn, connect and grow.</a:t>
            </a:r>
          </a:p>
        </p:txBody>
      </p:sp>
      <p:sp>
        <p:nvSpPr>
          <p:cNvPr id="7" name="Rectangle 6"/>
          <p:cNvSpPr/>
          <p:nvPr/>
        </p:nvSpPr>
        <p:spPr>
          <a:xfrm>
            <a:off x="685800" y="5166360"/>
            <a:ext cx="822960" cy="36576"/>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685800" y="5349240"/>
            <a:ext cx="6035040" cy="64008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Home of Founder OS</a:t>
            </a:r>
            <a:r>
              <a:rPr sz="1350" b="0" i="0">
                <a:solidFill>
                  <a:srgbClr val="B7C6DC"/>
                </a:solidFill>
                <a:latin typeface="Inter"/>
              </a:rPr>
              <a:t>  —  the digital workspace for the founder journey.</a:t>
            </a:r>
          </a:p>
        </p:txBody>
      </p:sp>
      <p:sp>
        <p:nvSpPr>
          <p:cNvPr id="9" name="TextBox 8"/>
          <p:cNvSpPr txBox="1"/>
          <p:nvPr/>
        </p:nvSpPr>
        <p:spPr>
          <a:xfrm>
            <a:off x="685800" y="6172200"/>
            <a:ext cx="3657600" cy="274320"/>
          </a:xfrm>
          <a:prstGeom prst="rect">
            <a:avLst/>
          </a:prstGeom>
          <a:noFill/>
        </p:spPr>
        <p:txBody>
          <a:bodyPr wrap="square" lIns="0" rIns="0" tIns="0" bIns="0" anchor="t"/>
          <a:lstStyle/>
          <a:p>
            <a:pPr algn="l">
              <a:lnSpc>
                <a:spcPct val="115000"/>
              </a:lnSpc>
              <a:spcAft>
                <a:spcPts val="0"/>
              </a:spcAft>
            </a:pPr>
            <a:r>
              <a:rPr sz="1200" b="1" i="0" spc="80">
                <a:solidFill>
                  <a:srgbClr val="4F8BE0"/>
                </a:solidFill>
                <a:latin typeface="Inter"/>
              </a:rPr>
              <a:t>startuproof.com</a:t>
            </a:r>
          </a:p>
        </p:txBody>
      </p:sp>
      <p:sp>
        <p:nvSpPr>
          <p:cNvPr id="10" name="Freeform 9"/>
          <p:cNvSpPr/>
          <p:nvPr/>
        </p:nvSpPr>
        <p:spPr>
          <a:xfrm>
            <a:off x="6858000" y="1143000"/>
            <a:ext cx="4983480" cy="1417320"/>
          </a:xfrm>
          <a:custGeom>
            <a:avLst/>
            <a:gdLst/>
            <a:ahLst/>
            <a:cxnLst/>
            <a:rect l="l" t="t" r="r" b="b"/>
            <a:pathLst>
              <a:path w="4983480" h="1417320">
                <a:moveTo>
                  <a:pt x="0" y="1417320"/>
                </a:moveTo>
                <a:lnTo>
                  <a:pt x="2491740" y="0"/>
                </a:lnTo>
                <a:lnTo>
                  <a:pt x="4983480" y="1417320"/>
                </a:lnTo>
              </a:path>
            </a:pathLst>
          </a:custGeom>
          <a:noFill/>
          <a:ln w="63500">
            <a:solidFill>
              <a:srgbClr val="FFFFFF"/>
            </a:solidFill>
          </a:ln>
          <a:effectLst/>
        </p:spPr>
        <p:txBody>
          <a:bodyPr rtlCol="0" anchor="ctr"/>
          <a:lstStyle/>
          <a:p>
            <a:pPr algn="ctr"/>
          </a:p>
        </p:txBody>
      </p:sp>
      <p:sp>
        <p:nvSpPr>
          <p:cNvPr id="11" name="Rectangle 10"/>
          <p:cNvSpPr/>
          <p:nvPr/>
        </p:nvSpPr>
        <p:spPr>
          <a:xfrm>
            <a:off x="7040880" y="2724911"/>
            <a:ext cx="4617720" cy="45720"/>
          </a:xfrm>
          <a:prstGeom prst="rect">
            <a:avLst/>
          </a:prstGeom>
          <a:solidFill>
            <a:srgbClr val="7F95B5"/>
          </a:solidFill>
          <a:ln>
            <a:noFill/>
          </a:ln>
          <a:effectLst/>
        </p:spPr>
        <p:txBody>
          <a:bodyPr rtlCol="0" anchor="ctr" lIns="73152" rIns="73152" tIns="36576" bIns="36576"/>
          <a:lstStyle/>
          <a:p>
            <a:pPr algn="ctr"/>
          </a:p>
        </p:txBody>
      </p:sp>
      <p:sp>
        <p:nvSpPr>
          <p:cNvPr id="12" name="Rectangle 11"/>
          <p:cNvSpPr/>
          <p:nvPr/>
        </p:nvSpPr>
        <p:spPr>
          <a:xfrm>
            <a:off x="7086600" y="2834639"/>
            <a:ext cx="896112" cy="2788920"/>
          </a:xfrm>
          <a:prstGeom prst="rect">
            <a:avLst/>
          </a:prstGeom>
          <a:solidFill>
            <a:srgbClr val="1A3358"/>
          </a:solidFill>
          <a:ln>
            <a:noFill/>
          </a:ln>
          <a:effectLst/>
        </p:spPr>
        <p:txBody>
          <a:bodyPr rtlCol="0" anchor="ctr" lIns="73152" rIns="73152" tIns="36576" bIns="36576"/>
          <a:lstStyle/>
          <a:p>
            <a:pPr algn="ctr"/>
          </a:p>
        </p:txBody>
      </p:sp>
      <p:sp>
        <p:nvSpPr>
          <p:cNvPr id="13" name="TextBox 12"/>
          <p:cNvSpPr txBox="1"/>
          <p:nvPr/>
        </p:nvSpPr>
        <p:spPr>
          <a:xfrm>
            <a:off x="7086600"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BUILD</a:t>
            </a:r>
          </a:p>
        </p:txBody>
      </p:sp>
      <p:sp>
        <p:nvSpPr>
          <p:cNvPr id="14" name="Rectangle 13"/>
          <p:cNvSpPr/>
          <p:nvPr/>
        </p:nvSpPr>
        <p:spPr>
          <a:xfrm>
            <a:off x="8296656" y="2834639"/>
            <a:ext cx="896112" cy="2788920"/>
          </a:xfrm>
          <a:prstGeom prst="rect">
            <a:avLst/>
          </a:prstGeom>
          <a:solidFill>
            <a:srgbClr val="1C3D6B"/>
          </a:solidFill>
          <a:ln>
            <a:noFill/>
          </a:ln>
          <a:effectLst/>
        </p:spPr>
        <p:txBody>
          <a:bodyPr rtlCol="0" anchor="ctr" lIns="73152" rIns="73152" tIns="36576" bIns="36576"/>
          <a:lstStyle/>
          <a:p>
            <a:pPr algn="ctr"/>
          </a:p>
        </p:txBody>
      </p:sp>
      <p:sp>
        <p:nvSpPr>
          <p:cNvPr id="15" name="TextBox 14"/>
          <p:cNvSpPr txBox="1"/>
          <p:nvPr/>
        </p:nvSpPr>
        <p:spPr>
          <a:xfrm>
            <a:off x="8296656"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LEARN</a:t>
            </a:r>
          </a:p>
        </p:txBody>
      </p:sp>
      <p:sp>
        <p:nvSpPr>
          <p:cNvPr id="16" name="Rectangle 15"/>
          <p:cNvSpPr/>
          <p:nvPr/>
        </p:nvSpPr>
        <p:spPr>
          <a:xfrm>
            <a:off x="9506712" y="2834639"/>
            <a:ext cx="896112" cy="2788920"/>
          </a:xfrm>
          <a:prstGeom prst="rect">
            <a:avLst/>
          </a:prstGeom>
          <a:solidFill>
            <a:srgbClr val="1F4A85"/>
          </a:solidFill>
          <a:ln>
            <a:noFill/>
          </a:ln>
          <a:effectLst/>
        </p:spPr>
        <p:txBody>
          <a:bodyPr rtlCol="0" anchor="ctr" lIns="73152" rIns="73152" tIns="36576" bIns="36576"/>
          <a:lstStyle/>
          <a:p>
            <a:pPr algn="ctr"/>
          </a:p>
        </p:txBody>
      </p:sp>
      <p:sp>
        <p:nvSpPr>
          <p:cNvPr id="17" name="TextBox 16"/>
          <p:cNvSpPr txBox="1"/>
          <p:nvPr/>
        </p:nvSpPr>
        <p:spPr>
          <a:xfrm>
            <a:off x="9506712"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CONNECT</a:t>
            </a:r>
          </a:p>
        </p:txBody>
      </p:sp>
      <p:sp>
        <p:nvSpPr>
          <p:cNvPr id="18" name="Rectangle 17"/>
          <p:cNvSpPr/>
          <p:nvPr/>
        </p:nvSpPr>
        <p:spPr>
          <a:xfrm>
            <a:off x="10716768" y="2834639"/>
            <a:ext cx="896112" cy="2788920"/>
          </a:xfrm>
          <a:prstGeom prst="rect">
            <a:avLst/>
          </a:prstGeom>
          <a:solidFill>
            <a:srgbClr val="1765D1"/>
          </a:solidFill>
          <a:ln>
            <a:noFill/>
          </a:ln>
          <a:effectLst/>
        </p:spPr>
        <p:txBody>
          <a:bodyPr rtlCol="0" anchor="ctr" lIns="73152" rIns="73152" tIns="36576" bIns="36576"/>
          <a:lstStyle/>
          <a:p>
            <a:pPr algn="ctr"/>
          </a:p>
        </p:txBody>
      </p:sp>
      <p:sp>
        <p:nvSpPr>
          <p:cNvPr id="19" name="TextBox 18"/>
          <p:cNvSpPr txBox="1"/>
          <p:nvPr/>
        </p:nvSpPr>
        <p:spPr>
          <a:xfrm>
            <a:off x="10716768"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GROW</a:t>
            </a:r>
          </a:p>
        </p:txBody>
      </p:sp>
      <p:sp>
        <p:nvSpPr>
          <p:cNvPr id="20" name="Rectangle 19"/>
          <p:cNvSpPr/>
          <p:nvPr/>
        </p:nvSpPr>
        <p:spPr>
          <a:xfrm>
            <a:off x="6858000" y="5623560"/>
            <a:ext cx="4983480" cy="27432"/>
          </a:xfrm>
          <a:prstGeom prst="rect">
            <a:avLst/>
          </a:prstGeom>
          <a:solidFill>
            <a:srgbClr val="7F95B5"/>
          </a:solidFill>
          <a:ln>
            <a:noFill/>
          </a:ln>
          <a:effectLst/>
        </p:spPr>
        <p:txBody>
          <a:bodyPr rtlCol="0" anchor="ctr" lIns="73152" rIns="73152" tIns="36576" bIns="36576"/>
          <a:lstStyle/>
          <a:p>
            <a:pPr algn="ctr"/>
          </a:p>
        </p:txBody>
      </p:sp>
      <p:sp>
        <p:nvSpPr>
          <p:cNvPr id="21" name="Rounded Rectangle 20"/>
          <p:cNvSpPr/>
          <p:nvPr/>
        </p:nvSpPr>
        <p:spPr>
          <a:xfrm>
            <a:off x="8846819" y="1993391"/>
            <a:ext cx="1005840" cy="384048"/>
          </a:xfrm>
          <a:prstGeom prst="roundRect">
            <a:avLst>
              <a:gd name="adj" fmla="val 50000"/>
            </a:avLst>
          </a:prstGeom>
          <a:solidFill>
            <a:srgbClr val="FFFFFF"/>
          </a:solidFill>
          <a:ln>
            <a:noFill/>
          </a:ln>
          <a:effectLst/>
        </p:spPr>
        <p:txBody>
          <a:bodyPr rtlCol="0" anchor="ctr" lIns="73152" rIns="73152" tIns="27432" bIns="27432" wrap="square"/>
          <a:lstStyle/>
          <a:p>
            <a:pPr algn="ctr">
              <a:lnSpc>
                <a:spcPct val="110000"/>
              </a:lnSpc>
              <a:spcAft>
                <a:spcPts val="0"/>
              </a:spcAft>
            </a:pPr>
            <a:r>
              <a:rPr sz="1000" b="1" i="0" spc="120">
                <a:solidFill>
                  <a:srgbClr val="10213B"/>
                </a:solidFill>
                <a:latin typeface="Inter"/>
              </a:rPr>
              <a:t>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STARTUP ROOF AT A GLANCE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A practical ecosystem around the founder — on one page.</a:t>
            </a:r>
          </a:p>
        </p:txBody>
      </p:sp>
      <p:sp>
        <p:nvSpPr>
          <p:cNvPr id="4" name="Rectangle 3"/>
          <p:cNvSpPr/>
          <p:nvPr/>
        </p:nvSpPr>
        <p:spPr>
          <a:xfrm>
            <a:off x="594360" y="1965960"/>
            <a:ext cx="3931920" cy="425196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914400" y="2194560"/>
            <a:ext cx="338328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ONE SENTENCE</a:t>
            </a:r>
          </a:p>
        </p:txBody>
      </p:sp>
      <p:sp>
        <p:nvSpPr>
          <p:cNvPr id="6" name="TextBox 5"/>
          <p:cNvSpPr txBox="1"/>
          <p:nvPr/>
        </p:nvSpPr>
        <p:spPr>
          <a:xfrm>
            <a:off x="914400" y="2560320"/>
            <a:ext cx="3337560" cy="2377440"/>
          </a:xfrm>
          <a:prstGeom prst="rect">
            <a:avLst/>
          </a:prstGeom>
          <a:noFill/>
        </p:spPr>
        <p:txBody>
          <a:bodyPr wrap="square" lIns="0" rIns="0" tIns="0" bIns="0" anchor="t"/>
          <a:lstStyle/>
          <a:p>
            <a:pPr algn="l">
              <a:lnSpc>
                <a:spcPct val="125000"/>
              </a:lnSpc>
              <a:spcAft>
                <a:spcPts val="0"/>
              </a:spcAft>
            </a:pPr>
            <a:r>
              <a:rPr sz="1700" b="1" i="0">
                <a:solidFill>
                  <a:srgbClr val="FFFFFF"/>
                </a:solidFill>
                <a:latin typeface="Inter"/>
              </a:rPr>
              <a:t>Startup Roof brings practical guidance, useful tools and meaningful connections together to help founders take their next step.</a:t>
            </a:r>
          </a:p>
        </p:txBody>
      </p:sp>
      <p:sp>
        <p:nvSpPr>
          <p:cNvPr id="7" name="TextBox 6"/>
          <p:cNvSpPr txBox="1"/>
          <p:nvPr/>
        </p:nvSpPr>
        <p:spPr>
          <a:xfrm>
            <a:off x="914400" y="4892040"/>
            <a:ext cx="3383280" cy="1097280"/>
          </a:xfrm>
          <a:prstGeom prst="rect">
            <a:avLst/>
          </a:prstGeom>
          <a:noFill/>
        </p:spPr>
        <p:txBody>
          <a:bodyPr wrap="square" lIns="0" rIns="0" tIns="0" bIns="0" anchor="t"/>
          <a:lstStyle/>
          <a:p>
            <a:pPr algn="l">
              <a:lnSpc>
                <a:spcPct val="135000"/>
              </a:lnSpc>
              <a:spcAft>
                <a:spcPts val="0"/>
              </a:spcAft>
            </a:pPr>
            <a:r>
              <a:rPr sz="1250" b="1" i="0">
                <a:solidFill>
                  <a:srgbClr val="FFFFFF"/>
                </a:solidFill>
                <a:latin typeface="Inter"/>
              </a:rPr>
              <a:t>Startup Roof</a:t>
            </a:r>
            <a:r>
              <a:rPr sz="1250" b="0" i="0">
                <a:solidFill>
                  <a:srgbClr val="C9D6E8"/>
                </a:solidFill>
                <a:latin typeface="Inter"/>
              </a:rPr>
              <a:t> is the ecosystem.</a:t>
            </a:r>
          </a:p>
          <a:p>
            <a:pPr algn="l">
              <a:lnSpc>
                <a:spcPct val="135000"/>
              </a:lnSpc>
              <a:spcAft>
                <a:spcPts val="0"/>
              </a:spcAft>
            </a:pPr>
            <a:r>
              <a:rPr sz="1250" b="1" i="0">
                <a:solidFill>
                  <a:srgbClr val="4F8BE0"/>
                </a:solidFill>
                <a:latin typeface="Inter"/>
              </a:rPr>
              <a:t>Founder OS</a:t>
            </a:r>
            <a:r>
              <a:rPr sz="1250" b="0" i="0">
                <a:solidFill>
                  <a:srgbClr val="C9D6E8"/>
                </a:solidFill>
                <a:latin typeface="Inter"/>
              </a:rPr>
              <a:t> is the digital workspace inside it.</a:t>
            </a:r>
          </a:p>
        </p:txBody>
      </p:sp>
      <p:sp>
        <p:nvSpPr>
          <p:cNvPr id="8" name="Rectangle 7"/>
          <p:cNvSpPr/>
          <p:nvPr/>
        </p:nvSpPr>
        <p:spPr>
          <a:xfrm>
            <a:off x="4846320" y="1965960"/>
            <a:ext cx="2194560" cy="2029968"/>
          </a:xfrm>
          <a:prstGeom prst="rect">
            <a:avLst/>
          </a:prstGeom>
          <a:solidFill>
            <a:srgbClr val="EDF4FE"/>
          </a:solidFill>
          <a:ln>
            <a:noFill/>
          </a:ln>
          <a:effectLst/>
        </p:spPr>
        <p:txBody>
          <a:bodyPr rtlCol="0" anchor="ctr" lIns="73152" rIns="73152" tIns="36576" bIns="36576"/>
          <a:lstStyle/>
          <a:p>
            <a:pPr algn="ctr"/>
          </a:p>
        </p:txBody>
      </p:sp>
      <p:sp>
        <p:nvSpPr>
          <p:cNvPr id="9" name="TextBox 8"/>
          <p:cNvSpPr txBox="1"/>
          <p:nvPr/>
        </p:nvSpPr>
        <p:spPr>
          <a:xfrm>
            <a:off x="5047488" y="2167128"/>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WHAT</a:t>
            </a:r>
          </a:p>
        </p:txBody>
      </p:sp>
      <p:sp>
        <p:nvSpPr>
          <p:cNvPr id="10" name="TextBox 9"/>
          <p:cNvSpPr txBox="1"/>
          <p:nvPr/>
        </p:nvSpPr>
        <p:spPr>
          <a:xfrm>
            <a:off x="5047488" y="2468880"/>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A year-round founder ecosystem</a:t>
            </a:r>
          </a:p>
        </p:txBody>
      </p:sp>
      <p:sp>
        <p:nvSpPr>
          <p:cNvPr id="11" name="TextBox 10"/>
          <p:cNvSpPr txBox="1"/>
          <p:nvPr/>
        </p:nvSpPr>
        <p:spPr>
          <a:xfrm>
            <a:off x="5047488" y="3154680"/>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Community, programmes, services and a guided digital workspace.</a:t>
            </a:r>
          </a:p>
        </p:txBody>
      </p:sp>
      <p:sp>
        <p:nvSpPr>
          <p:cNvPr id="12" name="Rectangle 11"/>
          <p:cNvSpPr/>
          <p:nvPr/>
        </p:nvSpPr>
        <p:spPr>
          <a:xfrm>
            <a:off x="7168896" y="1965960"/>
            <a:ext cx="2194560" cy="2029968"/>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13" name="TextBox 12"/>
          <p:cNvSpPr txBox="1"/>
          <p:nvPr/>
        </p:nvSpPr>
        <p:spPr>
          <a:xfrm>
            <a:off x="7370064" y="2167128"/>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FOR WHOM</a:t>
            </a:r>
          </a:p>
        </p:txBody>
      </p:sp>
      <p:sp>
        <p:nvSpPr>
          <p:cNvPr id="14" name="TextBox 13"/>
          <p:cNvSpPr txBox="1"/>
          <p:nvPr/>
        </p:nvSpPr>
        <p:spPr>
          <a:xfrm>
            <a:off x="7370064" y="2468880"/>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Founders first</a:t>
            </a:r>
          </a:p>
        </p:txBody>
      </p:sp>
      <p:sp>
        <p:nvSpPr>
          <p:cNvPr id="15" name="TextBox 14"/>
          <p:cNvSpPr txBox="1"/>
          <p:nvPr/>
        </p:nvSpPr>
        <p:spPr>
          <a:xfrm>
            <a:off x="7370064" y="3154680"/>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Aspiring, early-stage and growing founders — tech and non-tech.</a:t>
            </a:r>
          </a:p>
        </p:txBody>
      </p:sp>
      <p:sp>
        <p:nvSpPr>
          <p:cNvPr id="16" name="Rectangle 15"/>
          <p:cNvSpPr/>
          <p:nvPr/>
        </p:nvSpPr>
        <p:spPr>
          <a:xfrm>
            <a:off x="9491472" y="1965960"/>
            <a:ext cx="2194560" cy="2029968"/>
          </a:xfrm>
          <a:prstGeom prst="rect">
            <a:avLst/>
          </a:prstGeom>
          <a:solidFill>
            <a:srgbClr val="EDF4FE"/>
          </a:solidFill>
          <a:ln>
            <a:noFill/>
          </a:ln>
          <a:effectLst/>
        </p:spPr>
        <p:txBody>
          <a:bodyPr rtlCol="0" anchor="ctr" lIns="73152" rIns="73152" tIns="36576" bIns="36576"/>
          <a:lstStyle/>
          <a:p>
            <a:pPr algn="ctr"/>
          </a:p>
        </p:txBody>
      </p:sp>
      <p:sp>
        <p:nvSpPr>
          <p:cNvPr id="17" name="TextBox 16"/>
          <p:cNvSpPr txBox="1"/>
          <p:nvPr/>
        </p:nvSpPr>
        <p:spPr>
          <a:xfrm>
            <a:off x="9692640" y="2167128"/>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HOW</a:t>
            </a:r>
          </a:p>
        </p:txBody>
      </p:sp>
      <p:sp>
        <p:nvSpPr>
          <p:cNvPr id="18" name="TextBox 17"/>
          <p:cNvSpPr txBox="1"/>
          <p:nvPr/>
        </p:nvSpPr>
        <p:spPr>
          <a:xfrm>
            <a:off x="9692640" y="2468880"/>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Build · Learn · Connect · Grow</a:t>
            </a:r>
          </a:p>
        </p:txBody>
      </p:sp>
      <p:sp>
        <p:nvSpPr>
          <p:cNvPr id="19" name="TextBox 18"/>
          <p:cNvSpPr txBox="1"/>
          <p:nvPr/>
        </p:nvSpPr>
        <p:spPr>
          <a:xfrm>
            <a:off x="9692640" y="3154680"/>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Next steps, practical learning, relevant people and opportunities.</a:t>
            </a:r>
          </a:p>
        </p:txBody>
      </p:sp>
      <p:sp>
        <p:nvSpPr>
          <p:cNvPr id="20" name="Rectangle 19"/>
          <p:cNvSpPr/>
          <p:nvPr/>
        </p:nvSpPr>
        <p:spPr>
          <a:xfrm>
            <a:off x="4846320" y="4178808"/>
            <a:ext cx="2194560" cy="2029968"/>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1" name="TextBox 20"/>
          <p:cNvSpPr txBox="1"/>
          <p:nvPr/>
        </p:nvSpPr>
        <p:spPr>
          <a:xfrm>
            <a:off x="5047488" y="4379976"/>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WHERE</a:t>
            </a:r>
          </a:p>
        </p:txBody>
      </p:sp>
      <p:sp>
        <p:nvSpPr>
          <p:cNvPr id="22" name="TextBox 21"/>
          <p:cNvSpPr txBox="1"/>
          <p:nvPr/>
        </p:nvSpPr>
        <p:spPr>
          <a:xfrm>
            <a:off x="5047488" y="4681728"/>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UAE first, global ambition</a:t>
            </a:r>
          </a:p>
        </p:txBody>
      </p:sp>
      <p:sp>
        <p:nvSpPr>
          <p:cNvPr id="23" name="TextBox 22"/>
          <p:cNvSpPr txBox="1"/>
          <p:nvPr/>
        </p:nvSpPr>
        <p:spPr>
          <a:xfrm>
            <a:off x="5047488" y="5367528"/>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Starting in the UAE and widening coverage over time.</a:t>
            </a:r>
          </a:p>
        </p:txBody>
      </p:sp>
      <p:sp>
        <p:nvSpPr>
          <p:cNvPr id="24" name="Rectangle 23"/>
          <p:cNvSpPr/>
          <p:nvPr/>
        </p:nvSpPr>
        <p:spPr>
          <a:xfrm>
            <a:off x="7168896" y="4178808"/>
            <a:ext cx="2194560" cy="2029968"/>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7370064" y="4379976"/>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STAGE</a:t>
            </a:r>
          </a:p>
        </p:txBody>
      </p:sp>
      <p:sp>
        <p:nvSpPr>
          <p:cNvPr id="26" name="TextBox 25"/>
          <p:cNvSpPr txBox="1"/>
          <p:nvPr/>
        </p:nvSpPr>
        <p:spPr>
          <a:xfrm>
            <a:off x="7370064" y="4681728"/>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Shaping and pilot phase</a:t>
            </a:r>
          </a:p>
        </p:txBody>
      </p:sp>
      <p:sp>
        <p:nvSpPr>
          <p:cNvPr id="27" name="TextBox 26"/>
          <p:cNvSpPr txBox="1"/>
          <p:nvPr/>
        </p:nvSpPr>
        <p:spPr>
          <a:xfrm>
            <a:off x="7370064" y="5367528"/>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Testing the founder experience with an initial group of contributors.</a:t>
            </a:r>
          </a:p>
        </p:txBody>
      </p:sp>
      <p:sp>
        <p:nvSpPr>
          <p:cNvPr id="28" name="Rectangle 27"/>
          <p:cNvSpPr/>
          <p:nvPr/>
        </p:nvSpPr>
        <p:spPr>
          <a:xfrm>
            <a:off x="9491472" y="4178808"/>
            <a:ext cx="2194560" cy="2029968"/>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9" name="TextBox 28"/>
          <p:cNvSpPr txBox="1"/>
          <p:nvPr/>
        </p:nvSpPr>
        <p:spPr>
          <a:xfrm>
            <a:off x="9692640" y="4379976"/>
            <a:ext cx="1828800" cy="274320"/>
          </a:xfrm>
          <a:prstGeom prst="rect">
            <a:avLst/>
          </a:prstGeom>
          <a:noFill/>
        </p:spPr>
        <p:txBody>
          <a:bodyPr wrap="square" lIns="0" rIns="0" tIns="0" bIns="0" anchor="t"/>
          <a:lstStyle/>
          <a:p>
            <a:pPr algn="l">
              <a:lnSpc>
                <a:spcPct val="115000"/>
              </a:lnSpc>
              <a:spcAft>
                <a:spcPts val="0"/>
              </a:spcAft>
            </a:pPr>
            <a:r>
              <a:rPr sz="900" b="1" i="0" spc="130">
                <a:solidFill>
                  <a:srgbClr val="1765D1"/>
                </a:solidFill>
                <a:latin typeface="Inter"/>
              </a:rPr>
              <a:t>NEXT</a:t>
            </a:r>
          </a:p>
        </p:txBody>
      </p:sp>
      <p:sp>
        <p:nvSpPr>
          <p:cNvPr id="30" name="TextBox 29"/>
          <p:cNvSpPr txBox="1"/>
          <p:nvPr/>
        </p:nvSpPr>
        <p:spPr>
          <a:xfrm>
            <a:off x="9692640" y="4681728"/>
            <a:ext cx="1828800" cy="731520"/>
          </a:xfrm>
          <a:prstGeom prst="rect">
            <a:avLst/>
          </a:prstGeom>
          <a:noFill/>
        </p:spPr>
        <p:txBody>
          <a:bodyPr wrap="square" lIns="0" rIns="0" tIns="0" bIns="0" anchor="t"/>
          <a:lstStyle/>
          <a:p>
            <a:pPr algn="l">
              <a:lnSpc>
                <a:spcPct val="110000"/>
              </a:lnSpc>
              <a:spcAft>
                <a:spcPts val="0"/>
              </a:spcAft>
            </a:pPr>
            <a:r>
              <a:rPr sz="1400" b="1" i="0">
                <a:solidFill>
                  <a:srgbClr val="10213B"/>
                </a:solidFill>
                <a:latin typeface="Inter"/>
              </a:rPr>
              <a:t>A small, measured pilot</a:t>
            </a:r>
          </a:p>
        </p:txBody>
      </p:sp>
      <p:sp>
        <p:nvSpPr>
          <p:cNvPr id="31" name="TextBox 30"/>
          <p:cNvSpPr txBox="1"/>
          <p:nvPr/>
        </p:nvSpPr>
        <p:spPr>
          <a:xfrm>
            <a:off x="9692640" y="5367528"/>
            <a:ext cx="1828800" cy="82296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Useful sessions, onboarding and follow-up — then expand what works.</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CONTENTS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What this presentation covers.</a:t>
            </a:r>
          </a:p>
        </p:txBody>
      </p:sp>
      <p:cxnSp>
        <p:nvCxnSpPr>
          <p:cNvPr id="4" name="Connector 3"/>
          <p:cNvCxnSpPr/>
          <p:nvPr/>
        </p:nvCxnSpPr>
        <p:spPr>
          <a:xfrm>
            <a:off x="594360" y="1965960"/>
            <a:ext cx="5257800" cy="0"/>
          </a:xfrm>
          <a:prstGeom prst="line">
            <a:avLst/>
          </a:prstGeom>
          <a:ln w="12700">
            <a:solidFill>
              <a:srgbClr val="10213B"/>
            </a:solidFill>
          </a:ln>
        </p:spPr>
      </p:cxnSp>
      <p:sp>
        <p:nvSpPr>
          <p:cNvPr id="5" name="TextBox 4"/>
          <p:cNvSpPr txBox="1"/>
          <p:nvPr/>
        </p:nvSpPr>
        <p:spPr>
          <a:xfrm>
            <a:off x="594360" y="210312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01</a:t>
            </a:r>
          </a:p>
        </p:txBody>
      </p:sp>
      <p:sp>
        <p:nvSpPr>
          <p:cNvPr id="6" name="TextBox 5"/>
          <p:cNvSpPr txBox="1"/>
          <p:nvPr/>
        </p:nvSpPr>
        <p:spPr>
          <a:xfrm>
            <a:off x="1508760" y="212140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Why founders need a roof</a:t>
            </a:r>
          </a:p>
        </p:txBody>
      </p:sp>
      <p:sp>
        <p:nvSpPr>
          <p:cNvPr id="7" name="TextBox 6"/>
          <p:cNvSpPr txBox="1"/>
          <p:nvPr/>
        </p:nvSpPr>
        <p:spPr>
          <a:xfrm>
            <a:off x="1508760" y="2468880"/>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The founder experience, why startups struggle and the UAE context</a:t>
            </a:r>
          </a:p>
        </p:txBody>
      </p:sp>
      <p:cxnSp>
        <p:nvCxnSpPr>
          <p:cNvPr id="8" name="Connector 7"/>
          <p:cNvCxnSpPr/>
          <p:nvPr/>
        </p:nvCxnSpPr>
        <p:spPr>
          <a:xfrm>
            <a:off x="594360" y="3017520"/>
            <a:ext cx="5257800" cy="0"/>
          </a:xfrm>
          <a:prstGeom prst="line">
            <a:avLst/>
          </a:prstGeom>
          <a:ln w="12700">
            <a:solidFill>
              <a:srgbClr val="D5E2F3"/>
            </a:solidFill>
          </a:ln>
        </p:spPr>
      </p:cxnSp>
      <p:sp>
        <p:nvSpPr>
          <p:cNvPr id="9" name="TextBox 8"/>
          <p:cNvSpPr txBox="1"/>
          <p:nvPr/>
        </p:nvSpPr>
        <p:spPr>
          <a:xfrm>
            <a:off x="594360" y="3154679"/>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02</a:t>
            </a:r>
          </a:p>
        </p:txBody>
      </p:sp>
      <p:sp>
        <p:nvSpPr>
          <p:cNvPr id="10" name="TextBox 9"/>
          <p:cNvSpPr txBox="1"/>
          <p:nvPr/>
        </p:nvSpPr>
        <p:spPr>
          <a:xfrm>
            <a:off x="1508760" y="317296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The Startup Roof concept</a:t>
            </a:r>
          </a:p>
        </p:txBody>
      </p:sp>
      <p:sp>
        <p:nvSpPr>
          <p:cNvPr id="11" name="TextBox 10"/>
          <p:cNvSpPr txBox="1"/>
          <p:nvPr/>
        </p:nvSpPr>
        <p:spPr>
          <a:xfrm>
            <a:off x="1508760" y="352043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Ecosystem, pillars, audiences, sectors and the proposed model</a:t>
            </a:r>
          </a:p>
        </p:txBody>
      </p:sp>
      <p:cxnSp>
        <p:nvCxnSpPr>
          <p:cNvPr id="12" name="Connector 11"/>
          <p:cNvCxnSpPr/>
          <p:nvPr/>
        </p:nvCxnSpPr>
        <p:spPr>
          <a:xfrm>
            <a:off x="594360" y="4069079"/>
            <a:ext cx="5257800" cy="0"/>
          </a:xfrm>
          <a:prstGeom prst="line">
            <a:avLst/>
          </a:prstGeom>
          <a:ln w="12700">
            <a:solidFill>
              <a:srgbClr val="D5E2F3"/>
            </a:solidFill>
          </a:ln>
        </p:spPr>
      </p:cxnSp>
      <p:sp>
        <p:nvSpPr>
          <p:cNvPr id="13" name="TextBox 12"/>
          <p:cNvSpPr txBox="1"/>
          <p:nvPr/>
        </p:nvSpPr>
        <p:spPr>
          <a:xfrm>
            <a:off x="594360" y="420624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03</a:t>
            </a:r>
          </a:p>
        </p:txBody>
      </p:sp>
      <p:sp>
        <p:nvSpPr>
          <p:cNvPr id="14" name="TextBox 13"/>
          <p:cNvSpPr txBox="1"/>
          <p:nvPr/>
        </p:nvSpPr>
        <p:spPr>
          <a:xfrm>
            <a:off x="1508760" y="4224527"/>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The founder journey</a:t>
            </a:r>
          </a:p>
        </p:txBody>
      </p:sp>
      <p:sp>
        <p:nvSpPr>
          <p:cNvPr id="15" name="TextBox 14"/>
          <p:cNvSpPr txBox="1"/>
          <p:nvPr/>
        </p:nvSpPr>
        <p:spPr>
          <a:xfrm>
            <a:off x="1508760" y="457199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Six stages, practical checklists, key metrics and funding options</a:t>
            </a:r>
          </a:p>
        </p:txBody>
      </p:sp>
      <p:cxnSp>
        <p:nvCxnSpPr>
          <p:cNvPr id="16" name="Connector 15"/>
          <p:cNvCxnSpPr/>
          <p:nvPr/>
        </p:nvCxnSpPr>
        <p:spPr>
          <a:xfrm>
            <a:off x="594360" y="5120640"/>
            <a:ext cx="5257800" cy="0"/>
          </a:xfrm>
          <a:prstGeom prst="line">
            <a:avLst/>
          </a:prstGeom>
          <a:ln w="12700">
            <a:solidFill>
              <a:srgbClr val="D5E2F3"/>
            </a:solidFill>
          </a:ln>
        </p:spPr>
      </p:cxnSp>
      <p:sp>
        <p:nvSpPr>
          <p:cNvPr id="17" name="TextBox 16"/>
          <p:cNvSpPr txBox="1"/>
          <p:nvPr/>
        </p:nvSpPr>
        <p:spPr>
          <a:xfrm>
            <a:off x="594360" y="525780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04</a:t>
            </a:r>
          </a:p>
        </p:txBody>
      </p:sp>
      <p:sp>
        <p:nvSpPr>
          <p:cNvPr id="18" name="TextBox 17"/>
          <p:cNvSpPr txBox="1"/>
          <p:nvPr/>
        </p:nvSpPr>
        <p:spPr>
          <a:xfrm>
            <a:off x="1508760" y="527608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Founder OS</a:t>
            </a:r>
          </a:p>
        </p:txBody>
      </p:sp>
      <p:sp>
        <p:nvSpPr>
          <p:cNvPr id="19" name="TextBox 18"/>
          <p:cNvSpPr txBox="1"/>
          <p:nvPr/>
        </p:nvSpPr>
        <p:spPr>
          <a:xfrm>
            <a:off x="1508760" y="562355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The planned digital workspace, illustrative screens and principles</a:t>
            </a:r>
          </a:p>
        </p:txBody>
      </p:sp>
      <p:cxnSp>
        <p:nvCxnSpPr>
          <p:cNvPr id="20" name="Connector 19"/>
          <p:cNvCxnSpPr/>
          <p:nvPr/>
        </p:nvCxnSpPr>
        <p:spPr>
          <a:xfrm>
            <a:off x="6172200" y="1965960"/>
            <a:ext cx="5257800" cy="0"/>
          </a:xfrm>
          <a:prstGeom prst="line">
            <a:avLst/>
          </a:prstGeom>
          <a:ln w="12700">
            <a:solidFill>
              <a:srgbClr val="10213B"/>
            </a:solidFill>
          </a:ln>
        </p:spPr>
      </p:cxnSp>
      <p:sp>
        <p:nvSpPr>
          <p:cNvPr id="21" name="TextBox 20"/>
          <p:cNvSpPr txBox="1"/>
          <p:nvPr/>
        </p:nvSpPr>
        <p:spPr>
          <a:xfrm>
            <a:off x="6172200" y="210312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05</a:t>
            </a:r>
          </a:p>
        </p:txBody>
      </p:sp>
      <p:sp>
        <p:nvSpPr>
          <p:cNvPr id="22" name="TextBox 21"/>
          <p:cNvSpPr txBox="1"/>
          <p:nvPr/>
        </p:nvSpPr>
        <p:spPr>
          <a:xfrm>
            <a:off x="7086600" y="212140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Ecosystem services</a:t>
            </a:r>
          </a:p>
        </p:txBody>
      </p:sp>
      <p:sp>
        <p:nvSpPr>
          <p:cNvPr id="23" name="TextBox 22"/>
          <p:cNvSpPr txBox="1"/>
          <p:nvPr/>
        </p:nvSpPr>
        <p:spPr>
          <a:xfrm>
            <a:off x="7086600" y="2468880"/>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Community, mentoring, Academy, expert services, insights and incubation</a:t>
            </a:r>
          </a:p>
        </p:txBody>
      </p:sp>
      <p:cxnSp>
        <p:nvCxnSpPr>
          <p:cNvPr id="24" name="Connector 23"/>
          <p:cNvCxnSpPr/>
          <p:nvPr/>
        </p:nvCxnSpPr>
        <p:spPr>
          <a:xfrm>
            <a:off x="6172200" y="3017520"/>
            <a:ext cx="5257800" cy="0"/>
          </a:xfrm>
          <a:prstGeom prst="line">
            <a:avLst/>
          </a:prstGeom>
          <a:ln w="12700">
            <a:solidFill>
              <a:srgbClr val="D5E2F3"/>
            </a:solidFill>
          </a:ln>
        </p:spPr>
      </p:cxnSp>
      <p:sp>
        <p:nvSpPr>
          <p:cNvPr id="25" name="TextBox 24"/>
          <p:cNvSpPr txBox="1"/>
          <p:nvPr/>
        </p:nvSpPr>
        <p:spPr>
          <a:xfrm>
            <a:off x="6172200" y="3154679"/>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06</a:t>
            </a:r>
          </a:p>
        </p:txBody>
      </p:sp>
      <p:sp>
        <p:nvSpPr>
          <p:cNvPr id="26" name="TextBox 25"/>
          <p:cNvSpPr txBox="1"/>
          <p:nvPr/>
        </p:nvSpPr>
        <p:spPr>
          <a:xfrm>
            <a:off x="7086600" y="317296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Value for the ecosystem</a:t>
            </a:r>
          </a:p>
        </p:txBody>
      </p:sp>
      <p:sp>
        <p:nvSpPr>
          <p:cNvPr id="27" name="TextBox 26"/>
          <p:cNvSpPr txBox="1"/>
          <p:nvPr/>
        </p:nvSpPr>
        <p:spPr>
          <a:xfrm>
            <a:off x="7086600" y="352043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Investors, universities, corporates and service partners</a:t>
            </a:r>
          </a:p>
        </p:txBody>
      </p:sp>
      <p:cxnSp>
        <p:nvCxnSpPr>
          <p:cNvPr id="28" name="Connector 27"/>
          <p:cNvCxnSpPr/>
          <p:nvPr/>
        </p:nvCxnSpPr>
        <p:spPr>
          <a:xfrm>
            <a:off x="6172200" y="4069079"/>
            <a:ext cx="5257800" cy="0"/>
          </a:xfrm>
          <a:prstGeom prst="line">
            <a:avLst/>
          </a:prstGeom>
          <a:ln w="12700">
            <a:solidFill>
              <a:srgbClr val="D5E2F3"/>
            </a:solidFill>
          </a:ln>
        </p:spPr>
      </p:cxnSp>
      <p:sp>
        <p:nvSpPr>
          <p:cNvPr id="29" name="TextBox 28"/>
          <p:cNvSpPr txBox="1"/>
          <p:nvPr/>
        </p:nvSpPr>
        <p:spPr>
          <a:xfrm>
            <a:off x="6172200" y="420624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07</a:t>
            </a:r>
          </a:p>
        </p:txBody>
      </p:sp>
      <p:sp>
        <p:nvSpPr>
          <p:cNvPr id="30" name="TextBox 29"/>
          <p:cNvSpPr txBox="1"/>
          <p:nvPr/>
        </p:nvSpPr>
        <p:spPr>
          <a:xfrm>
            <a:off x="7086600" y="4224527"/>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Model, pilot and roadmap</a:t>
            </a:r>
          </a:p>
        </p:txBody>
      </p:sp>
      <p:sp>
        <p:nvSpPr>
          <p:cNvPr id="31" name="TextBox 30"/>
          <p:cNvSpPr txBox="1"/>
          <p:nvPr/>
        </p:nvSpPr>
        <p:spPr>
          <a:xfrm>
            <a:off x="7086600" y="457199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Commercial hypotheses, pilot design, measurement, milestones and risks</a:t>
            </a:r>
          </a:p>
        </p:txBody>
      </p:sp>
      <p:cxnSp>
        <p:nvCxnSpPr>
          <p:cNvPr id="32" name="Connector 31"/>
          <p:cNvCxnSpPr/>
          <p:nvPr/>
        </p:nvCxnSpPr>
        <p:spPr>
          <a:xfrm>
            <a:off x="6172200" y="5120640"/>
            <a:ext cx="5257800" cy="0"/>
          </a:xfrm>
          <a:prstGeom prst="line">
            <a:avLst/>
          </a:prstGeom>
          <a:ln w="12700">
            <a:solidFill>
              <a:srgbClr val="D5E2F3"/>
            </a:solidFill>
          </a:ln>
        </p:spPr>
      </p:cxnSp>
      <p:sp>
        <p:nvSpPr>
          <p:cNvPr id="33" name="TextBox 32"/>
          <p:cNvSpPr txBox="1"/>
          <p:nvPr/>
        </p:nvSpPr>
        <p:spPr>
          <a:xfrm>
            <a:off x="6172200" y="5257800"/>
            <a:ext cx="82296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08</a:t>
            </a:r>
          </a:p>
        </p:txBody>
      </p:sp>
      <p:sp>
        <p:nvSpPr>
          <p:cNvPr id="34" name="TextBox 33"/>
          <p:cNvSpPr txBox="1"/>
          <p:nvPr/>
        </p:nvSpPr>
        <p:spPr>
          <a:xfrm>
            <a:off x="7086600" y="5276088"/>
            <a:ext cx="4343400" cy="36576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People and participation</a:t>
            </a:r>
          </a:p>
        </p:txBody>
      </p:sp>
      <p:sp>
        <p:nvSpPr>
          <p:cNvPr id="35" name="TextBox 34"/>
          <p:cNvSpPr txBox="1"/>
          <p:nvPr/>
        </p:nvSpPr>
        <p:spPr>
          <a:xfrm>
            <a:off x="7086600" y="5623559"/>
            <a:ext cx="4343400" cy="45720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Capabilities, contribution, FAQ, glossary and invitation</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01</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Why founders need a roof</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The founder experience, why startups struggle and the UAE context</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The founder experience today</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Why startups struggle</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The survival challenge</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Evidence that support helps</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Regional momentum and the UAE</a:t>
            </a:r>
          </a:p>
        </p:txBody>
      </p:sp>
      <p:cxnSp>
        <p:nvCxnSpPr>
          <p:cNvPr id="17" name="Connector 16"/>
          <p:cNvCxnSpPr/>
          <p:nvPr/>
        </p:nvCxnSpPr>
        <p:spPr>
          <a:xfrm>
            <a:off x="8092440" y="4617720"/>
            <a:ext cx="3502152" cy="0"/>
          </a:xfrm>
          <a:prstGeom prst="line">
            <a:avLst/>
          </a:prstGeom>
          <a:ln w="12700">
            <a:solidFill>
              <a:srgbClr val="2E4A72"/>
            </a:solidFill>
          </a:ln>
        </p:spPr>
      </p:cxnSp>
      <p:sp>
        <p:nvSpPr>
          <p:cNvPr id="18" name="TextBox 17"/>
          <p:cNvSpPr txBox="1"/>
          <p:nvPr/>
        </p:nvSpPr>
        <p:spPr>
          <a:xfrm>
            <a:off x="8092440" y="470916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AI in small businesses</a:t>
            </a:r>
          </a:p>
        </p:txBody>
      </p:sp>
      <p:sp>
        <p:nvSpPr>
          <p:cNvPr id="19" name="TextBox 18"/>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EXPERIENCE TODAY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3000" b="1" i="0">
                <a:solidFill>
                  <a:srgbClr val="10213B"/>
                </a:solidFill>
                <a:latin typeface="Inter"/>
              </a:rPr>
              <a:t>Founders need more than information.
They need a practical path forward.</a:t>
            </a:r>
          </a:p>
        </p:txBody>
      </p:sp>
      <p:sp>
        <p:nvSpPr>
          <p:cNvPr id="4" name="TextBox 3"/>
          <p:cNvSpPr txBox="1"/>
          <p:nvPr/>
        </p:nvSpPr>
        <p:spPr>
          <a:xfrm>
            <a:off x="594360" y="2148840"/>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01</a:t>
            </a:r>
          </a:p>
        </p:txBody>
      </p:sp>
      <p:sp>
        <p:nvSpPr>
          <p:cNvPr id="5" name="TextBox 4"/>
          <p:cNvSpPr txBox="1"/>
          <p:nvPr/>
        </p:nvSpPr>
        <p:spPr>
          <a:xfrm>
            <a:off x="1097280" y="2148840"/>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Information is scattered</a:t>
            </a:r>
          </a:p>
        </p:txBody>
      </p:sp>
      <p:sp>
        <p:nvSpPr>
          <p:cNvPr id="6" name="TextBox 5"/>
          <p:cNvSpPr txBox="1"/>
          <p:nvPr/>
        </p:nvSpPr>
        <p:spPr>
          <a:xfrm>
            <a:off x="1097280" y="2496312"/>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Guidance sits across many websites, groups and programmes — hard to compare, harder to act on.</a:t>
            </a:r>
          </a:p>
        </p:txBody>
      </p:sp>
      <p:cxnSp>
        <p:nvCxnSpPr>
          <p:cNvPr id="7" name="Connector 6"/>
          <p:cNvCxnSpPr/>
          <p:nvPr/>
        </p:nvCxnSpPr>
        <p:spPr>
          <a:xfrm>
            <a:off x="594360" y="2020824"/>
            <a:ext cx="3566160" cy="0"/>
          </a:xfrm>
          <a:prstGeom prst="line">
            <a:avLst/>
          </a:prstGeom>
          <a:ln w="9525">
            <a:solidFill>
              <a:srgbClr val="D5E2F3"/>
            </a:solidFill>
          </a:ln>
        </p:spPr>
      </p:cxnSp>
      <p:sp>
        <p:nvSpPr>
          <p:cNvPr id="8" name="TextBox 7"/>
          <p:cNvSpPr txBox="1"/>
          <p:nvPr/>
        </p:nvSpPr>
        <p:spPr>
          <a:xfrm>
            <a:off x="4389120" y="2148840"/>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02</a:t>
            </a:r>
          </a:p>
        </p:txBody>
      </p:sp>
      <p:sp>
        <p:nvSpPr>
          <p:cNvPr id="9" name="TextBox 8"/>
          <p:cNvSpPr txBox="1"/>
          <p:nvPr/>
        </p:nvSpPr>
        <p:spPr>
          <a:xfrm>
            <a:off x="4892040" y="2148840"/>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Tools do not connect</a:t>
            </a:r>
          </a:p>
        </p:txBody>
      </p:sp>
      <p:sp>
        <p:nvSpPr>
          <p:cNvPr id="10" name="TextBox 9"/>
          <p:cNvSpPr txBox="1"/>
          <p:nvPr/>
        </p:nvSpPr>
        <p:spPr>
          <a:xfrm>
            <a:off x="4892040" y="2496312"/>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Plans, tasks, documents and contacts live in separate apps with no shared picture of progress.</a:t>
            </a:r>
          </a:p>
        </p:txBody>
      </p:sp>
      <p:cxnSp>
        <p:nvCxnSpPr>
          <p:cNvPr id="11" name="Connector 10"/>
          <p:cNvCxnSpPr/>
          <p:nvPr/>
        </p:nvCxnSpPr>
        <p:spPr>
          <a:xfrm>
            <a:off x="4389120" y="2020824"/>
            <a:ext cx="3566160" cy="0"/>
          </a:xfrm>
          <a:prstGeom prst="line">
            <a:avLst/>
          </a:prstGeom>
          <a:ln w="9525">
            <a:solidFill>
              <a:srgbClr val="D5E2F3"/>
            </a:solidFill>
          </a:ln>
        </p:spPr>
      </p:cxnSp>
      <p:sp>
        <p:nvSpPr>
          <p:cNvPr id="12" name="TextBox 11"/>
          <p:cNvSpPr txBox="1"/>
          <p:nvPr/>
        </p:nvSpPr>
        <p:spPr>
          <a:xfrm>
            <a:off x="594360" y="3447288"/>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03</a:t>
            </a:r>
          </a:p>
        </p:txBody>
      </p:sp>
      <p:sp>
        <p:nvSpPr>
          <p:cNvPr id="13" name="TextBox 12"/>
          <p:cNvSpPr txBox="1"/>
          <p:nvPr/>
        </p:nvSpPr>
        <p:spPr>
          <a:xfrm>
            <a:off x="1097280" y="3447288"/>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Advice lacks a next step</a:t>
            </a:r>
          </a:p>
        </p:txBody>
      </p:sp>
      <p:sp>
        <p:nvSpPr>
          <p:cNvPr id="14" name="TextBox 13"/>
          <p:cNvSpPr txBox="1"/>
          <p:nvPr/>
        </p:nvSpPr>
        <p:spPr>
          <a:xfrm>
            <a:off x="1097280" y="3794760"/>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General advice rarely translates into “what should I do this week?”</a:t>
            </a:r>
          </a:p>
        </p:txBody>
      </p:sp>
      <p:cxnSp>
        <p:nvCxnSpPr>
          <p:cNvPr id="15" name="Connector 14"/>
          <p:cNvCxnSpPr/>
          <p:nvPr/>
        </p:nvCxnSpPr>
        <p:spPr>
          <a:xfrm>
            <a:off x="594360" y="3319272"/>
            <a:ext cx="3566160" cy="0"/>
          </a:xfrm>
          <a:prstGeom prst="line">
            <a:avLst/>
          </a:prstGeom>
          <a:ln w="9525">
            <a:solidFill>
              <a:srgbClr val="D5E2F3"/>
            </a:solidFill>
          </a:ln>
        </p:spPr>
      </p:cxnSp>
      <p:sp>
        <p:nvSpPr>
          <p:cNvPr id="16" name="TextBox 15"/>
          <p:cNvSpPr txBox="1"/>
          <p:nvPr/>
        </p:nvSpPr>
        <p:spPr>
          <a:xfrm>
            <a:off x="4389120" y="3447288"/>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04</a:t>
            </a:r>
          </a:p>
        </p:txBody>
      </p:sp>
      <p:sp>
        <p:nvSpPr>
          <p:cNvPr id="17" name="TextBox 16"/>
          <p:cNvSpPr txBox="1"/>
          <p:nvPr/>
        </p:nvSpPr>
        <p:spPr>
          <a:xfrm>
            <a:off x="4892040" y="3447288"/>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The right people are hard to find</a:t>
            </a:r>
          </a:p>
        </p:txBody>
      </p:sp>
      <p:sp>
        <p:nvSpPr>
          <p:cNvPr id="18" name="TextBox 17"/>
          <p:cNvSpPr txBox="1"/>
          <p:nvPr/>
        </p:nvSpPr>
        <p:spPr>
          <a:xfrm>
            <a:off x="4892040" y="3794760"/>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Relevant mentors and specialists are often reached by chance, not by fit.</a:t>
            </a:r>
          </a:p>
        </p:txBody>
      </p:sp>
      <p:cxnSp>
        <p:nvCxnSpPr>
          <p:cNvPr id="19" name="Connector 18"/>
          <p:cNvCxnSpPr/>
          <p:nvPr/>
        </p:nvCxnSpPr>
        <p:spPr>
          <a:xfrm>
            <a:off x="4389120" y="3319272"/>
            <a:ext cx="3566160" cy="0"/>
          </a:xfrm>
          <a:prstGeom prst="line">
            <a:avLst/>
          </a:prstGeom>
          <a:ln w="9525">
            <a:solidFill>
              <a:srgbClr val="D5E2F3"/>
            </a:solidFill>
          </a:ln>
        </p:spPr>
      </p:cxnSp>
      <p:sp>
        <p:nvSpPr>
          <p:cNvPr id="20" name="TextBox 19"/>
          <p:cNvSpPr txBox="1"/>
          <p:nvPr/>
        </p:nvSpPr>
        <p:spPr>
          <a:xfrm>
            <a:off x="594360" y="4745736"/>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05</a:t>
            </a:r>
          </a:p>
        </p:txBody>
      </p:sp>
      <p:sp>
        <p:nvSpPr>
          <p:cNvPr id="21" name="TextBox 20"/>
          <p:cNvSpPr txBox="1"/>
          <p:nvPr/>
        </p:nvSpPr>
        <p:spPr>
          <a:xfrm>
            <a:off x="1097280" y="4745736"/>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Introductions go nowhere</a:t>
            </a:r>
          </a:p>
        </p:txBody>
      </p:sp>
      <p:sp>
        <p:nvSpPr>
          <p:cNvPr id="22" name="TextBox 21"/>
          <p:cNvSpPr txBox="1"/>
          <p:nvPr/>
        </p:nvSpPr>
        <p:spPr>
          <a:xfrm>
            <a:off x="1097280" y="5093207"/>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Connections are made, but few lead to a conversation with a useful outcome.</a:t>
            </a:r>
          </a:p>
        </p:txBody>
      </p:sp>
      <p:cxnSp>
        <p:nvCxnSpPr>
          <p:cNvPr id="23" name="Connector 22"/>
          <p:cNvCxnSpPr/>
          <p:nvPr/>
        </p:nvCxnSpPr>
        <p:spPr>
          <a:xfrm>
            <a:off x="594360" y="4617720"/>
            <a:ext cx="3566160" cy="0"/>
          </a:xfrm>
          <a:prstGeom prst="line">
            <a:avLst/>
          </a:prstGeom>
          <a:ln w="9525">
            <a:solidFill>
              <a:srgbClr val="D5E2F3"/>
            </a:solidFill>
          </a:ln>
        </p:spPr>
      </p:cxnSp>
      <p:sp>
        <p:nvSpPr>
          <p:cNvPr id="24" name="TextBox 23"/>
          <p:cNvSpPr txBox="1"/>
          <p:nvPr/>
        </p:nvSpPr>
        <p:spPr>
          <a:xfrm>
            <a:off x="4389120" y="4745736"/>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06</a:t>
            </a:r>
          </a:p>
        </p:txBody>
      </p:sp>
      <p:sp>
        <p:nvSpPr>
          <p:cNvPr id="25" name="TextBox 24"/>
          <p:cNvSpPr txBox="1"/>
          <p:nvPr/>
        </p:nvSpPr>
        <p:spPr>
          <a:xfrm>
            <a:off x="4892040" y="4745736"/>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Time and money are limited</a:t>
            </a:r>
          </a:p>
        </p:txBody>
      </p:sp>
      <p:sp>
        <p:nvSpPr>
          <p:cNvPr id="26" name="TextBox 25"/>
          <p:cNvSpPr txBox="1"/>
          <p:nvPr/>
        </p:nvSpPr>
        <p:spPr>
          <a:xfrm>
            <a:off x="4892040" y="5093207"/>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Founders must choose carefully where to spend scarce hours and budget.</a:t>
            </a:r>
          </a:p>
        </p:txBody>
      </p:sp>
      <p:cxnSp>
        <p:nvCxnSpPr>
          <p:cNvPr id="27" name="Connector 26"/>
          <p:cNvCxnSpPr/>
          <p:nvPr/>
        </p:nvCxnSpPr>
        <p:spPr>
          <a:xfrm>
            <a:off x="4389120" y="4617720"/>
            <a:ext cx="3566160" cy="0"/>
          </a:xfrm>
          <a:prstGeom prst="line">
            <a:avLst/>
          </a:prstGeom>
          <a:ln w="9525">
            <a:solidFill>
              <a:srgbClr val="D5E2F3"/>
            </a:solidFill>
          </a:ln>
        </p:spPr>
      </p:cxnSp>
      <p:sp>
        <p:nvSpPr>
          <p:cNvPr id="28" name="Rectangle 27"/>
          <p:cNvSpPr/>
          <p:nvPr/>
        </p:nvSpPr>
        <p:spPr>
          <a:xfrm>
            <a:off x="8366760" y="2011680"/>
            <a:ext cx="3246120" cy="4069080"/>
          </a:xfrm>
          <a:prstGeom prst="rect">
            <a:avLst/>
          </a:prstGeom>
          <a:solidFill>
            <a:srgbClr val="10213B"/>
          </a:solidFill>
          <a:ln>
            <a:noFill/>
          </a:ln>
          <a:effectLst/>
        </p:spPr>
        <p:txBody>
          <a:bodyPr rtlCol="0" anchor="ctr" lIns="73152" rIns="73152" tIns="36576" bIns="36576"/>
          <a:lstStyle/>
          <a:p>
            <a:pPr algn="ctr"/>
          </a:p>
        </p:txBody>
      </p:sp>
      <p:sp>
        <p:nvSpPr>
          <p:cNvPr id="29" name="TextBox 28"/>
          <p:cNvSpPr txBox="1"/>
          <p:nvPr/>
        </p:nvSpPr>
        <p:spPr>
          <a:xfrm>
            <a:off x="8641080" y="2267712"/>
            <a:ext cx="2743200" cy="274320"/>
          </a:xfrm>
          <a:prstGeom prst="rect">
            <a:avLst/>
          </a:prstGeom>
          <a:noFill/>
        </p:spPr>
        <p:txBody>
          <a:bodyPr wrap="square" lIns="0" rIns="0" tIns="0" bIns="0" anchor="t"/>
          <a:lstStyle/>
          <a:p>
            <a:pPr algn="l">
              <a:lnSpc>
                <a:spcPct val="115000"/>
              </a:lnSpc>
              <a:spcAft>
                <a:spcPts val="0"/>
              </a:spcAft>
            </a:pPr>
            <a:r>
              <a:rPr sz="950" b="1" i="0" spc="120">
                <a:solidFill>
                  <a:srgbClr val="4F8BE0"/>
                </a:solidFill>
                <a:latin typeface="Inter"/>
              </a:rPr>
              <a:t>WHAT WE WILL INVESTIGATE</a:t>
            </a:r>
          </a:p>
        </p:txBody>
      </p:sp>
      <p:sp>
        <p:nvSpPr>
          <p:cNvPr id="30" name="TextBox 29"/>
          <p:cNvSpPr txBox="1"/>
          <p:nvPr/>
        </p:nvSpPr>
        <p:spPr>
          <a:xfrm>
            <a:off x="8641080" y="2633472"/>
            <a:ext cx="2743200" cy="2011680"/>
          </a:xfrm>
          <a:prstGeom prst="rect">
            <a:avLst/>
          </a:prstGeom>
          <a:noFill/>
        </p:spPr>
        <p:txBody>
          <a:bodyPr wrap="square" lIns="0" rIns="0" tIns="0" bIns="0" anchor="t"/>
          <a:lstStyle/>
          <a:p>
            <a:pPr algn="l">
              <a:lnSpc>
                <a:spcPct val="120000"/>
              </a:lnSpc>
              <a:spcAft>
                <a:spcPts val="0"/>
              </a:spcAft>
            </a:pPr>
            <a:r>
              <a:rPr sz="1550" b="1" i="0">
                <a:solidFill>
                  <a:srgbClr val="FFFFFF"/>
                </a:solidFill>
                <a:latin typeface="Inter"/>
              </a:rPr>
              <a:t>Our working view is that founders move faster when guidance, tools and people are connected to a clear next step.</a:t>
            </a:r>
          </a:p>
        </p:txBody>
      </p:sp>
      <p:sp>
        <p:nvSpPr>
          <p:cNvPr id="31" name="TextBox 30"/>
          <p:cNvSpPr txBox="1"/>
          <p:nvPr/>
        </p:nvSpPr>
        <p:spPr>
          <a:xfrm>
            <a:off x="8641080" y="4617720"/>
            <a:ext cx="2743200" cy="1280160"/>
          </a:xfrm>
          <a:prstGeom prst="rect">
            <a:avLst/>
          </a:prstGeom>
          <a:noFill/>
        </p:spPr>
        <p:txBody>
          <a:bodyPr wrap="square" lIns="0" rIns="0" tIns="0" bIns="0" anchor="t"/>
          <a:lstStyle/>
          <a:p>
            <a:pPr algn="l">
              <a:lnSpc>
                <a:spcPct val="125000"/>
              </a:lnSpc>
              <a:spcAft>
                <a:spcPts val="0"/>
              </a:spcAft>
            </a:pPr>
            <a:r>
              <a:rPr sz="1150" b="0" i="0">
                <a:solidFill>
                  <a:srgbClr val="C9D6E8"/>
                </a:solidFill>
                <a:latin typeface="Inter"/>
              </a:rPr>
              <a:t>The pilot will test this directly with founders — through interviews, sessions and follow-up — before we scale anything.</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WHY STARTUPS STRUGGLE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Most failures come back to the market, cash and competition.</a:t>
            </a:r>
          </a:p>
        </p:txBody>
      </p:sp>
      <p:graphicFrame>
        <p:nvGraphicFramePr>
          <p:cNvPr id="4" name="Chart 3"/>
          <p:cNvGraphicFramePr>
            <a:graphicFrameLocks noGrp="1"/>
          </p:cNvGraphicFramePr>
          <p:nvPr/>
        </p:nvGraphicFramePr>
        <p:xfrm>
          <a:off x="502920" y="1874519"/>
          <a:ext cx="6583680" cy="3931920"/>
        </p:xfrm>
        <a:graphic>
          <a:graphicData uri="http://schemas.openxmlformats.org/drawingml/2006/chart">
            <c:chart xmlns:c="http://schemas.openxmlformats.org/drawingml/2006/chart" r:id="rId2"/>
          </a:graphicData>
        </a:graphic>
      </p:graphicFrame>
      <p:sp>
        <p:nvSpPr>
          <p:cNvPr id="5" name="TextBox 4"/>
          <p:cNvSpPr txBox="1"/>
          <p:nvPr/>
        </p:nvSpPr>
        <p:spPr>
          <a:xfrm>
            <a:off x="594360" y="5806440"/>
            <a:ext cx="6400800" cy="27432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 of 111 startup post-mortems citing each reason (multiple reasons allowed).</a:t>
            </a:r>
          </a:p>
        </p:txBody>
      </p:sp>
      <p:sp>
        <p:nvSpPr>
          <p:cNvPr id="6" name="TextBox 5"/>
          <p:cNvSpPr txBox="1"/>
          <p:nvPr/>
        </p:nvSpPr>
        <p:spPr>
          <a:xfrm>
            <a:off x="7086600" y="1965960"/>
            <a:ext cx="448056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HOW STARTUP ROOF RESPONDS</a:t>
            </a:r>
          </a:p>
        </p:txBody>
      </p:sp>
      <p:cxnSp>
        <p:nvCxnSpPr>
          <p:cNvPr id="7" name="Connector 6"/>
          <p:cNvCxnSpPr/>
          <p:nvPr/>
        </p:nvCxnSpPr>
        <p:spPr>
          <a:xfrm>
            <a:off x="7086600" y="2331720"/>
            <a:ext cx="4510735" cy="0"/>
          </a:xfrm>
          <a:prstGeom prst="line">
            <a:avLst/>
          </a:prstGeom>
          <a:ln w="12700">
            <a:solidFill>
              <a:srgbClr val="D5E2F3"/>
            </a:solidFill>
          </a:ln>
        </p:spPr>
      </p:cxnSp>
      <p:sp>
        <p:nvSpPr>
          <p:cNvPr id="8" name="TextBox 7"/>
          <p:cNvSpPr txBox="1"/>
          <p:nvPr/>
        </p:nvSpPr>
        <p:spPr>
          <a:xfrm>
            <a:off x="7086600" y="2459736"/>
            <a:ext cx="4480560"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Market need</a:t>
            </a:r>
          </a:p>
        </p:txBody>
      </p:sp>
      <p:sp>
        <p:nvSpPr>
          <p:cNvPr id="9" name="TextBox 8"/>
          <p:cNvSpPr txBox="1"/>
          <p:nvPr/>
        </p:nvSpPr>
        <p:spPr>
          <a:xfrm>
            <a:off x="7086600" y="2788920"/>
            <a:ext cx="4480560" cy="64008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Validation comes first: customer conversations and price tests before building.</a:t>
            </a:r>
          </a:p>
        </p:txBody>
      </p:sp>
      <p:cxnSp>
        <p:nvCxnSpPr>
          <p:cNvPr id="10" name="Connector 9"/>
          <p:cNvCxnSpPr/>
          <p:nvPr/>
        </p:nvCxnSpPr>
        <p:spPr>
          <a:xfrm>
            <a:off x="7086600" y="3429000"/>
            <a:ext cx="4510735" cy="0"/>
          </a:xfrm>
          <a:prstGeom prst="line">
            <a:avLst/>
          </a:prstGeom>
          <a:ln w="12700">
            <a:solidFill>
              <a:srgbClr val="D5E2F3"/>
            </a:solidFill>
          </a:ln>
        </p:spPr>
      </p:cxnSp>
      <p:sp>
        <p:nvSpPr>
          <p:cNvPr id="11" name="TextBox 10"/>
          <p:cNvSpPr txBox="1"/>
          <p:nvPr/>
        </p:nvSpPr>
        <p:spPr>
          <a:xfrm>
            <a:off x="7086600" y="3557016"/>
            <a:ext cx="4480560"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Cash</a:t>
            </a:r>
          </a:p>
        </p:txBody>
      </p:sp>
      <p:sp>
        <p:nvSpPr>
          <p:cNvPr id="12" name="TextBox 11"/>
          <p:cNvSpPr txBox="1"/>
          <p:nvPr/>
        </p:nvSpPr>
        <p:spPr>
          <a:xfrm>
            <a:off x="7086600" y="3886200"/>
            <a:ext cx="4480560" cy="64008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Margins, runway and funding options are taught early — not only at fundraising time.</a:t>
            </a:r>
          </a:p>
        </p:txBody>
      </p:sp>
      <p:cxnSp>
        <p:nvCxnSpPr>
          <p:cNvPr id="13" name="Connector 12"/>
          <p:cNvCxnSpPr/>
          <p:nvPr/>
        </p:nvCxnSpPr>
        <p:spPr>
          <a:xfrm>
            <a:off x="7086600" y="4526279"/>
            <a:ext cx="4510735" cy="0"/>
          </a:xfrm>
          <a:prstGeom prst="line">
            <a:avLst/>
          </a:prstGeom>
          <a:ln w="12700">
            <a:solidFill>
              <a:srgbClr val="D5E2F3"/>
            </a:solidFill>
          </a:ln>
        </p:spPr>
      </p:cxnSp>
      <p:sp>
        <p:nvSpPr>
          <p:cNvPr id="14" name="TextBox 13"/>
          <p:cNvSpPr txBox="1"/>
          <p:nvPr/>
        </p:nvSpPr>
        <p:spPr>
          <a:xfrm>
            <a:off x="7086600" y="4654295"/>
            <a:ext cx="4480560"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Competition</a:t>
            </a:r>
          </a:p>
        </p:txBody>
      </p:sp>
      <p:sp>
        <p:nvSpPr>
          <p:cNvPr id="15" name="TextBox 14"/>
          <p:cNvSpPr txBox="1"/>
          <p:nvPr/>
        </p:nvSpPr>
        <p:spPr>
          <a:xfrm>
            <a:off x="7086600" y="4983479"/>
            <a:ext cx="4480560" cy="64008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Radar insights, sector mentors and peer groups keep founders aware of the market.</a:t>
            </a:r>
          </a:p>
        </p:txBody>
      </p:sp>
      <p:sp>
        <p:nvSpPr>
          <p:cNvPr id="16" name="TextBox 15"/>
          <p:cNvSpPr txBox="1"/>
          <p:nvPr/>
        </p:nvSpPr>
        <p:spPr>
          <a:xfrm>
            <a:off x="594360" y="6144768"/>
            <a:ext cx="11002975"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Source: CB Insights, “The Top 12 Reasons Startups Fail”, 2021.</a:t>
            </a:r>
          </a:p>
        </p:txBody>
      </p:sp>
      <p:sp>
        <p:nvSpPr>
          <p:cNvPr id="17" name="TextBox 1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18" name="TextBox 1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SURVIVAL CHALLENGE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About half of new businesses are gone within five years.</a:t>
            </a:r>
          </a:p>
        </p:txBody>
      </p:sp>
      <p:graphicFrame>
        <p:nvGraphicFramePr>
          <p:cNvPr id="4" name="Chart 3"/>
          <p:cNvGraphicFramePr>
            <a:graphicFrameLocks noGrp="1"/>
          </p:cNvGraphicFramePr>
          <p:nvPr/>
        </p:nvGraphicFramePr>
        <p:xfrm>
          <a:off x="502920" y="1874519"/>
          <a:ext cx="67665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594360" y="5760720"/>
            <a:ext cx="6583680" cy="27432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Share of US private-sector establishments opened in March 1994 that were still operating.</a:t>
            </a:r>
          </a:p>
        </p:txBody>
      </p:sp>
      <p:sp>
        <p:nvSpPr>
          <p:cNvPr id="6" name="Rectangle 5"/>
          <p:cNvSpPr/>
          <p:nvPr/>
        </p:nvSpPr>
        <p:spPr>
          <a:xfrm>
            <a:off x="7178040" y="1965960"/>
            <a:ext cx="4419295" cy="1188720"/>
          </a:xfrm>
          <a:prstGeom prst="rect">
            <a:avLst/>
          </a:prstGeom>
          <a:solidFill>
            <a:srgbClr val="EDF4FE"/>
          </a:solidFill>
          <a:ln>
            <a:noFill/>
          </a:ln>
          <a:effectLst/>
        </p:spPr>
        <p:txBody>
          <a:bodyPr rtlCol="0" anchor="ctr" lIns="73152" rIns="73152" tIns="36576" bIns="36576"/>
          <a:lstStyle/>
          <a:p>
            <a:pPr algn="ctr"/>
          </a:p>
        </p:txBody>
      </p:sp>
      <p:sp>
        <p:nvSpPr>
          <p:cNvPr id="7" name="TextBox 6"/>
          <p:cNvSpPr txBox="1"/>
          <p:nvPr/>
        </p:nvSpPr>
        <p:spPr>
          <a:xfrm>
            <a:off x="7406640" y="2103120"/>
            <a:ext cx="155448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34.7%</a:t>
            </a:r>
          </a:p>
        </p:txBody>
      </p:sp>
      <p:sp>
        <p:nvSpPr>
          <p:cNvPr id="8" name="TextBox 7"/>
          <p:cNvSpPr txBox="1"/>
          <p:nvPr/>
        </p:nvSpPr>
        <p:spPr>
          <a:xfrm>
            <a:off x="8961119" y="2130552"/>
            <a:ext cx="2453335" cy="82296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of US establishments born in 2013 were still operating in 2023.</a:t>
            </a:r>
          </a:p>
        </p:txBody>
      </p:sp>
      <p:sp>
        <p:nvSpPr>
          <p:cNvPr id="9" name="TextBox 8"/>
          <p:cNvSpPr txBox="1"/>
          <p:nvPr/>
        </p:nvSpPr>
        <p:spPr>
          <a:xfrm>
            <a:off x="7406640" y="2770632"/>
            <a:ext cx="1463040" cy="27432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US BLS, 2024</a:t>
            </a:r>
          </a:p>
        </p:txBody>
      </p:sp>
      <p:sp>
        <p:nvSpPr>
          <p:cNvPr id="10" name="Rectangle 9"/>
          <p:cNvSpPr/>
          <p:nvPr/>
        </p:nvSpPr>
        <p:spPr>
          <a:xfrm>
            <a:off x="7178040" y="3291839"/>
            <a:ext cx="4419295" cy="1188720"/>
          </a:xfrm>
          <a:prstGeom prst="rect">
            <a:avLst/>
          </a:prstGeom>
          <a:solidFill>
            <a:srgbClr val="EDF4FE"/>
          </a:solidFill>
          <a:ln>
            <a:noFill/>
          </a:ln>
          <a:effectLst/>
        </p:spPr>
        <p:txBody>
          <a:bodyPr rtlCol="0" anchor="ctr" lIns="73152" rIns="73152" tIns="36576" bIns="36576"/>
          <a:lstStyle/>
          <a:p>
            <a:pPr algn="ctr"/>
          </a:p>
        </p:txBody>
      </p:sp>
      <p:sp>
        <p:nvSpPr>
          <p:cNvPr id="11" name="TextBox 10"/>
          <p:cNvSpPr txBox="1"/>
          <p:nvPr/>
        </p:nvSpPr>
        <p:spPr>
          <a:xfrm>
            <a:off x="7406640" y="3428999"/>
            <a:ext cx="1554480" cy="548640"/>
          </a:xfrm>
          <a:prstGeom prst="rect">
            <a:avLst/>
          </a:prstGeom>
          <a:noFill/>
        </p:spPr>
        <p:txBody>
          <a:bodyPr wrap="square" lIns="0" rIns="0" tIns="0" bIns="0" anchor="t"/>
          <a:lstStyle/>
          <a:p>
            <a:pPr algn="l">
              <a:lnSpc>
                <a:spcPct val="115000"/>
              </a:lnSpc>
              <a:spcAft>
                <a:spcPts val="0"/>
              </a:spcAft>
            </a:pPr>
            <a:r>
              <a:rPr sz="2600" b="1" i="0">
                <a:solidFill>
                  <a:srgbClr val="1765D1"/>
                </a:solidFill>
                <a:latin typeface="Inter"/>
              </a:rPr>
              <a:t>≈ 50%</a:t>
            </a:r>
          </a:p>
        </p:txBody>
      </p:sp>
      <p:sp>
        <p:nvSpPr>
          <p:cNvPr id="12" name="TextBox 11"/>
          <p:cNvSpPr txBox="1"/>
          <p:nvPr/>
        </p:nvSpPr>
        <p:spPr>
          <a:xfrm>
            <a:off x="8961119" y="3456432"/>
            <a:ext cx="2453335" cy="82296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of start-ups survive five years across OECD countries studied.</a:t>
            </a:r>
          </a:p>
        </p:txBody>
      </p:sp>
      <p:sp>
        <p:nvSpPr>
          <p:cNvPr id="13" name="TextBox 12"/>
          <p:cNvSpPr txBox="1"/>
          <p:nvPr/>
        </p:nvSpPr>
        <p:spPr>
          <a:xfrm>
            <a:off x="7406640" y="4096511"/>
            <a:ext cx="1463040" cy="27432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OECD, 2015</a:t>
            </a:r>
          </a:p>
        </p:txBody>
      </p:sp>
      <p:sp>
        <p:nvSpPr>
          <p:cNvPr id="14" name="Rectangle 13"/>
          <p:cNvSpPr/>
          <p:nvPr/>
        </p:nvSpPr>
        <p:spPr>
          <a:xfrm>
            <a:off x="7178040" y="4617720"/>
            <a:ext cx="4419295" cy="1188720"/>
          </a:xfrm>
          <a:prstGeom prst="rect">
            <a:avLst/>
          </a:prstGeom>
          <a:solidFill>
            <a:srgbClr val="10213B"/>
          </a:solidFill>
          <a:ln>
            <a:noFill/>
          </a:ln>
          <a:effectLst/>
        </p:spPr>
        <p:txBody>
          <a:bodyPr rtlCol="0" anchor="ctr" lIns="73152" rIns="73152" tIns="36576" bIns="36576"/>
          <a:lstStyle/>
          <a:p>
            <a:pPr algn="ctr"/>
          </a:p>
        </p:txBody>
      </p:sp>
      <p:sp>
        <p:nvSpPr>
          <p:cNvPr id="15" name="TextBox 14"/>
          <p:cNvSpPr txBox="1"/>
          <p:nvPr/>
        </p:nvSpPr>
        <p:spPr>
          <a:xfrm>
            <a:off x="7406640" y="4754880"/>
            <a:ext cx="1554480" cy="548640"/>
          </a:xfrm>
          <a:prstGeom prst="rect">
            <a:avLst/>
          </a:prstGeom>
          <a:noFill/>
        </p:spPr>
        <p:txBody>
          <a:bodyPr wrap="square" lIns="0" rIns="0" tIns="0" bIns="0" anchor="t"/>
          <a:lstStyle/>
          <a:p>
            <a:pPr algn="l">
              <a:lnSpc>
                <a:spcPct val="115000"/>
              </a:lnSpc>
              <a:spcAft>
                <a:spcPts val="0"/>
              </a:spcAft>
            </a:pPr>
            <a:r>
              <a:rPr sz="2600" b="1" i="0">
                <a:solidFill>
                  <a:srgbClr val="FFFFFF"/>
                </a:solidFill>
                <a:latin typeface="Inter"/>
              </a:rPr>
              <a:t>1 in 2</a:t>
            </a:r>
          </a:p>
        </p:txBody>
      </p:sp>
      <p:sp>
        <p:nvSpPr>
          <p:cNvPr id="16" name="TextBox 15"/>
          <p:cNvSpPr txBox="1"/>
          <p:nvPr/>
        </p:nvSpPr>
        <p:spPr>
          <a:xfrm>
            <a:off x="8961119" y="4782312"/>
            <a:ext cx="2453335" cy="822960"/>
          </a:xfrm>
          <a:prstGeom prst="rect">
            <a:avLst/>
          </a:prstGeom>
          <a:noFill/>
        </p:spPr>
        <p:txBody>
          <a:bodyPr wrap="square" lIns="0" rIns="0" tIns="0" bIns="0" anchor="t"/>
          <a:lstStyle/>
          <a:p>
            <a:pPr algn="l">
              <a:lnSpc>
                <a:spcPct val="120000"/>
              </a:lnSpc>
              <a:spcAft>
                <a:spcPts val="0"/>
              </a:spcAft>
            </a:pPr>
            <a:r>
              <a:rPr sz="1150" b="0" i="0">
                <a:solidFill>
                  <a:srgbClr val="C9D6E8"/>
                </a:solidFill>
                <a:latin typeface="Inter"/>
              </a:rPr>
              <a:t>is the simple takeaway: support in the early years matters.</a:t>
            </a:r>
          </a:p>
        </p:txBody>
      </p:sp>
      <p:sp>
        <p:nvSpPr>
          <p:cNvPr id="17" name="TextBox 16"/>
          <p:cNvSpPr txBox="1"/>
          <p:nvPr/>
        </p:nvSpPr>
        <p:spPr>
          <a:xfrm>
            <a:off x="594360" y="6144768"/>
            <a:ext cx="11002975"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Sources: US Bureau of Labor Statistics, Business Employment Dynamics (1994 cohort; TED 2024 for the 2013 cohort); Calvino, Criscuolo &amp; Menon, OECD STI Policy Paper, 2015.</a:t>
            </a:r>
          </a:p>
        </p:txBody>
      </p:sp>
      <p:sp>
        <p:nvSpPr>
          <p:cNvPr id="18" name="TextBox 17"/>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19" name="TextBox 18"/>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EVIDENCE THAT SUPPORT HELPS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Mentors, networks and structured programmes are linked to better outcomes.</a:t>
            </a:r>
          </a:p>
        </p:txBody>
      </p:sp>
      <p:sp>
        <p:nvSpPr>
          <p:cNvPr id="4" name="Rectangle 3"/>
          <p:cNvSpPr/>
          <p:nvPr/>
        </p:nvSpPr>
        <p:spPr>
          <a:xfrm>
            <a:off x="594360" y="2011680"/>
            <a:ext cx="3545738" cy="338328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868680" y="2240280"/>
            <a:ext cx="2997098" cy="822960"/>
          </a:xfrm>
          <a:prstGeom prst="rect">
            <a:avLst/>
          </a:prstGeom>
          <a:noFill/>
        </p:spPr>
        <p:txBody>
          <a:bodyPr wrap="square" lIns="0" rIns="0" tIns="0" bIns="0" anchor="t"/>
          <a:lstStyle/>
          <a:p>
            <a:pPr algn="l">
              <a:lnSpc>
                <a:spcPct val="115000"/>
              </a:lnSpc>
              <a:spcAft>
                <a:spcPts val="0"/>
              </a:spcAft>
            </a:pPr>
            <a:r>
              <a:rPr sz="4000" b="1" i="0">
                <a:solidFill>
                  <a:srgbClr val="FFFFFF"/>
                </a:solidFill>
                <a:latin typeface="Inter"/>
              </a:rPr>
              <a:t>33%</a:t>
            </a:r>
          </a:p>
        </p:txBody>
      </p:sp>
      <p:sp>
        <p:nvSpPr>
          <p:cNvPr id="6" name="TextBox 5"/>
          <p:cNvSpPr txBox="1"/>
          <p:nvPr/>
        </p:nvSpPr>
        <p:spPr>
          <a:xfrm>
            <a:off x="868680" y="3200400"/>
            <a:ext cx="2997098" cy="1463040"/>
          </a:xfrm>
          <a:prstGeom prst="rect">
            <a:avLst/>
          </a:prstGeom>
          <a:noFill/>
        </p:spPr>
        <p:txBody>
          <a:bodyPr wrap="square" lIns="0" rIns="0" tIns="0" bIns="0" anchor="t"/>
          <a:lstStyle/>
          <a:p>
            <a:pPr algn="l">
              <a:lnSpc>
                <a:spcPct val="125000"/>
              </a:lnSpc>
              <a:spcAft>
                <a:spcPts val="0"/>
              </a:spcAft>
            </a:pPr>
            <a:r>
              <a:rPr sz="1250" b="0" i="0">
                <a:solidFill>
                  <a:srgbClr val="DCE6F5"/>
                </a:solidFill>
                <a:latin typeface="Inter"/>
              </a:rPr>
              <a:t>of New York tech founders mentored by successful entrepreneurs became top performers — over three times the rate of other firms.</a:t>
            </a:r>
          </a:p>
        </p:txBody>
      </p:sp>
      <p:sp>
        <p:nvSpPr>
          <p:cNvPr id="7" name="TextBox 6"/>
          <p:cNvSpPr txBox="1"/>
          <p:nvPr/>
        </p:nvSpPr>
        <p:spPr>
          <a:xfrm>
            <a:off x="868680" y="4754880"/>
            <a:ext cx="2997098" cy="548640"/>
          </a:xfrm>
          <a:prstGeom prst="rect">
            <a:avLst/>
          </a:prstGeom>
          <a:noFill/>
        </p:spPr>
        <p:txBody>
          <a:bodyPr wrap="square" lIns="0" rIns="0" tIns="0" bIns="0" anchor="t"/>
          <a:lstStyle/>
          <a:p>
            <a:pPr algn="l">
              <a:lnSpc>
                <a:spcPct val="115000"/>
              </a:lnSpc>
              <a:spcAft>
                <a:spcPts val="0"/>
              </a:spcAft>
            </a:pPr>
            <a:r>
              <a:rPr sz="900" b="0" i="0">
                <a:solidFill>
                  <a:srgbClr val="8EA0B8"/>
                </a:solidFill>
                <a:latin typeface="Inter"/>
              </a:rPr>
              <a:t>Endeavor Insight, 2015 (study of ~700 founders)</a:t>
            </a:r>
          </a:p>
        </p:txBody>
      </p:sp>
      <p:sp>
        <p:nvSpPr>
          <p:cNvPr id="8" name="Rectangle 7"/>
          <p:cNvSpPr/>
          <p:nvPr/>
        </p:nvSpPr>
        <p:spPr>
          <a:xfrm>
            <a:off x="4322978" y="2011680"/>
            <a:ext cx="3545738" cy="3383280"/>
          </a:xfrm>
          <a:prstGeom prst="rect">
            <a:avLst/>
          </a:prstGeom>
          <a:solidFill>
            <a:srgbClr val="EDF4FE"/>
          </a:solidFill>
          <a:ln>
            <a:noFill/>
          </a:ln>
          <a:effectLst/>
        </p:spPr>
        <p:txBody>
          <a:bodyPr rtlCol="0" anchor="ctr" lIns="73152" rIns="73152" tIns="36576" bIns="36576"/>
          <a:lstStyle/>
          <a:p>
            <a:pPr algn="ctr"/>
          </a:p>
        </p:txBody>
      </p:sp>
      <p:sp>
        <p:nvSpPr>
          <p:cNvPr id="9" name="TextBox 8"/>
          <p:cNvSpPr txBox="1"/>
          <p:nvPr/>
        </p:nvSpPr>
        <p:spPr>
          <a:xfrm>
            <a:off x="4597298" y="2240280"/>
            <a:ext cx="2997098" cy="822960"/>
          </a:xfrm>
          <a:prstGeom prst="rect">
            <a:avLst/>
          </a:prstGeom>
          <a:noFill/>
        </p:spPr>
        <p:txBody>
          <a:bodyPr wrap="square" lIns="0" rIns="0" tIns="0" bIns="0" anchor="t"/>
          <a:lstStyle/>
          <a:p>
            <a:pPr algn="l">
              <a:lnSpc>
                <a:spcPct val="115000"/>
              </a:lnSpc>
              <a:spcAft>
                <a:spcPts val="0"/>
              </a:spcAft>
            </a:pPr>
            <a:r>
              <a:rPr sz="4000" b="1" i="0">
                <a:solidFill>
                  <a:srgbClr val="1765D1"/>
                </a:solidFill>
                <a:latin typeface="Inter"/>
              </a:rPr>
              <a:t>2×</a:t>
            </a:r>
          </a:p>
        </p:txBody>
      </p:sp>
      <p:sp>
        <p:nvSpPr>
          <p:cNvPr id="10" name="TextBox 9"/>
          <p:cNvSpPr txBox="1"/>
          <p:nvPr/>
        </p:nvSpPr>
        <p:spPr>
          <a:xfrm>
            <a:off x="4597298" y="3200400"/>
            <a:ext cx="2997098" cy="1463040"/>
          </a:xfrm>
          <a:prstGeom prst="rect">
            <a:avLst/>
          </a:prstGeom>
          <a:noFill/>
        </p:spPr>
        <p:txBody>
          <a:bodyPr wrap="square" lIns="0" rIns="0" tIns="0" bIns="0" anchor="t"/>
          <a:lstStyle/>
          <a:p>
            <a:pPr algn="l">
              <a:lnSpc>
                <a:spcPct val="125000"/>
              </a:lnSpc>
              <a:spcAft>
                <a:spcPts val="0"/>
              </a:spcAft>
            </a:pPr>
            <a:r>
              <a:rPr sz="1250" b="0" i="0">
                <a:solidFill>
                  <a:srgbClr val="253650"/>
                </a:solidFill>
                <a:latin typeface="Inter"/>
              </a:rPr>
              <a:t>Companies connected to a top-performing company were twice as likely to become top performers themselves.</a:t>
            </a:r>
          </a:p>
        </p:txBody>
      </p:sp>
      <p:sp>
        <p:nvSpPr>
          <p:cNvPr id="11" name="TextBox 10"/>
          <p:cNvSpPr txBox="1"/>
          <p:nvPr/>
        </p:nvSpPr>
        <p:spPr>
          <a:xfrm>
            <a:off x="4597298" y="4754880"/>
            <a:ext cx="2997098" cy="548640"/>
          </a:xfrm>
          <a:prstGeom prst="rect">
            <a:avLst/>
          </a:prstGeom>
          <a:noFill/>
        </p:spPr>
        <p:txBody>
          <a:bodyPr wrap="square" lIns="0" rIns="0" tIns="0" bIns="0" anchor="t"/>
          <a:lstStyle/>
          <a:p>
            <a:pPr algn="l">
              <a:lnSpc>
                <a:spcPct val="115000"/>
              </a:lnSpc>
              <a:spcAft>
                <a:spcPts val="0"/>
              </a:spcAft>
            </a:pPr>
            <a:r>
              <a:rPr sz="900" b="0" i="0">
                <a:solidFill>
                  <a:srgbClr val="61738A"/>
                </a:solidFill>
                <a:latin typeface="Inter"/>
              </a:rPr>
              <a:t>Endeavor Insight, “The Power of Entrepreneur Networks”</a:t>
            </a:r>
          </a:p>
        </p:txBody>
      </p:sp>
      <p:sp>
        <p:nvSpPr>
          <p:cNvPr id="12" name="Rectangle 11"/>
          <p:cNvSpPr/>
          <p:nvPr/>
        </p:nvSpPr>
        <p:spPr>
          <a:xfrm>
            <a:off x="8051596" y="2011680"/>
            <a:ext cx="3545738" cy="3383280"/>
          </a:xfrm>
          <a:prstGeom prst="rect">
            <a:avLst/>
          </a:prstGeom>
          <a:solidFill>
            <a:srgbClr val="EDF4FE"/>
          </a:solidFill>
          <a:ln>
            <a:noFill/>
          </a:ln>
          <a:effectLst/>
        </p:spPr>
        <p:txBody>
          <a:bodyPr rtlCol="0" anchor="ctr" lIns="73152" rIns="73152" tIns="36576" bIns="36576"/>
          <a:lstStyle/>
          <a:p>
            <a:pPr algn="ctr"/>
          </a:p>
        </p:txBody>
      </p:sp>
      <p:sp>
        <p:nvSpPr>
          <p:cNvPr id="13" name="TextBox 12"/>
          <p:cNvSpPr txBox="1"/>
          <p:nvPr/>
        </p:nvSpPr>
        <p:spPr>
          <a:xfrm>
            <a:off x="8325916" y="2240280"/>
            <a:ext cx="2997098" cy="822960"/>
          </a:xfrm>
          <a:prstGeom prst="rect">
            <a:avLst/>
          </a:prstGeom>
          <a:noFill/>
        </p:spPr>
        <p:txBody>
          <a:bodyPr wrap="square" lIns="0" rIns="0" tIns="0" bIns="0" anchor="t"/>
          <a:lstStyle/>
          <a:p>
            <a:pPr algn="l">
              <a:lnSpc>
                <a:spcPct val="115000"/>
              </a:lnSpc>
              <a:spcAft>
                <a:spcPts val="0"/>
              </a:spcAft>
            </a:pPr>
            <a:r>
              <a:rPr sz="4000" b="1" i="0">
                <a:solidFill>
                  <a:srgbClr val="1765D1"/>
                </a:solidFill>
                <a:latin typeface="Inter"/>
              </a:rPr>
              <a:t>47–171%</a:t>
            </a:r>
          </a:p>
        </p:txBody>
      </p:sp>
      <p:sp>
        <p:nvSpPr>
          <p:cNvPr id="14" name="TextBox 13"/>
          <p:cNvSpPr txBox="1"/>
          <p:nvPr/>
        </p:nvSpPr>
        <p:spPr>
          <a:xfrm>
            <a:off x="8325916" y="3200400"/>
            <a:ext cx="2997098" cy="1463040"/>
          </a:xfrm>
          <a:prstGeom prst="rect">
            <a:avLst/>
          </a:prstGeom>
          <a:noFill/>
        </p:spPr>
        <p:txBody>
          <a:bodyPr wrap="square" lIns="0" rIns="0" tIns="0" bIns="0" anchor="t"/>
          <a:lstStyle/>
          <a:p>
            <a:pPr algn="l">
              <a:lnSpc>
                <a:spcPct val="125000"/>
              </a:lnSpc>
              <a:spcAft>
                <a:spcPts val="0"/>
              </a:spcAft>
            </a:pPr>
            <a:r>
              <a:rPr sz="1250" b="0" i="0">
                <a:solidFill>
                  <a:srgbClr val="253650"/>
                </a:solidFill>
                <a:latin typeface="Inter"/>
              </a:rPr>
              <a:t>more funding raised by accelerator companies than near-miss peers in three of four cohorts studied.</a:t>
            </a:r>
          </a:p>
        </p:txBody>
      </p:sp>
      <p:sp>
        <p:nvSpPr>
          <p:cNvPr id="15" name="TextBox 14"/>
          <p:cNvSpPr txBox="1"/>
          <p:nvPr/>
        </p:nvSpPr>
        <p:spPr>
          <a:xfrm>
            <a:off x="8325916" y="4754880"/>
            <a:ext cx="2997098" cy="548640"/>
          </a:xfrm>
          <a:prstGeom prst="rect">
            <a:avLst/>
          </a:prstGeom>
          <a:noFill/>
        </p:spPr>
        <p:txBody>
          <a:bodyPr wrap="square" lIns="0" rIns="0" tIns="0" bIns="0" anchor="t"/>
          <a:lstStyle/>
          <a:p>
            <a:pPr algn="l">
              <a:lnSpc>
                <a:spcPct val="115000"/>
              </a:lnSpc>
              <a:spcAft>
                <a:spcPts val="0"/>
              </a:spcAft>
            </a:pPr>
            <a:r>
              <a:rPr sz="900" b="0" i="0">
                <a:solidFill>
                  <a:srgbClr val="61738A"/>
                </a:solidFill>
                <a:latin typeface="Inter"/>
              </a:rPr>
              <a:t>Hallen, Cohen &amp; Bingham, Organization Science, 2020</a:t>
            </a:r>
          </a:p>
        </p:txBody>
      </p:sp>
      <p:sp>
        <p:nvSpPr>
          <p:cNvPr id="16" name="TextBox 15"/>
          <p:cNvSpPr txBox="1"/>
          <p:nvPr/>
        </p:nvSpPr>
        <p:spPr>
          <a:xfrm>
            <a:off x="594360" y="5623560"/>
            <a:ext cx="11002975" cy="548640"/>
          </a:xfrm>
          <a:prstGeom prst="rect">
            <a:avLst/>
          </a:prstGeom>
          <a:noFill/>
        </p:spPr>
        <p:txBody>
          <a:bodyPr wrap="square" lIns="0" rIns="0" tIns="0" bIns="0" anchor="t"/>
          <a:lstStyle/>
          <a:p>
            <a:pPr algn="l">
              <a:lnSpc>
                <a:spcPct val="125000"/>
              </a:lnSpc>
              <a:spcAft>
                <a:spcPts val="0"/>
              </a:spcAft>
            </a:pPr>
            <a:r>
              <a:rPr sz="1100" b="0" i="0">
                <a:solidFill>
                  <a:srgbClr val="61738A"/>
                </a:solidFill>
                <a:latin typeface="Inter"/>
              </a:rPr>
              <a:t>These studies show associations, not guarantees. They support Startup Roof’s design choice: combine mentoring, peer networks and structured programmes — then measure outcomes.</a:t>
            </a:r>
          </a:p>
        </p:txBody>
      </p:sp>
      <p:sp>
        <p:nvSpPr>
          <p:cNvPr id="17" name="TextBox 1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18" name="TextBox 1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REGIONAL MOMENTUM</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Startup funding in MENA reached a record in 2025.</a:t>
            </a:r>
          </a:p>
        </p:txBody>
      </p:sp>
      <p:graphicFrame>
        <p:nvGraphicFramePr>
          <p:cNvPr id="4" name="Chart 3"/>
          <p:cNvGraphicFramePr>
            <a:graphicFrameLocks noGrp="1"/>
          </p:cNvGraphicFramePr>
          <p:nvPr/>
        </p:nvGraphicFramePr>
        <p:xfrm>
          <a:off x="502920" y="1828800"/>
          <a:ext cx="6949440" cy="3931920"/>
        </p:xfrm>
        <a:graphic>
          <a:graphicData uri="http://schemas.openxmlformats.org/drawingml/2006/chart">
            <c:chart xmlns:c="http://schemas.openxmlformats.org/drawingml/2006/chart" r:id="rId2"/>
          </a:graphicData>
        </a:graphic>
      </p:graphicFrame>
      <p:sp>
        <p:nvSpPr>
          <p:cNvPr id="5" name="TextBox 4"/>
          <p:cNvSpPr txBox="1"/>
          <p:nvPr/>
        </p:nvSpPr>
        <p:spPr>
          <a:xfrm>
            <a:off x="594360" y="5760720"/>
            <a:ext cx="6766560" cy="27432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Total startup funding raised in MENA, US$ billions (includes debt financing).</a:t>
            </a:r>
          </a:p>
        </p:txBody>
      </p:sp>
      <p:cxnSp>
        <p:nvCxnSpPr>
          <p:cNvPr id="6" name="Connector 5"/>
          <p:cNvCxnSpPr/>
          <p:nvPr/>
        </p:nvCxnSpPr>
        <p:spPr>
          <a:xfrm>
            <a:off x="7315200" y="1965960"/>
            <a:ext cx="4282135" cy="0"/>
          </a:xfrm>
          <a:prstGeom prst="line">
            <a:avLst/>
          </a:prstGeom>
          <a:ln w="12700">
            <a:solidFill>
              <a:srgbClr val="10213B"/>
            </a:solidFill>
          </a:ln>
        </p:spPr>
      </p:cxnSp>
      <p:sp>
        <p:nvSpPr>
          <p:cNvPr id="7" name="TextBox 6"/>
          <p:cNvSpPr txBox="1"/>
          <p:nvPr/>
        </p:nvSpPr>
        <p:spPr>
          <a:xfrm>
            <a:off x="7315200" y="2093976"/>
            <a:ext cx="1554480" cy="54864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$7.5bn</a:t>
            </a:r>
          </a:p>
        </p:txBody>
      </p:sp>
      <p:sp>
        <p:nvSpPr>
          <p:cNvPr id="8" name="TextBox 7"/>
          <p:cNvSpPr txBox="1"/>
          <p:nvPr/>
        </p:nvSpPr>
        <p:spPr>
          <a:xfrm>
            <a:off x="8915400" y="2130552"/>
            <a:ext cx="2681935" cy="10058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raised by 647 MENA startups in 2025 — a record year.</a:t>
            </a:r>
          </a:p>
        </p:txBody>
      </p:sp>
      <p:cxnSp>
        <p:nvCxnSpPr>
          <p:cNvPr id="9" name="Connector 8"/>
          <p:cNvCxnSpPr/>
          <p:nvPr/>
        </p:nvCxnSpPr>
        <p:spPr>
          <a:xfrm>
            <a:off x="7315200" y="3264408"/>
            <a:ext cx="4282135" cy="0"/>
          </a:xfrm>
          <a:prstGeom prst="line">
            <a:avLst/>
          </a:prstGeom>
          <a:ln w="12700">
            <a:solidFill>
              <a:srgbClr val="D5E2F3"/>
            </a:solidFill>
          </a:ln>
        </p:spPr>
      </p:cxnSp>
      <p:sp>
        <p:nvSpPr>
          <p:cNvPr id="10" name="TextBox 9"/>
          <p:cNvSpPr txBox="1"/>
          <p:nvPr/>
        </p:nvSpPr>
        <p:spPr>
          <a:xfrm>
            <a:off x="7315200" y="3392424"/>
            <a:ext cx="1554480" cy="54864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$1.1bn</a:t>
            </a:r>
          </a:p>
        </p:txBody>
      </p:sp>
      <p:sp>
        <p:nvSpPr>
          <p:cNvPr id="11" name="TextBox 10"/>
          <p:cNvSpPr txBox="1"/>
          <p:nvPr/>
        </p:nvSpPr>
        <p:spPr>
          <a:xfrm>
            <a:off x="8915400" y="3429000"/>
            <a:ext cx="2681935" cy="10058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raised by UAE startups across 207 deals in 2024, ranking first in MENA that year.</a:t>
            </a:r>
          </a:p>
        </p:txBody>
      </p:sp>
      <p:cxnSp>
        <p:nvCxnSpPr>
          <p:cNvPr id="12" name="Connector 11"/>
          <p:cNvCxnSpPr/>
          <p:nvPr/>
        </p:nvCxnSpPr>
        <p:spPr>
          <a:xfrm>
            <a:off x="7315200" y="4562856"/>
            <a:ext cx="4282135" cy="0"/>
          </a:xfrm>
          <a:prstGeom prst="line">
            <a:avLst/>
          </a:prstGeom>
          <a:ln w="12700">
            <a:solidFill>
              <a:srgbClr val="D5E2F3"/>
            </a:solidFill>
          </a:ln>
        </p:spPr>
      </p:cxnSp>
      <p:sp>
        <p:nvSpPr>
          <p:cNvPr id="13" name="TextBox 12"/>
          <p:cNvSpPr txBox="1"/>
          <p:nvPr/>
        </p:nvSpPr>
        <p:spPr>
          <a:xfrm>
            <a:off x="7315200" y="4690872"/>
            <a:ext cx="1554480" cy="54864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1.2%</a:t>
            </a:r>
          </a:p>
        </p:txBody>
      </p:sp>
      <p:sp>
        <p:nvSpPr>
          <p:cNvPr id="14" name="TextBox 13"/>
          <p:cNvSpPr txBox="1"/>
          <p:nvPr/>
        </p:nvSpPr>
        <p:spPr>
          <a:xfrm>
            <a:off x="8915400" y="4727448"/>
            <a:ext cx="2681935" cy="10058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of MENA funding went to female-founded startups in 2024 — a gap worth closing.</a:t>
            </a:r>
          </a:p>
        </p:txBody>
      </p:sp>
      <p:sp>
        <p:nvSpPr>
          <p:cNvPr id="15" name="TextBox 14"/>
          <p:cNvSpPr txBox="1"/>
          <p:nvPr/>
        </p:nvSpPr>
        <p:spPr>
          <a:xfrm>
            <a:off x="594360" y="6144768"/>
            <a:ext cx="11002975"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Source: Wamda annual MENA investment reviews (2020–2025). 2023 includes $1.77bn of debt; 2021 total as reported in Wamda’s 2021 review.</a:t>
            </a:r>
          </a:p>
        </p:txBody>
      </p:sp>
      <p:sp>
        <p:nvSpPr>
          <p:cNvPr id="16" name="TextBox 1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17" name="TextBox 1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WHY THE UAE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national ambition to become a home for entrepreneurs.</a:t>
            </a:r>
          </a:p>
        </p:txBody>
      </p:sp>
      <p:sp>
        <p:nvSpPr>
          <p:cNvPr id="4" name="Rectangle 3"/>
          <p:cNvSpPr/>
          <p:nvPr/>
        </p:nvSpPr>
        <p:spPr>
          <a:xfrm>
            <a:off x="594360" y="1920240"/>
            <a:ext cx="3840480" cy="4297680"/>
          </a:xfrm>
          <a:prstGeom prst="rect">
            <a:avLst/>
          </a:prstGeom>
          <a:solidFill>
            <a:srgbClr val="10213B"/>
          </a:solidFill>
          <a:ln>
            <a:noFill/>
          </a:ln>
          <a:effectLst/>
        </p:spPr>
        <p:txBody>
          <a:bodyPr rtlCol="0" anchor="ctr" lIns="73152" rIns="73152" tIns="36576" bIns="36576"/>
          <a:lstStyle/>
          <a:p>
            <a:pPr algn="ctr"/>
          </a:p>
        </p:txBody>
      </p:sp>
      <p:sp>
        <p:nvSpPr>
          <p:cNvPr id="5" name="Rectangle 4"/>
          <p:cNvSpPr/>
          <p:nvPr/>
        </p:nvSpPr>
        <p:spPr>
          <a:xfrm>
            <a:off x="594360" y="3657600"/>
            <a:ext cx="3840480" cy="2560320"/>
          </a:xfrm>
          <a:prstGeom prst="rect">
            <a:avLst/>
          </a:prstGeom>
          <a:solidFill>
            <a:srgbClr val="10213B"/>
          </a:solidFill>
          <a:ln>
            <a:noFill/>
          </a:ln>
          <a:effectLst/>
        </p:spPr>
        <p:txBody>
          <a:bodyPr rtlCol="0" anchor="ctr" lIns="73152" rIns="73152" tIns="36576" bIns="36576"/>
          <a:lstStyle/>
          <a:p>
            <a:pPr algn="ctr"/>
          </a:p>
        </p:txBody>
      </p:sp>
      <p:sp>
        <p:nvSpPr>
          <p:cNvPr id="6" name="Rectangle 5"/>
          <p:cNvSpPr/>
          <p:nvPr/>
        </p:nvSpPr>
        <p:spPr>
          <a:xfrm>
            <a:off x="747979" y="5226779"/>
            <a:ext cx="251002" cy="991140"/>
          </a:xfrm>
          <a:prstGeom prst="rect">
            <a:avLst/>
          </a:prstGeom>
          <a:solidFill>
            <a:srgbClr val="1C3D6B"/>
          </a:solidFill>
          <a:ln>
            <a:noFill/>
          </a:ln>
          <a:effectLst/>
        </p:spPr>
        <p:txBody>
          <a:bodyPr rtlCol="0" anchor="ctr" lIns="73152" rIns="73152" tIns="36576" bIns="36576"/>
          <a:lstStyle/>
          <a:p>
            <a:pPr algn="ctr"/>
          </a:p>
        </p:txBody>
      </p:sp>
      <p:sp>
        <p:nvSpPr>
          <p:cNvPr id="7" name="Rectangle 6"/>
          <p:cNvSpPr/>
          <p:nvPr/>
        </p:nvSpPr>
        <p:spPr>
          <a:xfrm>
            <a:off x="1028225" y="5577164"/>
            <a:ext cx="320591" cy="640755"/>
          </a:xfrm>
          <a:prstGeom prst="rect">
            <a:avLst/>
          </a:prstGeom>
          <a:solidFill>
            <a:srgbClr val="1F4A85"/>
          </a:solidFill>
          <a:ln>
            <a:noFill/>
          </a:ln>
          <a:effectLst/>
        </p:spPr>
        <p:txBody>
          <a:bodyPr rtlCol="0" anchor="ctr" lIns="73152" rIns="73152" tIns="36576" bIns="36576"/>
          <a:lstStyle/>
          <a:p>
            <a:pPr algn="ctr"/>
          </a:p>
        </p:txBody>
      </p:sp>
      <p:sp>
        <p:nvSpPr>
          <p:cNvPr id="8" name="Rectangle 7"/>
          <p:cNvSpPr/>
          <p:nvPr/>
        </p:nvSpPr>
        <p:spPr>
          <a:xfrm>
            <a:off x="1378796" y="5580696"/>
            <a:ext cx="278926" cy="637223"/>
          </a:xfrm>
          <a:prstGeom prst="rect">
            <a:avLst/>
          </a:prstGeom>
          <a:solidFill>
            <a:srgbClr val="1C3D6B"/>
          </a:solidFill>
          <a:ln>
            <a:noFill/>
          </a:ln>
          <a:effectLst/>
        </p:spPr>
        <p:txBody>
          <a:bodyPr rtlCol="0" anchor="ctr" lIns="73152" rIns="73152" tIns="36576" bIns="36576"/>
          <a:lstStyle/>
          <a:p>
            <a:pPr algn="ctr"/>
          </a:p>
        </p:txBody>
      </p:sp>
      <p:sp>
        <p:nvSpPr>
          <p:cNvPr id="9" name="Rectangle 8"/>
          <p:cNvSpPr/>
          <p:nvPr/>
        </p:nvSpPr>
        <p:spPr>
          <a:xfrm>
            <a:off x="1682407" y="4990071"/>
            <a:ext cx="188491" cy="1227848"/>
          </a:xfrm>
          <a:prstGeom prst="rect">
            <a:avLst/>
          </a:prstGeom>
          <a:solidFill>
            <a:srgbClr val="1F4A85"/>
          </a:solidFill>
          <a:ln>
            <a:noFill/>
          </a:ln>
          <a:effectLst/>
        </p:spPr>
        <p:txBody>
          <a:bodyPr rtlCol="0" anchor="ctr" lIns="73152" rIns="73152" tIns="36576" bIns="36576"/>
          <a:lstStyle/>
          <a:p>
            <a:pPr algn="ctr"/>
          </a:p>
        </p:txBody>
      </p:sp>
      <p:sp>
        <p:nvSpPr>
          <p:cNvPr id="10" name="Rectangle 9"/>
          <p:cNvSpPr/>
          <p:nvPr/>
        </p:nvSpPr>
        <p:spPr>
          <a:xfrm>
            <a:off x="1905753" y="5381772"/>
            <a:ext cx="275725" cy="836147"/>
          </a:xfrm>
          <a:prstGeom prst="rect">
            <a:avLst/>
          </a:prstGeom>
          <a:solidFill>
            <a:srgbClr val="1C3D6B"/>
          </a:solidFill>
          <a:ln>
            <a:noFill/>
          </a:ln>
          <a:effectLst/>
        </p:spPr>
        <p:txBody>
          <a:bodyPr rtlCol="0" anchor="ctr" lIns="73152" rIns="73152" tIns="36576" bIns="36576"/>
          <a:lstStyle/>
          <a:p>
            <a:pPr algn="ctr"/>
          </a:p>
        </p:txBody>
      </p:sp>
      <p:sp>
        <p:nvSpPr>
          <p:cNvPr id="11" name="Rectangle 10"/>
          <p:cNvSpPr/>
          <p:nvPr/>
        </p:nvSpPr>
        <p:spPr>
          <a:xfrm>
            <a:off x="2216932" y="5607865"/>
            <a:ext cx="279204" cy="610054"/>
          </a:xfrm>
          <a:prstGeom prst="rect">
            <a:avLst/>
          </a:prstGeom>
          <a:solidFill>
            <a:srgbClr val="1A3358"/>
          </a:solidFill>
          <a:ln>
            <a:noFill/>
          </a:ln>
          <a:effectLst/>
        </p:spPr>
        <p:txBody>
          <a:bodyPr rtlCol="0" anchor="ctr" lIns="73152" rIns="73152" tIns="36576" bIns="36576"/>
          <a:lstStyle/>
          <a:p>
            <a:pPr algn="ctr"/>
          </a:p>
        </p:txBody>
      </p:sp>
      <p:sp>
        <p:nvSpPr>
          <p:cNvPr id="12" name="Rectangle 11"/>
          <p:cNvSpPr/>
          <p:nvPr/>
        </p:nvSpPr>
        <p:spPr>
          <a:xfrm>
            <a:off x="2537051" y="5723287"/>
            <a:ext cx="183737" cy="494632"/>
          </a:xfrm>
          <a:prstGeom prst="rect">
            <a:avLst/>
          </a:prstGeom>
          <a:solidFill>
            <a:srgbClr val="1A3358"/>
          </a:solidFill>
          <a:ln>
            <a:noFill/>
          </a:ln>
          <a:effectLst/>
        </p:spPr>
        <p:txBody>
          <a:bodyPr rtlCol="0" anchor="ctr" lIns="73152" rIns="73152" tIns="36576" bIns="36576"/>
          <a:lstStyle/>
          <a:p>
            <a:pPr algn="ctr"/>
          </a:p>
        </p:txBody>
      </p:sp>
      <p:sp>
        <p:nvSpPr>
          <p:cNvPr id="13" name="Rectangle 12"/>
          <p:cNvSpPr/>
          <p:nvPr/>
        </p:nvSpPr>
        <p:spPr>
          <a:xfrm>
            <a:off x="2754573" y="5449824"/>
            <a:ext cx="230428" cy="768096"/>
          </a:xfrm>
          <a:prstGeom prst="rect">
            <a:avLst/>
          </a:prstGeom>
          <a:solidFill>
            <a:srgbClr val="1765D1"/>
          </a:solidFill>
          <a:ln>
            <a:noFill/>
          </a:ln>
          <a:effectLst/>
        </p:spPr>
        <p:txBody>
          <a:bodyPr rtlCol="0" anchor="ctr" lIns="73152" rIns="73152" tIns="36576" bIns="36576"/>
          <a:lstStyle/>
          <a:p>
            <a:pPr algn="ctr"/>
          </a:p>
        </p:txBody>
      </p:sp>
      <p:sp>
        <p:nvSpPr>
          <p:cNvPr id="14" name="Rectangle 13"/>
          <p:cNvSpPr/>
          <p:nvPr/>
        </p:nvSpPr>
        <p:spPr>
          <a:xfrm>
            <a:off x="2786833" y="4886553"/>
            <a:ext cx="165908" cy="563270"/>
          </a:xfrm>
          <a:prstGeom prst="rect">
            <a:avLst/>
          </a:prstGeom>
          <a:solidFill>
            <a:srgbClr val="1765D1"/>
          </a:solidFill>
          <a:ln>
            <a:noFill/>
          </a:ln>
          <a:effectLst/>
        </p:spPr>
        <p:txBody>
          <a:bodyPr rtlCol="0" anchor="ctr" lIns="73152" rIns="73152" tIns="36576" bIns="36576"/>
          <a:lstStyle/>
          <a:p>
            <a:pPr algn="ctr"/>
          </a:p>
        </p:txBody>
      </p:sp>
      <p:sp>
        <p:nvSpPr>
          <p:cNvPr id="15" name="Rectangle 14"/>
          <p:cNvSpPr/>
          <p:nvPr/>
        </p:nvSpPr>
        <p:spPr>
          <a:xfrm>
            <a:off x="2814485" y="4476902"/>
            <a:ext cx="110605" cy="409651"/>
          </a:xfrm>
          <a:prstGeom prst="rect">
            <a:avLst/>
          </a:prstGeom>
          <a:solidFill>
            <a:srgbClr val="1765D1"/>
          </a:solidFill>
          <a:ln>
            <a:noFill/>
          </a:ln>
          <a:effectLst/>
        </p:spPr>
        <p:txBody>
          <a:bodyPr rtlCol="0" anchor="ctr" lIns="73152" rIns="73152" tIns="36576" bIns="36576"/>
          <a:lstStyle/>
          <a:p>
            <a:pPr algn="ctr"/>
          </a:p>
        </p:txBody>
      </p:sp>
      <p:sp>
        <p:nvSpPr>
          <p:cNvPr id="16" name="Rectangle 15"/>
          <p:cNvSpPr/>
          <p:nvPr/>
        </p:nvSpPr>
        <p:spPr>
          <a:xfrm>
            <a:off x="2837528" y="4169664"/>
            <a:ext cx="64520" cy="307238"/>
          </a:xfrm>
          <a:prstGeom prst="rect">
            <a:avLst/>
          </a:prstGeom>
          <a:solidFill>
            <a:srgbClr val="1765D1"/>
          </a:solidFill>
          <a:ln>
            <a:noFill/>
          </a:ln>
          <a:effectLst/>
        </p:spPr>
        <p:txBody>
          <a:bodyPr rtlCol="0" anchor="ctr" lIns="73152" rIns="73152" tIns="36576" bIns="36576"/>
          <a:lstStyle/>
          <a:p>
            <a:pPr algn="ctr"/>
          </a:p>
        </p:txBody>
      </p:sp>
      <p:sp>
        <p:nvSpPr>
          <p:cNvPr id="17" name="Rectangle 16"/>
          <p:cNvSpPr/>
          <p:nvPr/>
        </p:nvSpPr>
        <p:spPr>
          <a:xfrm>
            <a:off x="2860644" y="3913632"/>
            <a:ext cx="18288" cy="256031"/>
          </a:xfrm>
          <a:prstGeom prst="rect">
            <a:avLst/>
          </a:prstGeom>
          <a:solidFill>
            <a:srgbClr val="1765D1"/>
          </a:solidFill>
          <a:ln>
            <a:noFill/>
          </a:ln>
          <a:effectLst/>
        </p:spPr>
        <p:txBody>
          <a:bodyPr rtlCol="0" anchor="ctr" lIns="73152" rIns="73152" tIns="36576" bIns="36576"/>
          <a:lstStyle/>
          <a:p>
            <a:pPr algn="ctr"/>
          </a:p>
        </p:txBody>
      </p:sp>
      <p:sp>
        <p:nvSpPr>
          <p:cNvPr id="18" name="Rectangle 17"/>
          <p:cNvSpPr/>
          <p:nvPr/>
        </p:nvSpPr>
        <p:spPr>
          <a:xfrm>
            <a:off x="3023407" y="5197235"/>
            <a:ext cx="229212" cy="1020684"/>
          </a:xfrm>
          <a:prstGeom prst="rect">
            <a:avLst/>
          </a:prstGeom>
          <a:solidFill>
            <a:srgbClr val="1A3358"/>
          </a:solidFill>
          <a:ln>
            <a:noFill/>
          </a:ln>
          <a:effectLst/>
        </p:spPr>
        <p:txBody>
          <a:bodyPr rtlCol="0" anchor="ctr" lIns="73152" rIns="73152" tIns="36576" bIns="36576"/>
          <a:lstStyle/>
          <a:p>
            <a:pPr algn="ctr"/>
          </a:p>
        </p:txBody>
      </p:sp>
      <p:sp>
        <p:nvSpPr>
          <p:cNvPr id="19" name="Rectangle 18"/>
          <p:cNvSpPr/>
          <p:nvPr/>
        </p:nvSpPr>
        <p:spPr>
          <a:xfrm>
            <a:off x="3283930" y="5283618"/>
            <a:ext cx="283477" cy="934301"/>
          </a:xfrm>
          <a:prstGeom prst="rect">
            <a:avLst/>
          </a:prstGeom>
          <a:solidFill>
            <a:srgbClr val="1F4A85"/>
          </a:solidFill>
          <a:ln>
            <a:noFill/>
          </a:ln>
          <a:effectLst/>
        </p:spPr>
        <p:txBody>
          <a:bodyPr rtlCol="0" anchor="ctr" lIns="73152" rIns="73152" tIns="36576" bIns="36576"/>
          <a:lstStyle/>
          <a:p>
            <a:pPr algn="ctr"/>
          </a:p>
        </p:txBody>
      </p:sp>
      <p:sp>
        <p:nvSpPr>
          <p:cNvPr id="20" name="Rectangle 19"/>
          <p:cNvSpPr/>
          <p:nvPr/>
        </p:nvSpPr>
        <p:spPr>
          <a:xfrm>
            <a:off x="3585381" y="5371713"/>
            <a:ext cx="285985" cy="846206"/>
          </a:xfrm>
          <a:prstGeom prst="rect">
            <a:avLst/>
          </a:prstGeom>
          <a:solidFill>
            <a:srgbClr val="1F4A85"/>
          </a:solidFill>
          <a:ln>
            <a:noFill/>
          </a:ln>
          <a:effectLst/>
        </p:spPr>
        <p:txBody>
          <a:bodyPr rtlCol="0" anchor="ctr" lIns="73152" rIns="73152" tIns="36576" bIns="36576"/>
          <a:lstStyle/>
          <a:p>
            <a:pPr algn="ctr"/>
          </a:p>
        </p:txBody>
      </p:sp>
      <p:sp>
        <p:nvSpPr>
          <p:cNvPr id="21" name="Rectangle 20"/>
          <p:cNvSpPr/>
          <p:nvPr/>
        </p:nvSpPr>
        <p:spPr>
          <a:xfrm>
            <a:off x="3917320" y="5086541"/>
            <a:ext cx="318028" cy="1131378"/>
          </a:xfrm>
          <a:prstGeom prst="rect">
            <a:avLst/>
          </a:prstGeom>
          <a:solidFill>
            <a:srgbClr val="1C3D6B"/>
          </a:solidFill>
          <a:ln>
            <a:noFill/>
          </a:ln>
          <a:effectLst/>
        </p:spPr>
        <p:txBody>
          <a:bodyPr rtlCol="0" anchor="ctr" lIns="73152" rIns="73152" tIns="36576" bIns="36576"/>
          <a:lstStyle/>
          <a:p>
            <a:pPr algn="ctr"/>
          </a:p>
        </p:txBody>
      </p:sp>
      <p:sp>
        <p:nvSpPr>
          <p:cNvPr id="22" name="Rectangle 21"/>
          <p:cNvSpPr/>
          <p:nvPr/>
        </p:nvSpPr>
        <p:spPr>
          <a:xfrm>
            <a:off x="4274000" y="5728877"/>
            <a:ext cx="160839" cy="489042"/>
          </a:xfrm>
          <a:prstGeom prst="rect">
            <a:avLst/>
          </a:prstGeom>
          <a:solidFill>
            <a:srgbClr val="1F4A85"/>
          </a:solidFill>
          <a:ln>
            <a:noFill/>
          </a:ln>
          <a:effectLst/>
        </p:spPr>
        <p:txBody>
          <a:bodyPr rtlCol="0" anchor="ctr" lIns="73152" rIns="73152" tIns="36576" bIns="36576"/>
          <a:lstStyle/>
          <a:p>
            <a:pPr algn="ctr"/>
          </a:p>
        </p:txBody>
      </p:sp>
      <p:sp>
        <p:nvSpPr>
          <p:cNvPr id="23" name="TextBox 22"/>
          <p:cNvSpPr txBox="1"/>
          <p:nvPr/>
        </p:nvSpPr>
        <p:spPr>
          <a:xfrm>
            <a:off x="868680" y="2148840"/>
            <a:ext cx="3291840" cy="274320"/>
          </a:xfrm>
          <a:prstGeom prst="rect">
            <a:avLst/>
          </a:prstGeom>
          <a:noFill/>
        </p:spPr>
        <p:txBody>
          <a:bodyPr wrap="square" lIns="0" rIns="0" tIns="0" bIns="0" anchor="t"/>
          <a:lstStyle/>
          <a:p>
            <a:pPr algn="l">
              <a:lnSpc>
                <a:spcPct val="115000"/>
              </a:lnSpc>
              <a:spcAft>
                <a:spcPts val="0"/>
              </a:spcAft>
            </a:pPr>
            <a:r>
              <a:rPr sz="1000" b="1" i="0" spc="140">
                <a:solidFill>
                  <a:srgbClr val="4F8BE0"/>
                </a:solidFill>
                <a:latin typeface="Inter"/>
              </a:rPr>
              <a:t>UAE FIRST</a:t>
            </a:r>
          </a:p>
        </p:txBody>
      </p:sp>
      <p:sp>
        <p:nvSpPr>
          <p:cNvPr id="24" name="TextBox 23"/>
          <p:cNvSpPr txBox="1"/>
          <p:nvPr/>
        </p:nvSpPr>
        <p:spPr>
          <a:xfrm>
            <a:off x="868680" y="2468880"/>
            <a:ext cx="3291840" cy="1280160"/>
          </a:xfrm>
          <a:prstGeom prst="rect">
            <a:avLst/>
          </a:prstGeom>
          <a:noFill/>
        </p:spPr>
        <p:txBody>
          <a:bodyPr wrap="square" lIns="0" rIns="0" tIns="0" bIns="0" anchor="t"/>
          <a:lstStyle/>
          <a:p>
            <a:pPr algn="l">
              <a:lnSpc>
                <a:spcPct val="120000"/>
              </a:lnSpc>
              <a:spcAft>
                <a:spcPts val="0"/>
              </a:spcAft>
            </a:pPr>
            <a:r>
              <a:rPr sz="1600" b="1" i="0">
                <a:solidFill>
                  <a:srgbClr val="FFFFFF"/>
                </a:solidFill>
                <a:latin typeface="Inter"/>
              </a:rPr>
              <a:t>Starting where policy, capital and founders are converging.</a:t>
            </a:r>
          </a:p>
        </p:txBody>
      </p:sp>
      <p:cxnSp>
        <p:nvCxnSpPr>
          <p:cNvPr id="25" name="Connector 24"/>
          <p:cNvCxnSpPr/>
          <p:nvPr/>
        </p:nvCxnSpPr>
        <p:spPr>
          <a:xfrm>
            <a:off x="4709160" y="1920240"/>
            <a:ext cx="3352647" cy="0"/>
          </a:xfrm>
          <a:prstGeom prst="line">
            <a:avLst/>
          </a:prstGeom>
          <a:ln w="12700">
            <a:solidFill>
              <a:srgbClr val="10213B"/>
            </a:solidFill>
          </a:ln>
        </p:spPr>
      </p:cxnSp>
      <p:sp>
        <p:nvSpPr>
          <p:cNvPr id="26" name="TextBox 25"/>
          <p:cNvSpPr txBox="1"/>
          <p:nvPr/>
        </p:nvSpPr>
        <p:spPr>
          <a:xfrm>
            <a:off x="4709160" y="202996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#1</a:t>
            </a:r>
          </a:p>
        </p:txBody>
      </p:sp>
      <p:sp>
        <p:nvSpPr>
          <p:cNvPr id="27" name="TextBox 26"/>
          <p:cNvSpPr txBox="1"/>
          <p:nvPr/>
        </p:nvSpPr>
        <p:spPr>
          <a:xfrm>
            <a:off x="4709160" y="248716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globally in the GEM National Entrepreneurship Context Index — for the fifth consecutive year.</a:t>
            </a:r>
          </a:p>
        </p:txBody>
      </p:sp>
      <p:sp>
        <p:nvSpPr>
          <p:cNvPr id="28" name="TextBox 27"/>
          <p:cNvSpPr txBox="1"/>
          <p:nvPr/>
        </p:nvSpPr>
        <p:spPr>
          <a:xfrm>
            <a:off x="4709160" y="306324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GEM 2025/2026</a:t>
            </a:r>
          </a:p>
        </p:txBody>
      </p:sp>
      <p:cxnSp>
        <p:nvCxnSpPr>
          <p:cNvPr id="29" name="Connector 28"/>
          <p:cNvCxnSpPr/>
          <p:nvPr/>
        </p:nvCxnSpPr>
        <p:spPr>
          <a:xfrm>
            <a:off x="8244687" y="1920240"/>
            <a:ext cx="3352648" cy="0"/>
          </a:xfrm>
          <a:prstGeom prst="line">
            <a:avLst/>
          </a:prstGeom>
          <a:ln w="12700">
            <a:solidFill>
              <a:srgbClr val="10213B"/>
            </a:solidFill>
          </a:ln>
        </p:spPr>
      </p:cxnSp>
      <p:sp>
        <p:nvSpPr>
          <p:cNvPr id="30" name="TextBox 29"/>
          <p:cNvSpPr txBox="1"/>
          <p:nvPr/>
        </p:nvSpPr>
        <p:spPr>
          <a:xfrm>
            <a:off x="8244687" y="202996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63.5%</a:t>
            </a:r>
          </a:p>
        </p:txBody>
      </p:sp>
      <p:sp>
        <p:nvSpPr>
          <p:cNvPr id="31" name="TextBox 30"/>
          <p:cNvSpPr txBox="1"/>
          <p:nvPr/>
        </p:nvSpPr>
        <p:spPr>
          <a:xfrm>
            <a:off x="8244687" y="248716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of non-oil GDP comes from SMEs, which make up 94.4% of UAE companies.</a:t>
            </a:r>
          </a:p>
        </p:txBody>
      </p:sp>
      <p:sp>
        <p:nvSpPr>
          <p:cNvPr id="32" name="TextBox 31"/>
          <p:cNvSpPr txBox="1"/>
          <p:nvPr/>
        </p:nvSpPr>
        <p:spPr>
          <a:xfrm>
            <a:off x="8244687" y="306324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UAE Ministry of Economy / Central Bank</a:t>
            </a:r>
          </a:p>
        </p:txBody>
      </p:sp>
      <p:cxnSp>
        <p:nvCxnSpPr>
          <p:cNvPr id="33" name="Connector 32"/>
          <p:cNvCxnSpPr/>
          <p:nvPr/>
        </p:nvCxnSpPr>
        <p:spPr>
          <a:xfrm>
            <a:off x="4709160" y="3383280"/>
            <a:ext cx="3352647" cy="0"/>
          </a:xfrm>
          <a:prstGeom prst="line">
            <a:avLst/>
          </a:prstGeom>
          <a:ln w="12700">
            <a:solidFill>
              <a:srgbClr val="D5E2F3"/>
            </a:solidFill>
          </a:ln>
        </p:spPr>
      </p:cxnSp>
      <p:sp>
        <p:nvSpPr>
          <p:cNvPr id="34" name="TextBox 33"/>
          <p:cNvSpPr txBox="1"/>
          <p:nvPr/>
        </p:nvSpPr>
        <p:spPr>
          <a:xfrm>
            <a:off x="4709160" y="349300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557k → 1m</a:t>
            </a:r>
          </a:p>
        </p:txBody>
      </p:sp>
      <p:sp>
        <p:nvSpPr>
          <p:cNvPr id="35" name="TextBox 34"/>
          <p:cNvSpPr txBox="1"/>
          <p:nvPr/>
        </p:nvSpPr>
        <p:spPr>
          <a:xfrm>
            <a:off x="4709160" y="395020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SMEs at end-2022, with a national target of one million by 2030.</a:t>
            </a:r>
          </a:p>
        </p:txBody>
      </p:sp>
      <p:sp>
        <p:nvSpPr>
          <p:cNvPr id="36" name="TextBox 35"/>
          <p:cNvSpPr txBox="1"/>
          <p:nvPr/>
        </p:nvSpPr>
        <p:spPr>
          <a:xfrm>
            <a:off x="4709160" y="452628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UAE Minister of Economy, 2023</a:t>
            </a:r>
          </a:p>
        </p:txBody>
      </p:sp>
      <p:cxnSp>
        <p:nvCxnSpPr>
          <p:cNvPr id="37" name="Connector 36"/>
          <p:cNvCxnSpPr/>
          <p:nvPr/>
        </p:nvCxnSpPr>
        <p:spPr>
          <a:xfrm>
            <a:off x="8244687" y="3383280"/>
            <a:ext cx="3352648" cy="0"/>
          </a:xfrm>
          <a:prstGeom prst="line">
            <a:avLst/>
          </a:prstGeom>
          <a:ln w="12700">
            <a:solidFill>
              <a:srgbClr val="D5E2F3"/>
            </a:solidFill>
          </a:ln>
        </p:spPr>
      </p:cxnSp>
      <p:sp>
        <p:nvSpPr>
          <p:cNvPr id="38" name="TextBox 37"/>
          <p:cNvSpPr txBox="1"/>
          <p:nvPr/>
        </p:nvSpPr>
        <p:spPr>
          <a:xfrm>
            <a:off x="8244687" y="349300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30</a:t>
            </a:r>
          </a:p>
        </p:txBody>
      </p:sp>
      <p:sp>
        <p:nvSpPr>
          <p:cNvPr id="39" name="TextBox 38"/>
          <p:cNvSpPr txBox="1"/>
          <p:nvPr/>
        </p:nvSpPr>
        <p:spPr>
          <a:xfrm>
            <a:off x="8244687" y="395020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companies to grow into global unicorns under Dubai’s D33 agenda, plus 400 high-potential firms identified.</a:t>
            </a:r>
          </a:p>
        </p:txBody>
      </p:sp>
      <p:sp>
        <p:nvSpPr>
          <p:cNvPr id="40" name="TextBox 39"/>
          <p:cNvSpPr txBox="1"/>
          <p:nvPr/>
        </p:nvSpPr>
        <p:spPr>
          <a:xfrm>
            <a:off x="8244687" y="452628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Dubai Economic Agenda D33, 2023</a:t>
            </a:r>
          </a:p>
        </p:txBody>
      </p:sp>
      <p:cxnSp>
        <p:nvCxnSpPr>
          <p:cNvPr id="41" name="Connector 40"/>
          <p:cNvCxnSpPr/>
          <p:nvPr/>
        </p:nvCxnSpPr>
        <p:spPr>
          <a:xfrm>
            <a:off x="4709160" y="4846320"/>
            <a:ext cx="3352647" cy="0"/>
          </a:xfrm>
          <a:prstGeom prst="line">
            <a:avLst/>
          </a:prstGeom>
          <a:ln w="12700">
            <a:solidFill>
              <a:srgbClr val="D5E2F3"/>
            </a:solidFill>
          </a:ln>
        </p:spPr>
      </p:cxnSp>
      <p:sp>
        <p:nvSpPr>
          <p:cNvPr id="42" name="TextBox 41"/>
          <p:cNvSpPr txBox="1"/>
          <p:nvPr/>
        </p:nvSpPr>
        <p:spPr>
          <a:xfrm>
            <a:off x="4709160" y="495604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20</a:t>
            </a:r>
          </a:p>
        </p:txBody>
      </p:sp>
      <p:sp>
        <p:nvSpPr>
          <p:cNvPr id="43" name="TextBox 42"/>
          <p:cNvSpPr txBox="1"/>
          <p:nvPr/>
        </p:nvSpPr>
        <p:spPr>
          <a:xfrm>
            <a:off x="4709160" y="541324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unicorns targeted by 2031 under the national “Entrepreneurial Nation” initiative.</a:t>
            </a:r>
          </a:p>
        </p:txBody>
      </p:sp>
      <p:sp>
        <p:nvSpPr>
          <p:cNvPr id="44" name="TextBox 43"/>
          <p:cNvSpPr txBox="1"/>
          <p:nvPr/>
        </p:nvSpPr>
        <p:spPr>
          <a:xfrm>
            <a:off x="4709160" y="598932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UAE Ministry of Economy</a:t>
            </a:r>
          </a:p>
        </p:txBody>
      </p:sp>
      <p:cxnSp>
        <p:nvCxnSpPr>
          <p:cNvPr id="45" name="Connector 44"/>
          <p:cNvCxnSpPr/>
          <p:nvPr/>
        </p:nvCxnSpPr>
        <p:spPr>
          <a:xfrm>
            <a:off x="8244687" y="4846320"/>
            <a:ext cx="3352648" cy="0"/>
          </a:xfrm>
          <a:prstGeom prst="line">
            <a:avLst/>
          </a:prstGeom>
          <a:ln w="12700">
            <a:solidFill>
              <a:srgbClr val="D5E2F3"/>
            </a:solidFill>
          </a:ln>
        </p:spPr>
      </p:cxnSp>
      <p:sp>
        <p:nvSpPr>
          <p:cNvPr id="46" name="TextBox 45"/>
          <p:cNvSpPr txBox="1"/>
          <p:nvPr/>
        </p:nvSpPr>
        <p:spPr>
          <a:xfrm>
            <a:off x="8244687" y="4956048"/>
            <a:ext cx="3352647" cy="457200"/>
          </a:xfrm>
          <a:prstGeom prst="rect">
            <a:avLst/>
          </a:prstGeom>
          <a:noFill/>
        </p:spPr>
        <p:txBody>
          <a:bodyPr wrap="square" lIns="0" rIns="0" tIns="0" bIns="0" anchor="t"/>
          <a:lstStyle/>
          <a:p>
            <a:pPr algn="l">
              <a:lnSpc>
                <a:spcPct val="115000"/>
              </a:lnSpc>
              <a:spcAft>
                <a:spcPts val="0"/>
              </a:spcAft>
            </a:pPr>
            <a:r>
              <a:rPr sz="2200" b="1" i="0">
                <a:solidFill>
                  <a:srgbClr val="1765D1"/>
                </a:solidFill>
                <a:latin typeface="Inter"/>
              </a:rPr>
              <a:t>#19</a:t>
            </a:r>
          </a:p>
        </p:txBody>
      </p:sp>
      <p:sp>
        <p:nvSpPr>
          <p:cNvPr id="47" name="TextBox 46"/>
          <p:cNvSpPr txBox="1"/>
          <p:nvPr/>
        </p:nvSpPr>
        <p:spPr>
          <a:xfrm>
            <a:off x="8244687" y="5413248"/>
            <a:ext cx="3352647" cy="594360"/>
          </a:xfrm>
          <a:prstGeom prst="rect">
            <a:avLst/>
          </a:prstGeom>
          <a:noFill/>
        </p:spPr>
        <p:txBody>
          <a:bodyPr wrap="square" lIns="0" rIns="0" tIns="0" bIns="0" anchor="t"/>
          <a:lstStyle/>
          <a:p>
            <a:pPr algn="l">
              <a:lnSpc>
                <a:spcPct val="117000"/>
              </a:lnSpc>
              <a:spcAft>
                <a:spcPts val="0"/>
              </a:spcAft>
            </a:pPr>
            <a:r>
              <a:rPr sz="1100" b="0" i="0">
                <a:solidFill>
                  <a:srgbClr val="253650"/>
                </a:solidFill>
                <a:latin typeface="Inter"/>
              </a:rPr>
              <a:t>Dubai’s rank among global emerging startup ecosystems.</a:t>
            </a:r>
          </a:p>
        </p:txBody>
      </p:sp>
      <p:sp>
        <p:nvSpPr>
          <p:cNvPr id="48" name="TextBox 47"/>
          <p:cNvSpPr txBox="1"/>
          <p:nvPr/>
        </p:nvSpPr>
        <p:spPr>
          <a:xfrm>
            <a:off x="8244687" y="5989320"/>
            <a:ext cx="3352647"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Startup Genome GSER 2025</a:t>
            </a:r>
          </a:p>
        </p:txBody>
      </p:sp>
      <p:sp>
        <p:nvSpPr>
          <p:cNvPr id="49" name="TextBox 4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0" name="TextBox 4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UAE FOUNDERS TODAY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High ambition, real opportunity — and a fear of failure to address.</a:t>
            </a:r>
          </a:p>
        </p:txBody>
      </p:sp>
      <p:sp>
        <p:nvSpPr>
          <p:cNvPr id="4" name="Rectangle 3"/>
          <p:cNvSpPr/>
          <p:nvPr/>
        </p:nvSpPr>
        <p:spPr>
          <a:xfrm>
            <a:off x="594360" y="1965960"/>
            <a:ext cx="3545738" cy="3657600"/>
          </a:xfrm>
          <a:prstGeom prst="rect">
            <a:avLst/>
          </a:prstGeom>
          <a:solidFill>
            <a:srgbClr val="EDF4FE"/>
          </a:solidFill>
          <a:ln>
            <a:noFill/>
          </a:ln>
          <a:effectLst/>
        </p:spPr>
        <p:txBody>
          <a:bodyPr rtlCol="0" anchor="ctr" lIns="73152" rIns="73152" tIns="36576" bIns="36576"/>
          <a:lstStyle/>
          <a:p>
            <a:pPr algn="ctr"/>
          </a:p>
        </p:txBody>
      </p:sp>
      <p:sp>
        <p:nvSpPr>
          <p:cNvPr id="5" name="Oval 4"/>
          <p:cNvSpPr/>
          <p:nvPr/>
        </p:nvSpPr>
        <p:spPr>
          <a:xfrm>
            <a:off x="1051163" y="2240280"/>
            <a:ext cx="161300" cy="161300"/>
          </a:xfrm>
          <a:prstGeom prst="ellipse">
            <a:avLst/>
          </a:prstGeom>
          <a:solidFill>
            <a:srgbClr val="1765D1"/>
          </a:solidFill>
          <a:ln>
            <a:noFill/>
          </a:ln>
          <a:effectLst/>
        </p:spPr>
        <p:txBody>
          <a:bodyPr rtlCol="0" anchor="ctr" lIns="73152" rIns="73152" tIns="36576" bIns="36576"/>
          <a:lstStyle/>
          <a:p>
            <a:pPr algn="ctr"/>
          </a:p>
        </p:txBody>
      </p:sp>
      <p:sp>
        <p:nvSpPr>
          <p:cNvPr id="6" name="Round Same Side Corner Rectangle 5"/>
          <p:cNvSpPr/>
          <p:nvPr/>
        </p:nvSpPr>
        <p:spPr>
          <a:xfrm>
            <a:off x="978194" y="2424623"/>
            <a:ext cx="307238" cy="192024"/>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7" name="Oval 6"/>
          <p:cNvSpPr/>
          <p:nvPr/>
        </p:nvSpPr>
        <p:spPr>
          <a:xfrm>
            <a:off x="1668871" y="2240280"/>
            <a:ext cx="161300" cy="161300"/>
          </a:xfrm>
          <a:prstGeom prst="ellipse">
            <a:avLst/>
          </a:prstGeom>
          <a:solidFill>
            <a:srgbClr val="C4D8F6"/>
          </a:solidFill>
          <a:ln>
            <a:noFill/>
          </a:ln>
          <a:effectLst/>
        </p:spPr>
        <p:txBody>
          <a:bodyPr rtlCol="0" anchor="ctr" lIns="73152" rIns="73152" tIns="36576" bIns="36576"/>
          <a:lstStyle/>
          <a:p>
            <a:pPr algn="ctr"/>
          </a:p>
        </p:txBody>
      </p:sp>
      <p:sp>
        <p:nvSpPr>
          <p:cNvPr id="8" name="Round Same Side Corner Rectangle 7"/>
          <p:cNvSpPr/>
          <p:nvPr/>
        </p:nvSpPr>
        <p:spPr>
          <a:xfrm>
            <a:off x="1595902" y="2424623"/>
            <a:ext cx="307238" cy="192024"/>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9" name="Oval 8"/>
          <p:cNvSpPr/>
          <p:nvPr/>
        </p:nvSpPr>
        <p:spPr>
          <a:xfrm>
            <a:off x="2286579" y="2240280"/>
            <a:ext cx="161300" cy="161300"/>
          </a:xfrm>
          <a:prstGeom prst="ellipse">
            <a:avLst/>
          </a:prstGeom>
          <a:solidFill>
            <a:srgbClr val="C4D8F6"/>
          </a:solidFill>
          <a:ln>
            <a:noFill/>
          </a:ln>
          <a:effectLst/>
        </p:spPr>
        <p:txBody>
          <a:bodyPr rtlCol="0" anchor="ctr" lIns="73152" rIns="73152" tIns="36576" bIns="36576"/>
          <a:lstStyle/>
          <a:p>
            <a:pPr algn="ctr"/>
          </a:p>
        </p:txBody>
      </p:sp>
      <p:sp>
        <p:nvSpPr>
          <p:cNvPr id="10" name="Round Same Side Corner Rectangle 9"/>
          <p:cNvSpPr/>
          <p:nvPr/>
        </p:nvSpPr>
        <p:spPr>
          <a:xfrm>
            <a:off x="2213609" y="2424623"/>
            <a:ext cx="307238" cy="192024"/>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11" name="Oval 10"/>
          <p:cNvSpPr/>
          <p:nvPr/>
        </p:nvSpPr>
        <p:spPr>
          <a:xfrm>
            <a:off x="2904286" y="2240280"/>
            <a:ext cx="161300" cy="161300"/>
          </a:xfrm>
          <a:prstGeom prst="ellipse">
            <a:avLst/>
          </a:prstGeom>
          <a:solidFill>
            <a:srgbClr val="C4D8F6"/>
          </a:solidFill>
          <a:ln>
            <a:noFill/>
          </a:ln>
          <a:effectLst/>
        </p:spPr>
        <p:txBody>
          <a:bodyPr rtlCol="0" anchor="ctr" lIns="73152" rIns="73152" tIns="36576" bIns="36576"/>
          <a:lstStyle/>
          <a:p>
            <a:pPr algn="ctr"/>
          </a:p>
        </p:txBody>
      </p:sp>
      <p:sp>
        <p:nvSpPr>
          <p:cNvPr id="12" name="Round Same Side Corner Rectangle 11"/>
          <p:cNvSpPr/>
          <p:nvPr/>
        </p:nvSpPr>
        <p:spPr>
          <a:xfrm>
            <a:off x="2831317" y="2424623"/>
            <a:ext cx="307238" cy="192024"/>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13" name="Oval 12"/>
          <p:cNvSpPr/>
          <p:nvPr/>
        </p:nvSpPr>
        <p:spPr>
          <a:xfrm>
            <a:off x="3521994" y="2240280"/>
            <a:ext cx="161300" cy="161300"/>
          </a:xfrm>
          <a:prstGeom prst="ellipse">
            <a:avLst/>
          </a:prstGeom>
          <a:solidFill>
            <a:srgbClr val="C4D8F6"/>
          </a:solidFill>
          <a:ln>
            <a:noFill/>
          </a:ln>
          <a:effectLst/>
        </p:spPr>
        <p:txBody>
          <a:bodyPr rtlCol="0" anchor="ctr" lIns="73152" rIns="73152" tIns="36576" bIns="36576"/>
          <a:lstStyle/>
          <a:p>
            <a:pPr algn="ctr"/>
          </a:p>
        </p:txBody>
      </p:sp>
      <p:sp>
        <p:nvSpPr>
          <p:cNvPr id="14" name="Round Same Side Corner Rectangle 13"/>
          <p:cNvSpPr/>
          <p:nvPr/>
        </p:nvSpPr>
        <p:spPr>
          <a:xfrm>
            <a:off x="3449025" y="2424623"/>
            <a:ext cx="307238" cy="192024"/>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15" name="TextBox 14"/>
          <p:cNvSpPr txBox="1"/>
          <p:nvPr/>
        </p:nvSpPr>
        <p:spPr>
          <a:xfrm>
            <a:off x="868680" y="2971800"/>
            <a:ext cx="2997098" cy="640080"/>
          </a:xfrm>
          <a:prstGeom prst="rect">
            <a:avLst/>
          </a:prstGeom>
          <a:noFill/>
        </p:spPr>
        <p:txBody>
          <a:bodyPr wrap="square" lIns="0" rIns="0" tIns="0" bIns="0" anchor="t"/>
          <a:lstStyle/>
          <a:p>
            <a:pPr algn="l">
              <a:lnSpc>
                <a:spcPct val="115000"/>
              </a:lnSpc>
              <a:spcAft>
                <a:spcPts val="0"/>
              </a:spcAft>
            </a:pPr>
            <a:r>
              <a:rPr sz="3000" b="1" i="0">
                <a:solidFill>
                  <a:srgbClr val="10213B"/>
                </a:solidFill>
                <a:latin typeface="Inter"/>
              </a:rPr>
              <a:t>1 in 5</a:t>
            </a:r>
          </a:p>
        </p:txBody>
      </p:sp>
      <p:sp>
        <p:nvSpPr>
          <p:cNvPr id="16" name="TextBox 15"/>
          <p:cNvSpPr txBox="1"/>
          <p:nvPr/>
        </p:nvSpPr>
        <p:spPr>
          <a:xfrm>
            <a:off x="868680" y="3657600"/>
            <a:ext cx="2997098" cy="1371600"/>
          </a:xfrm>
          <a:prstGeom prst="rect">
            <a:avLst/>
          </a:prstGeom>
          <a:noFill/>
        </p:spPr>
        <p:txBody>
          <a:bodyPr wrap="square" lIns="0" rIns="0" tIns="0" bIns="0" anchor="t"/>
          <a:lstStyle/>
          <a:p>
            <a:pPr algn="l">
              <a:lnSpc>
                <a:spcPct val="125000"/>
              </a:lnSpc>
              <a:spcAft>
                <a:spcPts val="0"/>
              </a:spcAft>
            </a:pPr>
            <a:r>
              <a:rPr sz="1250" b="0" i="0">
                <a:solidFill>
                  <a:srgbClr val="253650"/>
                </a:solidFill>
                <a:latin typeface="Inter"/>
              </a:rPr>
              <a:t>adults in the UAE were starting or running a new business in 2025 — up from about one in seven in 2024.</a:t>
            </a:r>
          </a:p>
        </p:txBody>
      </p:sp>
      <p:sp>
        <p:nvSpPr>
          <p:cNvPr id="17" name="Rectangle 16"/>
          <p:cNvSpPr/>
          <p:nvPr/>
        </p:nvSpPr>
        <p:spPr>
          <a:xfrm>
            <a:off x="4322978" y="1965960"/>
            <a:ext cx="3545738" cy="3657600"/>
          </a:xfrm>
          <a:prstGeom prst="rect">
            <a:avLst/>
          </a:prstGeom>
          <a:solidFill>
            <a:srgbClr val="EDF4FE"/>
          </a:solidFill>
          <a:ln>
            <a:noFill/>
          </a:ln>
          <a:effectLst/>
        </p:spPr>
        <p:txBody>
          <a:bodyPr rtlCol="0" anchor="ctr" lIns="73152" rIns="73152" tIns="36576" bIns="36576"/>
          <a:lstStyle/>
          <a:p>
            <a:pPr algn="ctr"/>
          </a:p>
        </p:txBody>
      </p:sp>
      <p:sp>
        <p:nvSpPr>
          <p:cNvPr id="18" name="Oval 17"/>
          <p:cNvSpPr/>
          <p:nvPr/>
        </p:nvSpPr>
        <p:spPr>
          <a:xfrm>
            <a:off x="4640717"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19" name="Round Same Side Corner Rectangle 18"/>
          <p:cNvSpPr/>
          <p:nvPr/>
        </p:nvSpPr>
        <p:spPr>
          <a:xfrm>
            <a:off x="4581646"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0" name="Oval 19"/>
          <p:cNvSpPr/>
          <p:nvPr/>
        </p:nvSpPr>
        <p:spPr>
          <a:xfrm>
            <a:off x="4949571"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21" name="Round Same Side Corner Rectangle 20"/>
          <p:cNvSpPr/>
          <p:nvPr/>
        </p:nvSpPr>
        <p:spPr>
          <a:xfrm>
            <a:off x="4890500"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2" name="Oval 21"/>
          <p:cNvSpPr/>
          <p:nvPr/>
        </p:nvSpPr>
        <p:spPr>
          <a:xfrm>
            <a:off x="5258424"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23" name="Round Same Side Corner Rectangle 22"/>
          <p:cNvSpPr/>
          <p:nvPr/>
        </p:nvSpPr>
        <p:spPr>
          <a:xfrm>
            <a:off x="5199354"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4" name="Oval 23"/>
          <p:cNvSpPr/>
          <p:nvPr/>
        </p:nvSpPr>
        <p:spPr>
          <a:xfrm>
            <a:off x="5567278"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25" name="Round Same Side Corner Rectangle 24"/>
          <p:cNvSpPr/>
          <p:nvPr/>
        </p:nvSpPr>
        <p:spPr>
          <a:xfrm>
            <a:off x="5508208"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6" name="Oval 25"/>
          <p:cNvSpPr/>
          <p:nvPr/>
        </p:nvSpPr>
        <p:spPr>
          <a:xfrm>
            <a:off x="5876132"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27" name="Round Same Side Corner Rectangle 26"/>
          <p:cNvSpPr/>
          <p:nvPr/>
        </p:nvSpPr>
        <p:spPr>
          <a:xfrm>
            <a:off x="5817062"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8" name="Oval 27"/>
          <p:cNvSpPr/>
          <p:nvPr/>
        </p:nvSpPr>
        <p:spPr>
          <a:xfrm>
            <a:off x="6184986"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29" name="Round Same Side Corner Rectangle 28"/>
          <p:cNvSpPr/>
          <p:nvPr/>
        </p:nvSpPr>
        <p:spPr>
          <a:xfrm>
            <a:off x="6125916"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30" name="Oval 29"/>
          <p:cNvSpPr/>
          <p:nvPr/>
        </p:nvSpPr>
        <p:spPr>
          <a:xfrm>
            <a:off x="6493840"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31" name="Round Same Side Corner Rectangle 30"/>
          <p:cNvSpPr/>
          <p:nvPr/>
        </p:nvSpPr>
        <p:spPr>
          <a:xfrm>
            <a:off x="6434769"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32" name="Oval 31"/>
          <p:cNvSpPr/>
          <p:nvPr/>
        </p:nvSpPr>
        <p:spPr>
          <a:xfrm>
            <a:off x="6802694"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33" name="Round Same Side Corner Rectangle 32"/>
          <p:cNvSpPr/>
          <p:nvPr/>
        </p:nvSpPr>
        <p:spPr>
          <a:xfrm>
            <a:off x="6743623"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34" name="Oval 33"/>
          <p:cNvSpPr/>
          <p:nvPr/>
        </p:nvSpPr>
        <p:spPr>
          <a:xfrm>
            <a:off x="7111547" y="2240280"/>
            <a:ext cx="130576" cy="130576"/>
          </a:xfrm>
          <a:prstGeom prst="ellipse">
            <a:avLst/>
          </a:prstGeom>
          <a:solidFill>
            <a:srgbClr val="1765D1"/>
          </a:solidFill>
          <a:ln>
            <a:noFill/>
          </a:ln>
          <a:effectLst/>
        </p:spPr>
        <p:txBody>
          <a:bodyPr rtlCol="0" anchor="ctr" lIns="73152" rIns="73152" tIns="36576" bIns="36576"/>
          <a:lstStyle/>
          <a:p>
            <a:pPr algn="ctr"/>
          </a:p>
        </p:txBody>
      </p:sp>
      <p:sp>
        <p:nvSpPr>
          <p:cNvPr id="35" name="Round Same Side Corner Rectangle 34"/>
          <p:cNvSpPr/>
          <p:nvPr/>
        </p:nvSpPr>
        <p:spPr>
          <a:xfrm>
            <a:off x="7052477" y="2389510"/>
            <a:ext cx="248716" cy="155448"/>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36" name="Oval 35"/>
          <p:cNvSpPr/>
          <p:nvPr/>
        </p:nvSpPr>
        <p:spPr>
          <a:xfrm>
            <a:off x="7420401" y="2240280"/>
            <a:ext cx="130576" cy="130576"/>
          </a:xfrm>
          <a:prstGeom prst="ellipse">
            <a:avLst/>
          </a:prstGeom>
          <a:solidFill>
            <a:srgbClr val="C4D8F6"/>
          </a:solidFill>
          <a:ln>
            <a:noFill/>
          </a:ln>
          <a:effectLst/>
        </p:spPr>
        <p:txBody>
          <a:bodyPr rtlCol="0" anchor="ctr" lIns="73152" rIns="73152" tIns="36576" bIns="36576"/>
          <a:lstStyle/>
          <a:p>
            <a:pPr algn="ctr"/>
          </a:p>
        </p:txBody>
      </p:sp>
      <p:sp>
        <p:nvSpPr>
          <p:cNvPr id="37" name="Round Same Side Corner Rectangle 36"/>
          <p:cNvSpPr/>
          <p:nvPr/>
        </p:nvSpPr>
        <p:spPr>
          <a:xfrm>
            <a:off x="7361331" y="2389510"/>
            <a:ext cx="248716" cy="155448"/>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38" name="TextBox 37"/>
          <p:cNvSpPr txBox="1"/>
          <p:nvPr/>
        </p:nvSpPr>
        <p:spPr>
          <a:xfrm>
            <a:off x="4597298" y="2971800"/>
            <a:ext cx="2997098" cy="640080"/>
          </a:xfrm>
          <a:prstGeom prst="rect">
            <a:avLst/>
          </a:prstGeom>
          <a:noFill/>
        </p:spPr>
        <p:txBody>
          <a:bodyPr wrap="square" lIns="0" rIns="0" tIns="0" bIns="0" anchor="t"/>
          <a:lstStyle/>
          <a:p>
            <a:pPr algn="l">
              <a:lnSpc>
                <a:spcPct val="115000"/>
              </a:lnSpc>
              <a:spcAft>
                <a:spcPts val="0"/>
              </a:spcAft>
            </a:pPr>
            <a:r>
              <a:rPr sz="3000" b="1" i="0">
                <a:solidFill>
                  <a:srgbClr val="10213B"/>
                </a:solidFill>
                <a:latin typeface="Inter"/>
              </a:rPr>
              <a:t>9 in 10</a:t>
            </a:r>
          </a:p>
        </p:txBody>
      </p:sp>
      <p:sp>
        <p:nvSpPr>
          <p:cNvPr id="39" name="TextBox 38"/>
          <p:cNvSpPr txBox="1"/>
          <p:nvPr/>
        </p:nvSpPr>
        <p:spPr>
          <a:xfrm>
            <a:off x="4597298" y="3657600"/>
            <a:ext cx="2997098" cy="1371600"/>
          </a:xfrm>
          <a:prstGeom prst="rect">
            <a:avLst/>
          </a:prstGeom>
          <a:noFill/>
        </p:spPr>
        <p:txBody>
          <a:bodyPr wrap="square" lIns="0" rIns="0" tIns="0" bIns="0" anchor="t"/>
          <a:lstStyle/>
          <a:p>
            <a:pPr algn="l">
              <a:lnSpc>
                <a:spcPct val="125000"/>
              </a:lnSpc>
              <a:spcAft>
                <a:spcPts val="0"/>
              </a:spcAft>
            </a:pPr>
            <a:r>
              <a:rPr sz="1250" b="0" i="0">
                <a:solidFill>
                  <a:srgbClr val="253650"/>
                </a:solidFill>
                <a:latin typeface="Inter"/>
              </a:rPr>
              <a:t>adults see good opportunities to start a business, among the highest of all economies surveyed.</a:t>
            </a:r>
          </a:p>
        </p:txBody>
      </p:sp>
      <p:sp>
        <p:nvSpPr>
          <p:cNvPr id="40" name="Rectangle 39"/>
          <p:cNvSpPr/>
          <p:nvPr/>
        </p:nvSpPr>
        <p:spPr>
          <a:xfrm>
            <a:off x="8051596" y="1965960"/>
            <a:ext cx="3545738" cy="3657600"/>
          </a:xfrm>
          <a:prstGeom prst="rect">
            <a:avLst/>
          </a:prstGeom>
          <a:solidFill>
            <a:srgbClr val="EDF4FE"/>
          </a:solidFill>
          <a:ln>
            <a:noFill/>
          </a:ln>
          <a:effectLst/>
        </p:spPr>
        <p:txBody>
          <a:bodyPr rtlCol="0" anchor="ctr" lIns="73152" rIns="73152" tIns="36576" bIns="36576"/>
          <a:lstStyle/>
          <a:p>
            <a:pPr algn="ctr"/>
          </a:p>
        </p:txBody>
      </p:sp>
      <p:sp>
        <p:nvSpPr>
          <p:cNvPr id="41" name="Oval 40"/>
          <p:cNvSpPr/>
          <p:nvPr/>
        </p:nvSpPr>
        <p:spPr>
          <a:xfrm>
            <a:off x="8971681" y="2240280"/>
            <a:ext cx="161300" cy="161300"/>
          </a:xfrm>
          <a:prstGeom prst="ellipse">
            <a:avLst/>
          </a:prstGeom>
          <a:solidFill>
            <a:srgbClr val="1765D1"/>
          </a:solidFill>
          <a:ln>
            <a:noFill/>
          </a:ln>
          <a:effectLst/>
        </p:spPr>
        <p:txBody>
          <a:bodyPr rtlCol="0" anchor="ctr" lIns="73152" rIns="73152" tIns="36576" bIns="36576"/>
          <a:lstStyle/>
          <a:p>
            <a:pPr algn="ctr"/>
          </a:p>
        </p:txBody>
      </p:sp>
      <p:sp>
        <p:nvSpPr>
          <p:cNvPr id="42" name="Round Same Side Corner Rectangle 41"/>
          <p:cNvSpPr/>
          <p:nvPr/>
        </p:nvSpPr>
        <p:spPr>
          <a:xfrm>
            <a:off x="8898712" y="2424623"/>
            <a:ext cx="307238" cy="192024"/>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43" name="Oval 42"/>
          <p:cNvSpPr/>
          <p:nvPr/>
        </p:nvSpPr>
        <p:spPr>
          <a:xfrm>
            <a:off x="10515950" y="2240280"/>
            <a:ext cx="161300" cy="161300"/>
          </a:xfrm>
          <a:prstGeom prst="ellipse">
            <a:avLst/>
          </a:prstGeom>
          <a:solidFill>
            <a:srgbClr val="C4D8F6"/>
          </a:solidFill>
          <a:ln>
            <a:noFill/>
          </a:ln>
          <a:effectLst/>
        </p:spPr>
        <p:txBody>
          <a:bodyPr rtlCol="0" anchor="ctr" lIns="73152" rIns="73152" tIns="36576" bIns="36576"/>
          <a:lstStyle/>
          <a:p>
            <a:pPr algn="ctr"/>
          </a:p>
        </p:txBody>
      </p:sp>
      <p:sp>
        <p:nvSpPr>
          <p:cNvPr id="44" name="Round Same Side Corner Rectangle 43"/>
          <p:cNvSpPr/>
          <p:nvPr/>
        </p:nvSpPr>
        <p:spPr>
          <a:xfrm>
            <a:off x="10442981" y="2424623"/>
            <a:ext cx="307238" cy="192024"/>
          </a:xfrm>
          <a:prstGeom prst="round2SameRect">
            <a:avLst>
              <a:gd name="adj1" fmla="val 50000"/>
              <a:gd name="adj2" fmla="val 0"/>
            </a:avLst>
          </a:prstGeom>
          <a:solidFill>
            <a:srgbClr val="C4D8F6"/>
          </a:solidFill>
          <a:ln>
            <a:noFill/>
          </a:ln>
          <a:effectLst/>
        </p:spPr>
        <p:txBody>
          <a:bodyPr rtlCol="0" anchor="ctr" lIns="73152" rIns="73152" tIns="36576" bIns="36576"/>
          <a:lstStyle/>
          <a:p>
            <a:pPr algn="ctr"/>
          </a:p>
        </p:txBody>
      </p:sp>
      <p:sp>
        <p:nvSpPr>
          <p:cNvPr id="45" name="TextBox 44"/>
          <p:cNvSpPr txBox="1"/>
          <p:nvPr/>
        </p:nvSpPr>
        <p:spPr>
          <a:xfrm>
            <a:off x="8325916" y="2971800"/>
            <a:ext cx="2997098" cy="640080"/>
          </a:xfrm>
          <a:prstGeom prst="rect">
            <a:avLst/>
          </a:prstGeom>
          <a:noFill/>
        </p:spPr>
        <p:txBody>
          <a:bodyPr wrap="square" lIns="0" rIns="0" tIns="0" bIns="0" anchor="t"/>
          <a:lstStyle/>
          <a:p>
            <a:pPr algn="l">
              <a:lnSpc>
                <a:spcPct val="115000"/>
              </a:lnSpc>
              <a:spcAft>
                <a:spcPts val="0"/>
              </a:spcAft>
            </a:pPr>
            <a:r>
              <a:rPr sz="3000" b="1" i="0">
                <a:solidFill>
                  <a:srgbClr val="10213B"/>
                </a:solidFill>
                <a:latin typeface="Inter"/>
              </a:rPr>
              <a:t>Over half</a:t>
            </a:r>
          </a:p>
        </p:txBody>
      </p:sp>
      <p:sp>
        <p:nvSpPr>
          <p:cNvPr id="46" name="TextBox 45"/>
          <p:cNvSpPr txBox="1"/>
          <p:nvPr/>
        </p:nvSpPr>
        <p:spPr>
          <a:xfrm>
            <a:off x="8325916" y="3657600"/>
            <a:ext cx="2997098" cy="1371600"/>
          </a:xfrm>
          <a:prstGeom prst="rect">
            <a:avLst/>
          </a:prstGeom>
          <a:noFill/>
        </p:spPr>
        <p:txBody>
          <a:bodyPr wrap="square" lIns="0" rIns="0" tIns="0" bIns="0" anchor="t"/>
          <a:lstStyle/>
          <a:p>
            <a:pPr algn="l">
              <a:lnSpc>
                <a:spcPct val="125000"/>
              </a:lnSpc>
              <a:spcAft>
                <a:spcPts val="0"/>
              </a:spcAft>
            </a:pPr>
            <a:r>
              <a:rPr sz="1250" b="0" i="0">
                <a:solidFill>
                  <a:srgbClr val="253650"/>
                </a:solidFill>
                <a:latin typeface="Inter"/>
              </a:rPr>
              <a:t>of those who see opportunities say fear of failure would stop them starting.</a:t>
            </a:r>
          </a:p>
        </p:txBody>
      </p:sp>
      <p:sp>
        <p:nvSpPr>
          <p:cNvPr id="47" name="Rectangle 46"/>
          <p:cNvSpPr/>
          <p:nvPr/>
        </p:nvSpPr>
        <p:spPr>
          <a:xfrm>
            <a:off x="594360" y="5715000"/>
            <a:ext cx="11002975" cy="457200"/>
          </a:xfrm>
          <a:prstGeom prst="rect">
            <a:avLst/>
          </a:prstGeom>
          <a:solidFill>
            <a:srgbClr val="10213B"/>
          </a:solidFill>
          <a:ln>
            <a:noFill/>
          </a:ln>
          <a:effectLst/>
        </p:spPr>
        <p:txBody>
          <a:bodyPr rtlCol="0" anchor="ctr" lIns="73152" rIns="73152" tIns="36576" bIns="36576"/>
          <a:lstStyle/>
          <a:p>
            <a:pPr algn="ctr"/>
          </a:p>
        </p:txBody>
      </p:sp>
      <p:sp>
        <p:nvSpPr>
          <p:cNvPr id="48" name="TextBox 47"/>
          <p:cNvSpPr txBox="1"/>
          <p:nvPr/>
        </p:nvSpPr>
        <p:spPr>
          <a:xfrm>
            <a:off x="822960" y="5760720"/>
            <a:ext cx="10545775" cy="365760"/>
          </a:xfrm>
          <a:prstGeom prst="rect">
            <a:avLst/>
          </a:prstGeom>
          <a:noFill/>
        </p:spPr>
        <p:txBody>
          <a:bodyPr wrap="square" lIns="0" rIns="0" tIns="0" bIns="0" anchor="ctr"/>
          <a:lstStyle/>
          <a:p>
            <a:pPr algn="l">
              <a:lnSpc>
                <a:spcPct val="115000"/>
              </a:lnSpc>
              <a:spcAft>
                <a:spcPts val="0"/>
              </a:spcAft>
            </a:pPr>
            <a:r>
              <a:rPr sz="1200" b="1" i="0">
                <a:solidFill>
                  <a:srgbClr val="FFFFFF"/>
                </a:solidFill>
                <a:latin typeface="Inter"/>
              </a:rPr>
              <a:t>Practical support, peer networks and small, low-risk first steps are a direct answer to fear of failure.</a:t>
            </a:r>
          </a:p>
        </p:txBody>
      </p:sp>
      <p:sp>
        <p:nvSpPr>
          <p:cNvPr id="49" name="TextBox 48"/>
          <p:cNvSpPr txBox="1"/>
          <p:nvPr/>
        </p:nvSpPr>
        <p:spPr>
          <a:xfrm>
            <a:off x="594360" y="6236208"/>
            <a:ext cx="11002975"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Source: Global Entrepreneurship Monitor (GEM), UAE country profile, 2025.</a:t>
            </a:r>
          </a:p>
        </p:txBody>
      </p:sp>
      <p:sp>
        <p:nvSpPr>
          <p:cNvPr id="50" name="TextBox 49"/>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1" name="TextBox 50"/>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AI IS ARRIVING IN SMALL BUSINESSES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Founders are already using AI tools — guidance on using them well is the gap.</a:t>
            </a:r>
          </a:p>
        </p:txBody>
      </p:sp>
      <p:graphicFrame>
        <p:nvGraphicFramePr>
          <p:cNvPr id="4" name="Chart 3"/>
          <p:cNvGraphicFramePr>
            <a:graphicFrameLocks noGrp="1"/>
          </p:cNvGraphicFramePr>
          <p:nvPr/>
        </p:nvGraphicFramePr>
        <p:xfrm>
          <a:off x="594360" y="2011680"/>
          <a:ext cx="3108960" cy="3108960"/>
        </p:xfrm>
        <a:graphic>
          <a:graphicData uri="http://schemas.openxmlformats.org/drawingml/2006/chart">
            <c:chart xmlns:c="http://schemas.openxmlformats.org/drawingml/2006/chart" r:id="rId2"/>
          </a:graphicData>
        </a:graphic>
      </p:graphicFrame>
      <p:sp>
        <p:nvSpPr>
          <p:cNvPr id="5" name="TextBox 4"/>
          <p:cNvSpPr txBox="1"/>
          <p:nvPr/>
        </p:nvSpPr>
        <p:spPr>
          <a:xfrm>
            <a:off x="594360" y="3246120"/>
            <a:ext cx="3108960" cy="548640"/>
          </a:xfrm>
          <a:prstGeom prst="rect">
            <a:avLst/>
          </a:prstGeom>
          <a:noFill/>
        </p:spPr>
        <p:txBody>
          <a:bodyPr wrap="square" lIns="0" rIns="0" tIns="0" bIns="0" anchor="t"/>
          <a:lstStyle/>
          <a:p>
            <a:pPr algn="ctr">
              <a:lnSpc>
                <a:spcPct val="115000"/>
              </a:lnSpc>
              <a:spcAft>
                <a:spcPts val="0"/>
              </a:spcAft>
            </a:pPr>
            <a:r>
              <a:rPr sz="3000" b="1" i="0">
                <a:solidFill>
                  <a:srgbClr val="10213B"/>
                </a:solidFill>
                <a:latin typeface="Inter"/>
              </a:rPr>
              <a:t>31%</a:t>
            </a:r>
          </a:p>
        </p:txBody>
      </p:sp>
      <p:sp>
        <p:nvSpPr>
          <p:cNvPr id="6" name="TextBox 5"/>
          <p:cNvSpPr txBox="1"/>
          <p:nvPr/>
        </p:nvSpPr>
        <p:spPr>
          <a:xfrm>
            <a:off x="594360" y="5212080"/>
            <a:ext cx="3108960" cy="640080"/>
          </a:xfrm>
          <a:prstGeom prst="rect">
            <a:avLst/>
          </a:prstGeom>
          <a:noFill/>
        </p:spPr>
        <p:txBody>
          <a:bodyPr wrap="square" lIns="0" rIns="0" tIns="0" bIns="0" anchor="t"/>
          <a:lstStyle/>
          <a:p>
            <a:pPr algn="ctr">
              <a:lnSpc>
                <a:spcPct val="120000"/>
              </a:lnSpc>
              <a:spcAft>
                <a:spcPts val="0"/>
              </a:spcAft>
            </a:pPr>
            <a:r>
              <a:rPr sz="1150" b="0" i="0">
                <a:solidFill>
                  <a:srgbClr val="253650"/>
                </a:solidFill>
                <a:latin typeface="Inter"/>
              </a:rPr>
              <a:t>of SMEs surveyed in seven OECD countries use generative AI (late 2024).</a:t>
            </a:r>
          </a:p>
        </p:txBody>
      </p:sp>
      <p:graphicFrame>
        <p:nvGraphicFramePr>
          <p:cNvPr id="7" name="Chart 6"/>
          <p:cNvGraphicFramePr>
            <a:graphicFrameLocks noGrp="1"/>
          </p:cNvGraphicFramePr>
          <p:nvPr/>
        </p:nvGraphicFramePr>
        <p:xfrm>
          <a:off x="4023360" y="1965960"/>
          <a:ext cx="3566160" cy="3200400"/>
        </p:xfrm>
        <a:graphic>
          <a:graphicData uri="http://schemas.openxmlformats.org/drawingml/2006/chart">
            <c:chart xmlns:c="http://schemas.openxmlformats.org/drawingml/2006/chart" r:id="rId3"/>
          </a:graphicData>
        </a:graphic>
      </p:graphicFrame>
      <p:sp>
        <p:nvSpPr>
          <p:cNvPr id="8" name="TextBox 7"/>
          <p:cNvSpPr txBox="1"/>
          <p:nvPr/>
        </p:nvSpPr>
        <p:spPr>
          <a:xfrm>
            <a:off x="4114800" y="5212080"/>
            <a:ext cx="3383280" cy="640080"/>
          </a:xfrm>
          <a:prstGeom prst="rect">
            <a:avLst/>
          </a:prstGeom>
          <a:noFill/>
        </p:spPr>
        <p:txBody>
          <a:bodyPr wrap="square" lIns="0" rIns="0" tIns="0" bIns="0" anchor="t"/>
          <a:lstStyle/>
          <a:p>
            <a:pPr algn="ctr">
              <a:lnSpc>
                <a:spcPct val="120000"/>
              </a:lnSpc>
              <a:spcAft>
                <a:spcPts val="0"/>
              </a:spcAft>
            </a:pPr>
            <a:r>
              <a:rPr sz="1150" b="0" i="0">
                <a:solidFill>
                  <a:srgbClr val="253650"/>
                </a:solidFill>
                <a:latin typeface="Inter"/>
              </a:rPr>
              <a:t>of US firms used AI to produce goods or services — doubling in under two years.</a:t>
            </a:r>
          </a:p>
        </p:txBody>
      </p:sp>
      <p:sp>
        <p:nvSpPr>
          <p:cNvPr id="9" name="Rectangle 8"/>
          <p:cNvSpPr/>
          <p:nvPr/>
        </p:nvSpPr>
        <p:spPr>
          <a:xfrm>
            <a:off x="8001000" y="2011680"/>
            <a:ext cx="3596335" cy="3840480"/>
          </a:xfrm>
          <a:prstGeom prst="rect">
            <a:avLst/>
          </a:prstGeom>
          <a:solidFill>
            <a:srgbClr val="10213B"/>
          </a:solidFill>
          <a:ln>
            <a:noFill/>
          </a:ln>
          <a:effectLst/>
        </p:spPr>
        <p:txBody>
          <a:bodyPr rtlCol="0" anchor="ctr" lIns="73152" rIns="73152" tIns="36576" bIns="36576"/>
          <a:lstStyle/>
          <a:p>
            <a:pPr algn="ctr"/>
          </a:p>
        </p:txBody>
      </p:sp>
      <p:sp>
        <p:nvSpPr>
          <p:cNvPr id="10" name="TextBox 9"/>
          <p:cNvSpPr txBox="1"/>
          <p:nvPr/>
        </p:nvSpPr>
        <p:spPr>
          <a:xfrm>
            <a:off x="8275320" y="2240280"/>
            <a:ext cx="310896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WHAT THIS MEANS</a:t>
            </a:r>
          </a:p>
        </p:txBody>
      </p:sp>
      <p:sp>
        <p:nvSpPr>
          <p:cNvPr id="11" name="TextBox 10"/>
          <p:cNvSpPr txBox="1"/>
          <p:nvPr/>
        </p:nvSpPr>
        <p:spPr>
          <a:xfrm>
            <a:off x="8275320" y="2606040"/>
            <a:ext cx="3063240" cy="3108960"/>
          </a:xfrm>
          <a:prstGeom prst="rect">
            <a:avLst/>
          </a:prstGeom>
          <a:noFill/>
        </p:spPr>
        <p:txBody>
          <a:bodyPr wrap="square" lIns="0" rIns="0" tIns="0" bIns="0" anchor="t"/>
          <a:lstStyle/>
          <a:p>
            <a:pPr algn="l">
              <a:lnSpc>
                <a:spcPct val="128000"/>
              </a:lnSpc>
              <a:spcAft>
                <a:spcPts val="0"/>
              </a:spcAft>
            </a:pPr>
            <a:r>
              <a:rPr sz="1500" b="1" i="0">
                <a:solidFill>
                  <a:srgbClr val="FFFFFF"/>
                </a:solidFill>
                <a:latin typeface="Inter"/>
              </a:rPr>
              <a:t>AI as a founder tool, not a replacement for judgement.</a:t>
            </a:r>
          </a:p>
          <a:p>
            <a:pPr algn="l">
              <a:lnSpc>
                <a:spcPct val="128000"/>
              </a:lnSpc>
              <a:spcBef>
                <a:spcPts val="800"/>
              </a:spcBef>
              <a:spcAft>
                <a:spcPts val="0"/>
              </a:spcAft>
            </a:pPr>
            <a:r>
              <a:rPr sz="1200" b="0" i="0">
                <a:solidFill>
                  <a:srgbClr val="C9D6E8"/>
                </a:solidFill>
                <a:latin typeface="Inter"/>
              </a:rPr>
              <a:t>Founder Academy covers practical AI and automation. Founder OS plans AI-assisted guidance — always with human support for important decisions.</a:t>
            </a:r>
          </a:p>
        </p:txBody>
      </p:sp>
      <p:sp>
        <p:nvSpPr>
          <p:cNvPr id="12" name="TextBox 11"/>
          <p:cNvSpPr txBox="1"/>
          <p:nvPr/>
        </p:nvSpPr>
        <p:spPr>
          <a:xfrm>
            <a:off x="594360" y="6144768"/>
            <a:ext cx="11002975" cy="22860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Sources: OECD, “Generative AI and the SME Workforce”, 2025; US Census Bureau, Business Trends and Outlook Survey (2024–2025).</a:t>
            </a:r>
          </a:p>
        </p:txBody>
      </p:sp>
      <p:sp>
        <p:nvSpPr>
          <p:cNvPr id="13" name="TextBox 12"/>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14" name="TextBox 13"/>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WHAT THIS MEANS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Support exists. Joining it up around the founder is the opportunity.</a:t>
            </a:r>
          </a:p>
        </p:txBody>
      </p:sp>
      <p:sp>
        <p:nvSpPr>
          <p:cNvPr id="4" name="Rectangle 3"/>
          <p:cNvSpPr/>
          <p:nvPr/>
        </p:nvSpPr>
        <p:spPr>
          <a:xfrm>
            <a:off x="594360" y="2011680"/>
            <a:ext cx="3611880" cy="73152"/>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594360" y="2212848"/>
            <a:ext cx="3611880" cy="274320"/>
          </a:xfrm>
          <a:prstGeom prst="rect">
            <a:avLst/>
          </a:prstGeom>
          <a:noFill/>
        </p:spPr>
        <p:txBody>
          <a:bodyPr wrap="square" lIns="0" rIns="0" tIns="0" bIns="0" anchor="t"/>
          <a:lstStyle/>
          <a:p>
            <a:pPr algn="l">
              <a:lnSpc>
                <a:spcPct val="115000"/>
              </a:lnSpc>
              <a:spcAft>
                <a:spcPts val="0"/>
              </a:spcAft>
            </a:pPr>
            <a:r>
              <a:rPr sz="1000" b="1" i="0" spc="130">
                <a:solidFill>
                  <a:srgbClr val="1765D1"/>
                </a:solidFill>
                <a:latin typeface="Inter"/>
              </a:rPr>
              <a:t>WHAT IS GROWING</a:t>
            </a:r>
          </a:p>
        </p:txBody>
      </p:sp>
      <p:cxnSp>
        <p:nvCxnSpPr>
          <p:cNvPr id="6" name="Connector 5"/>
          <p:cNvCxnSpPr/>
          <p:nvPr/>
        </p:nvCxnSpPr>
        <p:spPr>
          <a:xfrm>
            <a:off x="594360" y="2606040"/>
            <a:ext cx="3611880" cy="0"/>
          </a:xfrm>
          <a:prstGeom prst="line">
            <a:avLst/>
          </a:prstGeom>
          <a:ln w="12700">
            <a:solidFill>
              <a:srgbClr val="D5E2F3"/>
            </a:solidFill>
          </a:ln>
        </p:spPr>
      </p:cxnSp>
      <p:sp>
        <p:nvSpPr>
          <p:cNvPr id="7" name="TextBox 6"/>
          <p:cNvSpPr txBox="1"/>
          <p:nvPr/>
        </p:nvSpPr>
        <p:spPr>
          <a:xfrm>
            <a:off x="594360" y="2734056"/>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Startup programmes and incubators</a:t>
            </a:r>
          </a:p>
        </p:txBody>
      </p:sp>
      <p:cxnSp>
        <p:nvCxnSpPr>
          <p:cNvPr id="8" name="Connector 7"/>
          <p:cNvCxnSpPr/>
          <p:nvPr/>
        </p:nvCxnSpPr>
        <p:spPr>
          <a:xfrm>
            <a:off x="594360" y="3264408"/>
            <a:ext cx="3611880" cy="0"/>
          </a:xfrm>
          <a:prstGeom prst="line">
            <a:avLst/>
          </a:prstGeom>
          <a:ln w="12700">
            <a:solidFill>
              <a:srgbClr val="D5E2F3"/>
            </a:solidFill>
          </a:ln>
        </p:spPr>
      </p:cxnSp>
      <p:sp>
        <p:nvSpPr>
          <p:cNvPr id="9" name="TextBox 8"/>
          <p:cNvSpPr txBox="1"/>
          <p:nvPr/>
        </p:nvSpPr>
        <p:spPr>
          <a:xfrm>
            <a:off x="594360" y="3392424"/>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Venture capital and angel activity</a:t>
            </a:r>
          </a:p>
        </p:txBody>
      </p:sp>
      <p:cxnSp>
        <p:nvCxnSpPr>
          <p:cNvPr id="10" name="Connector 9"/>
          <p:cNvCxnSpPr/>
          <p:nvPr/>
        </p:nvCxnSpPr>
        <p:spPr>
          <a:xfrm>
            <a:off x="594360" y="3922776"/>
            <a:ext cx="3611880" cy="0"/>
          </a:xfrm>
          <a:prstGeom prst="line">
            <a:avLst/>
          </a:prstGeom>
          <a:ln w="12700">
            <a:solidFill>
              <a:srgbClr val="D5E2F3"/>
            </a:solidFill>
          </a:ln>
        </p:spPr>
      </p:cxnSp>
      <p:sp>
        <p:nvSpPr>
          <p:cNvPr id="11" name="TextBox 10"/>
          <p:cNvSpPr txBox="1"/>
          <p:nvPr/>
        </p:nvSpPr>
        <p:spPr>
          <a:xfrm>
            <a:off x="594360" y="4050791"/>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Government focus on SMEs and entrepreneurship</a:t>
            </a:r>
          </a:p>
        </p:txBody>
      </p:sp>
      <p:cxnSp>
        <p:nvCxnSpPr>
          <p:cNvPr id="12" name="Connector 11"/>
          <p:cNvCxnSpPr/>
          <p:nvPr/>
        </p:nvCxnSpPr>
        <p:spPr>
          <a:xfrm>
            <a:off x="594360" y="4581144"/>
            <a:ext cx="3611880" cy="0"/>
          </a:xfrm>
          <a:prstGeom prst="line">
            <a:avLst/>
          </a:prstGeom>
          <a:ln w="12700">
            <a:solidFill>
              <a:srgbClr val="D5E2F3"/>
            </a:solidFill>
          </a:ln>
        </p:spPr>
      </p:cxnSp>
      <p:sp>
        <p:nvSpPr>
          <p:cNvPr id="13" name="TextBox 12"/>
          <p:cNvSpPr txBox="1"/>
          <p:nvPr/>
        </p:nvSpPr>
        <p:spPr>
          <a:xfrm>
            <a:off x="594360" y="4709159"/>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Online content, tools and AI assistants</a:t>
            </a:r>
          </a:p>
        </p:txBody>
      </p:sp>
      <p:sp>
        <p:nvSpPr>
          <p:cNvPr id="14" name="Rectangle 13"/>
          <p:cNvSpPr/>
          <p:nvPr/>
        </p:nvSpPr>
        <p:spPr>
          <a:xfrm>
            <a:off x="4526280" y="2011680"/>
            <a:ext cx="3611880" cy="73152"/>
          </a:xfrm>
          <a:prstGeom prst="rect">
            <a:avLst/>
          </a:prstGeom>
          <a:solidFill>
            <a:srgbClr val="10213B"/>
          </a:solidFill>
          <a:ln>
            <a:noFill/>
          </a:ln>
          <a:effectLst/>
        </p:spPr>
        <p:txBody>
          <a:bodyPr rtlCol="0" anchor="ctr" lIns="73152" rIns="73152" tIns="36576" bIns="36576"/>
          <a:lstStyle/>
          <a:p>
            <a:pPr algn="ctr"/>
          </a:p>
        </p:txBody>
      </p:sp>
      <p:sp>
        <p:nvSpPr>
          <p:cNvPr id="15" name="TextBox 14"/>
          <p:cNvSpPr txBox="1"/>
          <p:nvPr/>
        </p:nvSpPr>
        <p:spPr>
          <a:xfrm>
            <a:off x="4526280" y="2212848"/>
            <a:ext cx="3611880" cy="274320"/>
          </a:xfrm>
          <a:prstGeom prst="rect">
            <a:avLst/>
          </a:prstGeom>
          <a:noFill/>
        </p:spPr>
        <p:txBody>
          <a:bodyPr wrap="square" lIns="0" rIns="0" tIns="0" bIns="0" anchor="t"/>
          <a:lstStyle/>
          <a:p>
            <a:pPr algn="l">
              <a:lnSpc>
                <a:spcPct val="115000"/>
              </a:lnSpc>
              <a:spcAft>
                <a:spcPts val="0"/>
              </a:spcAft>
            </a:pPr>
            <a:r>
              <a:rPr sz="1000" b="1" i="0" spc="130">
                <a:solidFill>
                  <a:srgbClr val="10213B"/>
                </a:solidFill>
                <a:latin typeface="Inter"/>
              </a:rPr>
              <a:t>WHAT FOUNDERS STILL REPORT</a:t>
            </a:r>
          </a:p>
        </p:txBody>
      </p:sp>
      <p:cxnSp>
        <p:nvCxnSpPr>
          <p:cNvPr id="16" name="Connector 15"/>
          <p:cNvCxnSpPr/>
          <p:nvPr/>
        </p:nvCxnSpPr>
        <p:spPr>
          <a:xfrm>
            <a:off x="4526280" y="2606040"/>
            <a:ext cx="3611880" cy="0"/>
          </a:xfrm>
          <a:prstGeom prst="line">
            <a:avLst/>
          </a:prstGeom>
          <a:ln w="12700">
            <a:solidFill>
              <a:srgbClr val="D5E2F3"/>
            </a:solidFill>
          </a:ln>
        </p:spPr>
      </p:cxnSp>
      <p:sp>
        <p:nvSpPr>
          <p:cNvPr id="17" name="TextBox 16"/>
          <p:cNvSpPr txBox="1"/>
          <p:nvPr/>
        </p:nvSpPr>
        <p:spPr>
          <a:xfrm>
            <a:off x="4526280" y="2734056"/>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Support is scattered and hard to compare</a:t>
            </a:r>
          </a:p>
        </p:txBody>
      </p:sp>
      <p:cxnSp>
        <p:nvCxnSpPr>
          <p:cNvPr id="18" name="Connector 17"/>
          <p:cNvCxnSpPr/>
          <p:nvPr/>
        </p:nvCxnSpPr>
        <p:spPr>
          <a:xfrm>
            <a:off x="4526280" y="3264408"/>
            <a:ext cx="3611880" cy="0"/>
          </a:xfrm>
          <a:prstGeom prst="line">
            <a:avLst/>
          </a:prstGeom>
          <a:ln w="12700">
            <a:solidFill>
              <a:srgbClr val="D5E2F3"/>
            </a:solidFill>
          </a:ln>
        </p:spPr>
      </p:cxnSp>
      <p:sp>
        <p:nvSpPr>
          <p:cNvPr id="19" name="TextBox 18"/>
          <p:cNvSpPr txBox="1"/>
          <p:nvPr/>
        </p:nvSpPr>
        <p:spPr>
          <a:xfrm>
            <a:off x="4526280" y="3392424"/>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Little continuity between programmes</a:t>
            </a:r>
          </a:p>
        </p:txBody>
      </p:sp>
      <p:cxnSp>
        <p:nvCxnSpPr>
          <p:cNvPr id="20" name="Connector 19"/>
          <p:cNvCxnSpPr/>
          <p:nvPr/>
        </p:nvCxnSpPr>
        <p:spPr>
          <a:xfrm>
            <a:off x="4526280" y="3922776"/>
            <a:ext cx="3611880" cy="0"/>
          </a:xfrm>
          <a:prstGeom prst="line">
            <a:avLst/>
          </a:prstGeom>
          <a:ln w="12700">
            <a:solidFill>
              <a:srgbClr val="D5E2F3"/>
            </a:solidFill>
          </a:ln>
        </p:spPr>
      </p:cxnSp>
      <p:sp>
        <p:nvSpPr>
          <p:cNvPr id="21" name="TextBox 20"/>
          <p:cNvSpPr txBox="1"/>
          <p:nvPr/>
        </p:nvSpPr>
        <p:spPr>
          <a:xfrm>
            <a:off x="4526280" y="4050791"/>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Advice is generic, not sector-relevant</a:t>
            </a:r>
          </a:p>
        </p:txBody>
      </p:sp>
      <p:cxnSp>
        <p:nvCxnSpPr>
          <p:cNvPr id="22" name="Connector 21"/>
          <p:cNvCxnSpPr/>
          <p:nvPr/>
        </p:nvCxnSpPr>
        <p:spPr>
          <a:xfrm>
            <a:off x="4526280" y="4581144"/>
            <a:ext cx="3611880" cy="0"/>
          </a:xfrm>
          <a:prstGeom prst="line">
            <a:avLst/>
          </a:prstGeom>
          <a:ln w="12700">
            <a:solidFill>
              <a:srgbClr val="D5E2F3"/>
            </a:solidFill>
          </a:ln>
        </p:spPr>
      </p:cxnSp>
      <p:sp>
        <p:nvSpPr>
          <p:cNvPr id="23" name="TextBox 22"/>
          <p:cNvSpPr txBox="1"/>
          <p:nvPr/>
        </p:nvSpPr>
        <p:spPr>
          <a:xfrm>
            <a:off x="4526280" y="4709159"/>
            <a:ext cx="3611880" cy="457200"/>
          </a:xfrm>
          <a:prstGeom prst="rect">
            <a:avLst/>
          </a:prstGeom>
          <a:noFill/>
        </p:spPr>
        <p:txBody>
          <a:bodyPr wrap="square" lIns="0" rIns="0" tIns="0" bIns="0" anchor="t"/>
          <a:lstStyle/>
          <a:p>
            <a:pPr algn="l">
              <a:lnSpc>
                <a:spcPct val="115000"/>
              </a:lnSpc>
              <a:spcAft>
                <a:spcPts val="0"/>
              </a:spcAft>
            </a:pPr>
            <a:r>
              <a:rPr sz="1300" b="0" i="0">
                <a:solidFill>
                  <a:srgbClr val="253650"/>
                </a:solidFill>
                <a:latin typeface="Inter"/>
              </a:rPr>
              <a:t>Few introductions lead to real outcomes</a:t>
            </a:r>
          </a:p>
        </p:txBody>
      </p:sp>
      <p:sp>
        <p:nvSpPr>
          <p:cNvPr id="24" name="Rectangle 23"/>
          <p:cNvSpPr/>
          <p:nvPr/>
        </p:nvSpPr>
        <p:spPr>
          <a:xfrm>
            <a:off x="8366760" y="2011680"/>
            <a:ext cx="3227832" cy="3840480"/>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8641080" y="2212848"/>
            <a:ext cx="2743200" cy="274320"/>
          </a:xfrm>
          <a:prstGeom prst="rect">
            <a:avLst/>
          </a:prstGeom>
          <a:noFill/>
        </p:spPr>
        <p:txBody>
          <a:bodyPr wrap="square" lIns="0" rIns="0" tIns="0" bIns="0" anchor="t"/>
          <a:lstStyle/>
          <a:p>
            <a:pPr algn="l">
              <a:lnSpc>
                <a:spcPct val="115000"/>
              </a:lnSpc>
              <a:spcAft>
                <a:spcPts val="0"/>
              </a:spcAft>
            </a:pPr>
            <a:r>
              <a:rPr sz="1000" b="1" i="0" spc="130">
                <a:solidFill>
                  <a:srgbClr val="1765D1"/>
                </a:solidFill>
                <a:latin typeface="Inter"/>
              </a:rPr>
              <a:t>STARTUP ROOF’S ROLE</a:t>
            </a:r>
          </a:p>
        </p:txBody>
      </p:sp>
      <p:sp>
        <p:nvSpPr>
          <p:cNvPr id="26" name="TextBox 25"/>
          <p:cNvSpPr txBox="1"/>
          <p:nvPr/>
        </p:nvSpPr>
        <p:spPr>
          <a:xfrm>
            <a:off x="8641080" y="2606040"/>
            <a:ext cx="2697480" cy="3108960"/>
          </a:xfrm>
          <a:prstGeom prst="rect">
            <a:avLst/>
          </a:prstGeom>
          <a:noFill/>
        </p:spPr>
        <p:txBody>
          <a:bodyPr wrap="square" lIns="0" rIns="0" tIns="0" bIns="0" anchor="t"/>
          <a:lstStyle/>
          <a:p>
            <a:pPr algn="l">
              <a:lnSpc>
                <a:spcPct val="128000"/>
              </a:lnSpc>
              <a:spcAft>
                <a:spcPts val="0"/>
              </a:spcAft>
            </a:pPr>
            <a:r>
              <a:rPr sz="1800" b="1" i="0">
                <a:solidFill>
                  <a:srgbClr val="10213B"/>
                </a:solidFill>
                <a:latin typeface="Inter"/>
              </a:rPr>
              <a:t>Join it up.</a:t>
            </a:r>
          </a:p>
          <a:p>
            <a:pPr algn="l">
              <a:lnSpc>
                <a:spcPct val="128000"/>
              </a:lnSpc>
              <a:spcBef>
                <a:spcPts val="800"/>
              </a:spcBef>
              <a:spcAft>
                <a:spcPts val="0"/>
              </a:spcAft>
            </a:pPr>
            <a:r>
              <a:rPr sz="1250" b="0" i="0">
                <a:solidFill>
                  <a:srgbClr val="253650"/>
                </a:solidFill>
                <a:latin typeface="Inter"/>
              </a:rPr>
              <a:t>Connect founders to the right guidance, people and opportunities at the right stage — and follow up so it leads somewhere.</a:t>
            </a:r>
          </a:p>
        </p:txBody>
      </p:sp>
      <p:cxnSp>
        <p:nvCxnSpPr>
          <p:cNvPr id="27" name="Connector 26"/>
          <p:cNvCxnSpPr/>
          <p:nvPr/>
        </p:nvCxnSpPr>
        <p:spPr>
          <a:xfrm>
            <a:off x="7818120" y="3931920"/>
            <a:ext cx="457200" cy="0"/>
          </a:xfrm>
          <a:prstGeom prst="line">
            <a:avLst/>
          </a:prstGeom>
          <a:ln w="25400">
            <a:solidFill>
              <a:srgbClr val="1765D1"/>
            </a:solidFill>
            <a:tailEnd type="triangle" w="med" len="med"/>
          </a:ln>
        </p:spPr>
      </p:cxnSp>
      <p:sp>
        <p:nvSpPr>
          <p:cNvPr id="28" name="TextBox 27"/>
          <p:cNvSpPr txBox="1"/>
          <p:nvPr/>
        </p:nvSpPr>
        <p:spPr>
          <a:xfrm>
            <a:off x="594360" y="5897880"/>
            <a:ext cx="7589520" cy="36576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Based on the project team’s experience; to be tested through founder interviews in the pilot.</a:t>
            </a:r>
          </a:p>
        </p:txBody>
      </p:sp>
      <p:sp>
        <p:nvSpPr>
          <p:cNvPr id="29" name="TextBox 2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0" name="TextBox 2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02</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The Startup Roof concept</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Ecosystem, pillars, audiences, sectors and the proposed model</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What Startup Roof is</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Build · Learn · Connect · Grow</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Audiences and sectors</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Founder personas</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How value flows</a:t>
            </a:r>
          </a:p>
        </p:txBody>
      </p:sp>
      <p:cxnSp>
        <p:nvCxnSpPr>
          <p:cNvPr id="17" name="Connector 16"/>
          <p:cNvCxnSpPr/>
          <p:nvPr/>
        </p:nvCxnSpPr>
        <p:spPr>
          <a:xfrm>
            <a:off x="8092440" y="4617720"/>
            <a:ext cx="3502152" cy="0"/>
          </a:xfrm>
          <a:prstGeom prst="line">
            <a:avLst/>
          </a:prstGeom>
          <a:ln w="12700">
            <a:solidFill>
              <a:srgbClr val="2E4A72"/>
            </a:solidFill>
          </a:ln>
        </p:spPr>
      </p:cxnSp>
      <p:sp>
        <p:nvSpPr>
          <p:cNvPr id="18" name="TextBox 17"/>
          <p:cNvSpPr txBox="1"/>
          <p:nvPr/>
        </p:nvSpPr>
        <p:spPr>
          <a:xfrm>
            <a:off x="8092440" y="470916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The four-layer model</a:t>
            </a:r>
          </a:p>
        </p:txBody>
      </p:sp>
      <p:sp>
        <p:nvSpPr>
          <p:cNvPr id="19" name="TextBox 18"/>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WHAT STARTUP ROOF IS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One ecosystem around the founder.</a:t>
            </a:r>
          </a:p>
        </p:txBody>
      </p:sp>
      <p:sp>
        <p:nvSpPr>
          <p:cNvPr id="4" name="Oval 3"/>
          <p:cNvSpPr/>
          <p:nvPr/>
        </p:nvSpPr>
        <p:spPr>
          <a:xfrm>
            <a:off x="1463040" y="2103120"/>
            <a:ext cx="3931920" cy="3931920"/>
          </a:xfrm>
          <a:prstGeom prst="ellipse">
            <a:avLst/>
          </a:prstGeom>
          <a:solidFill>
            <a:srgbClr val="EDF4FE"/>
          </a:solidFill>
          <a:ln>
            <a:noFill/>
          </a:ln>
          <a:effectLst/>
        </p:spPr>
        <p:txBody>
          <a:bodyPr rtlCol="0" anchor="ctr" lIns="73152" rIns="73152" tIns="36576" bIns="36576"/>
          <a:lstStyle/>
          <a:p>
            <a:pPr algn="ctr"/>
          </a:p>
        </p:txBody>
      </p:sp>
      <p:sp>
        <p:nvSpPr>
          <p:cNvPr id="5" name="Oval 4"/>
          <p:cNvSpPr/>
          <p:nvPr/>
        </p:nvSpPr>
        <p:spPr>
          <a:xfrm>
            <a:off x="2167128" y="2807208"/>
            <a:ext cx="2523744" cy="2523744"/>
          </a:xfrm>
          <a:prstGeom prst="ellipse">
            <a:avLst/>
          </a:prstGeom>
          <a:noFill/>
          <a:ln w="12700">
            <a:solidFill>
              <a:srgbClr val="B8CFEE"/>
            </a:solidFill>
          </a:ln>
          <a:effectLst/>
        </p:spPr>
        <p:txBody>
          <a:bodyPr rtlCol="0" anchor="ctr" lIns="73152" rIns="73152" tIns="36576" bIns="36576"/>
          <a:lstStyle/>
          <a:p>
            <a:pPr algn="ctr"/>
          </a:p>
        </p:txBody>
      </p:sp>
      <p:sp>
        <p:nvSpPr>
          <p:cNvPr id="6" name="Oval 5"/>
          <p:cNvSpPr/>
          <p:nvPr/>
        </p:nvSpPr>
        <p:spPr>
          <a:xfrm>
            <a:off x="2770632" y="3410712"/>
            <a:ext cx="1316736" cy="1316736"/>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Founder</a:t>
            </a:r>
          </a:p>
        </p:txBody>
      </p:sp>
      <p:sp>
        <p:nvSpPr>
          <p:cNvPr id="7" name="Rounded Rectangle 6"/>
          <p:cNvSpPr/>
          <p:nvPr/>
        </p:nvSpPr>
        <p:spPr>
          <a:xfrm>
            <a:off x="2770632" y="2587752"/>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Community</a:t>
            </a:r>
          </a:p>
        </p:txBody>
      </p:sp>
      <p:sp>
        <p:nvSpPr>
          <p:cNvPr id="8" name="Rounded Rectangle 7"/>
          <p:cNvSpPr/>
          <p:nvPr/>
        </p:nvSpPr>
        <p:spPr>
          <a:xfrm>
            <a:off x="4032504" y="3849624"/>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Programmes</a:t>
            </a:r>
          </a:p>
        </p:txBody>
      </p:sp>
      <p:sp>
        <p:nvSpPr>
          <p:cNvPr id="9" name="Rounded Rectangle 8"/>
          <p:cNvSpPr/>
          <p:nvPr/>
        </p:nvSpPr>
        <p:spPr>
          <a:xfrm>
            <a:off x="2770632" y="5111496"/>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Services</a:t>
            </a:r>
          </a:p>
        </p:txBody>
      </p:sp>
      <p:sp>
        <p:nvSpPr>
          <p:cNvPr id="10" name="Rounded Rectangle 9"/>
          <p:cNvSpPr/>
          <p:nvPr/>
        </p:nvSpPr>
        <p:spPr>
          <a:xfrm>
            <a:off x="1508760" y="3849624"/>
            <a:ext cx="1316736" cy="438912"/>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Founder OS</a:t>
            </a:r>
          </a:p>
        </p:txBody>
      </p:sp>
      <p:sp>
        <p:nvSpPr>
          <p:cNvPr id="11" name="TextBox 10"/>
          <p:cNvSpPr txBox="1"/>
          <p:nvPr/>
        </p:nvSpPr>
        <p:spPr>
          <a:xfrm>
            <a:off x="1965960" y="1755648"/>
            <a:ext cx="2926080" cy="274320"/>
          </a:xfrm>
          <a:prstGeom prst="rect">
            <a:avLst/>
          </a:prstGeom>
          <a:noFill/>
        </p:spPr>
        <p:txBody>
          <a:bodyPr wrap="square" lIns="0" rIns="0" tIns="0" bIns="0" anchor="t"/>
          <a:lstStyle/>
          <a:p>
            <a:pPr algn="ctr">
              <a:lnSpc>
                <a:spcPct val="115000"/>
              </a:lnSpc>
              <a:spcAft>
                <a:spcPts val="0"/>
              </a:spcAft>
            </a:pPr>
            <a:r>
              <a:rPr sz="850" b="1" i="0" spc="120">
                <a:solidFill>
                  <a:srgbClr val="1765D1"/>
                </a:solidFill>
                <a:latin typeface="Inter"/>
              </a:rPr>
              <a:t>THE STARTUP ROOF ECOSYSTEM</a:t>
            </a:r>
          </a:p>
        </p:txBody>
      </p:sp>
      <p:sp>
        <p:nvSpPr>
          <p:cNvPr id="12" name="Rectangle 11"/>
          <p:cNvSpPr/>
          <p:nvPr/>
        </p:nvSpPr>
        <p:spPr>
          <a:xfrm>
            <a:off x="6263640" y="2011680"/>
            <a:ext cx="54864" cy="1417320"/>
          </a:xfrm>
          <a:prstGeom prst="rect">
            <a:avLst/>
          </a:prstGeom>
          <a:solidFill>
            <a:srgbClr val="10213B"/>
          </a:solidFill>
          <a:ln>
            <a:noFill/>
          </a:ln>
          <a:effectLst/>
        </p:spPr>
        <p:txBody>
          <a:bodyPr rtlCol="0" anchor="ctr" lIns="73152" rIns="73152" tIns="36576" bIns="36576"/>
          <a:lstStyle/>
          <a:p>
            <a:pPr algn="ctr"/>
          </a:p>
        </p:txBody>
      </p:sp>
      <p:sp>
        <p:nvSpPr>
          <p:cNvPr id="13" name="TextBox 12"/>
          <p:cNvSpPr txBox="1"/>
          <p:nvPr/>
        </p:nvSpPr>
        <p:spPr>
          <a:xfrm>
            <a:off x="6537959" y="1993392"/>
            <a:ext cx="5120640" cy="320040"/>
          </a:xfrm>
          <a:prstGeom prst="rect">
            <a:avLst/>
          </a:prstGeom>
          <a:noFill/>
        </p:spPr>
        <p:txBody>
          <a:bodyPr wrap="square" lIns="0" rIns="0" tIns="0" bIns="0" anchor="t"/>
          <a:lstStyle/>
          <a:p>
            <a:pPr algn="l">
              <a:lnSpc>
                <a:spcPct val="115000"/>
              </a:lnSpc>
              <a:spcAft>
                <a:spcPts val="0"/>
              </a:spcAft>
            </a:pPr>
            <a:r>
              <a:rPr sz="1300" b="1" i="0" spc="120">
                <a:solidFill>
                  <a:srgbClr val="10213B"/>
                </a:solidFill>
                <a:latin typeface="Inter"/>
              </a:rPr>
              <a:t>STARTUP ROOF</a:t>
            </a:r>
            <a:r>
              <a:rPr sz="1300" b="0" i="0">
                <a:solidFill>
                  <a:srgbClr val="61738A"/>
                </a:solidFill>
                <a:latin typeface="Inter"/>
              </a:rPr>
              <a:t>  =  the wider ecosystem</a:t>
            </a:r>
          </a:p>
        </p:txBody>
      </p:sp>
      <p:sp>
        <p:nvSpPr>
          <p:cNvPr id="14" name="TextBox 13"/>
          <p:cNvSpPr txBox="1"/>
          <p:nvPr/>
        </p:nvSpPr>
        <p:spPr>
          <a:xfrm>
            <a:off x="6537959" y="2377440"/>
            <a:ext cx="5120640" cy="1097280"/>
          </a:xfrm>
          <a:prstGeom prst="rect">
            <a:avLst/>
          </a:prstGeom>
          <a:noFill/>
        </p:spPr>
        <p:txBody>
          <a:bodyPr wrap="square" lIns="0" rIns="0" tIns="0" bIns="0" anchor="t"/>
          <a:lstStyle/>
          <a:p>
            <a:pPr algn="l">
              <a:lnSpc>
                <a:spcPct val="125000"/>
              </a:lnSpc>
              <a:spcAft>
                <a:spcPts val="0"/>
              </a:spcAft>
            </a:pPr>
            <a:r>
              <a:rPr sz="1300" b="0" i="0">
                <a:solidFill>
                  <a:srgbClr val="253650"/>
                </a:solidFill>
                <a:latin typeface="Inter"/>
              </a:rPr>
              <a:t>The community, programmes, relationships and services that surround a founder all year — online and in person.</a:t>
            </a:r>
          </a:p>
        </p:txBody>
      </p:sp>
      <p:sp>
        <p:nvSpPr>
          <p:cNvPr id="15" name="Rectangle 14"/>
          <p:cNvSpPr/>
          <p:nvPr/>
        </p:nvSpPr>
        <p:spPr>
          <a:xfrm>
            <a:off x="6263640" y="3639312"/>
            <a:ext cx="54864" cy="1417320"/>
          </a:xfrm>
          <a:prstGeom prst="rect">
            <a:avLst/>
          </a:prstGeom>
          <a:solidFill>
            <a:srgbClr val="1765D1"/>
          </a:solidFill>
          <a:ln>
            <a:noFill/>
          </a:ln>
          <a:effectLst/>
        </p:spPr>
        <p:txBody>
          <a:bodyPr rtlCol="0" anchor="ctr" lIns="73152" rIns="73152" tIns="36576" bIns="36576"/>
          <a:lstStyle/>
          <a:p>
            <a:pPr algn="ctr"/>
          </a:p>
        </p:txBody>
      </p:sp>
      <p:sp>
        <p:nvSpPr>
          <p:cNvPr id="16" name="TextBox 15"/>
          <p:cNvSpPr txBox="1"/>
          <p:nvPr/>
        </p:nvSpPr>
        <p:spPr>
          <a:xfrm>
            <a:off x="6537959" y="3621024"/>
            <a:ext cx="5120640" cy="320040"/>
          </a:xfrm>
          <a:prstGeom prst="rect">
            <a:avLst/>
          </a:prstGeom>
          <a:noFill/>
        </p:spPr>
        <p:txBody>
          <a:bodyPr wrap="square" lIns="0" rIns="0" tIns="0" bIns="0" anchor="t"/>
          <a:lstStyle/>
          <a:p>
            <a:pPr algn="l">
              <a:lnSpc>
                <a:spcPct val="115000"/>
              </a:lnSpc>
              <a:spcAft>
                <a:spcPts val="0"/>
              </a:spcAft>
            </a:pPr>
            <a:r>
              <a:rPr sz="1300" b="1" i="0" spc="120">
                <a:solidFill>
                  <a:srgbClr val="1765D1"/>
                </a:solidFill>
                <a:latin typeface="Inter"/>
              </a:rPr>
              <a:t>FOUNDER OS</a:t>
            </a:r>
            <a:r>
              <a:rPr sz="1300" b="0" i="0">
                <a:solidFill>
                  <a:srgbClr val="61738A"/>
                </a:solidFill>
                <a:latin typeface="Inter"/>
              </a:rPr>
              <a:t>  =  the digital workspace</a:t>
            </a:r>
          </a:p>
        </p:txBody>
      </p:sp>
      <p:sp>
        <p:nvSpPr>
          <p:cNvPr id="17" name="TextBox 16"/>
          <p:cNvSpPr txBox="1"/>
          <p:nvPr/>
        </p:nvSpPr>
        <p:spPr>
          <a:xfrm>
            <a:off x="6537959" y="4005072"/>
            <a:ext cx="5120640" cy="1097280"/>
          </a:xfrm>
          <a:prstGeom prst="rect">
            <a:avLst/>
          </a:prstGeom>
          <a:noFill/>
        </p:spPr>
        <p:txBody>
          <a:bodyPr wrap="square" lIns="0" rIns="0" tIns="0" bIns="0" anchor="t"/>
          <a:lstStyle/>
          <a:p>
            <a:pPr algn="l">
              <a:lnSpc>
                <a:spcPct val="125000"/>
              </a:lnSpc>
              <a:spcAft>
                <a:spcPts val="0"/>
              </a:spcAft>
            </a:pPr>
            <a:r>
              <a:rPr sz="1300" b="0" i="0">
                <a:solidFill>
                  <a:srgbClr val="253650"/>
                </a:solidFill>
                <a:latin typeface="Inter"/>
              </a:rPr>
              <a:t>The guided online experience inside the ecosystem: a founder’s profile, goals, next steps, resources and connections in one place.</a:t>
            </a:r>
          </a:p>
        </p:txBody>
      </p:sp>
      <p:sp>
        <p:nvSpPr>
          <p:cNvPr id="18" name="TextBox 17"/>
          <p:cNvSpPr txBox="1"/>
          <p:nvPr/>
        </p:nvSpPr>
        <p:spPr>
          <a:xfrm>
            <a:off x="6263640" y="5349240"/>
            <a:ext cx="5394960" cy="822960"/>
          </a:xfrm>
          <a:prstGeom prst="rect">
            <a:avLst/>
          </a:prstGeom>
          <a:noFill/>
        </p:spPr>
        <p:txBody>
          <a:bodyPr wrap="square" lIns="0" rIns="0" tIns="0" bIns="0" anchor="t"/>
          <a:lstStyle/>
          <a:p>
            <a:pPr algn="l">
              <a:lnSpc>
                <a:spcPct val="125000"/>
              </a:lnSpc>
              <a:spcAft>
                <a:spcPts val="0"/>
              </a:spcAft>
            </a:pPr>
            <a:r>
              <a:rPr sz="1350" b="1" i="0">
                <a:solidFill>
                  <a:srgbClr val="10213B"/>
                </a:solidFill>
                <a:latin typeface="Inter"/>
              </a:rPr>
              <a:t>In short: </a:t>
            </a:r>
            <a:r>
              <a:rPr sz="1350" b="0" i="0">
                <a:solidFill>
                  <a:srgbClr val="253650"/>
                </a:solidFill>
                <a:latin typeface="Inter"/>
              </a:rPr>
              <a:t>an ecosystem around the founder, and a digital workspace for the journey.</a:t>
            </a:r>
          </a:p>
        </p:txBody>
      </p:sp>
      <p:sp>
        <p:nvSpPr>
          <p:cNvPr id="19" name="TextBox 1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0" name="TextBox 1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BUILD · LEARN · CONNECT · GROW</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Four things founders need, under one roof.</a:t>
            </a:r>
          </a:p>
        </p:txBody>
      </p:sp>
      <p:sp>
        <p:nvSpPr>
          <p:cNvPr id="4" name="Freeform 3"/>
          <p:cNvSpPr/>
          <p:nvPr/>
        </p:nvSpPr>
        <p:spPr>
          <a:xfrm>
            <a:off x="960120" y="1874519"/>
            <a:ext cx="10271455" cy="731521"/>
          </a:xfrm>
          <a:custGeom>
            <a:avLst/>
            <a:gdLst/>
            <a:ahLst/>
            <a:cxnLst/>
            <a:rect l="l" t="t" r="r" b="b"/>
            <a:pathLst>
              <a:path w="10271455" h="731521">
                <a:moveTo>
                  <a:pt x="0" y="731521"/>
                </a:moveTo>
                <a:lnTo>
                  <a:pt x="5135727" y="0"/>
                </a:lnTo>
                <a:lnTo>
                  <a:pt x="10271455" y="731521"/>
                </a:lnTo>
              </a:path>
            </a:pathLst>
          </a:custGeom>
          <a:noFill/>
          <a:ln w="38100">
            <a:solidFill>
              <a:srgbClr val="10213B"/>
            </a:solidFill>
          </a:ln>
          <a:effectLst/>
        </p:spPr>
        <p:txBody>
          <a:bodyPr rtlCol="0" anchor="ctr"/>
          <a:lstStyle/>
          <a:p>
            <a:pPr algn="ctr"/>
          </a:p>
        </p:txBody>
      </p:sp>
      <p:sp>
        <p:nvSpPr>
          <p:cNvPr id="5" name="Rectangle 4"/>
          <p:cNvSpPr/>
          <p:nvPr/>
        </p:nvSpPr>
        <p:spPr>
          <a:xfrm>
            <a:off x="731520" y="2743200"/>
            <a:ext cx="2613583" cy="502920"/>
          </a:xfrm>
          <a:prstGeom prst="rect">
            <a:avLst/>
          </a:prstGeom>
          <a:solidFill>
            <a:srgbClr val="1A3358"/>
          </a:solidFill>
          <a:ln>
            <a:noFill/>
          </a:ln>
          <a:effectLst/>
        </p:spPr>
        <p:txBody>
          <a:bodyPr rtlCol="0" anchor="ctr" lIns="73152" rIns="73152" tIns="36576" bIns="36576"/>
          <a:lstStyle/>
          <a:p>
            <a:pPr algn="ctr"/>
          </a:p>
        </p:txBody>
      </p:sp>
      <p:sp>
        <p:nvSpPr>
          <p:cNvPr id="6" name="TextBox 5"/>
          <p:cNvSpPr txBox="1"/>
          <p:nvPr/>
        </p:nvSpPr>
        <p:spPr>
          <a:xfrm>
            <a:off x="731520" y="2834640"/>
            <a:ext cx="2613583" cy="320040"/>
          </a:xfrm>
          <a:prstGeom prst="rect">
            <a:avLst/>
          </a:prstGeom>
          <a:noFill/>
        </p:spPr>
        <p:txBody>
          <a:bodyPr wrap="square" lIns="0" rIns="0" tIns="0" bIns="0" anchor="t"/>
          <a:lstStyle/>
          <a:p>
            <a:pPr algn="ctr">
              <a:lnSpc>
                <a:spcPct val="115000"/>
              </a:lnSpc>
              <a:spcAft>
                <a:spcPts val="0"/>
              </a:spcAft>
            </a:pPr>
            <a:r>
              <a:rPr sz="1400" b="1" i="0" spc="150">
                <a:solidFill>
                  <a:srgbClr val="FFFFFF"/>
                </a:solidFill>
                <a:latin typeface="Inter"/>
              </a:rPr>
              <a:t>BUILD</a:t>
            </a:r>
          </a:p>
        </p:txBody>
      </p:sp>
      <p:sp>
        <p:nvSpPr>
          <p:cNvPr id="7" name="Rectangle 6"/>
          <p:cNvSpPr/>
          <p:nvPr/>
        </p:nvSpPr>
        <p:spPr>
          <a:xfrm>
            <a:off x="731520" y="3246120"/>
            <a:ext cx="2613583" cy="2926080"/>
          </a:xfrm>
          <a:prstGeom prst="rect">
            <a:avLst/>
          </a:prstGeom>
          <a:solidFill>
            <a:srgbClr val="EDF4FE"/>
          </a:solidFill>
          <a:ln>
            <a:noFill/>
          </a:ln>
          <a:effectLst/>
        </p:spPr>
        <p:txBody>
          <a:bodyPr rtlCol="0" anchor="ctr" lIns="73152" rIns="73152" tIns="36576" bIns="36576"/>
          <a:lstStyle/>
          <a:p>
            <a:pPr algn="ctr"/>
          </a:p>
        </p:txBody>
      </p:sp>
      <p:sp>
        <p:nvSpPr>
          <p:cNvPr id="8" name="TextBox 7"/>
          <p:cNvSpPr txBox="1"/>
          <p:nvPr/>
        </p:nvSpPr>
        <p:spPr>
          <a:xfrm>
            <a:off x="914400" y="3401568"/>
            <a:ext cx="2247823" cy="6858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Turn an idea into a working business.</a:t>
            </a:r>
          </a:p>
        </p:txBody>
      </p:sp>
      <p:sp>
        <p:nvSpPr>
          <p:cNvPr id="9" name="TextBox 8"/>
          <p:cNvSpPr txBox="1"/>
          <p:nvPr/>
        </p:nvSpPr>
        <p:spPr>
          <a:xfrm>
            <a:off x="914400" y="411480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10" name="TextBox 9"/>
          <p:cNvSpPr txBox="1"/>
          <p:nvPr/>
        </p:nvSpPr>
        <p:spPr>
          <a:xfrm>
            <a:off x="914400" y="4370832"/>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Next-step plans, templates, product and setup guidance.</a:t>
            </a:r>
          </a:p>
        </p:txBody>
      </p:sp>
      <p:cxnSp>
        <p:nvCxnSpPr>
          <p:cNvPr id="11" name="Connector 10"/>
          <p:cNvCxnSpPr/>
          <p:nvPr/>
        </p:nvCxnSpPr>
        <p:spPr>
          <a:xfrm>
            <a:off x="914400" y="5349240"/>
            <a:ext cx="2247823" cy="0"/>
          </a:xfrm>
          <a:prstGeom prst="line">
            <a:avLst/>
          </a:prstGeom>
          <a:ln w="12700">
            <a:solidFill>
              <a:srgbClr val="C4D8F6"/>
            </a:solidFill>
          </a:ln>
        </p:spPr>
      </p:cxnSp>
      <p:sp>
        <p:nvSpPr>
          <p:cNvPr id="12" name="TextBox 11"/>
          <p:cNvSpPr txBox="1"/>
          <p:nvPr/>
        </p:nvSpPr>
        <p:spPr>
          <a:xfrm>
            <a:off x="914400" y="544068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 FOUNDER OS</a:t>
            </a:r>
          </a:p>
        </p:txBody>
      </p:sp>
      <p:sp>
        <p:nvSpPr>
          <p:cNvPr id="13" name="TextBox 12"/>
          <p:cNvSpPr txBox="1"/>
          <p:nvPr/>
        </p:nvSpPr>
        <p:spPr>
          <a:xfrm>
            <a:off x="914400" y="5687568"/>
            <a:ext cx="2247823"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Tasks and templates</a:t>
            </a:r>
          </a:p>
        </p:txBody>
      </p:sp>
      <p:sp>
        <p:nvSpPr>
          <p:cNvPr id="14" name="Rectangle 13"/>
          <p:cNvSpPr/>
          <p:nvPr/>
        </p:nvSpPr>
        <p:spPr>
          <a:xfrm>
            <a:off x="3436543" y="2743200"/>
            <a:ext cx="2613583" cy="502920"/>
          </a:xfrm>
          <a:prstGeom prst="rect">
            <a:avLst/>
          </a:prstGeom>
          <a:solidFill>
            <a:srgbClr val="1C3D6B"/>
          </a:solidFill>
          <a:ln>
            <a:noFill/>
          </a:ln>
          <a:effectLst/>
        </p:spPr>
        <p:txBody>
          <a:bodyPr rtlCol="0" anchor="ctr" lIns="73152" rIns="73152" tIns="36576" bIns="36576"/>
          <a:lstStyle/>
          <a:p>
            <a:pPr algn="ctr"/>
          </a:p>
        </p:txBody>
      </p:sp>
      <p:sp>
        <p:nvSpPr>
          <p:cNvPr id="15" name="TextBox 14"/>
          <p:cNvSpPr txBox="1"/>
          <p:nvPr/>
        </p:nvSpPr>
        <p:spPr>
          <a:xfrm>
            <a:off x="3436543" y="2834640"/>
            <a:ext cx="2613583" cy="320040"/>
          </a:xfrm>
          <a:prstGeom prst="rect">
            <a:avLst/>
          </a:prstGeom>
          <a:noFill/>
        </p:spPr>
        <p:txBody>
          <a:bodyPr wrap="square" lIns="0" rIns="0" tIns="0" bIns="0" anchor="t"/>
          <a:lstStyle/>
          <a:p>
            <a:pPr algn="ctr">
              <a:lnSpc>
                <a:spcPct val="115000"/>
              </a:lnSpc>
              <a:spcAft>
                <a:spcPts val="0"/>
              </a:spcAft>
            </a:pPr>
            <a:r>
              <a:rPr sz="1400" b="1" i="0" spc="150">
                <a:solidFill>
                  <a:srgbClr val="FFFFFF"/>
                </a:solidFill>
                <a:latin typeface="Inter"/>
              </a:rPr>
              <a:t>LEARN</a:t>
            </a:r>
          </a:p>
        </p:txBody>
      </p:sp>
      <p:sp>
        <p:nvSpPr>
          <p:cNvPr id="16" name="Rectangle 15"/>
          <p:cNvSpPr/>
          <p:nvPr/>
        </p:nvSpPr>
        <p:spPr>
          <a:xfrm>
            <a:off x="3436543" y="3246120"/>
            <a:ext cx="2613583" cy="2926080"/>
          </a:xfrm>
          <a:prstGeom prst="rect">
            <a:avLst/>
          </a:prstGeom>
          <a:solidFill>
            <a:srgbClr val="EDF4FE"/>
          </a:solidFill>
          <a:ln>
            <a:noFill/>
          </a:ln>
          <a:effectLst/>
        </p:spPr>
        <p:txBody>
          <a:bodyPr rtlCol="0" anchor="ctr" lIns="73152" rIns="73152" tIns="36576" bIns="36576"/>
          <a:lstStyle/>
          <a:p>
            <a:pPr algn="ctr"/>
          </a:p>
        </p:txBody>
      </p:sp>
      <p:sp>
        <p:nvSpPr>
          <p:cNvPr id="17" name="TextBox 16"/>
          <p:cNvSpPr txBox="1"/>
          <p:nvPr/>
        </p:nvSpPr>
        <p:spPr>
          <a:xfrm>
            <a:off x="3619423" y="3401568"/>
            <a:ext cx="2247823" cy="6858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Gain practical skills, quickly.</a:t>
            </a:r>
          </a:p>
        </p:txBody>
      </p:sp>
      <p:sp>
        <p:nvSpPr>
          <p:cNvPr id="18" name="TextBox 17"/>
          <p:cNvSpPr txBox="1"/>
          <p:nvPr/>
        </p:nvSpPr>
        <p:spPr>
          <a:xfrm>
            <a:off x="3619423" y="411480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19" name="TextBox 18"/>
          <p:cNvSpPr txBox="1"/>
          <p:nvPr/>
        </p:nvSpPr>
        <p:spPr>
          <a:xfrm>
            <a:off x="3619423" y="4370832"/>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Academy sessions that end in an action.</a:t>
            </a:r>
          </a:p>
        </p:txBody>
      </p:sp>
      <p:cxnSp>
        <p:nvCxnSpPr>
          <p:cNvPr id="20" name="Connector 19"/>
          <p:cNvCxnSpPr/>
          <p:nvPr/>
        </p:nvCxnSpPr>
        <p:spPr>
          <a:xfrm>
            <a:off x="3619423" y="5349240"/>
            <a:ext cx="2247824" cy="0"/>
          </a:xfrm>
          <a:prstGeom prst="line">
            <a:avLst/>
          </a:prstGeom>
          <a:ln w="12700">
            <a:solidFill>
              <a:srgbClr val="C4D8F6"/>
            </a:solidFill>
          </a:ln>
        </p:spPr>
      </p:cxnSp>
      <p:sp>
        <p:nvSpPr>
          <p:cNvPr id="21" name="TextBox 20"/>
          <p:cNvSpPr txBox="1"/>
          <p:nvPr/>
        </p:nvSpPr>
        <p:spPr>
          <a:xfrm>
            <a:off x="3619423" y="544068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 FOUNDER OS</a:t>
            </a:r>
          </a:p>
        </p:txBody>
      </p:sp>
      <p:sp>
        <p:nvSpPr>
          <p:cNvPr id="22" name="TextBox 21"/>
          <p:cNvSpPr txBox="1"/>
          <p:nvPr/>
        </p:nvSpPr>
        <p:spPr>
          <a:xfrm>
            <a:off x="3619423" y="5687568"/>
            <a:ext cx="2247823"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Learning progress</a:t>
            </a:r>
          </a:p>
        </p:txBody>
      </p:sp>
      <p:sp>
        <p:nvSpPr>
          <p:cNvPr id="23" name="Rectangle 22"/>
          <p:cNvSpPr/>
          <p:nvPr/>
        </p:nvSpPr>
        <p:spPr>
          <a:xfrm>
            <a:off x="6141567" y="2743200"/>
            <a:ext cx="2613583" cy="502920"/>
          </a:xfrm>
          <a:prstGeom prst="rect">
            <a:avLst/>
          </a:prstGeom>
          <a:solidFill>
            <a:srgbClr val="1F4A85"/>
          </a:solidFill>
          <a:ln>
            <a:noFill/>
          </a:ln>
          <a:effectLst/>
        </p:spPr>
        <p:txBody>
          <a:bodyPr rtlCol="0" anchor="ctr" lIns="73152" rIns="73152" tIns="36576" bIns="36576"/>
          <a:lstStyle/>
          <a:p>
            <a:pPr algn="ctr"/>
          </a:p>
        </p:txBody>
      </p:sp>
      <p:sp>
        <p:nvSpPr>
          <p:cNvPr id="24" name="TextBox 23"/>
          <p:cNvSpPr txBox="1"/>
          <p:nvPr/>
        </p:nvSpPr>
        <p:spPr>
          <a:xfrm>
            <a:off x="6141567" y="2834640"/>
            <a:ext cx="2613583" cy="320040"/>
          </a:xfrm>
          <a:prstGeom prst="rect">
            <a:avLst/>
          </a:prstGeom>
          <a:noFill/>
        </p:spPr>
        <p:txBody>
          <a:bodyPr wrap="square" lIns="0" rIns="0" tIns="0" bIns="0" anchor="t"/>
          <a:lstStyle/>
          <a:p>
            <a:pPr algn="ctr">
              <a:lnSpc>
                <a:spcPct val="115000"/>
              </a:lnSpc>
              <a:spcAft>
                <a:spcPts val="0"/>
              </a:spcAft>
            </a:pPr>
            <a:r>
              <a:rPr sz="1400" b="1" i="0" spc="150">
                <a:solidFill>
                  <a:srgbClr val="FFFFFF"/>
                </a:solidFill>
                <a:latin typeface="Inter"/>
              </a:rPr>
              <a:t>CONNECT</a:t>
            </a:r>
          </a:p>
        </p:txBody>
      </p:sp>
      <p:sp>
        <p:nvSpPr>
          <p:cNvPr id="25" name="Rectangle 24"/>
          <p:cNvSpPr/>
          <p:nvPr/>
        </p:nvSpPr>
        <p:spPr>
          <a:xfrm>
            <a:off x="6141567" y="3246120"/>
            <a:ext cx="2613583" cy="2926080"/>
          </a:xfrm>
          <a:prstGeom prst="rect">
            <a:avLst/>
          </a:prstGeom>
          <a:solidFill>
            <a:srgbClr val="EDF4FE"/>
          </a:solidFill>
          <a:ln>
            <a:noFill/>
          </a:ln>
          <a:effectLst/>
        </p:spPr>
        <p:txBody>
          <a:bodyPr rtlCol="0" anchor="ctr" lIns="73152" rIns="73152" tIns="36576" bIns="36576"/>
          <a:lstStyle/>
          <a:p>
            <a:pPr algn="ctr"/>
          </a:p>
        </p:txBody>
      </p:sp>
      <p:sp>
        <p:nvSpPr>
          <p:cNvPr id="26" name="TextBox 25"/>
          <p:cNvSpPr txBox="1"/>
          <p:nvPr/>
        </p:nvSpPr>
        <p:spPr>
          <a:xfrm>
            <a:off x="6324447" y="3401568"/>
            <a:ext cx="2247823" cy="6858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Reach the right people.</a:t>
            </a:r>
          </a:p>
        </p:txBody>
      </p:sp>
      <p:sp>
        <p:nvSpPr>
          <p:cNvPr id="27" name="TextBox 26"/>
          <p:cNvSpPr txBox="1"/>
          <p:nvPr/>
        </p:nvSpPr>
        <p:spPr>
          <a:xfrm>
            <a:off x="6324447" y="411480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28" name="TextBox 27"/>
          <p:cNvSpPr txBox="1"/>
          <p:nvPr/>
        </p:nvSpPr>
        <p:spPr>
          <a:xfrm>
            <a:off x="6324447" y="4370832"/>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Consent-based introductions, mentors, peers and specialists.</a:t>
            </a:r>
          </a:p>
        </p:txBody>
      </p:sp>
      <p:cxnSp>
        <p:nvCxnSpPr>
          <p:cNvPr id="29" name="Connector 28"/>
          <p:cNvCxnSpPr/>
          <p:nvPr/>
        </p:nvCxnSpPr>
        <p:spPr>
          <a:xfrm>
            <a:off x="6324447" y="5349240"/>
            <a:ext cx="2247824" cy="0"/>
          </a:xfrm>
          <a:prstGeom prst="line">
            <a:avLst/>
          </a:prstGeom>
          <a:ln w="12700">
            <a:solidFill>
              <a:srgbClr val="C4D8F6"/>
            </a:solidFill>
          </a:ln>
        </p:spPr>
      </p:cxnSp>
      <p:sp>
        <p:nvSpPr>
          <p:cNvPr id="30" name="TextBox 29"/>
          <p:cNvSpPr txBox="1"/>
          <p:nvPr/>
        </p:nvSpPr>
        <p:spPr>
          <a:xfrm>
            <a:off x="6324447" y="544068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 FOUNDER OS</a:t>
            </a:r>
          </a:p>
        </p:txBody>
      </p:sp>
      <p:sp>
        <p:nvSpPr>
          <p:cNvPr id="31" name="TextBox 30"/>
          <p:cNvSpPr txBox="1"/>
          <p:nvPr/>
        </p:nvSpPr>
        <p:spPr>
          <a:xfrm>
            <a:off x="6324447" y="5687568"/>
            <a:ext cx="2247823"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Discovery and requests</a:t>
            </a:r>
          </a:p>
        </p:txBody>
      </p:sp>
      <p:sp>
        <p:nvSpPr>
          <p:cNvPr id="32" name="Rectangle 31"/>
          <p:cNvSpPr/>
          <p:nvPr/>
        </p:nvSpPr>
        <p:spPr>
          <a:xfrm>
            <a:off x="8846591" y="2743200"/>
            <a:ext cx="2613583" cy="502920"/>
          </a:xfrm>
          <a:prstGeom prst="rect">
            <a:avLst/>
          </a:prstGeom>
          <a:solidFill>
            <a:srgbClr val="1765D1"/>
          </a:solidFill>
          <a:ln>
            <a:noFill/>
          </a:ln>
          <a:effectLst/>
        </p:spPr>
        <p:txBody>
          <a:bodyPr rtlCol="0" anchor="ctr" lIns="73152" rIns="73152" tIns="36576" bIns="36576"/>
          <a:lstStyle/>
          <a:p>
            <a:pPr algn="ctr"/>
          </a:p>
        </p:txBody>
      </p:sp>
      <p:sp>
        <p:nvSpPr>
          <p:cNvPr id="33" name="TextBox 32"/>
          <p:cNvSpPr txBox="1"/>
          <p:nvPr/>
        </p:nvSpPr>
        <p:spPr>
          <a:xfrm>
            <a:off x="8846591" y="2834640"/>
            <a:ext cx="2613583" cy="320040"/>
          </a:xfrm>
          <a:prstGeom prst="rect">
            <a:avLst/>
          </a:prstGeom>
          <a:noFill/>
        </p:spPr>
        <p:txBody>
          <a:bodyPr wrap="square" lIns="0" rIns="0" tIns="0" bIns="0" anchor="t"/>
          <a:lstStyle/>
          <a:p>
            <a:pPr algn="ctr">
              <a:lnSpc>
                <a:spcPct val="115000"/>
              </a:lnSpc>
              <a:spcAft>
                <a:spcPts val="0"/>
              </a:spcAft>
            </a:pPr>
            <a:r>
              <a:rPr sz="1400" b="1" i="0" spc="150">
                <a:solidFill>
                  <a:srgbClr val="FFFFFF"/>
                </a:solidFill>
                <a:latin typeface="Inter"/>
              </a:rPr>
              <a:t>GROW</a:t>
            </a:r>
          </a:p>
        </p:txBody>
      </p:sp>
      <p:sp>
        <p:nvSpPr>
          <p:cNvPr id="34" name="Rectangle 33"/>
          <p:cNvSpPr/>
          <p:nvPr/>
        </p:nvSpPr>
        <p:spPr>
          <a:xfrm>
            <a:off x="8846591" y="3246120"/>
            <a:ext cx="2613583" cy="2926080"/>
          </a:xfrm>
          <a:prstGeom prst="rect">
            <a:avLst/>
          </a:prstGeom>
          <a:solidFill>
            <a:srgbClr val="EDF4FE"/>
          </a:solidFill>
          <a:ln>
            <a:noFill/>
          </a:ln>
          <a:effectLst/>
        </p:spPr>
        <p:txBody>
          <a:bodyPr rtlCol="0" anchor="ctr" lIns="73152" rIns="73152" tIns="36576" bIns="36576"/>
          <a:lstStyle/>
          <a:p>
            <a:pPr algn="ctr"/>
          </a:p>
        </p:txBody>
      </p:sp>
      <p:sp>
        <p:nvSpPr>
          <p:cNvPr id="35" name="TextBox 34"/>
          <p:cNvSpPr txBox="1"/>
          <p:nvPr/>
        </p:nvSpPr>
        <p:spPr>
          <a:xfrm>
            <a:off x="9029471" y="3401568"/>
            <a:ext cx="2247823" cy="6858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Find customers, capability and capital.</a:t>
            </a:r>
          </a:p>
        </p:txBody>
      </p:sp>
      <p:sp>
        <p:nvSpPr>
          <p:cNvPr id="36" name="TextBox 35"/>
          <p:cNvSpPr txBox="1"/>
          <p:nvPr/>
        </p:nvSpPr>
        <p:spPr>
          <a:xfrm>
            <a:off x="9029471" y="411480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37" name="TextBox 36"/>
          <p:cNvSpPr txBox="1"/>
          <p:nvPr/>
        </p:nvSpPr>
        <p:spPr>
          <a:xfrm>
            <a:off x="9029471" y="4370832"/>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Go-to-market support, expert services, readiness and opportunities.</a:t>
            </a:r>
          </a:p>
        </p:txBody>
      </p:sp>
      <p:cxnSp>
        <p:nvCxnSpPr>
          <p:cNvPr id="38" name="Connector 37"/>
          <p:cNvCxnSpPr/>
          <p:nvPr/>
        </p:nvCxnSpPr>
        <p:spPr>
          <a:xfrm>
            <a:off x="9029471" y="5349240"/>
            <a:ext cx="2247824" cy="0"/>
          </a:xfrm>
          <a:prstGeom prst="line">
            <a:avLst/>
          </a:prstGeom>
          <a:ln w="12700">
            <a:solidFill>
              <a:srgbClr val="C4D8F6"/>
            </a:solidFill>
          </a:ln>
        </p:spPr>
      </p:cxnSp>
      <p:sp>
        <p:nvSpPr>
          <p:cNvPr id="39" name="TextBox 38"/>
          <p:cNvSpPr txBox="1"/>
          <p:nvPr/>
        </p:nvSpPr>
        <p:spPr>
          <a:xfrm>
            <a:off x="9029471" y="5440680"/>
            <a:ext cx="224782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 FOUNDER OS</a:t>
            </a:r>
          </a:p>
        </p:txBody>
      </p:sp>
      <p:sp>
        <p:nvSpPr>
          <p:cNvPr id="40" name="TextBox 39"/>
          <p:cNvSpPr txBox="1"/>
          <p:nvPr/>
        </p:nvSpPr>
        <p:spPr>
          <a:xfrm>
            <a:off x="9029471" y="5687568"/>
            <a:ext cx="2247823"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Opportunities and progress</a:t>
            </a:r>
          </a:p>
        </p:txBody>
      </p:sp>
      <p:sp>
        <p:nvSpPr>
          <p:cNvPr id="41" name="TextBox 4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2" name="TextBox 4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WHO IT IS FOR</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Built for founders. Strengthened by the people around them.</a:t>
            </a:r>
          </a:p>
        </p:txBody>
      </p:sp>
      <p:sp>
        <p:nvSpPr>
          <p:cNvPr id="4" name="Rectangle 3"/>
          <p:cNvSpPr/>
          <p:nvPr/>
        </p:nvSpPr>
        <p:spPr>
          <a:xfrm>
            <a:off x="594360" y="1965960"/>
            <a:ext cx="4206240" cy="420624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914400" y="219456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PRIMARY  ·  FOUNDERS</a:t>
            </a:r>
          </a:p>
        </p:txBody>
      </p:sp>
      <p:sp>
        <p:nvSpPr>
          <p:cNvPr id="6" name="TextBox 5"/>
          <p:cNvSpPr txBox="1"/>
          <p:nvPr/>
        </p:nvSpPr>
        <p:spPr>
          <a:xfrm>
            <a:off x="914400" y="2560320"/>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Aspiring entrepreneurs</a:t>
            </a:r>
          </a:p>
        </p:txBody>
      </p:sp>
      <p:sp>
        <p:nvSpPr>
          <p:cNvPr id="7" name="TextBox 6"/>
          <p:cNvSpPr txBox="1"/>
          <p:nvPr/>
        </p:nvSpPr>
        <p:spPr>
          <a:xfrm>
            <a:off x="914400" y="2926079"/>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Want to test an idea and understand where to start.</a:t>
            </a:r>
          </a:p>
        </p:txBody>
      </p:sp>
      <p:sp>
        <p:nvSpPr>
          <p:cNvPr id="8" name="TextBox 7"/>
          <p:cNvSpPr txBox="1"/>
          <p:nvPr/>
        </p:nvSpPr>
        <p:spPr>
          <a:xfrm>
            <a:off x="914400" y="3584448"/>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Early-stage founders</a:t>
            </a:r>
          </a:p>
        </p:txBody>
      </p:sp>
      <p:sp>
        <p:nvSpPr>
          <p:cNvPr id="9" name="TextBox 8"/>
          <p:cNvSpPr txBox="1"/>
          <p:nvPr/>
        </p:nvSpPr>
        <p:spPr>
          <a:xfrm>
            <a:off x="914400" y="3950208"/>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Need validation, structure and their first customers.</a:t>
            </a:r>
          </a:p>
        </p:txBody>
      </p:sp>
      <p:sp>
        <p:nvSpPr>
          <p:cNvPr id="10" name="TextBox 9"/>
          <p:cNvSpPr txBox="1"/>
          <p:nvPr/>
        </p:nvSpPr>
        <p:spPr>
          <a:xfrm>
            <a:off x="914400" y="4608576"/>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Founders seeking growth</a:t>
            </a:r>
          </a:p>
        </p:txBody>
      </p:sp>
      <p:sp>
        <p:nvSpPr>
          <p:cNvPr id="11" name="TextBox 10"/>
          <p:cNvSpPr txBox="1"/>
          <p:nvPr/>
        </p:nvSpPr>
        <p:spPr>
          <a:xfrm>
            <a:off x="914400" y="4974336"/>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Need operational support, specialists and sharper go-to-market.</a:t>
            </a:r>
          </a:p>
        </p:txBody>
      </p:sp>
      <p:sp>
        <p:nvSpPr>
          <p:cNvPr id="12" name="TextBox 11"/>
          <p:cNvSpPr txBox="1"/>
          <p:nvPr/>
        </p:nvSpPr>
        <p:spPr>
          <a:xfrm>
            <a:off x="914400" y="5623560"/>
            <a:ext cx="3657600" cy="457200"/>
          </a:xfrm>
          <a:prstGeom prst="rect">
            <a:avLst/>
          </a:prstGeom>
          <a:noFill/>
        </p:spPr>
        <p:txBody>
          <a:bodyPr wrap="square" lIns="0" rIns="0" tIns="0" bIns="0" anchor="t"/>
          <a:lstStyle/>
          <a:p>
            <a:pPr algn="l">
              <a:lnSpc>
                <a:spcPct val="120000"/>
              </a:lnSpc>
              <a:spcAft>
                <a:spcPts val="0"/>
              </a:spcAft>
            </a:pPr>
            <a:r>
              <a:rPr sz="950" b="0" i="0">
                <a:solidFill>
                  <a:srgbClr val="4F8BE0"/>
                </a:solidFill>
                <a:latin typeface="Inter"/>
              </a:rPr>
              <a:t>Technology startups and commercially viable businesses in consumer, wellness, retail and services.</a:t>
            </a:r>
          </a:p>
        </p:txBody>
      </p:sp>
      <p:sp>
        <p:nvSpPr>
          <p:cNvPr id="13" name="TextBox 12"/>
          <p:cNvSpPr txBox="1"/>
          <p:nvPr/>
        </p:nvSpPr>
        <p:spPr>
          <a:xfrm>
            <a:off x="5166360" y="20116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SUPPORTING ECOSYSTEM  ·  WHY THEY TAKE PART</a:t>
            </a:r>
          </a:p>
        </p:txBody>
      </p:sp>
      <p:cxnSp>
        <p:nvCxnSpPr>
          <p:cNvPr id="14" name="Connector 13"/>
          <p:cNvCxnSpPr/>
          <p:nvPr/>
        </p:nvCxnSpPr>
        <p:spPr>
          <a:xfrm>
            <a:off x="5166360" y="2395728"/>
            <a:ext cx="6430975" cy="0"/>
          </a:xfrm>
          <a:prstGeom prst="line">
            <a:avLst/>
          </a:prstGeom>
          <a:ln w="12700">
            <a:solidFill>
              <a:srgbClr val="D5E2F3"/>
            </a:solidFill>
          </a:ln>
        </p:spPr>
      </p:cxnSp>
      <p:sp>
        <p:nvSpPr>
          <p:cNvPr id="15" name="TextBox 14"/>
          <p:cNvSpPr txBox="1"/>
          <p:nvPr/>
        </p:nvSpPr>
        <p:spPr>
          <a:xfrm>
            <a:off x="5166360" y="2523744"/>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Mentors and specialists</a:t>
            </a:r>
          </a:p>
        </p:txBody>
      </p:sp>
      <p:sp>
        <p:nvSpPr>
          <p:cNvPr id="16" name="TextBox 15"/>
          <p:cNvSpPr txBox="1"/>
          <p:nvPr/>
        </p:nvSpPr>
        <p:spPr>
          <a:xfrm>
            <a:off x="7818120" y="2523744"/>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Share experience in a structured way and meet founders who fit their expertise.</a:t>
            </a:r>
          </a:p>
        </p:txBody>
      </p:sp>
      <p:cxnSp>
        <p:nvCxnSpPr>
          <p:cNvPr id="17" name="Connector 16"/>
          <p:cNvCxnSpPr/>
          <p:nvPr/>
        </p:nvCxnSpPr>
        <p:spPr>
          <a:xfrm>
            <a:off x="5166360" y="3154680"/>
            <a:ext cx="6430975" cy="0"/>
          </a:xfrm>
          <a:prstGeom prst="line">
            <a:avLst/>
          </a:prstGeom>
          <a:ln w="12700">
            <a:solidFill>
              <a:srgbClr val="D5E2F3"/>
            </a:solidFill>
          </a:ln>
        </p:spPr>
      </p:cxnSp>
      <p:sp>
        <p:nvSpPr>
          <p:cNvPr id="18" name="TextBox 17"/>
          <p:cNvSpPr txBox="1"/>
          <p:nvPr/>
        </p:nvSpPr>
        <p:spPr>
          <a:xfrm>
            <a:off x="5166360" y="3282696"/>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Investors and angels</a:t>
            </a:r>
          </a:p>
        </p:txBody>
      </p:sp>
      <p:sp>
        <p:nvSpPr>
          <p:cNvPr id="19" name="TextBox 18"/>
          <p:cNvSpPr txBox="1"/>
          <p:nvPr/>
        </p:nvSpPr>
        <p:spPr>
          <a:xfrm>
            <a:off x="7818120" y="3282696"/>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Engage with better-prepared founders and follow sectors of interest.</a:t>
            </a:r>
          </a:p>
        </p:txBody>
      </p:sp>
      <p:cxnSp>
        <p:nvCxnSpPr>
          <p:cNvPr id="20" name="Connector 19"/>
          <p:cNvCxnSpPr/>
          <p:nvPr/>
        </p:nvCxnSpPr>
        <p:spPr>
          <a:xfrm>
            <a:off x="5166360" y="3913632"/>
            <a:ext cx="6430975" cy="0"/>
          </a:xfrm>
          <a:prstGeom prst="line">
            <a:avLst/>
          </a:prstGeom>
          <a:ln w="12700">
            <a:solidFill>
              <a:srgbClr val="D5E2F3"/>
            </a:solidFill>
          </a:ln>
        </p:spPr>
      </p:cxnSp>
      <p:sp>
        <p:nvSpPr>
          <p:cNvPr id="21" name="TextBox 20"/>
          <p:cNvSpPr txBox="1"/>
          <p:nvPr/>
        </p:nvSpPr>
        <p:spPr>
          <a:xfrm>
            <a:off x="5166360" y="4041648"/>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Universities and incubators</a:t>
            </a:r>
          </a:p>
        </p:txBody>
      </p:sp>
      <p:sp>
        <p:nvSpPr>
          <p:cNvPr id="22" name="TextBox 21"/>
          <p:cNvSpPr txBox="1"/>
          <p:nvPr/>
        </p:nvSpPr>
        <p:spPr>
          <a:xfrm>
            <a:off x="7818120" y="4041648"/>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Extend support to student and alumni founders beyond a single programme.</a:t>
            </a:r>
          </a:p>
        </p:txBody>
      </p:sp>
      <p:cxnSp>
        <p:nvCxnSpPr>
          <p:cNvPr id="23" name="Connector 22"/>
          <p:cNvCxnSpPr/>
          <p:nvPr/>
        </p:nvCxnSpPr>
        <p:spPr>
          <a:xfrm>
            <a:off x="5166360" y="4672583"/>
            <a:ext cx="6430975" cy="0"/>
          </a:xfrm>
          <a:prstGeom prst="line">
            <a:avLst/>
          </a:prstGeom>
          <a:ln w="12700">
            <a:solidFill>
              <a:srgbClr val="D5E2F3"/>
            </a:solidFill>
          </a:ln>
        </p:spPr>
      </p:cxnSp>
      <p:sp>
        <p:nvSpPr>
          <p:cNvPr id="24" name="TextBox 23"/>
          <p:cNvSpPr txBox="1"/>
          <p:nvPr/>
        </p:nvSpPr>
        <p:spPr>
          <a:xfrm>
            <a:off x="5166360" y="4800599"/>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Corporate innovation teams</a:t>
            </a:r>
          </a:p>
        </p:txBody>
      </p:sp>
      <p:sp>
        <p:nvSpPr>
          <p:cNvPr id="25" name="TextBox 24"/>
          <p:cNvSpPr txBox="1"/>
          <p:nvPr/>
        </p:nvSpPr>
        <p:spPr>
          <a:xfrm>
            <a:off x="7818120" y="4800599"/>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Meet early ventures and run practical challenges or pilots.</a:t>
            </a:r>
          </a:p>
        </p:txBody>
      </p:sp>
      <p:cxnSp>
        <p:nvCxnSpPr>
          <p:cNvPr id="26" name="Connector 25"/>
          <p:cNvCxnSpPr/>
          <p:nvPr/>
        </p:nvCxnSpPr>
        <p:spPr>
          <a:xfrm>
            <a:off x="5166360" y="5431536"/>
            <a:ext cx="6430975" cy="0"/>
          </a:xfrm>
          <a:prstGeom prst="line">
            <a:avLst/>
          </a:prstGeom>
          <a:ln w="12700">
            <a:solidFill>
              <a:srgbClr val="D5E2F3"/>
            </a:solidFill>
          </a:ln>
        </p:spPr>
      </p:cxnSp>
      <p:sp>
        <p:nvSpPr>
          <p:cNvPr id="27" name="TextBox 26"/>
          <p:cNvSpPr txBox="1"/>
          <p:nvPr/>
        </p:nvSpPr>
        <p:spPr>
          <a:xfrm>
            <a:off x="5166360" y="5559551"/>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Technology and service providers</a:t>
            </a:r>
          </a:p>
        </p:txBody>
      </p:sp>
      <p:sp>
        <p:nvSpPr>
          <p:cNvPr id="28" name="TextBox 27"/>
          <p:cNvSpPr txBox="1"/>
          <p:nvPr/>
        </p:nvSpPr>
        <p:spPr>
          <a:xfrm>
            <a:off x="7818120" y="5559551"/>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Offer relevant tools and services to founders who need them.</a:t>
            </a:r>
          </a:p>
        </p:txBody>
      </p:sp>
      <p:sp>
        <p:nvSpPr>
          <p:cNvPr id="29" name="TextBox 2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0" name="TextBox 2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SECTORS WE SERVE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Not only tech. Any commercially viable business with a founder.</a:t>
            </a:r>
          </a:p>
        </p:txBody>
      </p:sp>
      <p:sp>
        <p:nvSpPr>
          <p:cNvPr id="4" name="Rectangle 3"/>
          <p:cNvSpPr/>
          <p:nvPr/>
        </p:nvSpPr>
        <p:spPr>
          <a:xfrm>
            <a:off x="594360" y="2011680"/>
            <a:ext cx="2127443" cy="64008"/>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594360" y="2212848"/>
            <a:ext cx="2036003"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Technology</a:t>
            </a:r>
          </a:p>
        </p:txBody>
      </p:sp>
      <p:sp>
        <p:nvSpPr>
          <p:cNvPr id="6" name="TextBox 5"/>
          <p:cNvSpPr txBox="1"/>
          <p:nvPr/>
        </p:nvSpPr>
        <p:spPr>
          <a:xfrm>
            <a:off x="594360" y="2606040"/>
            <a:ext cx="1990283" cy="64008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Software, platforms, AI-enabled products</a:t>
            </a:r>
          </a:p>
        </p:txBody>
      </p:sp>
      <p:sp>
        <p:nvSpPr>
          <p:cNvPr id="7" name="TextBox 6"/>
          <p:cNvSpPr txBox="1"/>
          <p:nvPr/>
        </p:nvSpPr>
        <p:spPr>
          <a:xfrm>
            <a:off x="594360" y="3383280"/>
            <a:ext cx="212744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TYPICAL CHALLENGES</a:t>
            </a:r>
          </a:p>
        </p:txBody>
      </p:sp>
      <p:sp>
        <p:nvSpPr>
          <p:cNvPr id="8" name="Rectangle 7"/>
          <p:cNvSpPr/>
          <p:nvPr/>
        </p:nvSpPr>
        <p:spPr>
          <a:xfrm>
            <a:off x="594360" y="3703320"/>
            <a:ext cx="2081723" cy="420624"/>
          </a:xfrm>
          <a:prstGeom prst="rect">
            <a:avLst/>
          </a:prstGeom>
          <a:solidFill>
            <a:srgbClr val="EDF4FE"/>
          </a:solidFill>
          <a:ln>
            <a:noFill/>
          </a:ln>
          <a:effectLst/>
        </p:spPr>
        <p:txBody>
          <a:bodyPr rtlCol="0" anchor="ctr" lIns="73152" rIns="73152" tIns="36576" bIns="36576"/>
          <a:lstStyle/>
          <a:p>
            <a:pPr algn="ctr"/>
          </a:p>
        </p:txBody>
      </p:sp>
      <p:sp>
        <p:nvSpPr>
          <p:cNvPr id="9" name="TextBox 8"/>
          <p:cNvSpPr txBox="1"/>
          <p:nvPr/>
        </p:nvSpPr>
        <p:spPr>
          <a:xfrm>
            <a:off x="704088" y="370332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Product–market fit</a:t>
            </a:r>
          </a:p>
        </p:txBody>
      </p:sp>
      <p:sp>
        <p:nvSpPr>
          <p:cNvPr id="10" name="Rectangle 9"/>
          <p:cNvSpPr/>
          <p:nvPr/>
        </p:nvSpPr>
        <p:spPr>
          <a:xfrm>
            <a:off x="594360" y="4206240"/>
            <a:ext cx="2081723" cy="420624"/>
          </a:xfrm>
          <a:prstGeom prst="rect">
            <a:avLst/>
          </a:prstGeom>
          <a:solidFill>
            <a:srgbClr val="EDF4FE"/>
          </a:solidFill>
          <a:ln>
            <a:noFill/>
          </a:ln>
          <a:effectLst/>
        </p:spPr>
        <p:txBody>
          <a:bodyPr rtlCol="0" anchor="ctr" lIns="73152" rIns="73152" tIns="36576" bIns="36576"/>
          <a:lstStyle/>
          <a:p>
            <a:pPr algn="ctr"/>
          </a:p>
        </p:txBody>
      </p:sp>
      <p:sp>
        <p:nvSpPr>
          <p:cNvPr id="11" name="TextBox 10"/>
          <p:cNvSpPr txBox="1"/>
          <p:nvPr/>
        </p:nvSpPr>
        <p:spPr>
          <a:xfrm>
            <a:off x="704088" y="420624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Technical choices and cost</a:t>
            </a:r>
          </a:p>
        </p:txBody>
      </p:sp>
      <p:sp>
        <p:nvSpPr>
          <p:cNvPr id="12" name="Rectangle 11"/>
          <p:cNvSpPr/>
          <p:nvPr/>
        </p:nvSpPr>
        <p:spPr>
          <a:xfrm>
            <a:off x="594360" y="4709160"/>
            <a:ext cx="2081723" cy="420624"/>
          </a:xfrm>
          <a:prstGeom prst="rect">
            <a:avLst/>
          </a:prstGeom>
          <a:solidFill>
            <a:srgbClr val="EDF4FE"/>
          </a:solidFill>
          <a:ln>
            <a:noFill/>
          </a:ln>
          <a:effectLst/>
        </p:spPr>
        <p:txBody>
          <a:bodyPr rtlCol="0" anchor="ctr" lIns="73152" rIns="73152" tIns="36576" bIns="36576"/>
          <a:lstStyle/>
          <a:p>
            <a:pPr algn="ctr"/>
          </a:p>
        </p:txBody>
      </p:sp>
      <p:sp>
        <p:nvSpPr>
          <p:cNvPr id="13" name="TextBox 12"/>
          <p:cNvSpPr txBox="1"/>
          <p:nvPr/>
        </p:nvSpPr>
        <p:spPr>
          <a:xfrm>
            <a:off x="704088" y="470916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Recurring revenue</a:t>
            </a:r>
          </a:p>
        </p:txBody>
      </p:sp>
      <p:sp>
        <p:nvSpPr>
          <p:cNvPr id="14" name="Rectangle 13"/>
          <p:cNvSpPr/>
          <p:nvPr/>
        </p:nvSpPr>
        <p:spPr>
          <a:xfrm>
            <a:off x="594360" y="5212080"/>
            <a:ext cx="2081723" cy="420624"/>
          </a:xfrm>
          <a:prstGeom prst="rect">
            <a:avLst/>
          </a:prstGeom>
          <a:solidFill>
            <a:srgbClr val="EDF4FE"/>
          </a:solidFill>
          <a:ln>
            <a:noFill/>
          </a:ln>
          <a:effectLst/>
        </p:spPr>
        <p:txBody>
          <a:bodyPr rtlCol="0" anchor="ctr" lIns="73152" rIns="73152" tIns="36576" bIns="36576"/>
          <a:lstStyle/>
          <a:p>
            <a:pPr algn="ctr"/>
          </a:p>
        </p:txBody>
      </p:sp>
      <p:sp>
        <p:nvSpPr>
          <p:cNvPr id="15" name="TextBox 14"/>
          <p:cNvSpPr txBox="1"/>
          <p:nvPr/>
        </p:nvSpPr>
        <p:spPr>
          <a:xfrm>
            <a:off x="704088" y="521208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Investor readiness</a:t>
            </a:r>
          </a:p>
        </p:txBody>
      </p:sp>
      <p:sp>
        <p:nvSpPr>
          <p:cNvPr id="16" name="Rectangle 15"/>
          <p:cNvSpPr/>
          <p:nvPr/>
        </p:nvSpPr>
        <p:spPr>
          <a:xfrm>
            <a:off x="2813243" y="2011680"/>
            <a:ext cx="2127443" cy="64008"/>
          </a:xfrm>
          <a:prstGeom prst="rect">
            <a:avLst/>
          </a:prstGeom>
          <a:solidFill>
            <a:srgbClr val="1765D1"/>
          </a:solidFill>
          <a:ln>
            <a:noFill/>
          </a:ln>
          <a:effectLst/>
        </p:spPr>
        <p:txBody>
          <a:bodyPr rtlCol="0" anchor="ctr" lIns="73152" rIns="73152" tIns="36576" bIns="36576"/>
          <a:lstStyle/>
          <a:p>
            <a:pPr algn="ctr"/>
          </a:p>
        </p:txBody>
      </p:sp>
      <p:sp>
        <p:nvSpPr>
          <p:cNvPr id="17" name="TextBox 16"/>
          <p:cNvSpPr txBox="1"/>
          <p:nvPr/>
        </p:nvSpPr>
        <p:spPr>
          <a:xfrm>
            <a:off x="2813243" y="2212848"/>
            <a:ext cx="2036003"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Consumer products</a:t>
            </a:r>
          </a:p>
        </p:txBody>
      </p:sp>
      <p:sp>
        <p:nvSpPr>
          <p:cNvPr id="18" name="TextBox 17"/>
          <p:cNvSpPr txBox="1"/>
          <p:nvPr/>
        </p:nvSpPr>
        <p:spPr>
          <a:xfrm>
            <a:off x="2813243" y="2606040"/>
            <a:ext cx="1990283" cy="64008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Food, beauty, home and lifestyle brands</a:t>
            </a:r>
          </a:p>
        </p:txBody>
      </p:sp>
      <p:sp>
        <p:nvSpPr>
          <p:cNvPr id="19" name="TextBox 18"/>
          <p:cNvSpPr txBox="1"/>
          <p:nvPr/>
        </p:nvSpPr>
        <p:spPr>
          <a:xfrm>
            <a:off x="2813243" y="3383280"/>
            <a:ext cx="212744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TYPICAL CHALLENGES</a:t>
            </a:r>
          </a:p>
        </p:txBody>
      </p:sp>
      <p:sp>
        <p:nvSpPr>
          <p:cNvPr id="20" name="Rectangle 19"/>
          <p:cNvSpPr/>
          <p:nvPr/>
        </p:nvSpPr>
        <p:spPr>
          <a:xfrm>
            <a:off x="2813243" y="3703320"/>
            <a:ext cx="2081723" cy="420624"/>
          </a:xfrm>
          <a:prstGeom prst="rect">
            <a:avLst/>
          </a:prstGeom>
          <a:solidFill>
            <a:srgbClr val="EDF4FE"/>
          </a:solidFill>
          <a:ln>
            <a:noFill/>
          </a:ln>
          <a:effectLst/>
        </p:spPr>
        <p:txBody>
          <a:bodyPr rtlCol="0" anchor="ctr" lIns="73152" rIns="73152" tIns="36576" bIns="36576"/>
          <a:lstStyle/>
          <a:p>
            <a:pPr algn="ctr"/>
          </a:p>
        </p:txBody>
      </p:sp>
      <p:sp>
        <p:nvSpPr>
          <p:cNvPr id="21" name="TextBox 20"/>
          <p:cNvSpPr txBox="1"/>
          <p:nvPr/>
        </p:nvSpPr>
        <p:spPr>
          <a:xfrm>
            <a:off x="2922971" y="370332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Unit economics and margin</a:t>
            </a:r>
          </a:p>
        </p:txBody>
      </p:sp>
      <p:sp>
        <p:nvSpPr>
          <p:cNvPr id="22" name="Rectangle 21"/>
          <p:cNvSpPr/>
          <p:nvPr/>
        </p:nvSpPr>
        <p:spPr>
          <a:xfrm>
            <a:off x="2813243" y="4206240"/>
            <a:ext cx="2081723" cy="420624"/>
          </a:xfrm>
          <a:prstGeom prst="rect">
            <a:avLst/>
          </a:prstGeom>
          <a:solidFill>
            <a:srgbClr val="EDF4FE"/>
          </a:solidFill>
          <a:ln>
            <a:noFill/>
          </a:ln>
          <a:effectLst/>
        </p:spPr>
        <p:txBody>
          <a:bodyPr rtlCol="0" anchor="ctr" lIns="73152" rIns="73152" tIns="36576" bIns="36576"/>
          <a:lstStyle/>
          <a:p>
            <a:pPr algn="ctr"/>
          </a:p>
        </p:txBody>
      </p:sp>
      <p:sp>
        <p:nvSpPr>
          <p:cNvPr id="23" name="TextBox 22"/>
          <p:cNvSpPr txBox="1"/>
          <p:nvPr/>
        </p:nvSpPr>
        <p:spPr>
          <a:xfrm>
            <a:off x="2922971" y="420624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Manufacturing and sourcing</a:t>
            </a:r>
          </a:p>
        </p:txBody>
      </p:sp>
      <p:sp>
        <p:nvSpPr>
          <p:cNvPr id="24" name="Rectangle 23"/>
          <p:cNvSpPr/>
          <p:nvPr/>
        </p:nvSpPr>
        <p:spPr>
          <a:xfrm>
            <a:off x="2813243" y="4709160"/>
            <a:ext cx="2081723" cy="420624"/>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2922971" y="470916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Retail and e-commerce channels</a:t>
            </a:r>
          </a:p>
        </p:txBody>
      </p:sp>
      <p:sp>
        <p:nvSpPr>
          <p:cNvPr id="26" name="Rectangle 25"/>
          <p:cNvSpPr/>
          <p:nvPr/>
        </p:nvSpPr>
        <p:spPr>
          <a:xfrm>
            <a:off x="2813243" y="5212080"/>
            <a:ext cx="2081723" cy="420624"/>
          </a:xfrm>
          <a:prstGeom prst="rect">
            <a:avLst/>
          </a:prstGeom>
          <a:solidFill>
            <a:srgbClr val="EDF4FE"/>
          </a:solidFill>
          <a:ln>
            <a:noFill/>
          </a:ln>
          <a:effectLst/>
        </p:spPr>
        <p:txBody>
          <a:bodyPr rtlCol="0" anchor="ctr" lIns="73152" rIns="73152" tIns="36576" bIns="36576"/>
          <a:lstStyle/>
          <a:p>
            <a:pPr algn="ctr"/>
          </a:p>
        </p:txBody>
      </p:sp>
      <p:sp>
        <p:nvSpPr>
          <p:cNvPr id="27" name="TextBox 26"/>
          <p:cNvSpPr txBox="1"/>
          <p:nvPr/>
        </p:nvSpPr>
        <p:spPr>
          <a:xfrm>
            <a:off x="2922971" y="521208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Brand building</a:t>
            </a:r>
          </a:p>
        </p:txBody>
      </p:sp>
      <p:sp>
        <p:nvSpPr>
          <p:cNvPr id="28" name="Rectangle 27"/>
          <p:cNvSpPr/>
          <p:nvPr/>
        </p:nvSpPr>
        <p:spPr>
          <a:xfrm>
            <a:off x="5032126" y="2011680"/>
            <a:ext cx="2127443" cy="64008"/>
          </a:xfrm>
          <a:prstGeom prst="rect">
            <a:avLst/>
          </a:prstGeom>
          <a:solidFill>
            <a:srgbClr val="1A55AC"/>
          </a:solidFill>
          <a:ln>
            <a:noFill/>
          </a:ln>
          <a:effectLst/>
        </p:spPr>
        <p:txBody>
          <a:bodyPr rtlCol="0" anchor="ctr" lIns="73152" rIns="73152" tIns="36576" bIns="36576"/>
          <a:lstStyle/>
          <a:p>
            <a:pPr algn="ctr"/>
          </a:p>
        </p:txBody>
      </p:sp>
      <p:sp>
        <p:nvSpPr>
          <p:cNvPr id="29" name="TextBox 28"/>
          <p:cNvSpPr txBox="1"/>
          <p:nvPr/>
        </p:nvSpPr>
        <p:spPr>
          <a:xfrm>
            <a:off x="5032126" y="2212848"/>
            <a:ext cx="2036003"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Wellness</a:t>
            </a:r>
          </a:p>
        </p:txBody>
      </p:sp>
      <p:sp>
        <p:nvSpPr>
          <p:cNvPr id="30" name="TextBox 29"/>
          <p:cNvSpPr txBox="1"/>
          <p:nvPr/>
        </p:nvSpPr>
        <p:spPr>
          <a:xfrm>
            <a:off x="5032126" y="2606040"/>
            <a:ext cx="1990283" cy="64008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Fitness, nutrition, mental wellbeing, care</a:t>
            </a:r>
          </a:p>
        </p:txBody>
      </p:sp>
      <p:sp>
        <p:nvSpPr>
          <p:cNvPr id="31" name="TextBox 30"/>
          <p:cNvSpPr txBox="1"/>
          <p:nvPr/>
        </p:nvSpPr>
        <p:spPr>
          <a:xfrm>
            <a:off x="5032126" y="3383280"/>
            <a:ext cx="212744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TYPICAL CHALLENGES</a:t>
            </a:r>
          </a:p>
        </p:txBody>
      </p:sp>
      <p:sp>
        <p:nvSpPr>
          <p:cNvPr id="32" name="Rectangle 31"/>
          <p:cNvSpPr/>
          <p:nvPr/>
        </p:nvSpPr>
        <p:spPr>
          <a:xfrm>
            <a:off x="5032126" y="3703320"/>
            <a:ext cx="2081723" cy="420624"/>
          </a:xfrm>
          <a:prstGeom prst="rect">
            <a:avLst/>
          </a:prstGeom>
          <a:solidFill>
            <a:srgbClr val="EDF4FE"/>
          </a:solidFill>
          <a:ln>
            <a:noFill/>
          </a:ln>
          <a:effectLst/>
        </p:spPr>
        <p:txBody>
          <a:bodyPr rtlCol="0" anchor="ctr" lIns="73152" rIns="73152" tIns="36576" bIns="36576"/>
          <a:lstStyle/>
          <a:p>
            <a:pPr algn="ctr"/>
          </a:p>
        </p:txBody>
      </p:sp>
      <p:sp>
        <p:nvSpPr>
          <p:cNvPr id="33" name="TextBox 32"/>
          <p:cNvSpPr txBox="1"/>
          <p:nvPr/>
        </p:nvSpPr>
        <p:spPr>
          <a:xfrm>
            <a:off x="5141854" y="370332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Trust and credibility</a:t>
            </a:r>
          </a:p>
        </p:txBody>
      </p:sp>
      <p:sp>
        <p:nvSpPr>
          <p:cNvPr id="34" name="Rectangle 33"/>
          <p:cNvSpPr/>
          <p:nvPr/>
        </p:nvSpPr>
        <p:spPr>
          <a:xfrm>
            <a:off x="5032126" y="4206240"/>
            <a:ext cx="2081723" cy="420624"/>
          </a:xfrm>
          <a:prstGeom prst="rect">
            <a:avLst/>
          </a:prstGeom>
          <a:solidFill>
            <a:srgbClr val="EDF4FE"/>
          </a:solidFill>
          <a:ln>
            <a:noFill/>
          </a:ln>
          <a:effectLst/>
        </p:spPr>
        <p:txBody>
          <a:bodyPr rtlCol="0" anchor="ctr" lIns="73152" rIns="73152" tIns="36576" bIns="36576"/>
          <a:lstStyle/>
          <a:p>
            <a:pPr algn="ctr"/>
          </a:p>
        </p:txBody>
      </p:sp>
      <p:sp>
        <p:nvSpPr>
          <p:cNvPr id="35" name="TextBox 34"/>
          <p:cNvSpPr txBox="1"/>
          <p:nvPr/>
        </p:nvSpPr>
        <p:spPr>
          <a:xfrm>
            <a:off x="5141854" y="420624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Licensing and compliance</a:t>
            </a:r>
          </a:p>
        </p:txBody>
      </p:sp>
      <p:sp>
        <p:nvSpPr>
          <p:cNvPr id="36" name="Rectangle 35"/>
          <p:cNvSpPr/>
          <p:nvPr/>
        </p:nvSpPr>
        <p:spPr>
          <a:xfrm>
            <a:off x="5032126" y="4709160"/>
            <a:ext cx="2081723" cy="420624"/>
          </a:xfrm>
          <a:prstGeom prst="rect">
            <a:avLst/>
          </a:prstGeom>
          <a:solidFill>
            <a:srgbClr val="EDF4FE"/>
          </a:solidFill>
          <a:ln>
            <a:noFill/>
          </a:ln>
          <a:effectLst/>
        </p:spPr>
        <p:txBody>
          <a:bodyPr rtlCol="0" anchor="ctr" lIns="73152" rIns="73152" tIns="36576" bIns="36576"/>
          <a:lstStyle/>
          <a:p>
            <a:pPr algn="ctr"/>
          </a:p>
        </p:txBody>
      </p:sp>
      <p:sp>
        <p:nvSpPr>
          <p:cNvPr id="37" name="TextBox 36"/>
          <p:cNvSpPr txBox="1"/>
          <p:nvPr/>
        </p:nvSpPr>
        <p:spPr>
          <a:xfrm>
            <a:off x="5141854" y="470916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Repeat customers</a:t>
            </a:r>
          </a:p>
        </p:txBody>
      </p:sp>
      <p:sp>
        <p:nvSpPr>
          <p:cNvPr id="38" name="Rectangle 37"/>
          <p:cNvSpPr/>
          <p:nvPr/>
        </p:nvSpPr>
        <p:spPr>
          <a:xfrm>
            <a:off x="5032126" y="5212080"/>
            <a:ext cx="2081723" cy="420624"/>
          </a:xfrm>
          <a:prstGeom prst="rect">
            <a:avLst/>
          </a:prstGeom>
          <a:solidFill>
            <a:srgbClr val="EDF4FE"/>
          </a:solidFill>
          <a:ln>
            <a:noFill/>
          </a:ln>
          <a:effectLst/>
        </p:spPr>
        <p:txBody>
          <a:bodyPr rtlCol="0" anchor="ctr" lIns="73152" rIns="73152" tIns="36576" bIns="36576"/>
          <a:lstStyle/>
          <a:p>
            <a:pPr algn="ctr"/>
          </a:p>
        </p:txBody>
      </p:sp>
      <p:sp>
        <p:nvSpPr>
          <p:cNvPr id="39" name="TextBox 38"/>
          <p:cNvSpPr txBox="1"/>
          <p:nvPr/>
        </p:nvSpPr>
        <p:spPr>
          <a:xfrm>
            <a:off x="5141854" y="521208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Community building</a:t>
            </a:r>
          </a:p>
        </p:txBody>
      </p:sp>
      <p:sp>
        <p:nvSpPr>
          <p:cNvPr id="40" name="Rectangle 39"/>
          <p:cNvSpPr/>
          <p:nvPr/>
        </p:nvSpPr>
        <p:spPr>
          <a:xfrm>
            <a:off x="7251009" y="2011680"/>
            <a:ext cx="2127443" cy="64008"/>
          </a:xfrm>
          <a:prstGeom prst="rect">
            <a:avLst/>
          </a:prstGeom>
          <a:solidFill>
            <a:srgbClr val="17407F"/>
          </a:solidFill>
          <a:ln>
            <a:noFill/>
          </a:ln>
          <a:effectLst/>
        </p:spPr>
        <p:txBody>
          <a:bodyPr rtlCol="0" anchor="ctr" lIns="73152" rIns="73152" tIns="36576" bIns="36576"/>
          <a:lstStyle/>
          <a:p>
            <a:pPr algn="ctr"/>
          </a:p>
        </p:txBody>
      </p:sp>
      <p:sp>
        <p:nvSpPr>
          <p:cNvPr id="41" name="TextBox 40"/>
          <p:cNvSpPr txBox="1"/>
          <p:nvPr/>
        </p:nvSpPr>
        <p:spPr>
          <a:xfrm>
            <a:off x="7251009" y="2212848"/>
            <a:ext cx="2036003"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Retail</a:t>
            </a:r>
          </a:p>
        </p:txBody>
      </p:sp>
      <p:sp>
        <p:nvSpPr>
          <p:cNvPr id="42" name="TextBox 41"/>
          <p:cNvSpPr txBox="1"/>
          <p:nvPr/>
        </p:nvSpPr>
        <p:spPr>
          <a:xfrm>
            <a:off x="7251009" y="2606040"/>
            <a:ext cx="1990283" cy="64008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Physical and online stores, marketplaces</a:t>
            </a:r>
          </a:p>
        </p:txBody>
      </p:sp>
      <p:sp>
        <p:nvSpPr>
          <p:cNvPr id="43" name="TextBox 42"/>
          <p:cNvSpPr txBox="1"/>
          <p:nvPr/>
        </p:nvSpPr>
        <p:spPr>
          <a:xfrm>
            <a:off x="7251009" y="3383280"/>
            <a:ext cx="212744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TYPICAL CHALLENGES</a:t>
            </a:r>
          </a:p>
        </p:txBody>
      </p:sp>
      <p:sp>
        <p:nvSpPr>
          <p:cNvPr id="44" name="Rectangle 43"/>
          <p:cNvSpPr/>
          <p:nvPr/>
        </p:nvSpPr>
        <p:spPr>
          <a:xfrm>
            <a:off x="7251009" y="3703320"/>
            <a:ext cx="2081723" cy="420624"/>
          </a:xfrm>
          <a:prstGeom prst="rect">
            <a:avLst/>
          </a:prstGeom>
          <a:solidFill>
            <a:srgbClr val="EDF4FE"/>
          </a:solidFill>
          <a:ln>
            <a:noFill/>
          </a:ln>
          <a:effectLst/>
        </p:spPr>
        <p:txBody>
          <a:bodyPr rtlCol="0" anchor="ctr" lIns="73152" rIns="73152" tIns="36576" bIns="36576"/>
          <a:lstStyle/>
          <a:p>
            <a:pPr algn="ctr"/>
          </a:p>
        </p:txBody>
      </p:sp>
      <p:sp>
        <p:nvSpPr>
          <p:cNvPr id="45" name="TextBox 44"/>
          <p:cNvSpPr txBox="1"/>
          <p:nvPr/>
        </p:nvSpPr>
        <p:spPr>
          <a:xfrm>
            <a:off x="7360737" y="370332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Inventory and cash flow</a:t>
            </a:r>
          </a:p>
        </p:txBody>
      </p:sp>
      <p:sp>
        <p:nvSpPr>
          <p:cNvPr id="46" name="Rectangle 45"/>
          <p:cNvSpPr/>
          <p:nvPr/>
        </p:nvSpPr>
        <p:spPr>
          <a:xfrm>
            <a:off x="7251009" y="4206240"/>
            <a:ext cx="2081723" cy="420624"/>
          </a:xfrm>
          <a:prstGeom prst="rect">
            <a:avLst/>
          </a:prstGeom>
          <a:solidFill>
            <a:srgbClr val="EDF4FE"/>
          </a:solidFill>
          <a:ln>
            <a:noFill/>
          </a:ln>
          <a:effectLst/>
        </p:spPr>
        <p:txBody>
          <a:bodyPr rtlCol="0" anchor="ctr" lIns="73152" rIns="73152" tIns="36576" bIns="36576"/>
          <a:lstStyle/>
          <a:p>
            <a:pPr algn="ctr"/>
          </a:p>
        </p:txBody>
      </p:sp>
      <p:sp>
        <p:nvSpPr>
          <p:cNvPr id="47" name="TextBox 46"/>
          <p:cNvSpPr txBox="1"/>
          <p:nvPr/>
        </p:nvSpPr>
        <p:spPr>
          <a:xfrm>
            <a:off x="7360737" y="420624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Location and channel mix</a:t>
            </a:r>
          </a:p>
        </p:txBody>
      </p:sp>
      <p:sp>
        <p:nvSpPr>
          <p:cNvPr id="48" name="Rectangle 47"/>
          <p:cNvSpPr/>
          <p:nvPr/>
        </p:nvSpPr>
        <p:spPr>
          <a:xfrm>
            <a:off x="7251009" y="4709160"/>
            <a:ext cx="2081723" cy="420624"/>
          </a:xfrm>
          <a:prstGeom prst="rect">
            <a:avLst/>
          </a:prstGeom>
          <a:solidFill>
            <a:srgbClr val="EDF4FE"/>
          </a:solidFill>
          <a:ln>
            <a:noFill/>
          </a:ln>
          <a:effectLst/>
        </p:spPr>
        <p:txBody>
          <a:bodyPr rtlCol="0" anchor="ctr" lIns="73152" rIns="73152" tIns="36576" bIns="36576"/>
          <a:lstStyle/>
          <a:p>
            <a:pPr algn="ctr"/>
          </a:p>
        </p:txBody>
      </p:sp>
      <p:sp>
        <p:nvSpPr>
          <p:cNvPr id="49" name="TextBox 48"/>
          <p:cNvSpPr txBox="1"/>
          <p:nvPr/>
        </p:nvSpPr>
        <p:spPr>
          <a:xfrm>
            <a:off x="7360737" y="470916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Customer acquisition cost</a:t>
            </a:r>
          </a:p>
        </p:txBody>
      </p:sp>
      <p:sp>
        <p:nvSpPr>
          <p:cNvPr id="50" name="Rectangle 49"/>
          <p:cNvSpPr/>
          <p:nvPr/>
        </p:nvSpPr>
        <p:spPr>
          <a:xfrm>
            <a:off x="7251009" y="5212080"/>
            <a:ext cx="2081723" cy="420624"/>
          </a:xfrm>
          <a:prstGeom prst="rect">
            <a:avLst/>
          </a:prstGeom>
          <a:solidFill>
            <a:srgbClr val="EDF4FE"/>
          </a:solidFill>
          <a:ln>
            <a:noFill/>
          </a:ln>
          <a:effectLst/>
        </p:spPr>
        <p:txBody>
          <a:bodyPr rtlCol="0" anchor="ctr" lIns="73152" rIns="73152" tIns="36576" bIns="36576"/>
          <a:lstStyle/>
          <a:p>
            <a:pPr algn="ctr"/>
          </a:p>
        </p:txBody>
      </p:sp>
      <p:sp>
        <p:nvSpPr>
          <p:cNvPr id="51" name="TextBox 50"/>
          <p:cNvSpPr txBox="1"/>
          <p:nvPr/>
        </p:nvSpPr>
        <p:spPr>
          <a:xfrm>
            <a:off x="7360737" y="521208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Operations at scale</a:t>
            </a:r>
          </a:p>
        </p:txBody>
      </p:sp>
      <p:sp>
        <p:nvSpPr>
          <p:cNvPr id="52" name="Rectangle 51"/>
          <p:cNvSpPr/>
          <p:nvPr/>
        </p:nvSpPr>
        <p:spPr>
          <a:xfrm>
            <a:off x="9469892" y="2011680"/>
            <a:ext cx="2127443" cy="64008"/>
          </a:xfrm>
          <a:prstGeom prst="rect">
            <a:avLst/>
          </a:prstGeom>
          <a:solidFill>
            <a:srgbClr val="4F8BE0"/>
          </a:solidFill>
          <a:ln>
            <a:noFill/>
          </a:ln>
          <a:effectLst/>
        </p:spPr>
        <p:txBody>
          <a:bodyPr rtlCol="0" anchor="ctr" lIns="73152" rIns="73152" tIns="36576" bIns="36576"/>
          <a:lstStyle/>
          <a:p>
            <a:pPr algn="ctr"/>
          </a:p>
        </p:txBody>
      </p:sp>
      <p:sp>
        <p:nvSpPr>
          <p:cNvPr id="53" name="TextBox 52"/>
          <p:cNvSpPr txBox="1"/>
          <p:nvPr/>
        </p:nvSpPr>
        <p:spPr>
          <a:xfrm>
            <a:off x="9469892" y="2212848"/>
            <a:ext cx="2036003"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Services</a:t>
            </a:r>
          </a:p>
        </p:txBody>
      </p:sp>
      <p:sp>
        <p:nvSpPr>
          <p:cNvPr id="54" name="TextBox 53"/>
          <p:cNvSpPr txBox="1"/>
          <p:nvPr/>
        </p:nvSpPr>
        <p:spPr>
          <a:xfrm>
            <a:off x="9469892" y="2606040"/>
            <a:ext cx="1990283" cy="64008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Agencies, consultancies, B2B and local services</a:t>
            </a:r>
          </a:p>
        </p:txBody>
      </p:sp>
      <p:sp>
        <p:nvSpPr>
          <p:cNvPr id="55" name="TextBox 54"/>
          <p:cNvSpPr txBox="1"/>
          <p:nvPr/>
        </p:nvSpPr>
        <p:spPr>
          <a:xfrm>
            <a:off x="9469892" y="3383280"/>
            <a:ext cx="2127443"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TYPICAL CHALLENGES</a:t>
            </a:r>
          </a:p>
        </p:txBody>
      </p:sp>
      <p:sp>
        <p:nvSpPr>
          <p:cNvPr id="56" name="Rectangle 55"/>
          <p:cNvSpPr/>
          <p:nvPr/>
        </p:nvSpPr>
        <p:spPr>
          <a:xfrm>
            <a:off x="9469892" y="3703320"/>
            <a:ext cx="2081723" cy="420624"/>
          </a:xfrm>
          <a:prstGeom prst="rect">
            <a:avLst/>
          </a:prstGeom>
          <a:solidFill>
            <a:srgbClr val="EDF4FE"/>
          </a:solidFill>
          <a:ln>
            <a:noFill/>
          </a:ln>
          <a:effectLst/>
        </p:spPr>
        <p:txBody>
          <a:bodyPr rtlCol="0" anchor="ctr" lIns="73152" rIns="73152" tIns="36576" bIns="36576"/>
          <a:lstStyle/>
          <a:p>
            <a:pPr algn="ctr"/>
          </a:p>
        </p:txBody>
      </p:sp>
      <p:sp>
        <p:nvSpPr>
          <p:cNvPr id="57" name="TextBox 56"/>
          <p:cNvSpPr txBox="1"/>
          <p:nvPr/>
        </p:nvSpPr>
        <p:spPr>
          <a:xfrm>
            <a:off x="9579620" y="370332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Pricing and packaging</a:t>
            </a:r>
          </a:p>
        </p:txBody>
      </p:sp>
      <p:sp>
        <p:nvSpPr>
          <p:cNvPr id="58" name="Rectangle 57"/>
          <p:cNvSpPr/>
          <p:nvPr/>
        </p:nvSpPr>
        <p:spPr>
          <a:xfrm>
            <a:off x="9469892" y="4206240"/>
            <a:ext cx="2081723" cy="420624"/>
          </a:xfrm>
          <a:prstGeom prst="rect">
            <a:avLst/>
          </a:prstGeom>
          <a:solidFill>
            <a:srgbClr val="EDF4FE"/>
          </a:solidFill>
          <a:ln>
            <a:noFill/>
          </a:ln>
          <a:effectLst/>
        </p:spPr>
        <p:txBody>
          <a:bodyPr rtlCol="0" anchor="ctr" lIns="73152" rIns="73152" tIns="36576" bIns="36576"/>
          <a:lstStyle/>
          <a:p>
            <a:pPr algn="ctr"/>
          </a:p>
        </p:txBody>
      </p:sp>
      <p:sp>
        <p:nvSpPr>
          <p:cNvPr id="59" name="TextBox 58"/>
          <p:cNvSpPr txBox="1"/>
          <p:nvPr/>
        </p:nvSpPr>
        <p:spPr>
          <a:xfrm>
            <a:off x="9579620" y="420624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Productising expertise</a:t>
            </a:r>
          </a:p>
        </p:txBody>
      </p:sp>
      <p:sp>
        <p:nvSpPr>
          <p:cNvPr id="60" name="Rectangle 59"/>
          <p:cNvSpPr/>
          <p:nvPr/>
        </p:nvSpPr>
        <p:spPr>
          <a:xfrm>
            <a:off x="9469892" y="4709160"/>
            <a:ext cx="2081723" cy="420624"/>
          </a:xfrm>
          <a:prstGeom prst="rect">
            <a:avLst/>
          </a:prstGeom>
          <a:solidFill>
            <a:srgbClr val="EDF4FE"/>
          </a:solidFill>
          <a:ln>
            <a:noFill/>
          </a:ln>
          <a:effectLst/>
        </p:spPr>
        <p:txBody>
          <a:bodyPr rtlCol="0" anchor="ctr" lIns="73152" rIns="73152" tIns="36576" bIns="36576"/>
          <a:lstStyle/>
          <a:p>
            <a:pPr algn="ctr"/>
          </a:p>
        </p:txBody>
      </p:sp>
      <p:sp>
        <p:nvSpPr>
          <p:cNvPr id="61" name="TextBox 60"/>
          <p:cNvSpPr txBox="1"/>
          <p:nvPr/>
        </p:nvSpPr>
        <p:spPr>
          <a:xfrm>
            <a:off x="9579620" y="470916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Pipeline and referrals</a:t>
            </a:r>
          </a:p>
        </p:txBody>
      </p:sp>
      <p:sp>
        <p:nvSpPr>
          <p:cNvPr id="62" name="Rectangle 61"/>
          <p:cNvSpPr/>
          <p:nvPr/>
        </p:nvSpPr>
        <p:spPr>
          <a:xfrm>
            <a:off x="9469892" y="5212080"/>
            <a:ext cx="2081723" cy="420624"/>
          </a:xfrm>
          <a:prstGeom prst="rect">
            <a:avLst/>
          </a:prstGeom>
          <a:solidFill>
            <a:srgbClr val="EDF4FE"/>
          </a:solidFill>
          <a:ln>
            <a:noFill/>
          </a:ln>
          <a:effectLst/>
        </p:spPr>
        <p:txBody>
          <a:bodyPr rtlCol="0" anchor="ctr" lIns="73152" rIns="73152" tIns="36576" bIns="36576"/>
          <a:lstStyle/>
          <a:p>
            <a:pPr algn="ctr"/>
          </a:p>
        </p:txBody>
      </p:sp>
      <p:sp>
        <p:nvSpPr>
          <p:cNvPr id="63" name="TextBox 62"/>
          <p:cNvSpPr txBox="1"/>
          <p:nvPr/>
        </p:nvSpPr>
        <p:spPr>
          <a:xfrm>
            <a:off x="9579620" y="5212080"/>
            <a:ext cx="1898843" cy="420624"/>
          </a:xfrm>
          <a:prstGeom prst="rect">
            <a:avLst/>
          </a:prstGeom>
          <a:noFill/>
        </p:spPr>
        <p:txBody>
          <a:bodyPr wrap="square" lIns="0" rIns="0" tIns="0" bIns="0" anchor="ctr"/>
          <a:lstStyle/>
          <a:p>
            <a:pPr algn="l">
              <a:lnSpc>
                <a:spcPct val="100000"/>
              </a:lnSpc>
              <a:spcAft>
                <a:spcPts val="0"/>
              </a:spcAft>
            </a:pPr>
            <a:r>
              <a:rPr sz="1050" b="1" i="0">
                <a:solidFill>
                  <a:srgbClr val="10213B"/>
                </a:solidFill>
                <a:latin typeface="Inter"/>
              </a:rPr>
              <a:t>Hiring and delivery</a:t>
            </a:r>
          </a:p>
        </p:txBody>
      </p:sp>
      <p:sp>
        <p:nvSpPr>
          <p:cNvPr id="64" name="Rectangle 63"/>
          <p:cNvSpPr/>
          <p:nvPr/>
        </p:nvSpPr>
        <p:spPr>
          <a:xfrm>
            <a:off x="594360" y="5806440"/>
            <a:ext cx="11002975" cy="438912"/>
          </a:xfrm>
          <a:prstGeom prst="rect">
            <a:avLst/>
          </a:prstGeom>
          <a:solidFill>
            <a:srgbClr val="10213B"/>
          </a:solidFill>
          <a:ln>
            <a:noFill/>
          </a:ln>
          <a:effectLst/>
        </p:spPr>
        <p:txBody>
          <a:bodyPr rtlCol="0" anchor="ctr" lIns="73152" rIns="73152" tIns="36576" bIns="36576"/>
          <a:lstStyle/>
          <a:p>
            <a:pPr algn="ctr"/>
          </a:p>
        </p:txBody>
      </p:sp>
      <p:sp>
        <p:nvSpPr>
          <p:cNvPr id="65" name="TextBox 64"/>
          <p:cNvSpPr txBox="1"/>
          <p:nvPr/>
        </p:nvSpPr>
        <p:spPr>
          <a:xfrm>
            <a:off x="822960" y="5879592"/>
            <a:ext cx="10545775" cy="320040"/>
          </a:xfrm>
          <a:prstGeom prst="rect">
            <a:avLst/>
          </a:prstGeom>
          <a:noFill/>
        </p:spPr>
        <p:txBody>
          <a:bodyPr wrap="square" lIns="0" rIns="0" tIns="0" bIns="0" anchor="ctr"/>
          <a:lstStyle/>
          <a:p>
            <a:pPr algn="l">
              <a:lnSpc>
                <a:spcPct val="115000"/>
              </a:lnSpc>
              <a:spcAft>
                <a:spcPts val="0"/>
              </a:spcAft>
            </a:pPr>
            <a:r>
              <a:rPr sz="1150" b="0" i="0">
                <a:solidFill>
                  <a:srgbClr val="FFFFFF"/>
                </a:solidFill>
                <a:latin typeface="Inter"/>
              </a:rPr>
              <a:t>Venture funding is one route, not the goal. Many strong businesses grow from revenue — and Startup Roof is designed for them too.</a:t>
            </a:r>
          </a:p>
        </p:txBody>
      </p:sp>
      <p:sp>
        <p:nvSpPr>
          <p:cNvPr id="66" name="TextBox 6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67" name="TextBox 6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FOUNDERS WE DESIGN FOR</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Four example founders, four different next steps.</a:t>
            </a:r>
          </a:p>
        </p:txBody>
      </p:sp>
      <p:sp>
        <p:nvSpPr>
          <p:cNvPr id="4" name="Rounded Rectangle 3"/>
          <p:cNvSpPr/>
          <p:nvPr/>
        </p:nvSpPr>
        <p:spPr>
          <a:xfrm>
            <a:off x="9629363" y="402336"/>
            <a:ext cx="19679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ILLUSTRATIVE PERSONAS</a:t>
            </a:r>
          </a:p>
        </p:txBody>
      </p:sp>
      <p:sp>
        <p:nvSpPr>
          <p:cNvPr id="5" name="Rectangle 4"/>
          <p:cNvSpPr/>
          <p:nvPr/>
        </p:nvSpPr>
        <p:spPr>
          <a:xfrm>
            <a:off x="594360" y="1965960"/>
            <a:ext cx="2647873" cy="4251960"/>
          </a:xfrm>
          <a:prstGeom prst="rect">
            <a:avLst/>
          </a:prstGeom>
          <a:solidFill>
            <a:srgbClr val="EDF4FE"/>
          </a:solidFill>
          <a:ln>
            <a:noFill/>
          </a:ln>
          <a:effectLst/>
        </p:spPr>
        <p:txBody>
          <a:bodyPr rtlCol="0" anchor="ctr" lIns="73152" rIns="73152" tIns="36576" bIns="36576"/>
          <a:lstStyle/>
          <a:p>
            <a:pPr algn="ctr"/>
          </a:p>
        </p:txBody>
      </p:sp>
      <p:sp>
        <p:nvSpPr>
          <p:cNvPr id="6" name="Oval 5"/>
          <p:cNvSpPr/>
          <p:nvPr/>
        </p:nvSpPr>
        <p:spPr>
          <a:xfrm>
            <a:off x="982065" y="2194560"/>
            <a:ext cx="230428" cy="230428"/>
          </a:xfrm>
          <a:prstGeom prst="ellipse">
            <a:avLst/>
          </a:prstGeom>
          <a:solidFill>
            <a:srgbClr val="10213B"/>
          </a:solidFill>
          <a:ln>
            <a:noFill/>
          </a:ln>
          <a:effectLst/>
        </p:spPr>
        <p:txBody>
          <a:bodyPr rtlCol="0" anchor="ctr" lIns="73152" rIns="73152" tIns="36576" bIns="36576"/>
          <a:lstStyle/>
          <a:p>
            <a:pPr algn="ctr"/>
          </a:p>
        </p:txBody>
      </p:sp>
      <p:sp>
        <p:nvSpPr>
          <p:cNvPr id="7" name="Round Same Side Corner Rectangle 6"/>
          <p:cNvSpPr/>
          <p:nvPr/>
        </p:nvSpPr>
        <p:spPr>
          <a:xfrm>
            <a:off x="877824" y="2457907"/>
            <a:ext cx="438912" cy="274320"/>
          </a:xfrm>
          <a:prstGeom prst="round2SameRect">
            <a:avLst>
              <a:gd name="adj1" fmla="val 50000"/>
              <a:gd name="adj2" fmla="val 0"/>
            </a:avLst>
          </a:prstGeom>
          <a:solidFill>
            <a:srgbClr val="10213B"/>
          </a:solidFill>
          <a:ln>
            <a:noFill/>
          </a:ln>
          <a:effectLst/>
        </p:spPr>
        <p:txBody>
          <a:bodyPr rtlCol="0" anchor="ctr" lIns="73152" rIns="73152" tIns="36576" bIns="36576"/>
          <a:lstStyle/>
          <a:p>
            <a:pPr algn="ctr"/>
          </a:p>
        </p:txBody>
      </p:sp>
      <p:sp>
        <p:nvSpPr>
          <p:cNvPr id="8" name="TextBox 7"/>
          <p:cNvSpPr txBox="1"/>
          <p:nvPr/>
        </p:nvSpPr>
        <p:spPr>
          <a:xfrm>
            <a:off x="1554480" y="2212848"/>
            <a:ext cx="1596313" cy="548640"/>
          </a:xfrm>
          <a:prstGeom prst="rect">
            <a:avLst/>
          </a:prstGeom>
          <a:noFill/>
        </p:spPr>
        <p:txBody>
          <a:bodyPr wrap="square" lIns="0" rIns="0" tIns="0" bIns="0" anchor="t"/>
          <a:lstStyle/>
          <a:p>
            <a:pPr algn="l">
              <a:lnSpc>
                <a:spcPct val="110000"/>
              </a:lnSpc>
              <a:spcAft>
                <a:spcPts val="0"/>
              </a:spcAft>
            </a:pPr>
            <a:r>
              <a:rPr sz="1300" b="1" i="0">
                <a:solidFill>
                  <a:srgbClr val="10213B"/>
                </a:solidFill>
                <a:latin typeface="Inter"/>
              </a:rPr>
              <a:t>The aspiring founder</a:t>
            </a:r>
          </a:p>
        </p:txBody>
      </p:sp>
      <p:sp>
        <p:nvSpPr>
          <p:cNvPr id="9" name="Rounded Rectangle 8"/>
          <p:cNvSpPr/>
          <p:nvPr/>
        </p:nvSpPr>
        <p:spPr>
          <a:xfrm>
            <a:off x="1554480" y="2743200"/>
            <a:ext cx="776142" cy="256032"/>
          </a:xfrm>
          <a:prstGeom prst="roundRect">
            <a:avLst>
              <a:gd name="adj" fmla="val 50000"/>
            </a:avLst>
          </a:prstGeom>
          <a:solidFill>
            <a:srgbClr val="FFFFFF"/>
          </a:solidFill>
          <a:ln>
            <a:noFill/>
          </a:ln>
          <a:effectLst/>
        </p:spPr>
        <p:txBody>
          <a:bodyPr rtlCol="0" anchor="ctr" lIns="54864" rIns="54864" tIns="27432" bIns="27432" wrap="none"/>
          <a:lstStyle/>
          <a:p>
            <a:pPr algn="ctr">
              <a:lnSpc>
                <a:spcPct val="110000"/>
              </a:lnSpc>
              <a:spcAft>
                <a:spcPts val="0"/>
              </a:spcAft>
            </a:pPr>
            <a:r>
              <a:rPr sz="800" b="1" i="0" spc="80">
                <a:solidFill>
                  <a:srgbClr val="1765D1"/>
                </a:solidFill>
                <a:latin typeface="Inter"/>
              </a:rPr>
              <a:t>EXPLORE</a:t>
            </a:r>
          </a:p>
        </p:txBody>
      </p:sp>
      <p:cxnSp>
        <p:nvCxnSpPr>
          <p:cNvPr id="10" name="Connector 9"/>
          <p:cNvCxnSpPr/>
          <p:nvPr/>
        </p:nvCxnSpPr>
        <p:spPr>
          <a:xfrm>
            <a:off x="777240" y="3246120"/>
            <a:ext cx="2282113" cy="0"/>
          </a:xfrm>
          <a:prstGeom prst="line">
            <a:avLst/>
          </a:prstGeom>
          <a:ln w="12700">
            <a:solidFill>
              <a:srgbClr val="C4D8F6"/>
            </a:solidFill>
          </a:ln>
        </p:spPr>
      </p:cxnSp>
      <p:sp>
        <p:nvSpPr>
          <p:cNvPr id="11" name="TextBox 10"/>
          <p:cNvSpPr txBox="1"/>
          <p:nvPr/>
        </p:nvSpPr>
        <p:spPr>
          <a:xfrm>
            <a:off x="777240" y="333756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SITUATION</a:t>
            </a:r>
          </a:p>
        </p:txBody>
      </p:sp>
      <p:sp>
        <p:nvSpPr>
          <p:cNvPr id="12" name="TextBox 11"/>
          <p:cNvSpPr txBox="1"/>
          <p:nvPr/>
        </p:nvSpPr>
        <p:spPr>
          <a:xfrm>
            <a:off x="777240" y="3575303"/>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Has an idea and a full-time job; unsure where to start.</a:t>
            </a:r>
          </a:p>
        </p:txBody>
      </p:sp>
      <p:cxnSp>
        <p:nvCxnSpPr>
          <p:cNvPr id="13" name="Connector 12"/>
          <p:cNvCxnSpPr/>
          <p:nvPr/>
        </p:nvCxnSpPr>
        <p:spPr>
          <a:xfrm>
            <a:off x="777240" y="4206240"/>
            <a:ext cx="2282113" cy="0"/>
          </a:xfrm>
          <a:prstGeom prst="line">
            <a:avLst/>
          </a:prstGeom>
          <a:ln w="12700">
            <a:solidFill>
              <a:srgbClr val="C4D8F6"/>
            </a:solidFill>
          </a:ln>
        </p:spPr>
      </p:cxnSp>
      <p:sp>
        <p:nvSpPr>
          <p:cNvPr id="14" name="TextBox 13"/>
          <p:cNvSpPr txBox="1"/>
          <p:nvPr/>
        </p:nvSpPr>
        <p:spPr>
          <a:xfrm>
            <a:off x="777240" y="4297679"/>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WHAT THEY NEED</a:t>
            </a:r>
          </a:p>
        </p:txBody>
      </p:sp>
      <p:sp>
        <p:nvSpPr>
          <p:cNvPr id="15" name="TextBox 14"/>
          <p:cNvSpPr txBox="1"/>
          <p:nvPr/>
        </p:nvSpPr>
        <p:spPr>
          <a:xfrm>
            <a:off x="777240" y="453542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Clarity on whether the idea is worth testing.</a:t>
            </a:r>
          </a:p>
        </p:txBody>
      </p:sp>
      <p:cxnSp>
        <p:nvCxnSpPr>
          <p:cNvPr id="16" name="Connector 15"/>
          <p:cNvCxnSpPr/>
          <p:nvPr/>
        </p:nvCxnSpPr>
        <p:spPr>
          <a:xfrm>
            <a:off x="777240" y="5166360"/>
            <a:ext cx="2282113" cy="0"/>
          </a:xfrm>
          <a:prstGeom prst="line">
            <a:avLst/>
          </a:prstGeom>
          <a:ln w="12700">
            <a:solidFill>
              <a:srgbClr val="C4D8F6"/>
            </a:solidFill>
          </a:ln>
        </p:spPr>
      </p:cxnSp>
      <p:sp>
        <p:nvSpPr>
          <p:cNvPr id="17" name="TextBox 16"/>
          <p:cNvSpPr txBox="1"/>
          <p:nvPr/>
        </p:nvSpPr>
        <p:spPr>
          <a:xfrm>
            <a:off x="777240" y="525780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18" name="TextBox 17"/>
          <p:cNvSpPr txBox="1"/>
          <p:nvPr/>
        </p:nvSpPr>
        <p:spPr>
          <a:xfrm>
            <a:off x="777240" y="549554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Validation guide, peer group, first clinic.</a:t>
            </a:r>
          </a:p>
        </p:txBody>
      </p:sp>
      <p:sp>
        <p:nvSpPr>
          <p:cNvPr id="19" name="Rectangle 18"/>
          <p:cNvSpPr/>
          <p:nvPr/>
        </p:nvSpPr>
        <p:spPr>
          <a:xfrm>
            <a:off x="3379393" y="1965960"/>
            <a:ext cx="2647873" cy="4251960"/>
          </a:xfrm>
          <a:prstGeom prst="rect">
            <a:avLst/>
          </a:prstGeom>
          <a:solidFill>
            <a:srgbClr val="EDF4FE"/>
          </a:solidFill>
          <a:ln>
            <a:noFill/>
          </a:ln>
          <a:effectLst/>
        </p:spPr>
        <p:txBody>
          <a:bodyPr rtlCol="0" anchor="ctr" lIns="73152" rIns="73152" tIns="36576" bIns="36576"/>
          <a:lstStyle/>
          <a:p>
            <a:pPr algn="ctr"/>
          </a:p>
        </p:txBody>
      </p:sp>
      <p:sp>
        <p:nvSpPr>
          <p:cNvPr id="20" name="Oval 19"/>
          <p:cNvSpPr/>
          <p:nvPr/>
        </p:nvSpPr>
        <p:spPr>
          <a:xfrm>
            <a:off x="3767099" y="2194560"/>
            <a:ext cx="230428" cy="230428"/>
          </a:xfrm>
          <a:prstGeom prst="ellipse">
            <a:avLst/>
          </a:prstGeom>
          <a:solidFill>
            <a:srgbClr val="1765D1"/>
          </a:solidFill>
          <a:ln>
            <a:noFill/>
          </a:ln>
          <a:effectLst/>
        </p:spPr>
        <p:txBody>
          <a:bodyPr rtlCol="0" anchor="ctr" lIns="73152" rIns="73152" tIns="36576" bIns="36576"/>
          <a:lstStyle/>
          <a:p>
            <a:pPr algn="ctr"/>
          </a:p>
        </p:txBody>
      </p:sp>
      <p:sp>
        <p:nvSpPr>
          <p:cNvPr id="21" name="Round Same Side Corner Rectangle 20"/>
          <p:cNvSpPr/>
          <p:nvPr/>
        </p:nvSpPr>
        <p:spPr>
          <a:xfrm>
            <a:off x="3662857" y="2457907"/>
            <a:ext cx="438912" cy="274320"/>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22" name="TextBox 21"/>
          <p:cNvSpPr txBox="1"/>
          <p:nvPr/>
        </p:nvSpPr>
        <p:spPr>
          <a:xfrm>
            <a:off x="4339513" y="2212848"/>
            <a:ext cx="1596313" cy="548640"/>
          </a:xfrm>
          <a:prstGeom prst="rect">
            <a:avLst/>
          </a:prstGeom>
          <a:noFill/>
        </p:spPr>
        <p:txBody>
          <a:bodyPr wrap="square" lIns="0" rIns="0" tIns="0" bIns="0" anchor="t"/>
          <a:lstStyle/>
          <a:p>
            <a:pPr algn="l">
              <a:lnSpc>
                <a:spcPct val="110000"/>
              </a:lnSpc>
              <a:spcAft>
                <a:spcPts val="0"/>
              </a:spcAft>
            </a:pPr>
            <a:r>
              <a:rPr sz="1300" b="1" i="0">
                <a:solidFill>
                  <a:srgbClr val="10213B"/>
                </a:solidFill>
                <a:latin typeface="Inter"/>
              </a:rPr>
              <a:t>The first-time brand owner</a:t>
            </a:r>
          </a:p>
        </p:txBody>
      </p:sp>
      <p:sp>
        <p:nvSpPr>
          <p:cNvPr id="23" name="Rounded Rectangle 22"/>
          <p:cNvSpPr/>
          <p:nvPr/>
        </p:nvSpPr>
        <p:spPr>
          <a:xfrm>
            <a:off x="4339513" y="2743200"/>
            <a:ext cx="1421343" cy="256032"/>
          </a:xfrm>
          <a:prstGeom prst="roundRect">
            <a:avLst>
              <a:gd name="adj" fmla="val 50000"/>
            </a:avLst>
          </a:prstGeom>
          <a:solidFill>
            <a:srgbClr val="FFFFFF"/>
          </a:solidFill>
          <a:ln>
            <a:noFill/>
          </a:ln>
          <a:effectLst/>
        </p:spPr>
        <p:txBody>
          <a:bodyPr rtlCol="0" anchor="ctr" lIns="54864" rIns="54864" tIns="27432" bIns="27432" wrap="none"/>
          <a:lstStyle/>
          <a:p>
            <a:pPr algn="ctr">
              <a:lnSpc>
                <a:spcPct val="110000"/>
              </a:lnSpc>
              <a:spcAft>
                <a:spcPts val="0"/>
              </a:spcAft>
            </a:pPr>
            <a:r>
              <a:rPr sz="800" b="1" i="0" spc="80">
                <a:solidFill>
                  <a:srgbClr val="1765D1"/>
                </a:solidFill>
                <a:latin typeface="Inter"/>
              </a:rPr>
              <a:t>VALIDATE → BUILD</a:t>
            </a:r>
          </a:p>
        </p:txBody>
      </p:sp>
      <p:cxnSp>
        <p:nvCxnSpPr>
          <p:cNvPr id="24" name="Connector 23"/>
          <p:cNvCxnSpPr/>
          <p:nvPr/>
        </p:nvCxnSpPr>
        <p:spPr>
          <a:xfrm>
            <a:off x="3562273" y="3246120"/>
            <a:ext cx="2282114" cy="0"/>
          </a:xfrm>
          <a:prstGeom prst="line">
            <a:avLst/>
          </a:prstGeom>
          <a:ln w="12700">
            <a:solidFill>
              <a:srgbClr val="C4D8F6"/>
            </a:solidFill>
          </a:ln>
        </p:spPr>
      </p:cxnSp>
      <p:sp>
        <p:nvSpPr>
          <p:cNvPr id="25" name="TextBox 24"/>
          <p:cNvSpPr txBox="1"/>
          <p:nvPr/>
        </p:nvSpPr>
        <p:spPr>
          <a:xfrm>
            <a:off x="3562273" y="333756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SITUATION</a:t>
            </a:r>
          </a:p>
        </p:txBody>
      </p:sp>
      <p:sp>
        <p:nvSpPr>
          <p:cNvPr id="26" name="TextBox 25"/>
          <p:cNvSpPr txBox="1"/>
          <p:nvPr/>
        </p:nvSpPr>
        <p:spPr>
          <a:xfrm>
            <a:off x="3562273" y="3575303"/>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Launching a consumer product with savings.</a:t>
            </a:r>
          </a:p>
        </p:txBody>
      </p:sp>
      <p:cxnSp>
        <p:nvCxnSpPr>
          <p:cNvPr id="27" name="Connector 26"/>
          <p:cNvCxnSpPr/>
          <p:nvPr/>
        </p:nvCxnSpPr>
        <p:spPr>
          <a:xfrm>
            <a:off x="3562273" y="4206240"/>
            <a:ext cx="2282114" cy="0"/>
          </a:xfrm>
          <a:prstGeom prst="line">
            <a:avLst/>
          </a:prstGeom>
          <a:ln w="12700">
            <a:solidFill>
              <a:srgbClr val="C4D8F6"/>
            </a:solidFill>
          </a:ln>
        </p:spPr>
      </p:cxnSp>
      <p:sp>
        <p:nvSpPr>
          <p:cNvPr id="28" name="TextBox 27"/>
          <p:cNvSpPr txBox="1"/>
          <p:nvPr/>
        </p:nvSpPr>
        <p:spPr>
          <a:xfrm>
            <a:off x="3562273" y="4297679"/>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WHAT THEY NEED</a:t>
            </a:r>
          </a:p>
        </p:txBody>
      </p:sp>
      <p:sp>
        <p:nvSpPr>
          <p:cNvPr id="29" name="TextBox 28"/>
          <p:cNvSpPr txBox="1"/>
          <p:nvPr/>
        </p:nvSpPr>
        <p:spPr>
          <a:xfrm>
            <a:off x="3562273" y="453542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Evidence that customers will buy at a viable margin.</a:t>
            </a:r>
          </a:p>
        </p:txBody>
      </p:sp>
      <p:cxnSp>
        <p:nvCxnSpPr>
          <p:cNvPr id="30" name="Connector 29"/>
          <p:cNvCxnSpPr/>
          <p:nvPr/>
        </p:nvCxnSpPr>
        <p:spPr>
          <a:xfrm>
            <a:off x="3562273" y="5166360"/>
            <a:ext cx="2282114" cy="0"/>
          </a:xfrm>
          <a:prstGeom prst="line">
            <a:avLst/>
          </a:prstGeom>
          <a:ln w="12700">
            <a:solidFill>
              <a:srgbClr val="C4D8F6"/>
            </a:solidFill>
          </a:ln>
        </p:spPr>
      </p:cxnSp>
      <p:sp>
        <p:nvSpPr>
          <p:cNvPr id="31" name="TextBox 30"/>
          <p:cNvSpPr txBox="1"/>
          <p:nvPr/>
        </p:nvSpPr>
        <p:spPr>
          <a:xfrm>
            <a:off x="3562273" y="525780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32" name="TextBox 31"/>
          <p:cNvSpPr txBox="1"/>
          <p:nvPr/>
        </p:nvSpPr>
        <p:spPr>
          <a:xfrm>
            <a:off x="3562273" y="549554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Pricing session, sourcing specialist, retail mentor.</a:t>
            </a:r>
          </a:p>
        </p:txBody>
      </p:sp>
      <p:sp>
        <p:nvSpPr>
          <p:cNvPr id="33" name="Rectangle 32"/>
          <p:cNvSpPr/>
          <p:nvPr/>
        </p:nvSpPr>
        <p:spPr>
          <a:xfrm>
            <a:off x="6164427" y="1965960"/>
            <a:ext cx="2647873" cy="4251960"/>
          </a:xfrm>
          <a:prstGeom prst="rect">
            <a:avLst/>
          </a:prstGeom>
          <a:solidFill>
            <a:srgbClr val="EDF4FE"/>
          </a:solidFill>
          <a:ln>
            <a:noFill/>
          </a:ln>
          <a:effectLst/>
        </p:spPr>
        <p:txBody>
          <a:bodyPr rtlCol="0" anchor="ctr" lIns="73152" rIns="73152" tIns="36576" bIns="36576"/>
          <a:lstStyle/>
          <a:p>
            <a:pPr algn="ctr"/>
          </a:p>
        </p:txBody>
      </p:sp>
      <p:sp>
        <p:nvSpPr>
          <p:cNvPr id="34" name="Oval 33"/>
          <p:cNvSpPr/>
          <p:nvPr/>
        </p:nvSpPr>
        <p:spPr>
          <a:xfrm>
            <a:off x="6552133" y="2194560"/>
            <a:ext cx="230428" cy="230428"/>
          </a:xfrm>
          <a:prstGeom prst="ellipse">
            <a:avLst/>
          </a:prstGeom>
          <a:solidFill>
            <a:srgbClr val="1F4A85"/>
          </a:solidFill>
          <a:ln>
            <a:noFill/>
          </a:ln>
          <a:effectLst/>
        </p:spPr>
        <p:txBody>
          <a:bodyPr rtlCol="0" anchor="ctr" lIns="73152" rIns="73152" tIns="36576" bIns="36576"/>
          <a:lstStyle/>
          <a:p>
            <a:pPr algn="ctr"/>
          </a:p>
        </p:txBody>
      </p:sp>
      <p:sp>
        <p:nvSpPr>
          <p:cNvPr id="35" name="Round Same Side Corner Rectangle 34"/>
          <p:cNvSpPr/>
          <p:nvPr/>
        </p:nvSpPr>
        <p:spPr>
          <a:xfrm>
            <a:off x="6447891" y="2457907"/>
            <a:ext cx="438912" cy="274320"/>
          </a:xfrm>
          <a:prstGeom prst="round2SameRect">
            <a:avLst>
              <a:gd name="adj1" fmla="val 50000"/>
              <a:gd name="adj2" fmla="val 0"/>
            </a:avLst>
          </a:prstGeom>
          <a:solidFill>
            <a:srgbClr val="1F4A85"/>
          </a:solidFill>
          <a:ln>
            <a:noFill/>
          </a:ln>
          <a:effectLst/>
        </p:spPr>
        <p:txBody>
          <a:bodyPr rtlCol="0" anchor="ctr" lIns="73152" rIns="73152" tIns="36576" bIns="36576"/>
          <a:lstStyle/>
          <a:p>
            <a:pPr algn="ctr"/>
          </a:p>
        </p:txBody>
      </p:sp>
      <p:sp>
        <p:nvSpPr>
          <p:cNvPr id="36" name="TextBox 35"/>
          <p:cNvSpPr txBox="1"/>
          <p:nvPr/>
        </p:nvSpPr>
        <p:spPr>
          <a:xfrm>
            <a:off x="7124547" y="2212848"/>
            <a:ext cx="1596313" cy="548640"/>
          </a:xfrm>
          <a:prstGeom prst="rect">
            <a:avLst/>
          </a:prstGeom>
          <a:noFill/>
        </p:spPr>
        <p:txBody>
          <a:bodyPr wrap="square" lIns="0" rIns="0" tIns="0" bIns="0" anchor="t"/>
          <a:lstStyle/>
          <a:p>
            <a:pPr algn="l">
              <a:lnSpc>
                <a:spcPct val="110000"/>
              </a:lnSpc>
              <a:spcAft>
                <a:spcPts val="0"/>
              </a:spcAft>
            </a:pPr>
            <a:r>
              <a:rPr sz="1300" b="1" i="0">
                <a:solidFill>
                  <a:srgbClr val="10213B"/>
                </a:solidFill>
                <a:latin typeface="Inter"/>
              </a:rPr>
              <a:t>The tech founder</a:t>
            </a:r>
          </a:p>
        </p:txBody>
      </p:sp>
      <p:sp>
        <p:nvSpPr>
          <p:cNvPr id="37" name="Rounded Rectangle 36"/>
          <p:cNvSpPr/>
          <p:nvPr/>
        </p:nvSpPr>
        <p:spPr>
          <a:xfrm>
            <a:off x="7124547" y="2743200"/>
            <a:ext cx="704453" cy="256032"/>
          </a:xfrm>
          <a:prstGeom prst="roundRect">
            <a:avLst>
              <a:gd name="adj" fmla="val 50000"/>
            </a:avLst>
          </a:prstGeom>
          <a:solidFill>
            <a:srgbClr val="FFFFFF"/>
          </a:solidFill>
          <a:ln>
            <a:noFill/>
          </a:ln>
          <a:effectLst/>
        </p:spPr>
        <p:txBody>
          <a:bodyPr rtlCol="0" anchor="ctr" lIns="54864" rIns="54864" tIns="27432" bIns="27432" wrap="none"/>
          <a:lstStyle/>
          <a:p>
            <a:pPr algn="ctr">
              <a:lnSpc>
                <a:spcPct val="110000"/>
              </a:lnSpc>
              <a:spcAft>
                <a:spcPts val="0"/>
              </a:spcAft>
            </a:pPr>
            <a:r>
              <a:rPr sz="800" b="1" i="0" spc="80">
                <a:solidFill>
                  <a:srgbClr val="1765D1"/>
                </a:solidFill>
                <a:latin typeface="Inter"/>
              </a:rPr>
              <a:t>LAUNCH</a:t>
            </a:r>
          </a:p>
        </p:txBody>
      </p:sp>
      <p:cxnSp>
        <p:nvCxnSpPr>
          <p:cNvPr id="38" name="Connector 37"/>
          <p:cNvCxnSpPr/>
          <p:nvPr/>
        </p:nvCxnSpPr>
        <p:spPr>
          <a:xfrm>
            <a:off x="6347307" y="3246120"/>
            <a:ext cx="2282114" cy="0"/>
          </a:xfrm>
          <a:prstGeom prst="line">
            <a:avLst/>
          </a:prstGeom>
          <a:ln w="12700">
            <a:solidFill>
              <a:srgbClr val="C4D8F6"/>
            </a:solidFill>
          </a:ln>
        </p:spPr>
      </p:cxnSp>
      <p:sp>
        <p:nvSpPr>
          <p:cNvPr id="39" name="TextBox 38"/>
          <p:cNvSpPr txBox="1"/>
          <p:nvPr/>
        </p:nvSpPr>
        <p:spPr>
          <a:xfrm>
            <a:off x="6347307" y="333756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SITUATION</a:t>
            </a:r>
          </a:p>
        </p:txBody>
      </p:sp>
      <p:sp>
        <p:nvSpPr>
          <p:cNvPr id="40" name="TextBox 39"/>
          <p:cNvSpPr txBox="1"/>
          <p:nvPr/>
        </p:nvSpPr>
        <p:spPr>
          <a:xfrm>
            <a:off x="6347307" y="3575303"/>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Has a product and early users; needs traction.</a:t>
            </a:r>
          </a:p>
        </p:txBody>
      </p:sp>
      <p:cxnSp>
        <p:nvCxnSpPr>
          <p:cNvPr id="41" name="Connector 40"/>
          <p:cNvCxnSpPr/>
          <p:nvPr/>
        </p:nvCxnSpPr>
        <p:spPr>
          <a:xfrm>
            <a:off x="6347307" y="4206240"/>
            <a:ext cx="2282114" cy="0"/>
          </a:xfrm>
          <a:prstGeom prst="line">
            <a:avLst/>
          </a:prstGeom>
          <a:ln w="12700">
            <a:solidFill>
              <a:srgbClr val="C4D8F6"/>
            </a:solidFill>
          </a:ln>
        </p:spPr>
      </p:cxnSp>
      <p:sp>
        <p:nvSpPr>
          <p:cNvPr id="42" name="TextBox 41"/>
          <p:cNvSpPr txBox="1"/>
          <p:nvPr/>
        </p:nvSpPr>
        <p:spPr>
          <a:xfrm>
            <a:off x="6347307" y="4297679"/>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WHAT THEY NEED</a:t>
            </a:r>
          </a:p>
        </p:txBody>
      </p:sp>
      <p:sp>
        <p:nvSpPr>
          <p:cNvPr id="43" name="TextBox 42"/>
          <p:cNvSpPr txBox="1"/>
          <p:nvPr/>
        </p:nvSpPr>
        <p:spPr>
          <a:xfrm>
            <a:off x="6347307" y="453542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A repeatable way to acquire paying customers.</a:t>
            </a:r>
          </a:p>
        </p:txBody>
      </p:sp>
      <p:cxnSp>
        <p:nvCxnSpPr>
          <p:cNvPr id="44" name="Connector 43"/>
          <p:cNvCxnSpPr/>
          <p:nvPr/>
        </p:nvCxnSpPr>
        <p:spPr>
          <a:xfrm>
            <a:off x="6347307" y="5166360"/>
            <a:ext cx="2282114" cy="0"/>
          </a:xfrm>
          <a:prstGeom prst="line">
            <a:avLst/>
          </a:prstGeom>
          <a:ln w="12700">
            <a:solidFill>
              <a:srgbClr val="C4D8F6"/>
            </a:solidFill>
          </a:ln>
        </p:spPr>
      </p:cxnSp>
      <p:sp>
        <p:nvSpPr>
          <p:cNvPr id="45" name="TextBox 44"/>
          <p:cNvSpPr txBox="1"/>
          <p:nvPr/>
        </p:nvSpPr>
        <p:spPr>
          <a:xfrm>
            <a:off x="6347307" y="525780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46" name="TextBox 45"/>
          <p:cNvSpPr txBox="1"/>
          <p:nvPr/>
        </p:nvSpPr>
        <p:spPr>
          <a:xfrm>
            <a:off x="6347307" y="549554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GTM sprint, customer-acquisition mentor, tool credits.</a:t>
            </a:r>
          </a:p>
        </p:txBody>
      </p:sp>
      <p:sp>
        <p:nvSpPr>
          <p:cNvPr id="47" name="Rectangle 46"/>
          <p:cNvSpPr/>
          <p:nvPr/>
        </p:nvSpPr>
        <p:spPr>
          <a:xfrm>
            <a:off x="8949461" y="1965960"/>
            <a:ext cx="2647873" cy="4251960"/>
          </a:xfrm>
          <a:prstGeom prst="rect">
            <a:avLst/>
          </a:prstGeom>
          <a:solidFill>
            <a:srgbClr val="EDF4FE"/>
          </a:solidFill>
          <a:ln>
            <a:noFill/>
          </a:ln>
          <a:effectLst/>
        </p:spPr>
        <p:txBody>
          <a:bodyPr rtlCol="0" anchor="ctr" lIns="73152" rIns="73152" tIns="36576" bIns="36576"/>
          <a:lstStyle/>
          <a:p>
            <a:pPr algn="ctr"/>
          </a:p>
        </p:txBody>
      </p:sp>
      <p:sp>
        <p:nvSpPr>
          <p:cNvPr id="48" name="Oval 47"/>
          <p:cNvSpPr/>
          <p:nvPr/>
        </p:nvSpPr>
        <p:spPr>
          <a:xfrm>
            <a:off x="9337167" y="2194560"/>
            <a:ext cx="230428" cy="230428"/>
          </a:xfrm>
          <a:prstGeom prst="ellipse">
            <a:avLst/>
          </a:prstGeom>
          <a:solidFill>
            <a:srgbClr val="17407F"/>
          </a:solidFill>
          <a:ln>
            <a:noFill/>
          </a:ln>
          <a:effectLst/>
        </p:spPr>
        <p:txBody>
          <a:bodyPr rtlCol="0" anchor="ctr" lIns="73152" rIns="73152" tIns="36576" bIns="36576"/>
          <a:lstStyle/>
          <a:p>
            <a:pPr algn="ctr"/>
          </a:p>
        </p:txBody>
      </p:sp>
      <p:sp>
        <p:nvSpPr>
          <p:cNvPr id="49" name="Round Same Side Corner Rectangle 48"/>
          <p:cNvSpPr/>
          <p:nvPr/>
        </p:nvSpPr>
        <p:spPr>
          <a:xfrm>
            <a:off x="9232925" y="2457907"/>
            <a:ext cx="438912" cy="274320"/>
          </a:xfrm>
          <a:prstGeom prst="round2SameRect">
            <a:avLst>
              <a:gd name="adj1" fmla="val 50000"/>
              <a:gd name="adj2" fmla="val 0"/>
            </a:avLst>
          </a:prstGeom>
          <a:solidFill>
            <a:srgbClr val="17407F"/>
          </a:solidFill>
          <a:ln>
            <a:noFill/>
          </a:ln>
          <a:effectLst/>
        </p:spPr>
        <p:txBody>
          <a:bodyPr rtlCol="0" anchor="ctr" lIns="73152" rIns="73152" tIns="36576" bIns="36576"/>
          <a:lstStyle/>
          <a:p>
            <a:pPr algn="ctr"/>
          </a:p>
        </p:txBody>
      </p:sp>
      <p:sp>
        <p:nvSpPr>
          <p:cNvPr id="50" name="TextBox 49"/>
          <p:cNvSpPr txBox="1"/>
          <p:nvPr/>
        </p:nvSpPr>
        <p:spPr>
          <a:xfrm>
            <a:off x="9909581" y="2212848"/>
            <a:ext cx="1596313" cy="548640"/>
          </a:xfrm>
          <a:prstGeom prst="rect">
            <a:avLst/>
          </a:prstGeom>
          <a:noFill/>
        </p:spPr>
        <p:txBody>
          <a:bodyPr wrap="square" lIns="0" rIns="0" tIns="0" bIns="0" anchor="t"/>
          <a:lstStyle/>
          <a:p>
            <a:pPr algn="l">
              <a:lnSpc>
                <a:spcPct val="110000"/>
              </a:lnSpc>
              <a:spcAft>
                <a:spcPts val="0"/>
              </a:spcAft>
            </a:pPr>
            <a:r>
              <a:rPr sz="1300" b="1" i="0">
                <a:solidFill>
                  <a:srgbClr val="10213B"/>
                </a:solidFill>
                <a:latin typeface="Inter"/>
              </a:rPr>
              <a:t>The growing service business</a:t>
            </a:r>
          </a:p>
        </p:txBody>
      </p:sp>
      <p:sp>
        <p:nvSpPr>
          <p:cNvPr id="51" name="Rounded Rectangle 50"/>
          <p:cNvSpPr/>
          <p:nvPr/>
        </p:nvSpPr>
        <p:spPr>
          <a:xfrm>
            <a:off x="9909581" y="2743200"/>
            <a:ext cx="561075" cy="256032"/>
          </a:xfrm>
          <a:prstGeom prst="roundRect">
            <a:avLst>
              <a:gd name="adj" fmla="val 50000"/>
            </a:avLst>
          </a:prstGeom>
          <a:solidFill>
            <a:srgbClr val="FFFFFF"/>
          </a:solidFill>
          <a:ln>
            <a:noFill/>
          </a:ln>
          <a:effectLst/>
        </p:spPr>
        <p:txBody>
          <a:bodyPr rtlCol="0" anchor="ctr" lIns="54864" rIns="54864" tIns="27432" bIns="27432" wrap="none"/>
          <a:lstStyle/>
          <a:p>
            <a:pPr algn="ctr">
              <a:lnSpc>
                <a:spcPct val="110000"/>
              </a:lnSpc>
              <a:spcAft>
                <a:spcPts val="0"/>
              </a:spcAft>
            </a:pPr>
            <a:r>
              <a:rPr sz="800" b="1" i="0" spc="80">
                <a:solidFill>
                  <a:srgbClr val="1765D1"/>
                </a:solidFill>
                <a:latin typeface="Inter"/>
              </a:rPr>
              <a:t>GROW</a:t>
            </a:r>
          </a:p>
        </p:txBody>
      </p:sp>
      <p:cxnSp>
        <p:nvCxnSpPr>
          <p:cNvPr id="52" name="Connector 51"/>
          <p:cNvCxnSpPr/>
          <p:nvPr/>
        </p:nvCxnSpPr>
        <p:spPr>
          <a:xfrm>
            <a:off x="9132341" y="3246120"/>
            <a:ext cx="2282114" cy="0"/>
          </a:xfrm>
          <a:prstGeom prst="line">
            <a:avLst/>
          </a:prstGeom>
          <a:ln w="12700">
            <a:solidFill>
              <a:srgbClr val="C4D8F6"/>
            </a:solidFill>
          </a:ln>
        </p:spPr>
      </p:cxnSp>
      <p:sp>
        <p:nvSpPr>
          <p:cNvPr id="53" name="TextBox 52"/>
          <p:cNvSpPr txBox="1"/>
          <p:nvPr/>
        </p:nvSpPr>
        <p:spPr>
          <a:xfrm>
            <a:off x="9132341" y="333756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SITUATION</a:t>
            </a:r>
          </a:p>
        </p:txBody>
      </p:sp>
      <p:sp>
        <p:nvSpPr>
          <p:cNvPr id="54" name="TextBox 53"/>
          <p:cNvSpPr txBox="1"/>
          <p:nvPr/>
        </p:nvSpPr>
        <p:spPr>
          <a:xfrm>
            <a:off x="9132341" y="3575303"/>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Profitable agency, stuck at founder capacity.</a:t>
            </a:r>
          </a:p>
        </p:txBody>
      </p:sp>
      <p:cxnSp>
        <p:nvCxnSpPr>
          <p:cNvPr id="55" name="Connector 54"/>
          <p:cNvCxnSpPr/>
          <p:nvPr/>
        </p:nvCxnSpPr>
        <p:spPr>
          <a:xfrm>
            <a:off x="9132341" y="4206240"/>
            <a:ext cx="2282114" cy="0"/>
          </a:xfrm>
          <a:prstGeom prst="line">
            <a:avLst/>
          </a:prstGeom>
          <a:ln w="12700">
            <a:solidFill>
              <a:srgbClr val="C4D8F6"/>
            </a:solidFill>
          </a:ln>
        </p:spPr>
      </p:cxnSp>
      <p:sp>
        <p:nvSpPr>
          <p:cNvPr id="56" name="TextBox 55"/>
          <p:cNvSpPr txBox="1"/>
          <p:nvPr/>
        </p:nvSpPr>
        <p:spPr>
          <a:xfrm>
            <a:off x="9132341" y="4297679"/>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WHAT THEY NEED</a:t>
            </a:r>
          </a:p>
        </p:txBody>
      </p:sp>
      <p:sp>
        <p:nvSpPr>
          <p:cNvPr id="57" name="TextBox 56"/>
          <p:cNvSpPr txBox="1"/>
          <p:nvPr/>
        </p:nvSpPr>
        <p:spPr>
          <a:xfrm>
            <a:off x="9132341" y="453542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Systems, hiring and productised offers.</a:t>
            </a:r>
          </a:p>
        </p:txBody>
      </p:sp>
      <p:cxnSp>
        <p:nvCxnSpPr>
          <p:cNvPr id="58" name="Connector 57"/>
          <p:cNvCxnSpPr/>
          <p:nvPr/>
        </p:nvCxnSpPr>
        <p:spPr>
          <a:xfrm>
            <a:off x="9132341" y="5166360"/>
            <a:ext cx="2282114" cy="0"/>
          </a:xfrm>
          <a:prstGeom prst="line">
            <a:avLst/>
          </a:prstGeom>
          <a:ln w="12700">
            <a:solidFill>
              <a:srgbClr val="C4D8F6"/>
            </a:solidFill>
          </a:ln>
        </p:spPr>
      </p:cxnSp>
      <p:sp>
        <p:nvSpPr>
          <p:cNvPr id="59" name="TextBox 58"/>
          <p:cNvSpPr txBox="1"/>
          <p:nvPr/>
        </p:nvSpPr>
        <p:spPr>
          <a:xfrm>
            <a:off x="9132341" y="5257800"/>
            <a:ext cx="2282113"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HOW STARTUP ROOF HELPS</a:t>
            </a:r>
          </a:p>
        </p:txBody>
      </p:sp>
      <p:sp>
        <p:nvSpPr>
          <p:cNvPr id="60" name="TextBox 59"/>
          <p:cNvSpPr txBox="1"/>
          <p:nvPr/>
        </p:nvSpPr>
        <p:spPr>
          <a:xfrm>
            <a:off x="9132341" y="5495544"/>
            <a:ext cx="2282113" cy="64008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Operations specialist, automation, peer group.</a:t>
            </a:r>
          </a:p>
        </p:txBody>
      </p:sp>
      <p:sp>
        <p:nvSpPr>
          <p:cNvPr id="61" name="TextBox 6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62" name="TextBox 6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HOW VALUE FLOWS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Everyone gives something useful and gets something useful.</a:t>
            </a:r>
          </a:p>
        </p:txBody>
      </p:sp>
      <p:sp>
        <p:nvSpPr>
          <p:cNvPr id="4" name="Oval 3"/>
          <p:cNvSpPr/>
          <p:nvPr/>
        </p:nvSpPr>
        <p:spPr>
          <a:xfrm>
            <a:off x="5227167" y="3200400"/>
            <a:ext cx="1737360" cy="173736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Founder</a:t>
            </a:r>
          </a:p>
          <a:p>
            <a:pPr algn="ctr">
              <a:lnSpc>
                <a:spcPct val="110000"/>
              </a:lnSpc>
              <a:spcAft>
                <a:spcPts val="0"/>
              </a:spcAft>
            </a:pPr>
            <a:r>
              <a:rPr sz="1000" b="0" i="0">
                <a:solidFill>
                  <a:srgbClr val="C9D6E8"/>
                </a:solidFill>
                <a:latin typeface="Inter"/>
              </a:rPr>
              <a:t>at the centre</a:t>
            </a:r>
          </a:p>
        </p:txBody>
      </p:sp>
      <p:sp>
        <p:nvSpPr>
          <p:cNvPr id="5" name="Rectangle 4"/>
          <p:cNvSpPr/>
          <p:nvPr/>
        </p:nvSpPr>
        <p:spPr>
          <a:xfrm>
            <a:off x="1935327" y="2103120"/>
            <a:ext cx="2377440" cy="1005840"/>
          </a:xfrm>
          <a:prstGeom prst="rect">
            <a:avLst/>
          </a:prstGeom>
          <a:solidFill>
            <a:srgbClr val="EDF4FE"/>
          </a:solidFill>
          <a:ln>
            <a:noFill/>
          </a:ln>
          <a:effectLst/>
        </p:spPr>
        <p:txBody>
          <a:bodyPr rtlCol="0" anchor="ctr" lIns="73152" rIns="73152" tIns="36576" bIns="36576"/>
          <a:lstStyle/>
          <a:p>
            <a:pPr algn="ctr"/>
          </a:p>
        </p:txBody>
      </p:sp>
      <p:sp>
        <p:nvSpPr>
          <p:cNvPr id="6" name="TextBox 5"/>
          <p:cNvSpPr txBox="1"/>
          <p:nvPr/>
        </p:nvSpPr>
        <p:spPr>
          <a:xfrm>
            <a:off x="2099919" y="219456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Mentors and specialists</a:t>
            </a:r>
          </a:p>
        </p:txBody>
      </p:sp>
      <p:sp>
        <p:nvSpPr>
          <p:cNvPr id="7" name="TextBox 6"/>
          <p:cNvSpPr txBox="1"/>
          <p:nvPr/>
        </p:nvSpPr>
        <p:spPr>
          <a:xfrm>
            <a:off x="2099919" y="248716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experience and judgement</a:t>
            </a:r>
          </a:p>
          <a:p>
            <a:pPr algn="l">
              <a:lnSpc>
                <a:spcPct val="115000"/>
              </a:lnSpc>
              <a:spcAft>
                <a:spcPts val="0"/>
              </a:spcAft>
            </a:pPr>
            <a:r>
              <a:rPr sz="950" b="1" i="0">
                <a:solidFill>
                  <a:srgbClr val="1765D1"/>
                </a:solidFill>
                <a:latin typeface="Inter"/>
              </a:rPr>
              <a:t>Get: purposeful impact, visibility, fit</a:t>
            </a:r>
          </a:p>
        </p:txBody>
      </p:sp>
      <p:cxnSp>
        <p:nvCxnSpPr>
          <p:cNvPr id="8" name="Connector 7"/>
          <p:cNvCxnSpPr/>
          <p:nvPr/>
        </p:nvCxnSpPr>
        <p:spPr>
          <a:xfrm>
            <a:off x="4312767" y="2606039"/>
            <a:ext cx="1001268" cy="950977"/>
          </a:xfrm>
          <a:prstGeom prst="line">
            <a:avLst/>
          </a:prstGeom>
          <a:ln w="15875">
            <a:solidFill>
              <a:srgbClr val="B8CFEE"/>
            </a:solidFill>
          </a:ln>
        </p:spPr>
      </p:cxnSp>
      <p:sp>
        <p:nvSpPr>
          <p:cNvPr id="9" name="Rectangle 8"/>
          <p:cNvSpPr/>
          <p:nvPr/>
        </p:nvSpPr>
        <p:spPr>
          <a:xfrm>
            <a:off x="7878927" y="2103120"/>
            <a:ext cx="2377440" cy="1005840"/>
          </a:xfrm>
          <a:prstGeom prst="rect">
            <a:avLst/>
          </a:prstGeom>
          <a:solidFill>
            <a:srgbClr val="EDF4FE"/>
          </a:solidFill>
          <a:ln>
            <a:noFill/>
          </a:ln>
          <a:effectLst/>
        </p:spPr>
        <p:txBody>
          <a:bodyPr rtlCol="0" anchor="ctr" lIns="73152" rIns="73152" tIns="36576" bIns="36576"/>
          <a:lstStyle/>
          <a:p>
            <a:pPr algn="ctr"/>
          </a:p>
        </p:txBody>
      </p:sp>
      <p:sp>
        <p:nvSpPr>
          <p:cNvPr id="10" name="TextBox 9"/>
          <p:cNvSpPr txBox="1"/>
          <p:nvPr/>
        </p:nvSpPr>
        <p:spPr>
          <a:xfrm>
            <a:off x="8043519" y="219456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Investors and angels</a:t>
            </a:r>
          </a:p>
        </p:txBody>
      </p:sp>
      <p:sp>
        <p:nvSpPr>
          <p:cNvPr id="11" name="TextBox 10"/>
          <p:cNvSpPr txBox="1"/>
          <p:nvPr/>
        </p:nvSpPr>
        <p:spPr>
          <a:xfrm>
            <a:off x="8043519" y="248716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readiness feedback, sessions</a:t>
            </a:r>
          </a:p>
          <a:p>
            <a:pPr algn="l">
              <a:lnSpc>
                <a:spcPct val="115000"/>
              </a:lnSpc>
              <a:spcAft>
                <a:spcPts val="0"/>
              </a:spcAft>
            </a:pPr>
            <a:r>
              <a:rPr sz="950" b="1" i="0">
                <a:solidFill>
                  <a:srgbClr val="1765D1"/>
                </a:solidFill>
                <a:latin typeface="Inter"/>
              </a:rPr>
              <a:t>Get: better-prepared founders</a:t>
            </a:r>
          </a:p>
        </p:txBody>
      </p:sp>
      <p:cxnSp>
        <p:nvCxnSpPr>
          <p:cNvPr id="12" name="Connector 11"/>
          <p:cNvCxnSpPr/>
          <p:nvPr/>
        </p:nvCxnSpPr>
        <p:spPr>
          <a:xfrm flipH="1">
            <a:off x="6877659" y="2606039"/>
            <a:ext cx="1001268" cy="950977"/>
          </a:xfrm>
          <a:prstGeom prst="line">
            <a:avLst/>
          </a:prstGeom>
          <a:ln w="15875">
            <a:solidFill>
              <a:srgbClr val="B8CFEE"/>
            </a:solidFill>
          </a:ln>
        </p:spPr>
      </p:cxnSp>
      <p:sp>
        <p:nvSpPr>
          <p:cNvPr id="13" name="Rectangle 12"/>
          <p:cNvSpPr/>
          <p:nvPr/>
        </p:nvSpPr>
        <p:spPr>
          <a:xfrm>
            <a:off x="1935327" y="3611880"/>
            <a:ext cx="2377440" cy="1005840"/>
          </a:xfrm>
          <a:prstGeom prst="rect">
            <a:avLst/>
          </a:prstGeom>
          <a:solidFill>
            <a:srgbClr val="EDF4FE"/>
          </a:solidFill>
          <a:ln>
            <a:noFill/>
          </a:ln>
          <a:effectLst/>
        </p:spPr>
        <p:txBody>
          <a:bodyPr rtlCol="0" anchor="ctr" lIns="73152" rIns="73152" tIns="36576" bIns="36576"/>
          <a:lstStyle/>
          <a:p>
            <a:pPr algn="ctr"/>
          </a:p>
        </p:txBody>
      </p:sp>
      <p:sp>
        <p:nvSpPr>
          <p:cNvPr id="14" name="TextBox 13"/>
          <p:cNvSpPr txBox="1"/>
          <p:nvPr/>
        </p:nvSpPr>
        <p:spPr>
          <a:xfrm>
            <a:off x="2099919" y="370332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Universities and incubators</a:t>
            </a:r>
          </a:p>
        </p:txBody>
      </p:sp>
      <p:sp>
        <p:nvSpPr>
          <p:cNvPr id="15" name="TextBox 14"/>
          <p:cNvSpPr txBox="1"/>
          <p:nvPr/>
        </p:nvSpPr>
        <p:spPr>
          <a:xfrm>
            <a:off x="2099919" y="399592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talent, programmes, research</a:t>
            </a:r>
          </a:p>
          <a:p>
            <a:pPr algn="l">
              <a:lnSpc>
                <a:spcPct val="115000"/>
              </a:lnSpc>
              <a:spcAft>
                <a:spcPts val="0"/>
              </a:spcAft>
            </a:pPr>
            <a:r>
              <a:rPr sz="950" b="1" i="0">
                <a:solidFill>
                  <a:srgbClr val="1765D1"/>
                </a:solidFill>
                <a:latin typeface="Inter"/>
              </a:rPr>
              <a:t>Get: continuity for student founders</a:t>
            </a:r>
          </a:p>
        </p:txBody>
      </p:sp>
      <p:cxnSp>
        <p:nvCxnSpPr>
          <p:cNvPr id="16" name="Connector 15"/>
          <p:cNvCxnSpPr/>
          <p:nvPr/>
        </p:nvCxnSpPr>
        <p:spPr>
          <a:xfrm flipV="1">
            <a:off x="4312767" y="4085082"/>
            <a:ext cx="1001268" cy="29718"/>
          </a:xfrm>
          <a:prstGeom prst="line">
            <a:avLst/>
          </a:prstGeom>
          <a:ln w="15875">
            <a:solidFill>
              <a:srgbClr val="B8CFEE"/>
            </a:solidFill>
          </a:ln>
        </p:spPr>
      </p:cxnSp>
      <p:sp>
        <p:nvSpPr>
          <p:cNvPr id="17" name="Rectangle 16"/>
          <p:cNvSpPr/>
          <p:nvPr/>
        </p:nvSpPr>
        <p:spPr>
          <a:xfrm>
            <a:off x="7878927" y="3611880"/>
            <a:ext cx="2377440" cy="1005840"/>
          </a:xfrm>
          <a:prstGeom prst="rect">
            <a:avLst/>
          </a:prstGeom>
          <a:solidFill>
            <a:srgbClr val="EDF4FE"/>
          </a:solidFill>
          <a:ln>
            <a:noFill/>
          </a:ln>
          <a:effectLst/>
        </p:spPr>
        <p:txBody>
          <a:bodyPr rtlCol="0" anchor="ctr" lIns="73152" rIns="73152" tIns="36576" bIns="36576"/>
          <a:lstStyle/>
          <a:p>
            <a:pPr algn="ctr"/>
          </a:p>
        </p:txBody>
      </p:sp>
      <p:sp>
        <p:nvSpPr>
          <p:cNvPr id="18" name="TextBox 17"/>
          <p:cNvSpPr txBox="1"/>
          <p:nvPr/>
        </p:nvSpPr>
        <p:spPr>
          <a:xfrm>
            <a:off x="8043519" y="370332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Corporates</a:t>
            </a:r>
          </a:p>
        </p:txBody>
      </p:sp>
      <p:sp>
        <p:nvSpPr>
          <p:cNvPr id="19" name="TextBox 18"/>
          <p:cNvSpPr txBox="1"/>
          <p:nvPr/>
        </p:nvSpPr>
        <p:spPr>
          <a:xfrm>
            <a:off x="8043519" y="399592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challenges, pilots, expertise</a:t>
            </a:r>
          </a:p>
          <a:p>
            <a:pPr algn="l">
              <a:lnSpc>
                <a:spcPct val="115000"/>
              </a:lnSpc>
              <a:spcAft>
                <a:spcPts val="0"/>
              </a:spcAft>
            </a:pPr>
            <a:r>
              <a:rPr sz="950" b="1" i="0">
                <a:solidFill>
                  <a:srgbClr val="1765D1"/>
                </a:solidFill>
                <a:latin typeface="Inter"/>
              </a:rPr>
              <a:t>Get: early innovation and partners</a:t>
            </a:r>
          </a:p>
        </p:txBody>
      </p:sp>
      <p:cxnSp>
        <p:nvCxnSpPr>
          <p:cNvPr id="20" name="Connector 19"/>
          <p:cNvCxnSpPr/>
          <p:nvPr/>
        </p:nvCxnSpPr>
        <p:spPr>
          <a:xfrm flipH="1" flipV="1">
            <a:off x="6877659" y="4085082"/>
            <a:ext cx="1001268" cy="29718"/>
          </a:xfrm>
          <a:prstGeom prst="line">
            <a:avLst/>
          </a:prstGeom>
          <a:ln w="15875">
            <a:solidFill>
              <a:srgbClr val="B8CFEE"/>
            </a:solidFill>
          </a:ln>
        </p:spPr>
      </p:cxnSp>
      <p:sp>
        <p:nvSpPr>
          <p:cNvPr id="21" name="Rectangle 20"/>
          <p:cNvSpPr/>
          <p:nvPr/>
        </p:nvSpPr>
        <p:spPr>
          <a:xfrm>
            <a:off x="1935327" y="5120640"/>
            <a:ext cx="2377440" cy="1005840"/>
          </a:xfrm>
          <a:prstGeom prst="rect">
            <a:avLst/>
          </a:prstGeom>
          <a:solidFill>
            <a:srgbClr val="EDF4FE"/>
          </a:solidFill>
          <a:ln>
            <a:noFill/>
          </a:ln>
          <a:effectLst/>
        </p:spPr>
        <p:txBody>
          <a:bodyPr rtlCol="0" anchor="ctr" lIns="73152" rIns="73152" tIns="36576" bIns="36576"/>
          <a:lstStyle/>
          <a:p>
            <a:pPr algn="ctr"/>
          </a:p>
        </p:txBody>
      </p:sp>
      <p:sp>
        <p:nvSpPr>
          <p:cNvPr id="22" name="TextBox 21"/>
          <p:cNvSpPr txBox="1"/>
          <p:nvPr/>
        </p:nvSpPr>
        <p:spPr>
          <a:xfrm>
            <a:off x="2099919" y="521208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Service and tool providers</a:t>
            </a:r>
          </a:p>
        </p:txBody>
      </p:sp>
      <p:sp>
        <p:nvSpPr>
          <p:cNvPr id="23" name="TextBox 22"/>
          <p:cNvSpPr txBox="1"/>
          <p:nvPr/>
        </p:nvSpPr>
        <p:spPr>
          <a:xfrm>
            <a:off x="2099919" y="550468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services, tools, offers</a:t>
            </a:r>
          </a:p>
          <a:p>
            <a:pPr algn="l">
              <a:lnSpc>
                <a:spcPct val="115000"/>
              </a:lnSpc>
              <a:spcAft>
                <a:spcPts val="0"/>
              </a:spcAft>
            </a:pPr>
            <a:r>
              <a:rPr sz="950" b="1" i="0">
                <a:solidFill>
                  <a:srgbClr val="1765D1"/>
                </a:solidFill>
                <a:latin typeface="Inter"/>
              </a:rPr>
              <a:t>Get: relevant founder customers</a:t>
            </a:r>
          </a:p>
        </p:txBody>
      </p:sp>
      <p:cxnSp>
        <p:nvCxnSpPr>
          <p:cNvPr id="24" name="Connector 23"/>
          <p:cNvCxnSpPr/>
          <p:nvPr/>
        </p:nvCxnSpPr>
        <p:spPr>
          <a:xfrm flipV="1">
            <a:off x="4312767" y="4613148"/>
            <a:ext cx="1001268" cy="1010412"/>
          </a:xfrm>
          <a:prstGeom prst="line">
            <a:avLst/>
          </a:prstGeom>
          <a:ln w="15875">
            <a:solidFill>
              <a:srgbClr val="B8CFEE"/>
            </a:solidFill>
          </a:ln>
        </p:spPr>
      </p:cxnSp>
      <p:sp>
        <p:nvSpPr>
          <p:cNvPr id="25" name="Rectangle 24"/>
          <p:cNvSpPr/>
          <p:nvPr/>
        </p:nvSpPr>
        <p:spPr>
          <a:xfrm>
            <a:off x="7878927" y="5120640"/>
            <a:ext cx="2377440" cy="1005840"/>
          </a:xfrm>
          <a:prstGeom prst="rect">
            <a:avLst/>
          </a:prstGeom>
          <a:solidFill>
            <a:srgbClr val="EDF4FE"/>
          </a:solidFill>
          <a:ln>
            <a:noFill/>
          </a:ln>
          <a:effectLst/>
        </p:spPr>
        <p:txBody>
          <a:bodyPr rtlCol="0" anchor="ctr" lIns="73152" rIns="73152" tIns="36576" bIns="36576"/>
          <a:lstStyle/>
          <a:p>
            <a:pPr algn="ctr"/>
          </a:p>
        </p:txBody>
      </p:sp>
      <p:sp>
        <p:nvSpPr>
          <p:cNvPr id="26" name="TextBox 25"/>
          <p:cNvSpPr txBox="1"/>
          <p:nvPr/>
        </p:nvSpPr>
        <p:spPr>
          <a:xfrm>
            <a:off x="8043519" y="5212080"/>
            <a:ext cx="210312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Founder community</a:t>
            </a:r>
          </a:p>
        </p:txBody>
      </p:sp>
      <p:sp>
        <p:nvSpPr>
          <p:cNvPr id="27" name="TextBox 26"/>
          <p:cNvSpPr txBox="1"/>
          <p:nvPr/>
        </p:nvSpPr>
        <p:spPr>
          <a:xfrm>
            <a:off x="8043519" y="5504688"/>
            <a:ext cx="2148840" cy="59436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Give: peer advice and accountability</a:t>
            </a:r>
          </a:p>
          <a:p>
            <a:pPr algn="l">
              <a:lnSpc>
                <a:spcPct val="115000"/>
              </a:lnSpc>
              <a:spcAft>
                <a:spcPts val="0"/>
              </a:spcAft>
            </a:pPr>
            <a:r>
              <a:rPr sz="950" b="1" i="0">
                <a:solidFill>
                  <a:srgbClr val="1765D1"/>
                </a:solidFill>
                <a:latin typeface="Inter"/>
              </a:rPr>
              <a:t>Get: support, network, momentum</a:t>
            </a:r>
          </a:p>
        </p:txBody>
      </p:sp>
      <p:cxnSp>
        <p:nvCxnSpPr>
          <p:cNvPr id="28" name="Connector 27"/>
          <p:cNvCxnSpPr/>
          <p:nvPr/>
        </p:nvCxnSpPr>
        <p:spPr>
          <a:xfrm flipH="1" flipV="1">
            <a:off x="6877659" y="4613148"/>
            <a:ext cx="1001268" cy="1010412"/>
          </a:xfrm>
          <a:prstGeom prst="line">
            <a:avLst/>
          </a:prstGeom>
          <a:ln w="15875">
            <a:solidFill>
              <a:srgbClr val="B8CFEE"/>
            </a:solidFill>
          </a:ln>
        </p:spPr>
      </p:cxnSp>
      <p:sp>
        <p:nvSpPr>
          <p:cNvPr id="29" name="TextBox 2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0" name="TextBox 2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PROPOSED MODEL</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Four layers, from open access to selective support.</a:t>
            </a:r>
          </a:p>
        </p:txBody>
      </p:sp>
      <p:sp>
        <p:nvSpPr>
          <p:cNvPr id="4" name="Rounded Rectangle 3"/>
          <p:cNvSpPr/>
          <p:nvPr/>
        </p:nvSpPr>
        <p:spPr>
          <a:xfrm>
            <a:off x="10193914" y="402336"/>
            <a:ext cx="14034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MODEL</a:t>
            </a:r>
          </a:p>
        </p:txBody>
      </p:sp>
      <p:sp>
        <p:nvSpPr>
          <p:cNvPr id="5" name="Rectangle 4"/>
          <p:cNvSpPr/>
          <p:nvPr/>
        </p:nvSpPr>
        <p:spPr>
          <a:xfrm>
            <a:off x="1965960" y="2011680"/>
            <a:ext cx="2011680" cy="804672"/>
          </a:xfrm>
          <a:prstGeom prst="rect">
            <a:avLst/>
          </a:prstGeom>
          <a:solidFill>
            <a:srgbClr val="10213B"/>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4</a:t>
            </a:r>
          </a:p>
        </p:txBody>
      </p:sp>
      <p:sp>
        <p:nvSpPr>
          <p:cNvPr id="6" name="TextBox 5"/>
          <p:cNvSpPr txBox="1"/>
          <p:nvPr/>
        </p:nvSpPr>
        <p:spPr>
          <a:xfrm>
            <a:off x="5440680" y="205740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Investment connections and future pathways</a:t>
            </a:r>
          </a:p>
        </p:txBody>
      </p:sp>
      <p:sp>
        <p:nvSpPr>
          <p:cNvPr id="7" name="TextBox 6"/>
          <p:cNvSpPr txBox="1"/>
          <p:nvPr/>
        </p:nvSpPr>
        <p:spPr>
          <a:xfrm>
            <a:off x="5440680" y="239572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Investor-readiness support and relevant introductions. Any future investment activity would need its own structure and approvals.</a:t>
            </a:r>
          </a:p>
        </p:txBody>
      </p:sp>
      <p:cxnSp>
        <p:nvCxnSpPr>
          <p:cNvPr id="8" name="Connector 7"/>
          <p:cNvCxnSpPr/>
          <p:nvPr/>
        </p:nvCxnSpPr>
        <p:spPr>
          <a:xfrm>
            <a:off x="4069079" y="2414016"/>
            <a:ext cx="1234441" cy="0"/>
          </a:xfrm>
          <a:prstGeom prst="line">
            <a:avLst/>
          </a:prstGeom>
          <a:ln w="9525">
            <a:solidFill>
              <a:srgbClr val="D5E2F3"/>
            </a:solidFill>
            <a:prstDash val="dash"/>
          </a:ln>
        </p:spPr>
      </p:cxnSp>
      <p:sp>
        <p:nvSpPr>
          <p:cNvPr id="9" name="Rectangle 8"/>
          <p:cNvSpPr/>
          <p:nvPr/>
        </p:nvSpPr>
        <p:spPr>
          <a:xfrm>
            <a:off x="1554480" y="2971800"/>
            <a:ext cx="2834640" cy="804672"/>
          </a:xfrm>
          <a:prstGeom prst="rect">
            <a:avLst/>
          </a:prstGeom>
          <a:solidFill>
            <a:srgbClr val="17407F"/>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3</a:t>
            </a:r>
          </a:p>
        </p:txBody>
      </p:sp>
      <p:sp>
        <p:nvSpPr>
          <p:cNvPr id="10" name="TextBox 9"/>
          <p:cNvSpPr txBox="1"/>
          <p:nvPr/>
        </p:nvSpPr>
        <p:spPr>
          <a:xfrm>
            <a:off x="5440680" y="301752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Selective incubation</a:t>
            </a:r>
          </a:p>
        </p:txBody>
      </p:sp>
      <p:sp>
        <p:nvSpPr>
          <p:cNvPr id="11" name="TextBox 10"/>
          <p:cNvSpPr txBox="1"/>
          <p:nvPr/>
        </p:nvSpPr>
        <p:spPr>
          <a:xfrm>
            <a:off x="5440680" y="335584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More intensive support for suitable founders, based on fit, delivery capacity and separately agreed commercial terms.</a:t>
            </a:r>
          </a:p>
        </p:txBody>
      </p:sp>
      <p:cxnSp>
        <p:nvCxnSpPr>
          <p:cNvPr id="12" name="Connector 11"/>
          <p:cNvCxnSpPr/>
          <p:nvPr/>
        </p:nvCxnSpPr>
        <p:spPr>
          <a:xfrm>
            <a:off x="4480559" y="3374136"/>
            <a:ext cx="822961" cy="0"/>
          </a:xfrm>
          <a:prstGeom prst="line">
            <a:avLst/>
          </a:prstGeom>
          <a:ln w="9525">
            <a:solidFill>
              <a:srgbClr val="D5E2F3"/>
            </a:solidFill>
            <a:prstDash val="dash"/>
          </a:ln>
        </p:spPr>
      </p:cxnSp>
      <p:sp>
        <p:nvSpPr>
          <p:cNvPr id="13" name="Rectangle 12"/>
          <p:cNvSpPr/>
          <p:nvPr/>
        </p:nvSpPr>
        <p:spPr>
          <a:xfrm>
            <a:off x="1143000" y="3931920"/>
            <a:ext cx="3657600" cy="804672"/>
          </a:xfrm>
          <a:prstGeom prst="rect">
            <a:avLst/>
          </a:prstGeom>
          <a:solidFill>
            <a:srgbClr val="1A55AC"/>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2</a:t>
            </a:r>
          </a:p>
        </p:txBody>
      </p:sp>
      <p:sp>
        <p:nvSpPr>
          <p:cNvPr id="14" name="TextBox 13"/>
          <p:cNvSpPr txBox="1"/>
          <p:nvPr/>
        </p:nvSpPr>
        <p:spPr>
          <a:xfrm>
            <a:off x="5440680" y="397764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Paid tools and support</a:t>
            </a:r>
          </a:p>
        </p:txBody>
      </p:sp>
      <p:sp>
        <p:nvSpPr>
          <p:cNvPr id="15" name="TextBox 14"/>
          <p:cNvSpPr txBox="1"/>
          <p:nvPr/>
        </p:nvSpPr>
        <p:spPr>
          <a:xfrm>
            <a:off x="5440680" y="431596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Deeper tools, potential AI-assisted guidance, specialist sessions and structured programmes.</a:t>
            </a:r>
          </a:p>
        </p:txBody>
      </p:sp>
      <p:cxnSp>
        <p:nvCxnSpPr>
          <p:cNvPr id="16" name="Connector 15"/>
          <p:cNvCxnSpPr/>
          <p:nvPr/>
        </p:nvCxnSpPr>
        <p:spPr>
          <a:xfrm>
            <a:off x="4892040" y="4334256"/>
            <a:ext cx="411480" cy="0"/>
          </a:xfrm>
          <a:prstGeom prst="line">
            <a:avLst/>
          </a:prstGeom>
          <a:ln w="9525">
            <a:solidFill>
              <a:srgbClr val="D5E2F3"/>
            </a:solidFill>
            <a:prstDash val="dash"/>
          </a:ln>
        </p:spPr>
      </p:cxnSp>
      <p:sp>
        <p:nvSpPr>
          <p:cNvPr id="17" name="Rectangle 16"/>
          <p:cNvSpPr/>
          <p:nvPr/>
        </p:nvSpPr>
        <p:spPr>
          <a:xfrm>
            <a:off x="731519" y="4892040"/>
            <a:ext cx="4480560" cy="804672"/>
          </a:xfrm>
          <a:prstGeom prst="rect">
            <a:avLst/>
          </a:prstGeom>
          <a:solidFill>
            <a:srgbClr val="1765D1"/>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1</a:t>
            </a:r>
          </a:p>
        </p:txBody>
      </p:sp>
      <p:sp>
        <p:nvSpPr>
          <p:cNvPr id="18" name="TextBox 17"/>
          <p:cNvSpPr txBox="1"/>
          <p:nvPr/>
        </p:nvSpPr>
        <p:spPr>
          <a:xfrm>
            <a:off x="5440680" y="493776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Free founder access</a:t>
            </a:r>
          </a:p>
        </p:txBody>
      </p:sp>
      <p:sp>
        <p:nvSpPr>
          <p:cNvPr id="19" name="TextBox 18"/>
          <p:cNvSpPr txBox="1"/>
          <p:nvPr/>
        </p:nvSpPr>
        <p:spPr>
          <a:xfrm>
            <a:off x="5440680" y="527608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Community, selected resources, discovery and introductory activities — the open front door.</a:t>
            </a:r>
          </a:p>
        </p:txBody>
      </p:sp>
      <p:cxnSp>
        <p:nvCxnSpPr>
          <p:cNvPr id="20" name="Connector 19"/>
          <p:cNvCxnSpPr/>
          <p:nvPr/>
        </p:nvCxnSpPr>
        <p:spPr>
          <a:xfrm>
            <a:off x="5303520" y="5294376"/>
            <a:ext cx="0" cy="0"/>
          </a:xfrm>
          <a:prstGeom prst="line">
            <a:avLst/>
          </a:prstGeom>
          <a:ln w="9525">
            <a:solidFill>
              <a:srgbClr val="D5E2F3"/>
            </a:solidFill>
            <a:prstDash val="dash"/>
          </a:ln>
        </p:spPr>
      </p:cxnSp>
      <p:sp>
        <p:nvSpPr>
          <p:cNvPr id="21" name="TextBox 20"/>
          <p:cNvSpPr txBox="1"/>
          <p:nvPr/>
        </p:nvSpPr>
        <p:spPr>
          <a:xfrm>
            <a:off x="594360" y="5925312"/>
            <a:ext cx="10881360"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Fewer founders, deeper support, as you move up. </a:t>
            </a:r>
            <a:r>
              <a:rPr sz="1150" b="0" i="0">
                <a:solidFill>
                  <a:srgbClr val="61738A"/>
                </a:solidFill>
                <a:latin typeface="Inter"/>
              </a:rPr>
              <a:t>Pricing, terms and eligibility will be shaped during the pilot — no fees or equity terms are fixed today.</a:t>
            </a:r>
          </a:p>
        </p:txBody>
      </p:sp>
      <p:sp>
        <p:nvSpPr>
          <p:cNvPr id="22" name="TextBox 2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3" name="TextBox 2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5806440" y="0"/>
            <a:ext cx="6385255" cy="6858000"/>
          </a:xfrm>
          <a:prstGeom prst="rect">
            <a:avLst/>
          </a:prstGeom>
          <a:solidFill>
            <a:srgbClr val="1A3358"/>
          </a:solidFill>
          <a:ln>
            <a:noFill/>
          </a:ln>
          <a:effectLst/>
        </p:spPr>
        <p:txBody>
          <a:bodyPr rtlCol="0" anchor="ctr" lIns="73152" rIns="73152" tIns="36576" bIns="36576"/>
          <a:lstStyle/>
          <a:p>
            <a:pPr algn="ctr"/>
          </a:p>
        </p:txBody>
      </p:sp>
      <p:sp>
        <p:nvSpPr>
          <p:cNvPr id="3" name="Oval 2"/>
          <p:cNvSpPr/>
          <p:nvPr/>
        </p:nvSpPr>
        <p:spPr>
          <a:xfrm>
            <a:off x="10276118" y="1097280"/>
            <a:ext cx="1508760" cy="1508760"/>
          </a:xfrm>
          <a:prstGeom prst="ellipse">
            <a:avLst/>
          </a:prstGeom>
          <a:solidFill>
            <a:srgbClr val="1C3D6B"/>
          </a:solidFill>
          <a:ln>
            <a:noFill/>
          </a:ln>
          <a:effectLst/>
        </p:spPr>
        <p:txBody>
          <a:bodyPr rtlCol="0" anchor="ctr" lIns="73152" rIns="73152" tIns="36576" bIns="36576"/>
          <a:lstStyle/>
          <a:p>
            <a:pPr algn="ctr"/>
          </a:p>
        </p:txBody>
      </p:sp>
      <p:sp>
        <p:nvSpPr>
          <p:cNvPr id="4" name="Rectangle 3"/>
          <p:cNvSpPr/>
          <p:nvPr/>
        </p:nvSpPr>
        <p:spPr>
          <a:xfrm>
            <a:off x="6061850" y="3873304"/>
            <a:ext cx="334732" cy="2984695"/>
          </a:xfrm>
          <a:prstGeom prst="rect">
            <a:avLst/>
          </a:prstGeom>
          <a:solidFill>
            <a:srgbClr val="24467A"/>
          </a:solidFill>
          <a:ln>
            <a:noFill/>
          </a:ln>
          <a:effectLst/>
        </p:spPr>
        <p:txBody>
          <a:bodyPr rtlCol="0" anchor="ctr" lIns="73152" rIns="73152" tIns="36576" bIns="36576"/>
          <a:lstStyle/>
          <a:p>
            <a:pPr algn="ctr"/>
          </a:p>
        </p:txBody>
      </p:sp>
      <p:sp>
        <p:nvSpPr>
          <p:cNvPr id="5" name="Rectangle 4"/>
          <p:cNvSpPr/>
          <p:nvPr/>
        </p:nvSpPr>
        <p:spPr>
          <a:xfrm>
            <a:off x="6436490" y="3112181"/>
            <a:ext cx="529641" cy="3745818"/>
          </a:xfrm>
          <a:prstGeom prst="rect">
            <a:avLst/>
          </a:prstGeom>
          <a:solidFill>
            <a:srgbClr val="1C3D6B"/>
          </a:solidFill>
          <a:ln>
            <a:noFill/>
          </a:ln>
          <a:effectLst/>
        </p:spPr>
        <p:txBody>
          <a:bodyPr rtlCol="0" anchor="ctr" lIns="73152" rIns="73152" tIns="36576" bIns="36576"/>
          <a:lstStyle/>
          <a:p>
            <a:pPr algn="ctr"/>
          </a:p>
        </p:txBody>
      </p:sp>
      <p:sp>
        <p:nvSpPr>
          <p:cNvPr id="6" name="Rectangle 5"/>
          <p:cNvSpPr/>
          <p:nvPr/>
        </p:nvSpPr>
        <p:spPr>
          <a:xfrm>
            <a:off x="7032939" y="4341929"/>
            <a:ext cx="434583" cy="2516070"/>
          </a:xfrm>
          <a:prstGeom prst="rect">
            <a:avLst/>
          </a:prstGeom>
          <a:solidFill>
            <a:srgbClr val="10213B"/>
          </a:solidFill>
          <a:ln>
            <a:noFill/>
          </a:ln>
          <a:effectLst/>
        </p:spPr>
        <p:txBody>
          <a:bodyPr rtlCol="0" anchor="ctr" lIns="73152" rIns="73152" tIns="36576" bIns="36576"/>
          <a:lstStyle/>
          <a:p>
            <a:pPr algn="ctr"/>
          </a:p>
        </p:txBody>
      </p:sp>
      <p:sp>
        <p:nvSpPr>
          <p:cNvPr id="7" name="Rectangle 6"/>
          <p:cNvSpPr/>
          <p:nvPr/>
        </p:nvSpPr>
        <p:spPr>
          <a:xfrm>
            <a:off x="7533338" y="3256672"/>
            <a:ext cx="291394" cy="3601327"/>
          </a:xfrm>
          <a:prstGeom prst="rect">
            <a:avLst/>
          </a:prstGeom>
          <a:solidFill>
            <a:srgbClr val="1C3D6B"/>
          </a:solidFill>
          <a:ln>
            <a:noFill/>
          </a:ln>
          <a:effectLst/>
        </p:spPr>
        <p:txBody>
          <a:bodyPr rtlCol="0" anchor="ctr" lIns="73152" rIns="73152" tIns="36576" bIns="36576"/>
          <a:lstStyle/>
          <a:p>
            <a:pPr algn="ctr"/>
          </a:p>
        </p:txBody>
      </p:sp>
      <p:sp>
        <p:nvSpPr>
          <p:cNvPr id="8" name="Rectangle 7"/>
          <p:cNvSpPr/>
          <p:nvPr/>
        </p:nvSpPr>
        <p:spPr>
          <a:xfrm>
            <a:off x="7853811" y="5034228"/>
            <a:ext cx="515410" cy="1823771"/>
          </a:xfrm>
          <a:prstGeom prst="rect">
            <a:avLst/>
          </a:prstGeom>
          <a:solidFill>
            <a:srgbClr val="10213B"/>
          </a:solidFill>
          <a:ln>
            <a:noFill/>
          </a:ln>
          <a:effectLst/>
        </p:spPr>
        <p:txBody>
          <a:bodyPr rtlCol="0" anchor="ctr" lIns="73152" rIns="73152" tIns="36576" bIns="36576"/>
          <a:lstStyle/>
          <a:p>
            <a:pPr algn="ctr"/>
          </a:p>
        </p:txBody>
      </p:sp>
      <p:sp>
        <p:nvSpPr>
          <p:cNvPr id="9" name="Rectangle 8"/>
          <p:cNvSpPr/>
          <p:nvPr/>
        </p:nvSpPr>
        <p:spPr>
          <a:xfrm>
            <a:off x="8430209" y="3097840"/>
            <a:ext cx="412861" cy="3760159"/>
          </a:xfrm>
          <a:prstGeom prst="rect">
            <a:avLst/>
          </a:prstGeom>
          <a:solidFill>
            <a:srgbClr val="1C3D6B"/>
          </a:solidFill>
          <a:ln>
            <a:noFill/>
          </a:ln>
          <a:effectLst/>
        </p:spPr>
        <p:txBody>
          <a:bodyPr rtlCol="0" anchor="ctr" lIns="73152" rIns="73152" tIns="36576" bIns="36576"/>
          <a:lstStyle/>
          <a:p>
            <a:pPr algn="ctr"/>
          </a:p>
        </p:txBody>
      </p:sp>
      <p:sp>
        <p:nvSpPr>
          <p:cNvPr id="10" name="Rectangle 9"/>
          <p:cNvSpPr/>
          <p:nvPr/>
        </p:nvSpPr>
        <p:spPr>
          <a:xfrm>
            <a:off x="8900072" y="4788914"/>
            <a:ext cx="297126" cy="2069085"/>
          </a:xfrm>
          <a:prstGeom prst="rect">
            <a:avLst/>
          </a:prstGeom>
          <a:solidFill>
            <a:srgbClr val="1C3D6B"/>
          </a:solidFill>
          <a:ln>
            <a:noFill/>
          </a:ln>
          <a:effectLst/>
        </p:spPr>
        <p:txBody>
          <a:bodyPr rtlCol="0" anchor="ctr" lIns="73152" rIns="73152" tIns="36576" bIns="36576"/>
          <a:lstStyle/>
          <a:p>
            <a:pPr algn="ctr"/>
          </a:p>
        </p:txBody>
      </p:sp>
      <p:sp>
        <p:nvSpPr>
          <p:cNvPr id="11" name="Rectangle 10"/>
          <p:cNvSpPr/>
          <p:nvPr/>
        </p:nvSpPr>
        <p:spPr>
          <a:xfrm>
            <a:off x="9258186" y="4800600"/>
            <a:ext cx="383115" cy="2057400"/>
          </a:xfrm>
          <a:prstGeom prst="rect">
            <a:avLst/>
          </a:prstGeom>
          <a:solidFill>
            <a:srgbClr val="1765D1"/>
          </a:solidFill>
          <a:ln>
            <a:noFill/>
          </a:ln>
          <a:effectLst/>
        </p:spPr>
        <p:txBody>
          <a:bodyPr rtlCol="0" anchor="ctr" lIns="73152" rIns="73152" tIns="36576" bIns="36576"/>
          <a:lstStyle/>
          <a:p>
            <a:pPr algn="ctr"/>
          </a:p>
        </p:txBody>
      </p:sp>
      <p:sp>
        <p:nvSpPr>
          <p:cNvPr id="12" name="Rectangle 11"/>
          <p:cNvSpPr/>
          <p:nvPr/>
        </p:nvSpPr>
        <p:spPr>
          <a:xfrm>
            <a:off x="9311822" y="3291840"/>
            <a:ext cx="275843" cy="1508760"/>
          </a:xfrm>
          <a:prstGeom prst="rect">
            <a:avLst/>
          </a:prstGeom>
          <a:solidFill>
            <a:srgbClr val="1765D1"/>
          </a:solidFill>
          <a:ln>
            <a:noFill/>
          </a:ln>
          <a:effectLst/>
        </p:spPr>
        <p:txBody>
          <a:bodyPr rtlCol="0" anchor="ctr" lIns="73152" rIns="73152" tIns="36576" bIns="36576"/>
          <a:lstStyle/>
          <a:p>
            <a:pPr algn="ctr"/>
          </a:p>
        </p:txBody>
      </p:sp>
      <p:sp>
        <p:nvSpPr>
          <p:cNvPr id="13" name="Rectangle 12"/>
          <p:cNvSpPr/>
          <p:nvPr/>
        </p:nvSpPr>
        <p:spPr>
          <a:xfrm>
            <a:off x="9357796" y="2194560"/>
            <a:ext cx="183895" cy="1097280"/>
          </a:xfrm>
          <a:prstGeom prst="rect">
            <a:avLst/>
          </a:prstGeom>
          <a:solidFill>
            <a:srgbClr val="1765D1"/>
          </a:solidFill>
          <a:ln>
            <a:noFill/>
          </a:ln>
          <a:effectLst/>
        </p:spPr>
        <p:txBody>
          <a:bodyPr rtlCol="0" anchor="ctr" lIns="73152" rIns="73152" tIns="36576" bIns="36576"/>
          <a:lstStyle/>
          <a:p>
            <a:pPr algn="ctr"/>
          </a:p>
        </p:txBody>
      </p:sp>
      <p:sp>
        <p:nvSpPr>
          <p:cNvPr id="14" name="Rectangle 13"/>
          <p:cNvSpPr/>
          <p:nvPr/>
        </p:nvSpPr>
        <p:spPr>
          <a:xfrm>
            <a:off x="9396107" y="1371600"/>
            <a:ext cx="107272" cy="822959"/>
          </a:xfrm>
          <a:prstGeom prst="rect">
            <a:avLst/>
          </a:prstGeom>
          <a:solidFill>
            <a:srgbClr val="1765D1"/>
          </a:solidFill>
          <a:ln>
            <a:noFill/>
          </a:ln>
          <a:effectLst/>
        </p:spPr>
        <p:txBody>
          <a:bodyPr rtlCol="0" anchor="ctr" lIns="73152" rIns="73152" tIns="36576" bIns="36576"/>
          <a:lstStyle/>
          <a:p>
            <a:pPr algn="ctr"/>
          </a:p>
        </p:txBody>
      </p:sp>
      <p:sp>
        <p:nvSpPr>
          <p:cNvPr id="15" name="Rectangle 14"/>
          <p:cNvSpPr/>
          <p:nvPr/>
        </p:nvSpPr>
        <p:spPr>
          <a:xfrm>
            <a:off x="9440599" y="685800"/>
            <a:ext cx="18288" cy="685800"/>
          </a:xfrm>
          <a:prstGeom prst="rect">
            <a:avLst/>
          </a:prstGeom>
          <a:solidFill>
            <a:srgbClr val="1765D1"/>
          </a:solidFill>
          <a:ln>
            <a:noFill/>
          </a:ln>
          <a:effectLst/>
        </p:spPr>
        <p:txBody>
          <a:bodyPr rtlCol="0" anchor="ctr" lIns="73152" rIns="73152" tIns="36576" bIns="36576"/>
          <a:lstStyle/>
          <a:p>
            <a:pPr algn="ctr"/>
          </a:p>
        </p:txBody>
      </p:sp>
      <p:sp>
        <p:nvSpPr>
          <p:cNvPr id="16" name="Rectangle 15"/>
          <p:cNvSpPr/>
          <p:nvPr/>
        </p:nvSpPr>
        <p:spPr>
          <a:xfrm>
            <a:off x="9705153" y="5564629"/>
            <a:ext cx="556832" cy="1293370"/>
          </a:xfrm>
          <a:prstGeom prst="rect">
            <a:avLst/>
          </a:prstGeom>
          <a:solidFill>
            <a:srgbClr val="24467A"/>
          </a:solidFill>
          <a:ln>
            <a:noFill/>
          </a:ln>
          <a:effectLst/>
        </p:spPr>
        <p:txBody>
          <a:bodyPr rtlCol="0" anchor="ctr" lIns="73152" rIns="73152" tIns="36576" bIns="36576"/>
          <a:lstStyle/>
          <a:p>
            <a:pPr algn="ctr"/>
          </a:p>
        </p:txBody>
      </p:sp>
      <p:sp>
        <p:nvSpPr>
          <p:cNvPr id="17" name="Rectangle 16"/>
          <p:cNvSpPr/>
          <p:nvPr/>
        </p:nvSpPr>
        <p:spPr>
          <a:xfrm>
            <a:off x="10329287" y="3268939"/>
            <a:ext cx="323218" cy="3589060"/>
          </a:xfrm>
          <a:prstGeom prst="rect">
            <a:avLst/>
          </a:prstGeom>
          <a:solidFill>
            <a:srgbClr val="1C3D6B"/>
          </a:solidFill>
          <a:ln>
            <a:noFill/>
          </a:ln>
          <a:effectLst/>
        </p:spPr>
        <p:txBody>
          <a:bodyPr rtlCol="0" anchor="ctr" lIns="73152" rIns="73152" tIns="36576" bIns="36576"/>
          <a:lstStyle/>
          <a:p>
            <a:pPr algn="ctr"/>
          </a:p>
        </p:txBody>
      </p:sp>
      <p:sp>
        <p:nvSpPr>
          <p:cNvPr id="18" name="Rectangle 17"/>
          <p:cNvSpPr/>
          <p:nvPr/>
        </p:nvSpPr>
        <p:spPr>
          <a:xfrm>
            <a:off x="10686275" y="4605167"/>
            <a:ext cx="496649" cy="2252832"/>
          </a:xfrm>
          <a:prstGeom prst="rect">
            <a:avLst/>
          </a:prstGeom>
          <a:solidFill>
            <a:srgbClr val="10213B"/>
          </a:solidFill>
          <a:ln>
            <a:noFill/>
          </a:ln>
          <a:effectLst/>
        </p:spPr>
        <p:txBody>
          <a:bodyPr rtlCol="0" anchor="ctr" lIns="73152" rIns="73152" tIns="36576" bIns="36576"/>
          <a:lstStyle/>
          <a:p>
            <a:pPr algn="ctr"/>
          </a:p>
        </p:txBody>
      </p:sp>
      <p:sp>
        <p:nvSpPr>
          <p:cNvPr id="19" name="Rectangle 18"/>
          <p:cNvSpPr/>
          <p:nvPr/>
        </p:nvSpPr>
        <p:spPr>
          <a:xfrm>
            <a:off x="11218013" y="3426409"/>
            <a:ext cx="298008" cy="3431590"/>
          </a:xfrm>
          <a:prstGeom prst="rect">
            <a:avLst/>
          </a:prstGeom>
          <a:solidFill>
            <a:srgbClr val="10213B"/>
          </a:solidFill>
          <a:ln>
            <a:noFill/>
          </a:ln>
          <a:effectLst/>
        </p:spPr>
        <p:txBody>
          <a:bodyPr rtlCol="0" anchor="ctr" lIns="73152" rIns="73152" tIns="36576" bIns="36576"/>
          <a:lstStyle/>
          <a:p>
            <a:pPr algn="ctr"/>
          </a:p>
        </p:txBody>
      </p:sp>
      <p:sp>
        <p:nvSpPr>
          <p:cNvPr id="20" name="Rectangle 19"/>
          <p:cNvSpPr/>
          <p:nvPr/>
        </p:nvSpPr>
        <p:spPr>
          <a:xfrm>
            <a:off x="11545374" y="3913833"/>
            <a:ext cx="344050" cy="2944166"/>
          </a:xfrm>
          <a:prstGeom prst="rect">
            <a:avLst/>
          </a:prstGeom>
          <a:solidFill>
            <a:srgbClr val="24467A"/>
          </a:solidFill>
          <a:ln>
            <a:noFill/>
          </a:ln>
          <a:effectLst/>
        </p:spPr>
        <p:txBody>
          <a:bodyPr rtlCol="0" anchor="ctr" lIns="73152" rIns="73152" tIns="36576" bIns="36576"/>
          <a:lstStyle/>
          <a:p>
            <a:pPr algn="ctr"/>
          </a:p>
        </p:txBody>
      </p:sp>
      <p:sp>
        <p:nvSpPr>
          <p:cNvPr id="21" name="Rectangle 20"/>
          <p:cNvSpPr/>
          <p:nvPr/>
        </p:nvSpPr>
        <p:spPr>
          <a:xfrm>
            <a:off x="11953522" y="4149890"/>
            <a:ext cx="238172" cy="2708109"/>
          </a:xfrm>
          <a:prstGeom prst="rect">
            <a:avLst/>
          </a:prstGeom>
          <a:solidFill>
            <a:srgbClr val="24467A"/>
          </a:solidFill>
          <a:ln>
            <a:noFill/>
          </a:ln>
          <a:effectLst/>
        </p:spPr>
        <p:txBody>
          <a:bodyPr rtlCol="0" anchor="ctr" lIns="73152" rIns="73152" tIns="36576" bIns="36576"/>
          <a:lstStyle/>
          <a:p>
            <a:pPr algn="ctr"/>
          </a:p>
        </p:txBody>
      </p:sp>
      <p:sp>
        <p:nvSpPr>
          <p:cNvPr id="22" name="Rectangle 2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23" name="TextBox 22"/>
          <p:cNvSpPr txBox="1"/>
          <p:nvPr/>
        </p:nvSpPr>
        <p:spPr>
          <a:xfrm>
            <a:off x="685800" y="1371600"/>
            <a:ext cx="4846320" cy="274320"/>
          </a:xfrm>
          <a:prstGeom prst="rect">
            <a:avLst/>
          </a:prstGeom>
          <a:noFill/>
        </p:spPr>
        <p:txBody>
          <a:bodyPr wrap="square" lIns="0" rIns="0" tIns="0" bIns="0" anchor="t"/>
          <a:lstStyle/>
          <a:p>
            <a:pPr algn="l">
              <a:lnSpc>
                <a:spcPct val="115000"/>
              </a:lnSpc>
              <a:spcAft>
                <a:spcPts val="0"/>
              </a:spcAft>
            </a:pPr>
            <a:r>
              <a:rPr sz="1000" b="1" i="0" spc="150">
                <a:solidFill>
                  <a:srgbClr val="4F8BE0"/>
                </a:solidFill>
                <a:latin typeface="Inter"/>
              </a:rPr>
              <a:t>UAE FIRST · GLOBAL AMBITION</a:t>
            </a:r>
          </a:p>
        </p:txBody>
      </p:sp>
      <p:sp>
        <p:nvSpPr>
          <p:cNvPr id="24" name="TextBox 23"/>
          <p:cNvSpPr txBox="1"/>
          <p:nvPr/>
        </p:nvSpPr>
        <p:spPr>
          <a:xfrm>
            <a:off x="685800" y="1783080"/>
            <a:ext cx="4846320" cy="2194560"/>
          </a:xfrm>
          <a:prstGeom prst="rect">
            <a:avLst/>
          </a:prstGeom>
          <a:noFill/>
        </p:spPr>
        <p:txBody>
          <a:bodyPr wrap="square" lIns="0" rIns="0" tIns="0" bIns="0" anchor="t"/>
          <a:lstStyle/>
          <a:p>
            <a:pPr algn="l">
              <a:lnSpc>
                <a:spcPct val="105000"/>
              </a:lnSpc>
              <a:spcAft>
                <a:spcPts val="0"/>
              </a:spcAft>
            </a:pPr>
            <a:r>
              <a:rPr sz="3200" b="1" i="0">
                <a:solidFill>
                  <a:srgbClr val="FFFFFF"/>
                </a:solidFill>
                <a:latin typeface="Inter"/>
              </a:rPr>
              <a:t>Rooted in the UAE. Built to travel.</a:t>
            </a:r>
          </a:p>
        </p:txBody>
      </p:sp>
      <p:sp>
        <p:nvSpPr>
          <p:cNvPr id="25" name="TextBox 24"/>
          <p:cNvSpPr txBox="1"/>
          <p:nvPr/>
        </p:nvSpPr>
        <p:spPr>
          <a:xfrm>
            <a:off x="685800" y="3931920"/>
            <a:ext cx="4663440" cy="1828800"/>
          </a:xfrm>
          <a:prstGeom prst="rect">
            <a:avLst/>
          </a:prstGeom>
          <a:noFill/>
        </p:spPr>
        <p:txBody>
          <a:bodyPr wrap="square" lIns="0" rIns="0" tIns="0" bIns="0" anchor="t"/>
          <a:lstStyle/>
          <a:p>
            <a:pPr algn="l">
              <a:lnSpc>
                <a:spcPct val="135000"/>
              </a:lnSpc>
              <a:spcAft>
                <a:spcPts val="0"/>
              </a:spcAft>
            </a:pPr>
            <a:r>
              <a:rPr sz="1400" b="0" i="0">
                <a:solidFill>
                  <a:srgbClr val="C9D6E8"/>
                </a:solidFill>
                <a:latin typeface="Inter"/>
              </a:rPr>
              <a:t>Startup Roof starts where policy, capital and founders are converging — and is designed to extend to other markets over time.</a:t>
            </a:r>
          </a:p>
        </p:txBody>
      </p:sp>
      <p:sp>
        <p:nvSpPr>
          <p:cNvPr id="26" name="TextBox 25"/>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03</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The founder journey</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Six stages, practical checklists, key metrics and funding options</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Six stages at a glance</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Stage-by-stage checklists</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Startup metrics explained</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Funding options compared</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How funding stages work</a:t>
            </a:r>
          </a:p>
        </p:txBody>
      </p:sp>
      <p:sp>
        <p:nvSpPr>
          <p:cNvPr id="17" name="TextBox 16"/>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JOURNEY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Every founder enters at a different point.</a:t>
            </a:r>
          </a:p>
        </p:txBody>
      </p:sp>
      <p:sp>
        <p:nvSpPr>
          <p:cNvPr id="4" name="Pentagon 3"/>
          <p:cNvSpPr/>
          <p:nvPr/>
        </p:nvSpPr>
        <p:spPr>
          <a:xfrm>
            <a:off x="1920240" y="1965960"/>
            <a:ext cx="1686001" cy="566928"/>
          </a:xfrm>
          <a:prstGeom prst="homePlat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Explore</a:t>
            </a:r>
          </a:p>
        </p:txBody>
      </p:sp>
      <p:sp>
        <p:nvSpPr>
          <p:cNvPr id="5" name="TextBox 4"/>
          <p:cNvSpPr txBox="1"/>
          <p:nvPr/>
        </p:nvSpPr>
        <p:spPr>
          <a:xfrm>
            <a:off x="2029968"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Is this idea worth pursuing?</a:t>
            </a:r>
          </a:p>
        </p:txBody>
      </p:sp>
      <p:sp>
        <p:nvSpPr>
          <p:cNvPr id="6" name="TextBox 5"/>
          <p:cNvSpPr txBox="1"/>
          <p:nvPr/>
        </p:nvSpPr>
        <p:spPr>
          <a:xfrm>
            <a:off x="2029968"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Framing, problem discovery, peer conversation</a:t>
            </a:r>
          </a:p>
        </p:txBody>
      </p:sp>
      <p:sp>
        <p:nvSpPr>
          <p:cNvPr id="7" name="TextBox 6"/>
          <p:cNvSpPr txBox="1"/>
          <p:nvPr/>
        </p:nvSpPr>
        <p:spPr>
          <a:xfrm>
            <a:off x="2029968"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Write down the problem and who has it</a:t>
            </a:r>
          </a:p>
        </p:txBody>
      </p:sp>
      <p:sp>
        <p:nvSpPr>
          <p:cNvPr id="8" name="Chevron 7"/>
          <p:cNvSpPr/>
          <p:nvPr/>
        </p:nvSpPr>
        <p:spPr>
          <a:xfrm>
            <a:off x="3533089"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Validate</a:t>
            </a:r>
          </a:p>
        </p:txBody>
      </p:sp>
      <p:sp>
        <p:nvSpPr>
          <p:cNvPr id="9" name="TextBox 8"/>
          <p:cNvSpPr txBox="1"/>
          <p:nvPr/>
        </p:nvSpPr>
        <p:spPr>
          <a:xfrm>
            <a:off x="3642817"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Will people actually pay for this?</a:t>
            </a:r>
          </a:p>
        </p:txBody>
      </p:sp>
      <p:sp>
        <p:nvSpPr>
          <p:cNvPr id="10" name="TextBox 9"/>
          <p:cNvSpPr txBox="1"/>
          <p:nvPr/>
        </p:nvSpPr>
        <p:spPr>
          <a:xfrm>
            <a:off x="3642817"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Interview guides, clinics, mentor feedback</a:t>
            </a:r>
          </a:p>
        </p:txBody>
      </p:sp>
      <p:sp>
        <p:nvSpPr>
          <p:cNvPr id="11" name="TextBox 10"/>
          <p:cNvSpPr txBox="1"/>
          <p:nvPr/>
        </p:nvSpPr>
        <p:spPr>
          <a:xfrm>
            <a:off x="3642817"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Speak to 10–20 potential customers</a:t>
            </a:r>
          </a:p>
        </p:txBody>
      </p:sp>
      <p:sp>
        <p:nvSpPr>
          <p:cNvPr id="12" name="Chevron 11"/>
          <p:cNvSpPr/>
          <p:nvPr/>
        </p:nvSpPr>
        <p:spPr>
          <a:xfrm>
            <a:off x="5145938"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Build</a:t>
            </a:r>
          </a:p>
        </p:txBody>
      </p:sp>
      <p:sp>
        <p:nvSpPr>
          <p:cNvPr id="13" name="TextBox 12"/>
          <p:cNvSpPr txBox="1"/>
          <p:nvPr/>
        </p:nvSpPr>
        <p:spPr>
          <a:xfrm>
            <a:off x="5255666"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What is the simplest version to offer?</a:t>
            </a:r>
          </a:p>
        </p:txBody>
      </p:sp>
      <p:sp>
        <p:nvSpPr>
          <p:cNvPr id="14" name="TextBox 13"/>
          <p:cNvSpPr txBox="1"/>
          <p:nvPr/>
        </p:nvSpPr>
        <p:spPr>
          <a:xfrm>
            <a:off x="5255666"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Product, setup, legal and tool guidance</a:t>
            </a:r>
          </a:p>
        </p:txBody>
      </p:sp>
      <p:sp>
        <p:nvSpPr>
          <p:cNvPr id="15" name="TextBox 14"/>
          <p:cNvSpPr txBox="1"/>
          <p:nvPr/>
        </p:nvSpPr>
        <p:spPr>
          <a:xfrm>
            <a:off x="5255666"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Define a first offer and test it</a:t>
            </a:r>
          </a:p>
        </p:txBody>
      </p:sp>
      <p:sp>
        <p:nvSpPr>
          <p:cNvPr id="16" name="Chevron 15"/>
          <p:cNvSpPr/>
          <p:nvPr/>
        </p:nvSpPr>
        <p:spPr>
          <a:xfrm>
            <a:off x="6758787"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Launch</a:t>
            </a:r>
          </a:p>
        </p:txBody>
      </p:sp>
      <p:sp>
        <p:nvSpPr>
          <p:cNvPr id="17" name="TextBox 16"/>
          <p:cNvSpPr txBox="1"/>
          <p:nvPr/>
        </p:nvSpPr>
        <p:spPr>
          <a:xfrm>
            <a:off x="6868515"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How do I reach my first customers?</a:t>
            </a:r>
          </a:p>
        </p:txBody>
      </p:sp>
      <p:sp>
        <p:nvSpPr>
          <p:cNvPr id="18" name="TextBox 17"/>
          <p:cNvSpPr txBox="1"/>
          <p:nvPr/>
        </p:nvSpPr>
        <p:spPr>
          <a:xfrm>
            <a:off x="6868515"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Go-to-market, pricing, brand and sales support</a:t>
            </a:r>
          </a:p>
        </p:txBody>
      </p:sp>
      <p:sp>
        <p:nvSpPr>
          <p:cNvPr id="19" name="TextBox 18"/>
          <p:cNvSpPr txBox="1"/>
          <p:nvPr/>
        </p:nvSpPr>
        <p:spPr>
          <a:xfrm>
            <a:off x="6868515"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Run one focused acquisition test</a:t>
            </a:r>
          </a:p>
        </p:txBody>
      </p:sp>
      <p:sp>
        <p:nvSpPr>
          <p:cNvPr id="20" name="Chevron 19"/>
          <p:cNvSpPr/>
          <p:nvPr/>
        </p:nvSpPr>
        <p:spPr>
          <a:xfrm>
            <a:off x="8371636"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Grow</a:t>
            </a:r>
          </a:p>
        </p:txBody>
      </p:sp>
      <p:sp>
        <p:nvSpPr>
          <p:cNvPr id="21" name="TextBox 20"/>
          <p:cNvSpPr txBox="1"/>
          <p:nvPr/>
        </p:nvSpPr>
        <p:spPr>
          <a:xfrm>
            <a:off x="8481364"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How do I grow without breaking things?</a:t>
            </a:r>
          </a:p>
        </p:txBody>
      </p:sp>
      <p:sp>
        <p:nvSpPr>
          <p:cNvPr id="22" name="TextBox 21"/>
          <p:cNvSpPr txBox="1"/>
          <p:nvPr/>
        </p:nvSpPr>
        <p:spPr>
          <a:xfrm>
            <a:off x="8481364"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Operations, specialists, systems and hiring</a:t>
            </a:r>
          </a:p>
        </p:txBody>
      </p:sp>
      <p:sp>
        <p:nvSpPr>
          <p:cNvPr id="23" name="TextBox 22"/>
          <p:cNvSpPr txBox="1"/>
          <p:nvPr/>
        </p:nvSpPr>
        <p:spPr>
          <a:xfrm>
            <a:off x="8481364"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Fix the biggest bottleneck</a:t>
            </a:r>
          </a:p>
        </p:txBody>
      </p:sp>
      <p:sp>
        <p:nvSpPr>
          <p:cNvPr id="24" name="Chevron 23"/>
          <p:cNvSpPr/>
          <p:nvPr/>
        </p:nvSpPr>
        <p:spPr>
          <a:xfrm>
            <a:off x="9984486" y="1965960"/>
            <a:ext cx="1686001" cy="566928"/>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050" b="1" i="0">
                <a:solidFill>
                  <a:srgbClr val="FFFFFF"/>
                </a:solidFill>
                <a:latin typeface="Inter"/>
              </a:rPr>
              <a:t>Prepare for capital*</a:t>
            </a:r>
          </a:p>
        </p:txBody>
      </p:sp>
      <p:sp>
        <p:nvSpPr>
          <p:cNvPr id="25" name="TextBox 24"/>
          <p:cNvSpPr txBox="1"/>
          <p:nvPr/>
        </p:nvSpPr>
        <p:spPr>
          <a:xfrm>
            <a:off x="10094214"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Should I raise — and am I ready?</a:t>
            </a:r>
          </a:p>
        </p:txBody>
      </p:sp>
      <p:sp>
        <p:nvSpPr>
          <p:cNvPr id="26" name="TextBox 25"/>
          <p:cNvSpPr txBox="1"/>
          <p:nvPr/>
        </p:nvSpPr>
        <p:spPr>
          <a:xfrm>
            <a:off x="10094214"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Readiness review, pitch feedback, introductions</a:t>
            </a:r>
          </a:p>
        </p:txBody>
      </p:sp>
      <p:sp>
        <p:nvSpPr>
          <p:cNvPr id="27" name="TextBox 26"/>
          <p:cNvSpPr txBox="1"/>
          <p:nvPr/>
        </p:nvSpPr>
        <p:spPr>
          <a:xfrm>
            <a:off x="10094214"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Decide if external funding fits</a:t>
            </a:r>
          </a:p>
        </p:txBody>
      </p:sp>
      <p:cxnSp>
        <p:nvCxnSpPr>
          <p:cNvPr id="28" name="Connector 27"/>
          <p:cNvCxnSpPr/>
          <p:nvPr/>
        </p:nvCxnSpPr>
        <p:spPr>
          <a:xfrm>
            <a:off x="594360" y="2633472"/>
            <a:ext cx="11002975" cy="0"/>
          </a:xfrm>
          <a:prstGeom prst="line">
            <a:avLst/>
          </a:prstGeom>
          <a:ln w="12700">
            <a:solidFill>
              <a:srgbClr val="D5E2F3"/>
            </a:solidFill>
          </a:ln>
        </p:spPr>
      </p:cxnSp>
      <p:sp>
        <p:nvSpPr>
          <p:cNvPr id="29" name="TextBox 28"/>
          <p:cNvSpPr txBox="1"/>
          <p:nvPr/>
        </p:nvSpPr>
        <p:spPr>
          <a:xfrm>
            <a:off x="594360" y="2743200"/>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Founder question</a:t>
            </a:r>
          </a:p>
        </p:txBody>
      </p:sp>
      <p:cxnSp>
        <p:nvCxnSpPr>
          <p:cNvPr id="30" name="Connector 29"/>
          <p:cNvCxnSpPr/>
          <p:nvPr/>
        </p:nvCxnSpPr>
        <p:spPr>
          <a:xfrm>
            <a:off x="594360" y="3657600"/>
            <a:ext cx="11002975" cy="0"/>
          </a:xfrm>
          <a:prstGeom prst="line">
            <a:avLst/>
          </a:prstGeom>
          <a:ln w="12700">
            <a:solidFill>
              <a:srgbClr val="D5E2F3"/>
            </a:solidFill>
          </a:ln>
        </p:spPr>
      </p:cxnSp>
      <p:sp>
        <p:nvSpPr>
          <p:cNvPr id="31" name="TextBox 30"/>
          <p:cNvSpPr txBox="1"/>
          <p:nvPr/>
        </p:nvSpPr>
        <p:spPr>
          <a:xfrm>
            <a:off x="594360" y="3767328"/>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Support needed</a:t>
            </a:r>
          </a:p>
        </p:txBody>
      </p:sp>
      <p:cxnSp>
        <p:nvCxnSpPr>
          <p:cNvPr id="32" name="Connector 31"/>
          <p:cNvCxnSpPr/>
          <p:nvPr/>
        </p:nvCxnSpPr>
        <p:spPr>
          <a:xfrm>
            <a:off x="594360" y="4681728"/>
            <a:ext cx="11002975" cy="0"/>
          </a:xfrm>
          <a:prstGeom prst="line">
            <a:avLst/>
          </a:prstGeom>
          <a:ln w="12700">
            <a:solidFill>
              <a:srgbClr val="D5E2F3"/>
            </a:solidFill>
          </a:ln>
        </p:spPr>
      </p:cxnSp>
      <p:sp>
        <p:nvSpPr>
          <p:cNvPr id="33" name="TextBox 32"/>
          <p:cNvSpPr txBox="1"/>
          <p:nvPr/>
        </p:nvSpPr>
        <p:spPr>
          <a:xfrm>
            <a:off x="594360" y="4791456"/>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Useful next action</a:t>
            </a:r>
          </a:p>
        </p:txBody>
      </p:sp>
      <p:sp>
        <p:nvSpPr>
          <p:cNvPr id="34" name="Rectangle 33"/>
          <p:cNvSpPr/>
          <p:nvPr/>
        </p:nvSpPr>
        <p:spPr>
          <a:xfrm>
            <a:off x="594360" y="5669280"/>
            <a:ext cx="11002975" cy="548640"/>
          </a:xfrm>
          <a:prstGeom prst="rect">
            <a:avLst/>
          </a:prstGeom>
          <a:solidFill>
            <a:srgbClr val="EDF4FE"/>
          </a:solidFill>
          <a:ln>
            <a:noFill/>
          </a:ln>
          <a:effectLst/>
        </p:spPr>
        <p:txBody>
          <a:bodyPr rtlCol="0" anchor="ctr" lIns="73152" rIns="73152" tIns="36576" bIns="36576"/>
          <a:lstStyle/>
          <a:p>
            <a:pPr algn="ctr"/>
          </a:p>
        </p:txBody>
      </p:sp>
      <p:sp>
        <p:nvSpPr>
          <p:cNvPr id="35" name="TextBox 34"/>
          <p:cNvSpPr txBox="1"/>
          <p:nvPr/>
        </p:nvSpPr>
        <p:spPr>
          <a:xfrm>
            <a:off x="777240" y="5715000"/>
            <a:ext cx="10637215" cy="457200"/>
          </a:xfrm>
          <a:prstGeom prst="rect">
            <a:avLst/>
          </a:prstGeom>
          <a:noFill/>
        </p:spPr>
        <p:txBody>
          <a:bodyPr wrap="square" lIns="0" rIns="0" tIns="0" bIns="0" anchor="ctr"/>
          <a:lstStyle/>
          <a:p>
            <a:pPr algn="l">
              <a:lnSpc>
                <a:spcPct val="115000"/>
              </a:lnSpc>
              <a:spcAft>
                <a:spcPts val="0"/>
              </a:spcAft>
            </a:pPr>
            <a:r>
              <a:rPr sz="1100" b="1" i="0">
                <a:solidFill>
                  <a:srgbClr val="10213B"/>
                </a:solidFill>
                <a:latin typeface="Inter"/>
              </a:rPr>
              <a:t>Paths differ. </a:t>
            </a:r>
            <a:r>
              <a:rPr sz="1100" b="0" i="0">
                <a:solidFill>
                  <a:srgbClr val="253650"/>
                </a:solidFill>
                <a:latin typeface="Inter"/>
              </a:rPr>
              <a:t>Founders join at any stage and may loop back. *Many good businesses grow from revenue and never need external capital — this stage applies only where appropriate.</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JOURNEY IN PRACTICE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From idea to evidence.</a:t>
            </a:r>
          </a:p>
        </p:txBody>
      </p:sp>
      <p:sp>
        <p:nvSpPr>
          <p:cNvPr id="4" name="Rectangle 3"/>
          <p:cNvSpPr/>
          <p:nvPr/>
        </p:nvSpPr>
        <p:spPr>
          <a:xfrm>
            <a:off x="594360" y="1965960"/>
            <a:ext cx="5272887" cy="566928"/>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822960"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C9D6E8"/>
                </a:solidFill>
                <a:latin typeface="Inter"/>
              </a:rPr>
              <a:t>STAGE 1</a:t>
            </a:r>
            <a:r>
              <a:rPr sz="1600" b="1" i="0">
                <a:solidFill>
                  <a:srgbClr val="FFFFFF"/>
                </a:solidFill>
                <a:latin typeface="Inter"/>
              </a:rPr>
              <a:t>   Explore</a:t>
            </a:r>
          </a:p>
        </p:txBody>
      </p:sp>
      <p:sp>
        <p:nvSpPr>
          <p:cNvPr id="6" name="TextBox 5"/>
          <p:cNvSpPr txBox="1"/>
          <p:nvPr/>
        </p:nvSpPr>
        <p:spPr>
          <a:xfrm>
            <a:off x="594360"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Decide whether an idea is worth testing.</a:t>
            </a:r>
          </a:p>
        </p:txBody>
      </p:sp>
      <p:sp>
        <p:nvSpPr>
          <p:cNvPr id="7" name="TextBox 6"/>
          <p:cNvSpPr txBox="1"/>
          <p:nvPr/>
        </p:nvSpPr>
        <p:spPr>
          <a:xfrm>
            <a:off x="594360"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8" name="TextBox 7"/>
          <p:cNvSpPr txBox="1"/>
          <p:nvPr/>
        </p:nvSpPr>
        <p:spPr>
          <a:xfrm>
            <a:off x="594360"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Whose problem is this, and how painful is it?</a:t>
            </a:r>
          </a:p>
        </p:txBody>
      </p:sp>
      <p:sp>
        <p:nvSpPr>
          <p:cNvPr id="9" name="TextBox 8"/>
          <p:cNvSpPr txBox="1"/>
          <p:nvPr/>
        </p:nvSpPr>
        <p:spPr>
          <a:xfrm>
            <a:off x="594360"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How do people solve it today?</a:t>
            </a:r>
          </a:p>
        </p:txBody>
      </p:sp>
      <p:sp>
        <p:nvSpPr>
          <p:cNvPr id="10" name="TextBox 9"/>
          <p:cNvSpPr txBox="1"/>
          <p:nvPr/>
        </p:nvSpPr>
        <p:spPr>
          <a:xfrm>
            <a:off x="594360"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Why am I the right person to solve it?</a:t>
            </a:r>
          </a:p>
        </p:txBody>
      </p:sp>
      <p:sp>
        <p:nvSpPr>
          <p:cNvPr id="11" name="TextBox 10"/>
          <p:cNvSpPr txBox="1"/>
          <p:nvPr/>
        </p:nvSpPr>
        <p:spPr>
          <a:xfrm>
            <a:off x="2886395"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12" name="Rectangle 11"/>
          <p:cNvSpPr/>
          <p:nvPr/>
        </p:nvSpPr>
        <p:spPr>
          <a:xfrm>
            <a:off x="2886395"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3" name="TextBox 12"/>
          <p:cNvSpPr txBox="1"/>
          <p:nvPr/>
        </p:nvSpPr>
        <p:spPr>
          <a:xfrm>
            <a:off x="3142427"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Write a one-line problem statement</a:t>
            </a:r>
          </a:p>
        </p:txBody>
      </p:sp>
      <p:sp>
        <p:nvSpPr>
          <p:cNvPr id="14" name="Rectangle 13"/>
          <p:cNvSpPr/>
          <p:nvPr/>
        </p:nvSpPr>
        <p:spPr>
          <a:xfrm>
            <a:off x="2886395"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5" name="TextBox 14"/>
          <p:cNvSpPr txBox="1"/>
          <p:nvPr/>
        </p:nvSpPr>
        <p:spPr>
          <a:xfrm>
            <a:off x="3142427"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Describe the target customer</a:t>
            </a:r>
          </a:p>
        </p:txBody>
      </p:sp>
      <p:sp>
        <p:nvSpPr>
          <p:cNvPr id="16" name="Rectangle 15"/>
          <p:cNvSpPr/>
          <p:nvPr/>
        </p:nvSpPr>
        <p:spPr>
          <a:xfrm>
            <a:off x="2886395"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7" name="TextBox 16"/>
          <p:cNvSpPr txBox="1"/>
          <p:nvPr/>
        </p:nvSpPr>
        <p:spPr>
          <a:xfrm>
            <a:off x="3142427"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List current alternatives</a:t>
            </a:r>
          </a:p>
        </p:txBody>
      </p:sp>
      <p:sp>
        <p:nvSpPr>
          <p:cNvPr id="18" name="Rectangle 17"/>
          <p:cNvSpPr/>
          <p:nvPr/>
        </p:nvSpPr>
        <p:spPr>
          <a:xfrm>
            <a:off x="2886395"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9" name="TextBox 18"/>
          <p:cNvSpPr txBox="1"/>
          <p:nvPr/>
        </p:nvSpPr>
        <p:spPr>
          <a:xfrm>
            <a:off x="3142427"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Note your unfair advantages</a:t>
            </a:r>
          </a:p>
        </p:txBody>
      </p:sp>
      <p:sp>
        <p:nvSpPr>
          <p:cNvPr id="20" name="Rectangle 19"/>
          <p:cNvSpPr/>
          <p:nvPr/>
        </p:nvSpPr>
        <p:spPr>
          <a:xfrm>
            <a:off x="2886395"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21" name="TextBox 20"/>
          <p:cNvSpPr txBox="1"/>
          <p:nvPr/>
        </p:nvSpPr>
        <p:spPr>
          <a:xfrm>
            <a:off x="3142427"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Pick three assumptions to test</a:t>
            </a:r>
          </a:p>
        </p:txBody>
      </p:sp>
      <p:sp>
        <p:nvSpPr>
          <p:cNvPr id="22" name="Rectangle 21"/>
          <p:cNvSpPr/>
          <p:nvPr/>
        </p:nvSpPr>
        <p:spPr>
          <a:xfrm>
            <a:off x="594360"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23" name="TextBox 22"/>
          <p:cNvSpPr txBox="1"/>
          <p:nvPr/>
        </p:nvSpPr>
        <p:spPr>
          <a:xfrm>
            <a:off x="777240"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A clear, testable problem statement</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Peer groups, idea clinics, the Explore templates</a:t>
            </a:r>
          </a:p>
        </p:txBody>
      </p:sp>
      <p:sp>
        <p:nvSpPr>
          <p:cNvPr id="24" name="Rectangle 23"/>
          <p:cNvSpPr/>
          <p:nvPr/>
        </p:nvSpPr>
        <p:spPr>
          <a:xfrm>
            <a:off x="6324447" y="1965960"/>
            <a:ext cx="5272887" cy="566928"/>
          </a:xfrm>
          <a:prstGeom prst="rect">
            <a:avLst/>
          </a:prstGeom>
          <a:solidFill>
            <a:srgbClr val="1765D1"/>
          </a:solidFill>
          <a:ln>
            <a:noFill/>
          </a:ln>
          <a:effectLst/>
        </p:spPr>
        <p:txBody>
          <a:bodyPr rtlCol="0" anchor="ctr" lIns="73152" rIns="73152" tIns="36576" bIns="36576"/>
          <a:lstStyle/>
          <a:p>
            <a:pPr algn="ctr"/>
          </a:p>
        </p:txBody>
      </p:sp>
      <p:sp>
        <p:nvSpPr>
          <p:cNvPr id="25" name="TextBox 24"/>
          <p:cNvSpPr txBox="1"/>
          <p:nvPr/>
        </p:nvSpPr>
        <p:spPr>
          <a:xfrm>
            <a:off x="6553047"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C9D6E8"/>
                </a:solidFill>
                <a:latin typeface="Inter"/>
              </a:rPr>
              <a:t>STAGE 2</a:t>
            </a:r>
            <a:r>
              <a:rPr sz="1600" b="1" i="0">
                <a:solidFill>
                  <a:srgbClr val="FFFFFF"/>
                </a:solidFill>
                <a:latin typeface="Inter"/>
              </a:rPr>
              <a:t>   Validate</a:t>
            </a:r>
          </a:p>
        </p:txBody>
      </p:sp>
      <p:sp>
        <p:nvSpPr>
          <p:cNvPr id="26" name="TextBox 25"/>
          <p:cNvSpPr txBox="1"/>
          <p:nvPr/>
        </p:nvSpPr>
        <p:spPr>
          <a:xfrm>
            <a:off x="6324447"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Prove that people want it — and will pay.</a:t>
            </a:r>
          </a:p>
        </p:txBody>
      </p:sp>
      <p:sp>
        <p:nvSpPr>
          <p:cNvPr id="27" name="TextBox 26"/>
          <p:cNvSpPr txBox="1"/>
          <p:nvPr/>
        </p:nvSpPr>
        <p:spPr>
          <a:xfrm>
            <a:off x="6324447"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28" name="TextBox 27"/>
          <p:cNvSpPr txBox="1"/>
          <p:nvPr/>
        </p:nvSpPr>
        <p:spPr>
          <a:xfrm>
            <a:off x="6324447"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Will people pay, and how much?</a:t>
            </a:r>
          </a:p>
        </p:txBody>
      </p:sp>
      <p:sp>
        <p:nvSpPr>
          <p:cNvPr id="29" name="TextBox 28"/>
          <p:cNvSpPr txBox="1"/>
          <p:nvPr/>
        </p:nvSpPr>
        <p:spPr>
          <a:xfrm>
            <a:off x="6324447"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Who is the first, most eager customer?</a:t>
            </a:r>
          </a:p>
        </p:txBody>
      </p:sp>
      <p:sp>
        <p:nvSpPr>
          <p:cNvPr id="30" name="TextBox 29"/>
          <p:cNvSpPr txBox="1"/>
          <p:nvPr/>
        </p:nvSpPr>
        <p:spPr>
          <a:xfrm>
            <a:off x="6324447"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What is the smallest test I can run?</a:t>
            </a:r>
          </a:p>
        </p:txBody>
      </p:sp>
      <p:sp>
        <p:nvSpPr>
          <p:cNvPr id="31" name="TextBox 30"/>
          <p:cNvSpPr txBox="1"/>
          <p:nvPr/>
        </p:nvSpPr>
        <p:spPr>
          <a:xfrm>
            <a:off x="8616482"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32" name="Rectangle 31"/>
          <p:cNvSpPr/>
          <p:nvPr/>
        </p:nvSpPr>
        <p:spPr>
          <a:xfrm>
            <a:off x="8616482"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3" name="TextBox 32"/>
          <p:cNvSpPr txBox="1"/>
          <p:nvPr/>
        </p:nvSpPr>
        <p:spPr>
          <a:xfrm>
            <a:off x="8872514"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Run 10–20 customer conversations</a:t>
            </a:r>
          </a:p>
        </p:txBody>
      </p:sp>
      <p:sp>
        <p:nvSpPr>
          <p:cNvPr id="34" name="Rectangle 33"/>
          <p:cNvSpPr/>
          <p:nvPr/>
        </p:nvSpPr>
        <p:spPr>
          <a:xfrm>
            <a:off x="8616482"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5" name="TextBox 34"/>
          <p:cNvSpPr txBox="1"/>
          <p:nvPr/>
        </p:nvSpPr>
        <p:spPr>
          <a:xfrm>
            <a:off x="8872514"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Test a price with a pre-order or deposit</a:t>
            </a:r>
          </a:p>
        </p:txBody>
      </p:sp>
      <p:sp>
        <p:nvSpPr>
          <p:cNvPr id="36" name="Rectangle 35"/>
          <p:cNvSpPr/>
          <p:nvPr/>
        </p:nvSpPr>
        <p:spPr>
          <a:xfrm>
            <a:off x="8616482"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7" name="TextBox 36"/>
          <p:cNvSpPr txBox="1"/>
          <p:nvPr/>
        </p:nvSpPr>
        <p:spPr>
          <a:xfrm>
            <a:off x="8872514"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Build a landing page or sample</a:t>
            </a:r>
          </a:p>
        </p:txBody>
      </p:sp>
      <p:sp>
        <p:nvSpPr>
          <p:cNvPr id="38" name="Rectangle 37"/>
          <p:cNvSpPr/>
          <p:nvPr/>
        </p:nvSpPr>
        <p:spPr>
          <a:xfrm>
            <a:off x="8616482"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9" name="TextBox 38"/>
          <p:cNvSpPr txBox="1"/>
          <p:nvPr/>
        </p:nvSpPr>
        <p:spPr>
          <a:xfrm>
            <a:off x="8872514"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Record what you learned</a:t>
            </a:r>
          </a:p>
        </p:txBody>
      </p:sp>
      <p:sp>
        <p:nvSpPr>
          <p:cNvPr id="40" name="Rectangle 39"/>
          <p:cNvSpPr/>
          <p:nvPr/>
        </p:nvSpPr>
        <p:spPr>
          <a:xfrm>
            <a:off x="8616482"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41" name="TextBox 40"/>
          <p:cNvSpPr txBox="1"/>
          <p:nvPr/>
        </p:nvSpPr>
        <p:spPr>
          <a:xfrm>
            <a:off x="8872514"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Decide: continue, change or stop</a:t>
            </a:r>
          </a:p>
        </p:txBody>
      </p:sp>
      <p:sp>
        <p:nvSpPr>
          <p:cNvPr id="42" name="Rectangle 41"/>
          <p:cNvSpPr/>
          <p:nvPr/>
        </p:nvSpPr>
        <p:spPr>
          <a:xfrm>
            <a:off x="6324447"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43" name="TextBox 42"/>
          <p:cNvSpPr txBox="1"/>
          <p:nvPr/>
        </p:nvSpPr>
        <p:spPr>
          <a:xfrm>
            <a:off x="6507327"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Customers committing time or money</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Validation clinic, interview guide, mentor feedback</a:t>
            </a:r>
          </a:p>
        </p:txBody>
      </p:sp>
      <p:sp>
        <p:nvSpPr>
          <p:cNvPr id="44" name="TextBox 4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5" name="TextBox 4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JOURNEY IN PRACTICE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From first offer to first customers.</a:t>
            </a:r>
          </a:p>
        </p:txBody>
      </p:sp>
      <p:sp>
        <p:nvSpPr>
          <p:cNvPr id="4" name="Rectangle 3"/>
          <p:cNvSpPr/>
          <p:nvPr/>
        </p:nvSpPr>
        <p:spPr>
          <a:xfrm>
            <a:off x="594360" y="1965960"/>
            <a:ext cx="5272887" cy="566928"/>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822960"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C9D6E8"/>
                </a:solidFill>
                <a:latin typeface="Inter"/>
              </a:rPr>
              <a:t>STAGE 3</a:t>
            </a:r>
            <a:r>
              <a:rPr sz="1600" b="1" i="0">
                <a:solidFill>
                  <a:srgbClr val="FFFFFF"/>
                </a:solidFill>
                <a:latin typeface="Inter"/>
              </a:rPr>
              <a:t>   Build</a:t>
            </a:r>
          </a:p>
        </p:txBody>
      </p:sp>
      <p:sp>
        <p:nvSpPr>
          <p:cNvPr id="6" name="TextBox 5"/>
          <p:cNvSpPr txBox="1"/>
          <p:nvPr/>
        </p:nvSpPr>
        <p:spPr>
          <a:xfrm>
            <a:off x="594360"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Create the simplest version people will pay for.</a:t>
            </a:r>
          </a:p>
        </p:txBody>
      </p:sp>
      <p:sp>
        <p:nvSpPr>
          <p:cNvPr id="7" name="TextBox 6"/>
          <p:cNvSpPr txBox="1"/>
          <p:nvPr/>
        </p:nvSpPr>
        <p:spPr>
          <a:xfrm>
            <a:off x="594360"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8" name="TextBox 7"/>
          <p:cNvSpPr txBox="1"/>
          <p:nvPr/>
        </p:nvSpPr>
        <p:spPr>
          <a:xfrm>
            <a:off x="594360"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What is the minimum viable product?</a:t>
            </a:r>
          </a:p>
        </p:txBody>
      </p:sp>
      <p:sp>
        <p:nvSpPr>
          <p:cNvPr id="9" name="TextBox 8"/>
          <p:cNvSpPr txBox="1"/>
          <p:nvPr/>
        </p:nvSpPr>
        <p:spPr>
          <a:xfrm>
            <a:off x="594360"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Which company structure and licence do I need?</a:t>
            </a:r>
          </a:p>
        </p:txBody>
      </p:sp>
      <p:sp>
        <p:nvSpPr>
          <p:cNvPr id="10" name="TextBox 9"/>
          <p:cNvSpPr txBox="1"/>
          <p:nvPr/>
        </p:nvSpPr>
        <p:spPr>
          <a:xfrm>
            <a:off x="594360"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What will it cost to deliver?</a:t>
            </a:r>
          </a:p>
        </p:txBody>
      </p:sp>
      <p:sp>
        <p:nvSpPr>
          <p:cNvPr id="11" name="TextBox 10"/>
          <p:cNvSpPr txBox="1"/>
          <p:nvPr/>
        </p:nvSpPr>
        <p:spPr>
          <a:xfrm>
            <a:off x="2886395"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12" name="Rectangle 11"/>
          <p:cNvSpPr/>
          <p:nvPr/>
        </p:nvSpPr>
        <p:spPr>
          <a:xfrm>
            <a:off x="2886395"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3" name="TextBox 12"/>
          <p:cNvSpPr txBox="1"/>
          <p:nvPr/>
        </p:nvSpPr>
        <p:spPr>
          <a:xfrm>
            <a:off x="3142427"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Define the first offer and scope</a:t>
            </a:r>
          </a:p>
        </p:txBody>
      </p:sp>
      <p:sp>
        <p:nvSpPr>
          <p:cNvPr id="14" name="Rectangle 13"/>
          <p:cNvSpPr/>
          <p:nvPr/>
        </p:nvSpPr>
        <p:spPr>
          <a:xfrm>
            <a:off x="2886395"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5" name="TextBox 14"/>
          <p:cNvSpPr txBox="1"/>
          <p:nvPr/>
        </p:nvSpPr>
        <p:spPr>
          <a:xfrm>
            <a:off x="3142427"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Choose setup route and licence</a:t>
            </a:r>
          </a:p>
        </p:txBody>
      </p:sp>
      <p:sp>
        <p:nvSpPr>
          <p:cNvPr id="16" name="Rectangle 15"/>
          <p:cNvSpPr/>
          <p:nvPr/>
        </p:nvSpPr>
        <p:spPr>
          <a:xfrm>
            <a:off x="2886395"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7" name="TextBox 16"/>
          <p:cNvSpPr txBox="1"/>
          <p:nvPr/>
        </p:nvSpPr>
        <p:spPr>
          <a:xfrm>
            <a:off x="3142427"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Estimate unit costs and margin</a:t>
            </a:r>
          </a:p>
        </p:txBody>
      </p:sp>
      <p:sp>
        <p:nvSpPr>
          <p:cNvPr id="18" name="Rectangle 17"/>
          <p:cNvSpPr/>
          <p:nvPr/>
        </p:nvSpPr>
        <p:spPr>
          <a:xfrm>
            <a:off x="2886395"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9" name="TextBox 18"/>
          <p:cNvSpPr txBox="1"/>
          <p:nvPr/>
        </p:nvSpPr>
        <p:spPr>
          <a:xfrm>
            <a:off x="3142427"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Set up basic finance and contracts</a:t>
            </a:r>
          </a:p>
        </p:txBody>
      </p:sp>
      <p:sp>
        <p:nvSpPr>
          <p:cNvPr id="20" name="Rectangle 19"/>
          <p:cNvSpPr/>
          <p:nvPr/>
        </p:nvSpPr>
        <p:spPr>
          <a:xfrm>
            <a:off x="2886395"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21" name="TextBox 20"/>
          <p:cNvSpPr txBox="1"/>
          <p:nvPr/>
        </p:nvSpPr>
        <p:spPr>
          <a:xfrm>
            <a:off x="3142427"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Line up first customers</a:t>
            </a:r>
          </a:p>
        </p:txBody>
      </p:sp>
      <p:sp>
        <p:nvSpPr>
          <p:cNvPr id="22" name="Rectangle 21"/>
          <p:cNvSpPr/>
          <p:nvPr/>
        </p:nvSpPr>
        <p:spPr>
          <a:xfrm>
            <a:off x="594360"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23" name="TextBox 22"/>
          <p:cNvSpPr txBox="1"/>
          <p:nvPr/>
        </p:nvSpPr>
        <p:spPr>
          <a:xfrm>
            <a:off x="777240"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A first offer delivered to real customers</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Setup, legal and product specialists; templates</a:t>
            </a:r>
          </a:p>
        </p:txBody>
      </p:sp>
      <p:sp>
        <p:nvSpPr>
          <p:cNvPr id="24" name="Rectangle 23"/>
          <p:cNvSpPr/>
          <p:nvPr/>
        </p:nvSpPr>
        <p:spPr>
          <a:xfrm>
            <a:off x="6324447" y="1965960"/>
            <a:ext cx="5272887" cy="566928"/>
          </a:xfrm>
          <a:prstGeom prst="rect">
            <a:avLst/>
          </a:prstGeom>
          <a:solidFill>
            <a:srgbClr val="1765D1"/>
          </a:solidFill>
          <a:ln>
            <a:noFill/>
          </a:ln>
          <a:effectLst/>
        </p:spPr>
        <p:txBody>
          <a:bodyPr rtlCol="0" anchor="ctr" lIns="73152" rIns="73152" tIns="36576" bIns="36576"/>
          <a:lstStyle/>
          <a:p>
            <a:pPr algn="ctr"/>
          </a:p>
        </p:txBody>
      </p:sp>
      <p:sp>
        <p:nvSpPr>
          <p:cNvPr id="25" name="TextBox 24"/>
          <p:cNvSpPr txBox="1"/>
          <p:nvPr/>
        </p:nvSpPr>
        <p:spPr>
          <a:xfrm>
            <a:off x="6553047"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C9D6E8"/>
                </a:solidFill>
                <a:latin typeface="Inter"/>
              </a:rPr>
              <a:t>STAGE 4</a:t>
            </a:r>
            <a:r>
              <a:rPr sz="1600" b="1" i="0">
                <a:solidFill>
                  <a:srgbClr val="FFFFFF"/>
                </a:solidFill>
                <a:latin typeface="Inter"/>
              </a:rPr>
              <a:t>   Launch</a:t>
            </a:r>
          </a:p>
        </p:txBody>
      </p:sp>
      <p:sp>
        <p:nvSpPr>
          <p:cNvPr id="26" name="TextBox 25"/>
          <p:cNvSpPr txBox="1"/>
          <p:nvPr/>
        </p:nvSpPr>
        <p:spPr>
          <a:xfrm>
            <a:off x="6324447"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Reach first customers in a repeatable way.</a:t>
            </a:r>
          </a:p>
        </p:txBody>
      </p:sp>
      <p:sp>
        <p:nvSpPr>
          <p:cNvPr id="27" name="TextBox 26"/>
          <p:cNvSpPr txBox="1"/>
          <p:nvPr/>
        </p:nvSpPr>
        <p:spPr>
          <a:xfrm>
            <a:off x="6324447"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28" name="TextBox 27"/>
          <p:cNvSpPr txBox="1"/>
          <p:nvPr/>
        </p:nvSpPr>
        <p:spPr>
          <a:xfrm>
            <a:off x="6324447"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Which channel brings customers most efficiently?</a:t>
            </a:r>
          </a:p>
        </p:txBody>
      </p:sp>
      <p:sp>
        <p:nvSpPr>
          <p:cNvPr id="29" name="TextBox 28"/>
          <p:cNvSpPr txBox="1"/>
          <p:nvPr/>
        </p:nvSpPr>
        <p:spPr>
          <a:xfrm>
            <a:off x="6324447"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Is my pricing right?</a:t>
            </a:r>
          </a:p>
        </p:txBody>
      </p:sp>
      <p:sp>
        <p:nvSpPr>
          <p:cNvPr id="30" name="TextBox 29"/>
          <p:cNvSpPr txBox="1"/>
          <p:nvPr/>
        </p:nvSpPr>
        <p:spPr>
          <a:xfrm>
            <a:off x="6324447"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What do customers say after buying?</a:t>
            </a:r>
          </a:p>
        </p:txBody>
      </p:sp>
      <p:sp>
        <p:nvSpPr>
          <p:cNvPr id="31" name="TextBox 30"/>
          <p:cNvSpPr txBox="1"/>
          <p:nvPr/>
        </p:nvSpPr>
        <p:spPr>
          <a:xfrm>
            <a:off x="8616482"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32" name="Rectangle 31"/>
          <p:cNvSpPr/>
          <p:nvPr/>
        </p:nvSpPr>
        <p:spPr>
          <a:xfrm>
            <a:off x="8616482"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3" name="TextBox 32"/>
          <p:cNvSpPr txBox="1"/>
          <p:nvPr/>
        </p:nvSpPr>
        <p:spPr>
          <a:xfrm>
            <a:off x="8872514"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Pick one acquisition channel to test</a:t>
            </a:r>
          </a:p>
        </p:txBody>
      </p:sp>
      <p:sp>
        <p:nvSpPr>
          <p:cNvPr id="34" name="Rectangle 33"/>
          <p:cNvSpPr/>
          <p:nvPr/>
        </p:nvSpPr>
        <p:spPr>
          <a:xfrm>
            <a:off x="8616482"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5" name="TextBox 34"/>
          <p:cNvSpPr txBox="1"/>
          <p:nvPr/>
        </p:nvSpPr>
        <p:spPr>
          <a:xfrm>
            <a:off x="8872514"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Track cost per customer</a:t>
            </a:r>
          </a:p>
        </p:txBody>
      </p:sp>
      <p:sp>
        <p:nvSpPr>
          <p:cNvPr id="36" name="Rectangle 35"/>
          <p:cNvSpPr/>
          <p:nvPr/>
        </p:nvSpPr>
        <p:spPr>
          <a:xfrm>
            <a:off x="8616482"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7" name="TextBox 36"/>
          <p:cNvSpPr txBox="1"/>
          <p:nvPr/>
        </p:nvSpPr>
        <p:spPr>
          <a:xfrm>
            <a:off x="8872514"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Collect reviews and feedback</a:t>
            </a:r>
          </a:p>
        </p:txBody>
      </p:sp>
      <p:sp>
        <p:nvSpPr>
          <p:cNvPr id="38" name="Rectangle 37"/>
          <p:cNvSpPr/>
          <p:nvPr/>
        </p:nvSpPr>
        <p:spPr>
          <a:xfrm>
            <a:off x="8616482"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9" name="TextBox 38"/>
          <p:cNvSpPr txBox="1"/>
          <p:nvPr/>
        </p:nvSpPr>
        <p:spPr>
          <a:xfrm>
            <a:off x="8872514"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Refine pricing and packaging</a:t>
            </a:r>
          </a:p>
        </p:txBody>
      </p:sp>
      <p:sp>
        <p:nvSpPr>
          <p:cNvPr id="40" name="Rectangle 39"/>
          <p:cNvSpPr/>
          <p:nvPr/>
        </p:nvSpPr>
        <p:spPr>
          <a:xfrm>
            <a:off x="8616482"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41" name="TextBox 40"/>
          <p:cNvSpPr txBox="1"/>
          <p:nvPr/>
        </p:nvSpPr>
        <p:spPr>
          <a:xfrm>
            <a:off x="8872514"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Build a simple sales process</a:t>
            </a:r>
          </a:p>
        </p:txBody>
      </p:sp>
      <p:sp>
        <p:nvSpPr>
          <p:cNvPr id="42" name="Rectangle 41"/>
          <p:cNvSpPr/>
          <p:nvPr/>
        </p:nvSpPr>
        <p:spPr>
          <a:xfrm>
            <a:off x="6324447"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43" name="TextBox 42"/>
          <p:cNvSpPr txBox="1"/>
          <p:nvPr/>
        </p:nvSpPr>
        <p:spPr>
          <a:xfrm>
            <a:off x="6507327"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Repeat sales from a known channel</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GTM sessions, marketing and sales specialists</a:t>
            </a:r>
          </a:p>
        </p:txBody>
      </p:sp>
      <p:sp>
        <p:nvSpPr>
          <p:cNvPr id="44" name="TextBox 4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5" name="TextBox 4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JOURNEY IN PRACTICE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From traction to scale — and capital where it fits.</a:t>
            </a:r>
          </a:p>
        </p:txBody>
      </p:sp>
      <p:sp>
        <p:nvSpPr>
          <p:cNvPr id="4" name="Rectangle 3"/>
          <p:cNvSpPr/>
          <p:nvPr/>
        </p:nvSpPr>
        <p:spPr>
          <a:xfrm>
            <a:off x="594360" y="1965960"/>
            <a:ext cx="5272887" cy="566928"/>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822960"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C9D6E8"/>
                </a:solidFill>
                <a:latin typeface="Inter"/>
              </a:rPr>
              <a:t>STAGE 5</a:t>
            </a:r>
            <a:r>
              <a:rPr sz="1600" b="1" i="0">
                <a:solidFill>
                  <a:srgbClr val="FFFFFF"/>
                </a:solidFill>
                <a:latin typeface="Inter"/>
              </a:rPr>
              <a:t>   Grow</a:t>
            </a:r>
          </a:p>
        </p:txBody>
      </p:sp>
      <p:sp>
        <p:nvSpPr>
          <p:cNvPr id="6" name="TextBox 5"/>
          <p:cNvSpPr txBox="1"/>
          <p:nvPr/>
        </p:nvSpPr>
        <p:spPr>
          <a:xfrm>
            <a:off x="594360"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Scale what works without breaking the business.</a:t>
            </a:r>
          </a:p>
        </p:txBody>
      </p:sp>
      <p:sp>
        <p:nvSpPr>
          <p:cNvPr id="7" name="TextBox 6"/>
          <p:cNvSpPr txBox="1"/>
          <p:nvPr/>
        </p:nvSpPr>
        <p:spPr>
          <a:xfrm>
            <a:off x="594360"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8" name="TextBox 7"/>
          <p:cNvSpPr txBox="1"/>
          <p:nvPr/>
        </p:nvSpPr>
        <p:spPr>
          <a:xfrm>
            <a:off x="594360"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Where is the biggest bottleneck?</a:t>
            </a:r>
          </a:p>
        </p:txBody>
      </p:sp>
      <p:sp>
        <p:nvSpPr>
          <p:cNvPr id="9" name="TextBox 8"/>
          <p:cNvSpPr txBox="1"/>
          <p:nvPr/>
        </p:nvSpPr>
        <p:spPr>
          <a:xfrm>
            <a:off x="594360"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Which roles or systems come next?</a:t>
            </a:r>
          </a:p>
        </p:txBody>
      </p:sp>
      <p:sp>
        <p:nvSpPr>
          <p:cNvPr id="10" name="TextBox 9"/>
          <p:cNvSpPr txBox="1"/>
          <p:nvPr/>
        </p:nvSpPr>
        <p:spPr>
          <a:xfrm>
            <a:off x="594360"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How do I protect cash while growing?</a:t>
            </a:r>
          </a:p>
        </p:txBody>
      </p:sp>
      <p:sp>
        <p:nvSpPr>
          <p:cNvPr id="11" name="TextBox 10"/>
          <p:cNvSpPr txBox="1"/>
          <p:nvPr/>
        </p:nvSpPr>
        <p:spPr>
          <a:xfrm>
            <a:off x="2886395"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12" name="Rectangle 11"/>
          <p:cNvSpPr/>
          <p:nvPr/>
        </p:nvSpPr>
        <p:spPr>
          <a:xfrm>
            <a:off x="2886395"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3" name="TextBox 12"/>
          <p:cNvSpPr txBox="1"/>
          <p:nvPr/>
        </p:nvSpPr>
        <p:spPr>
          <a:xfrm>
            <a:off x="3142427"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Map the operating bottleneck</a:t>
            </a:r>
          </a:p>
        </p:txBody>
      </p:sp>
      <p:sp>
        <p:nvSpPr>
          <p:cNvPr id="14" name="Rectangle 13"/>
          <p:cNvSpPr/>
          <p:nvPr/>
        </p:nvSpPr>
        <p:spPr>
          <a:xfrm>
            <a:off x="2886395"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5" name="TextBox 14"/>
          <p:cNvSpPr txBox="1"/>
          <p:nvPr/>
        </p:nvSpPr>
        <p:spPr>
          <a:xfrm>
            <a:off x="3142427"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Automate repeat tasks</a:t>
            </a:r>
          </a:p>
        </p:txBody>
      </p:sp>
      <p:sp>
        <p:nvSpPr>
          <p:cNvPr id="16" name="Rectangle 15"/>
          <p:cNvSpPr/>
          <p:nvPr/>
        </p:nvSpPr>
        <p:spPr>
          <a:xfrm>
            <a:off x="2886395"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7" name="TextBox 16"/>
          <p:cNvSpPr txBox="1"/>
          <p:nvPr/>
        </p:nvSpPr>
        <p:spPr>
          <a:xfrm>
            <a:off x="3142427"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Plan first key hires</a:t>
            </a:r>
          </a:p>
        </p:txBody>
      </p:sp>
      <p:sp>
        <p:nvSpPr>
          <p:cNvPr id="18" name="Rectangle 17"/>
          <p:cNvSpPr/>
          <p:nvPr/>
        </p:nvSpPr>
        <p:spPr>
          <a:xfrm>
            <a:off x="2886395"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19" name="TextBox 18"/>
          <p:cNvSpPr txBox="1"/>
          <p:nvPr/>
        </p:nvSpPr>
        <p:spPr>
          <a:xfrm>
            <a:off x="3142427"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Review margins by product or client</a:t>
            </a:r>
          </a:p>
        </p:txBody>
      </p:sp>
      <p:sp>
        <p:nvSpPr>
          <p:cNvPr id="20" name="Rectangle 19"/>
          <p:cNvSpPr/>
          <p:nvPr/>
        </p:nvSpPr>
        <p:spPr>
          <a:xfrm>
            <a:off x="2886395"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21" name="TextBox 20"/>
          <p:cNvSpPr txBox="1"/>
          <p:nvPr/>
        </p:nvSpPr>
        <p:spPr>
          <a:xfrm>
            <a:off x="3142427"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Set a 12-month cash plan</a:t>
            </a:r>
          </a:p>
        </p:txBody>
      </p:sp>
      <p:sp>
        <p:nvSpPr>
          <p:cNvPr id="22" name="Rectangle 21"/>
          <p:cNvSpPr/>
          <p:nvPr/>
        </p:nvSpPr>
        <p:spPr>
          <a:xfrm>
            <a:off x="594360"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23" name="TextBox 22"/>
          <p:cNvSpPr txBox="1"/>
          <p:nvPr/>
        </p:nvSpPr>
        <p:spPr>
          <a:xfrm>
            <a:off x="777240"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Growth with healthy margins and cash</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Operations, automation, finance and hiring support</a:t>
            </a:r>
          </a:p>
        </p:txBody>
      </p:sp>
      <p:sp>
        <p:nvSpPr>
          <p:cNvPr id="24" name="Rectangle 23"/>
          <p:cNvSpPr/>
          <p:nvPr/>
        </p:nvSpPr>
        <p:spPr>
          <a:xfrm>
            <a:off x="6324447" y="1965960"/>
            <a:ext cx="5272887" cy="566928"/>
          </a:xfrm>
          <a:prstGeom prst="rect">
            <a:avLst/>
          </a:prstGeom>
          <a:solidFill>
            <a:srgbClr val="10213B"/>
          </a:solidFill>
          <a:ln>
            <a:noFill/>
          </a:ln>
          <a:effectLst/>
        </p:spPr>
        <p:txBody>
          <a:bodyPr rtlCol="0" anchor="ctr" lIns="73152" rIns="73152" tIns="36576" bIns="36576"/>
          <a:lstStyle/>
          <a:p>
            <a:pPr algn="ctr"/>
          </a:p>
        </p:txBody>
      </p:sp>
      <p:sp>
        <p:nvSpPr>
          <p:cNvPr id="25" name="TextBox 24"/>
          <p:cNvSpPr txBox="1"/>
          <p:nvPr/>
        </p:nvSpPr>
        <p:spPr>
          <a:xfrm>
            <a:off x="6553047" y="2048256"/>
            <a:ext cx="4815687" cy="411480"/>
          </a:xfrm>
          <a:prstGeom prst="rect">
            <a:avLst/>
          </a:prstGeom>
          <a:noFill/>
        </p:spPr>
        <p:txBody>
          <a:bodyPr wrap="square" lIns="0" rIns="0" tIns="0" bIns="0" anchor="ctr"/>
          <a:lstStyle/>
          <a:p>
            <a:pPr algn="l">
              <a:lnSpc>
                <a:spcPct val="115000"/>
              </a:lnSpc>
              <a:spcAft>
                <a:spcPts val="0"/>
              </a:spcAft>
            </a:pPr>
            <a:r>
              <a:rPr sz="950" b="1" i="0" spc="130">
                <a:solidFill>
                  <a:srgbClr val="4F8BE0"/>
                </a:solidFill>
                <a:latin typeface="Inter"/>
              </a:rPr>
              <a:t>STAGE 6</a:t>
            </a:r>
            <a:r>
              <a:rPr sz="1600" b="1" i="0">
                <a:solidFill>
                  <a:srgbClr val="FFFFFF"/>
                </a:solidFill>
                <a:latin typeface="Inter"/>
              </a:rPr>
              <a:t>   Prepare for capital</a:t>
            </a:r>
          </a:p>
        </p:txBody>
      </p:sp>
      <p:sp>
        <p:nvSpPr>
          <p:cNvPr id="26" name="TextBox 25"/>
          <p:cNvSpPr txBox="1"/>
          <p:nvPr/>
        </p:nvSpPr>
        <p:spPr>
          <a:xfrm>
            <a:off x="6324447" y="2697480"/>
            <a:ext cx="5272887"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Decide if external funding fits — and get ready.</a:t>
            </a:r>
          </a:p>
        </p:txBody>
      </p:sp>
      <p:sp>
        <p:nvSpPr>
          <p:cNvPr id="27" name="TextBox 26"/>
          <p:cNvSpPr txBox="1"/>
          <p:nvPr/>
        </p:nvSpPr>
        <p:spPr>
          <a:xfrm>
            <a:off x="6324447" y="3127248"/>
            <a:ext cx="2109155"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KEY QUESTIONS</a:t>
            </a:r>
          </a:p>
        </p:txBody>
      </p:sp>
      <p:sp>
        <p:nvSpPr>
          <p:cNvPr id="28" name="TextBox 27"/>
          <p:cNvSpPr txBox="1"/>
          <p:nvPr/>
        </p:nvSpPr>
        <p:spPr>
          <a:xfrm>
            <a:off x="6324447" y="340156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Do I need outside money, and why?</a:t>
            </a:r>
          </a:p>
        </p:txBody>
      </p:sp>
      <p:sp>
        <p:nvSpPr>
          <p:cNvPr id="29" name="TextBox 28"/>
          <p:cNvSpPr txBox="1"/>
          <p:nvPr/>
        </p:nvSpPr>
        <p:spPr>
          <a:xfrm>
            <a:off x="6324447" y="404164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Which type of capital suits my business?</a:t>
            </a:r>
          </a:p>
        </p:txBody>
      </p:sp>
      <p:sp>
        <p:nvSpPr>
          <p:cNvPr id="30" name="TextBox 29"/>
          <p:cNvSpPr txBox="1"/>
          <p:nvPr/>
        </p:nvSpPr>
        <p:spPr>
          <a:xfrm>
            <a:off x="6324447" y="4681728"/>
            <a:ext cx="2017715" cy="59436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What will investors ask to see?</a:t>
            </a:r>
          </a:p>
        </p:txBody>
      </p:sp>
      <p:sp>
        <p:nvSpPr>
          <p:cNvPr id="31" name="TextBox 30"/>
          <p:cNvSpPr txBox="1"/>
          <p:nvPr/>
        </p:nvSpPr>
        <p:spPr>
          <a:xfrm>
            <a:off x="8616482" y="3127248"/>
            <a:ext cx="2980852" cy="228600"/>
          </a:xfrm>
          <a:prstGeom prst="rect">
            <a:avLst/>
          </a:prstGeom>
          <a:noFill/>
        </p:spPr>
        <p:txBody>
          <a:bodyPr wrap="square" lIns="0" rIns="0" tIns="0" bIns="0" anchor="t"/>
          <a:lstStyle/>
          <a:p>
            <a:pPr algn="l">
              <a:lnSpc>
                <a:spcPct val="115000"/>
              </a:lnSpc>
              <a:spcAft>
                <a:spcPts val="0"/>
              </a:spcAft>
            </a:pPr>
            <a:r>
              <a:rPr sz="850" b="1" i="0" spc="110">
                <a:solidFill>
                  <a:srgbClr val="1765D1"/>
                </a:solidFill>
                <a:latin typeface="Inter"/>
              </a:rPr>
              <a:t>PRACTICAL CHECKLIST</a:t>
            </a:r>
          </a:p>
        </p:txBody>
      </p:sp>
      <p:sp>
        <p:nvSpPr>
          <p:cNvPr id="32" name="Rectangle 31"/>
          <p:cNvSpPr/>
          <p:nvPr/>
        </p:nvSpPr>
        <p:spPr>
          <a:xfrm>
            <a:off x="8616482" y="3447288"/>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3" name="TextBox 32"/>
          <p:cNvSpPr txBox="1"/>
          <p:nvPr/>
        </p:nvSpPr>
        <p:spPr>
          <a:xfrm>
            <a:off x="8872514" y="3401568"/>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Define what the money is for</a:t>
            </a:r>
          </a:p>
        </p:txBody>
      </p:sp>
      <p:sp>
        <p:nvSpPr>
          <p:cNvPr id="34" name="Rectangle 33"/>
          <p:cNvSpPr/>
          <p:nvPr/>
        </p:nvSpPr>
        <p:spPr>
          <a:xfrm>
            <a:off x="8616482" y="3849624"/>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5" name="TextBox 34"/>
          <p:cNvSpPr txBox="1"/>
          <p:nvPr/>
        </p:nvSpPr>
        <p:spPr>
          <a:xfrm>
            <a:off x="8872514" y="3803904"/>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Compare funding options</a:t>
            </a:r>
          </a:p>
        </p:txBody>
      </p:sp>
      <p:sp>
        <p:nvSpPr>
          <p:cNvPr id="36" name="Rectangle 35"/>
          <p:cNvSpPr/>
          <p:nvPr/>
        </p:nvSpPr>
        <p:spPr>
          <a:xfrm>
            <a:off x="8616482" y="4251960"/>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7" name="TextBox 36"/>
          <p:cNvSpPr txBox="1"/>
          <p:nvPr/>
        </p:nvSpPr>
        <p:spPr>
          <a:xfrm>
            <a:off x="8872514" y="4206240"/>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Prepare core metrics and data room</a:t>
            </a:r>
          </a:p>
        </p:txBody>
      </p:sp>
      <p:sp>
        <p:nvSpPr>
          <p:cNvPr id="38" name="Rectangle 37"/>
          <p:cNvSpPr/>
          <p:nvPr/>
        </p:nvSpPr>
        <p:spPr>
          <a:xfrm>
            <a:off x="8616482" y="4654296"/>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39" name="TextBox 38"/>
          <p:cNvSpPr txBox="1"/>
          <p:nvPr/>
        </p:nvSpPr>
        <p:spPr>
          <a:xfrm>
            <a:off x="8872514" y="4608576"/>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Sharpen the pitch and story</a:t>
            </a:r>
          </a:p>
        </p:txBody>
      </p:sp>
      <p:sp>
        <p:nvSpPr>
          <p:cNvPr id="40" name="Rectangle 39"/>
          <p:cNvSpPr/>
          <p:nvPr/>
        </p:nvSpPr>
        <p:spPr>
          <a:xfrm>
            <a:off x="8616482" y="5056632"/>
            <a:ext cx="146304" cy="146304"/>
          </a:xfrm>
          <a:prstGeom prst="rect">
            <a:avLst/>
          </a:prstGeom>
          <a:noFill/>
          <a:ln w="15875">
            <a:solidFill>
              <a:srgbClr val="1765D1"/>
            </a:solidFill>
          </a:ln>
          <a:effectLst/>
        </p:spPr>
        <p:txBody>
          <a:bodyPr rtlCol="0" anchor="ctr" lIns="73152" rIns="73152" tIns="36576" bIns="36576"/>
          <a:lstStyle/>
          <a:p>
            <a:pPr algn="ctr"/>
          </a:p>
        </p:txBody>
      </p:sp>
      <p:sp>
        <p:nvSpPr>
          <p:cNvPr id="41" name="TextBox 40"/>
          <p:cNvSpPr txBox="1"/>
          <p:nvPr/>
        </p:nvSpPr>
        <p:spPr>
          <a:xfrm>
            <a:off x="8872514" y="5010912"/>
            <a:ext cx="2724820" cy="36576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Practise with experienced investors</a:t>
            </a:r>
          </a:p>
        </p:txBody>
      </p:sp>
      <p:sp>
        <p:nvSpPr>
          <p:cNvPr id="42" name="Rectangle 41"/>
          <p:cNvSpPr/>
          <p:nvPr/>
        </p:nvSpPr>
        <p:spPr>
          <a:xfrm>
            <a:off x="6324447" y="5468112"/>
            <a:ext cx="5272887" cy="749808"/>
          </a:xfrm>
          <a:prstGeom prst="rect">
            <a:avLst/>
          </a:prstGeom>
          <a:solidFill>
            <a:srgbClr val="EDF4FE"/>
          </a:solidFill>
          <a:ln>
            <a:noFill/>
          </a:ln>
          <a:effectLst/>
        </p:spPr>
        <p:txBody>
          <a:bodyPr rtlCol="0" anchor="ctr" lIns="73152" rIns="73152" tIns="36576" bIns="36576"/>
          <a:lstStyle/>
          <a:p>
            <a:pPr algn="ctr"/>
          </a:p>
        </p:txBody>
      </p:sp>
      <p:sp>
        <p:nvSpPr>
          <p:cNvPr id="43" name="TextBox 42"/>
          <p:cNvSpPr txBox="1"/>
          <p:nvPr/>
        </p:nvSpPr>
        <p:spPr>
          <a:xfrm>
            <a:off x="6507327" y="5522976"/>
            <a:ext cx="4907127" cy="685800"/>
          </a:xfrm>
          <a:prstGeom prst="rect">
            <a:avLst/>
          </a:prstGeom>
          <a:noFill/>
        </p:spPr>
        <p:txBody>
          <a:bodyPr wrap="square" lIns="0" rIns="0" tIns="0" bIns="0" anchor="t"/>
          <a:lstStyle/>
          <a:p>
            <a:pPr algn="l">
              <a:lnSpc>
                <a:spcPct val="125000"/>
              </a:lnSpc>
              <a:spcAft>
                <a:spcPts val="0"/>
              </a:spcAft>
            </a:pPr>
            <a:r>
              <a:rPr sz="1050" b="1" i="0">
                <a:solidFill>
                  <a:srgbClr val="10213B"/>
                </a:solidFill>
                <a:latin typeface="Inter"/>
              </a:rPr>
              <a:t>Sign of progress: </a:t>
            </a:r>
            <a:r>
              <a:rPr sz="1050" b="0" i="0">
                <a:solidFill>
                  <a:srgbClr val="253650"/>
                </a:solidFill>
                <a:latin typeface="Inter"/>
              </a:rPr>
              <a:t>A funding decision made on evidence</a:t>
            </a:r>
          </a:p>
          <a:p>
            <a:pPr algn="l">
              <a:lnSpc>
                <a:spcPct val="125000"/>
              </a:lnSpc>
              <a:spcAft>
                <a:spcPts val="0"/>
              </a:spcAft>
            </a:pPr>
            <a:r>
              <a:rPr sz="1050" b="1" i="0">
                <a:solidFill>
                  <a:srgbClr val="1765D1"/>
                </a:solidFill>
                <a:latin typeface="Inter"/>
              </a:rPr>
              <a:t>Startup Roof support: </a:t>
            </a:r>
            <a:r>
              <a:rPr sz="1050" b="0" i="0">
                <a:solidFill>
                  <a:srgbClr val="253650"/>
                </a:solidFill>
                <a:latin typeface="Inter"/>
              </a:rPr>
              <a:t>Readiness review, pitch feedback, relevant introductions</a:t>
            </a:r>
          </a:p>
        </p:txBody>
      </p:sp>
      <p:sp>
        <p:nvSpPr>
          <p:cNvPr id="44" name="TextBox 4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5" name="TextBox 4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STARTUP METRICS, EXPLAINED SIMPLY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The numbers every founder should understand.</a:t>
            </a:r>
          </a:p>
        </p:txBody>
      </p:sp>
      <p:sp>
        <p:nvSpPr>
          <p:cNvPr id="4" name="Rectangle 3"/>
          <p:cNvSpPr/>
          <p:nvPr/>
        </p:nvSpPr>
        <p:spPr>
          <a:xfrm>
            <a:off x="594360" y="19659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795528" y="21305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MVP</a:t>
            </a:r>
          </a:p>
        </p:txBody>
      </p:sp>
      <p:sp>
        <p:nvSpPr>
          <p:cNvPr id="6" name="TextBox 5"/>
          <p:cNvSpPr txBox="1"/>
          <p:nvPr/>
        </p:nvSpPr>
        <p:spPr>
          <a:xfrm>
            <a:off x="795528" y="26974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Minimum viable product</a:t>
            </a:r>
          </a:p>
        </p:txBody>
      </p:sp>
      <p:sp>
        <p:nvSpPr>
          <p:cNvPr id="7" name="TextBox 6"/>
          <p:cNvSpPr txBox="1"/>
          <p:nvPr/>
        </p:nvSpPr>
        <p:spPr>
          <a:xfrm>
            <a:off x="795528" y="30358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The simplest version that real customers will use or pay for.</a:t>
            </a:r>
          </a:p>
        </p:txBody>
      </p:sp>
      <p:sp>
        <p:nvSpPr>
          <p:cNvPr id="8" name="Rectangle 7"/>
          <p:cNvSpPr/>
          <p:nvPr/>
        </p:nvSpPr>
        <p:spPr>
          <a:xfrm>
            <a:off x="3379393" y="19659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9" name="TextBox 8"/>
          <p:cNvSpPr txBox="1"/>
          <p:nvPr/>
        </p:nvSpPr>
        <p:spPr>
          <a:xfrm>
            <a:off x="3580561" y="21305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PMF</a:t>
            </a:r>
          </a:p>
        </p:txBody>
      </p:sp>
      <p:sp>
        <p:nvSpPr>
          <p:cNvPr id="10" name="TextBox 9"/>
          <p:cNvSpPr txBox="1"/>
          <p:nvPr/>
        </p:nvSpPr>
        <p:spPr>
          <a:xfrm>
            <a:off x="3580561" y="26974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Product–market fit</a:t>
            </a:r>
          </a:p>
        </p:txBody>
      </p:sp>
      <p:sp>
        <p:nvSpPr>
          <p:cNvPr id="11" name="TextBox 10"/>
          <p:cNvSpPr txBox="1"/>
          <p:nvPr/>
        </p:nvSpPr>
        <p:spPr>
          <a:xfrm>
            <a:off x="3580561" y="30358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Customers keep buying and recommending without heavy pushing.</a:t>
            </a:r>
          </a:p>
        </p:txBody>
      </p:sp>
      <p:sp>
        <p:nvSpPr>
          <p:cNvPr id="12" name="Rectangle 11"/>
          <p:cNvSpPr/>
          <p:nvPr/>
        </p:nvSpPr>
        <p:spPr>
          <a:xfrm>
            <a:off x="6164427" y="1965960"/>
            <a:ext cx="2647873" cy="1874519"/>
          </a:xfrm>
          <a:prstGeom prst="rect">
            <a:avLst/>
          </a:prstGeom>
          <a:solidFill>
            <a:srgbClr val="10213B"/>
          </a:solidFill>
          <a:ln>
            <a:noFill/>
          </a:ln>
          <a:effectLst/>
        </p:spPr>
        <p:txBody>
          <a:bodyPr rtlCol="0" anchor="ctr" lIns="73152" rIns="73152" tIns="36576" bIns="36576"/>
          <a:lstStyle/>
          <a:p>
            <a:pPr algn="ctr"/>
          </a:p>
        </p:txBody>
      </p:sp>
      <p:sp>
        <p:nvSpPr>
          <p:cNvPr id="13" name="TextBox 12"/>
          <p:cNvSpPr txBox="1"/>
          <p:nvPr/>
        </p:nvSpPr>
        <p:spPr>
          <a:xfrm>
            <a:off x="6365595" y="2130552"/>
            <a:ext cx="2282113" cy="502920"/>
          </a:xfrm>
          <a:prstGeom prst="rect">
            <a:avLst/>
          </a:prstGeom>
          <a:noFill/>
        </p:spPr>
        <p:txBody>
          <a:bodyPr wrap="square" lIns="0" rIns="0" tIns="0" bIns="0" anchor="t"/>
          <a:lstStyle/>
          <a:p>
            <a:pPr algn="l">
              <a:lnSpc>
                <a:spcPct val="115000"/>
              </a:lnSpc>
              <a:spcAft>
                <a:spcPts val="0"/>
              </a:spcAft>
            </a:pPr>
            <a:r>
              <a:rPr sz="2400" b="1" i="0">
                <a:solidFill>
                  <a:srgbClr val="FFFFFF"/>
                </a:solidFill>
                <a:latin typeface="Inter"/>
              </a:rPr>
              <a:t>CAC</a:t>
            </a:r>
          </a:p>
        </p:txBody>
      </p:sp>
      <p:sp>
        <p:nvSpPr>
          <p:cNvPr id="14" name="TextBox 13"/>
          <p:cNvSpPr txBox="1"/>
          <p:nvPr/>
        </p:nvSpPr>
        <p:spPr>
          <a:xfrm>
            <a:off x="6365595" y="2697480"/>
            <a:ext cx="2282113" cy="3200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Customer acquisition cost</a:t>
            </a:r>
          </a:p>
        </p:txBody>
      </p:sp>
      <p:sp>
        <p:nvSpPr>
          <p:cNvPr id="15" name="TextBox 14"/>
          <p:cNvSpPr txBox="1"/>
          <p:nvPr/>
        </p:nvSpPr>
        <p:spPr>
          <a:xfrm>
            <a:off x="6365595" y="3035808"/>
            <a:ext cx="2282113" cy="731520"/>
          </a:xfrm>
          <a:prstGeom prst="rect">
            <a:avLst/>
          </a:prstGeom>
          <a:noFill/>
        </p:spPr>
        <p:txBody>
          <a:bodyPr wrap="square" lIns="0" rIns="0" tIns="0" bIns="0" anchor="t"/>
          <a:lstStyle/>
          <a:p>
            <a:pPr algn="l">
              <a:lnSpc>
                <a:spcPct val="120000"/>
              </a:lnSpc>
              <a:spcAft>
                <a:spcPts val="0"/>
              </a:spcAft>
            </a:pPr>
            <a:r>
              <a:rPr sz="1100" b="0" i="0">
                <a:solidFill>
                  <a:srgbClr val="C9D6E8"/>
                </a:solidFill>
                <a:latin typeface="Inter"/>
              </a:rPr>
              <a:t>Sales + marketing spend ÷ new customers won.</a:t>
            </a:r>
          </a:p>
        </p:txBody>
      </p:sp>
      <p:sp>
        <p:nvSpPr>
          <p:cNvPr id="16" name="Rectangle 15"/>
          <p:cNvSpPr/>
          <p:nvPr/>
        </p:nvSpPr>
        <p:spPr>
          <a:xfrm>
            <a:off x="8949461" y="1965960"/>
            <a:ext cx="2647873" cy="1874519"/>
          </a:xfrm>
          <a:prstGeom prst="rect">
            <a:avLst/>
          </a:prstGeom>
          <a:solidFill>
            <a:srgbClr val="10213B"/>
          </a:solidFill>
          <a:ln>
            <a:noFill/>
          </a:ln>
          <a:effectLst/>
        </p:spPr>
        <p:txBody>
          <a:bodyPr rtlCol="0" anchor="ctr" lIns="73152" rIns="73152" tIns="36576" bIns="36576"/>
          <a:lstStyle/>
          <a:p>
            <a:pPr algn="ctr"/>
          </a:p>
        </p:txBody>
      </p:sp>
      <p:sp>
        <p:nvSpPr>
          <p:cNvPr id="17" name="TextBox 16"/>
          <p:cNvSpPr txBox="1"/>
          <p:nvPr/>
        </p:nvSpPr>
        <p:spPr>
          <a:xfrm>
            <a:off x="9150629" y="2130552"/>
            <a:ext cx="2282113" cy="502920"/>
          </a:xfrm>
          <a:prstGeom prst="rect">
            <a:avLst/>
          </a:prstGeom>
          <a:noFill/>
        </p:spPr>
        <p:txBody>
          <a:bodyPr wrap="square" lIns="0" rIns="0" tIns="0" bIns="0" anchor="t"/>
          <a:lstStyle/>
          <a:p>
            <a:pPr algn="l">
              <a:lnSpc>
                <a:spcPct val="115000"/>
              </a:lnSpc>
              <a:spcAft>
                <a:spcPts val="0"/>
              </a:spcAft>
            </a:pPr>
            <a:r>
              <a:rPr sz="2400" b="1" i="0">
                <a:solidFill>
                  <a:srgbClr val="FFFFFF"/>
                </a:solidFill>
                <a:latin typeface="Inter"/>
              </a:rPr>
              <a:t>LTV</a:t>
            </a:r>
          </a:p>
        </p:txBody>
      </p:sp>
      <p:sp>
        <p:nvSpPr>
          <p:cNvPr id="18" name="TextBox 17"/>
          <p:cNvSpPr txBox="1"/>
          <p:nvPr/>
        </p:nvSpPr>
        <p:spPr>
          <a:xfrm>
            <a:off x="9150629" y="2697480"/>
            <a:ext cx="2282113" cy="3200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Customer lifetime value</a:t>
            </a:r>
          </a:p>
        </p:txBody>
      </p:sp>
      <p:sp>
        <p:nvSpPr>
          <p:cNvPr id="19" name="TextBox 18"/>
          <p:cNvSpPr txBox="1"/>
          <p:nvPr/>
        </p:nvSpPr>
        <p:spPr>
          <a:xfrm>
            <a:off x="9150629" y="3035808"/>
            <a:ext cx="2282113" cy="731520"/>
          </a:xfrm>
          <a:prstGeom prst="rect">
            <a:avLst/>
          </a:prstGeom>
          <a:noFill/>
        </p:spPr>
        <p:txBody>
          <a:bodyPr wrap="square" lIns="0" rIns="0" tIns="0" bIns="0" anchor="t"/>
          <a:lstStyle/>
          <a:p>
            <a:pPr algn="l">
              <a:lnSpc>
                <a:spcPct val="120000"/>
              </a:lnSpc>
              <a:spcAft>
                <a:spcPts val="0"/>
              </a:spcAft>
            </a:pPr>
            <a:r>
              <a:rPr sz="1100" b="0" i="0">
                <a:solidFill>
                  <a:srgbClr val="C9D6E8"/>
                </a:solidFill>
                <a:latin typeface="Inter"/>
              </a:rPr>
              <a:t>Average gross profit per customer over the relationship.</a:t>
            </a:r>
          </a:p>
        </p:txBody>
      </p:sp>
      <p:sp>
        <p:nvSpPr>
          <p:cNvPr id="20" name="Rectangle 19"/>
          <p:cNvSpPr/>
          <p:nvPr/>
        </p:nvSpPr>
        <p:spPr>
          <a:xfrm>
            <a:off x="594360" y="40233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21" name="TextBox 20"/>
          <p:cNvSpPr txBox="1"/>
          <p:nvPr/>
        </p:nvSpPr>
        <p:spPr>
          <a:xfrm>
            <a:off x="795528" y="41879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GM</a:t>
            </a:r>
          </a:p>
        </p:txBody>
      </p:sp>
      <p:sp>
        <p:nvSpPr>
          <p:cNvPr id="22" name="TextBox 21"/>
          <p:cNvSpPr txBox="1"/>
          <p:nvPr/>
        </p:nvSpPr>
        <p:spPr>
          <a:xfrm>
            <a:off x="795528" y="47548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Gross margin</a:t>
            </a:r>
          </a:p>
        </p:txBody>
      </p:sp>
      <p:sp>
        <p:nvSpPr>
          <p:cNvPr id="23" name="TextBox 22"/>
          <p:cNvSpPr txBox="1"/>
          <p:nvPr/>
        </p:nvSpPr>
        <p:spPr>
          <a:xfrm>
            <a:off x="795528" y="50932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(Revenue − direct costs) ÷ revenue.</a:t>
            </a:r>
          </a:p>
        </p:txBody>
      </p:sp>
      <p:sp>
        <p:nvSpPr>
          <p:cNvPr id="24" name="Rectangle 23"/>
          <p:cNvSpPr/>
          <p:nvPr/>
        </p:nvSpPr>
        <p:spPr>
          <a:xfrm>
            <a:off x="3379393" y="40233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3580561" y="41879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Burn</a:t>
            </a:r>
          </a:p>
        </p:txBody>
      </p:sp>
      <p:sp>
        <p:nvSpPr>
          <p:cNvPr id="26" name="TextBox 25"/>
          <p:cNvSpPr txBox="1"/>
          <p:nvPr/>
        </p:nvSpPr>
        <p:spPr>
          <a:xfrm>
            <a:off x="3580561" y="47548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Monthly net burn</a:t>
            </a:r>
          </a:p>
        </p:txBody>
      </p:sp>
      <p:sp>
        <p:nvSpPr>
          <p:cNvPr id="27" name="TextBox 26"/>
          <p:cNvSpPr txBox="1"/>
          <p:nvPr/>
        </p:nvSpPr>
        <p:spPr>
          <a:xfrm>
            <a:off x="3580561" y="50932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Cash out − cash in, per month.</a:t>
            </a:r>
          </a:p>
        </p:txBody>
      </p:sp>
      <p:sp>
        <p:nvSpPr>
          <p:cNvPr id="28" name="Rectangle 27"/>
          <p:cNvSpPr/>
          <p:nvPr/>
        </p:nvSpPr>
        <p:spPr>
          <a:xfrm>
            <a:off x="6164427" y="40233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29" name="TextBox 28"/>
          <p:cNvSpPr txBox="1"/>
          <p:nvPr/>
        </p:nvSpPr>
        <p:spPr>
          <a:xfrm>
            <a:off x="6365595" y="41879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Runway</a:t>
            </a:r>
          </a:p>
        </p:txBody>
      </p:sp>
      <p:sp>
        <p:nvSpPr>
          <p:cNvPr id="30" name="TextBox 29"/>
          <p:cNvSpPr txBox="1"/>
          <p:nvPr/>
        </p:nvSpPr>
        <p:spPr>
          <a:xfrm>
            <a:off x="6365595" y="47548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Months of cash left</a:t>
            </a:r>
          </a:p>
        </p:txBody>
      </p:sp>
      <p:sp>
        <p:nvSpPr>
          <p:cNvPr id="31" name="TextBox 30"/>
          <p:cNvSpPr txBox="1"/>
          <p:nvPr/>
        </p:nvSpPr>
        <p:spPr>
          <a:xfrm>
            <a:off x="6365595" y="50932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Cash in the bank ÷ monthly net burn.</a:t>
            </a:r>
          </a:p>
        </p:txBody>
      </p:sp>
      <p:sp>
        <p:nvSpPr>
          <p:cNvPr id="32" name="Rectangle 31"/>
          <p:cNvSpPr/>
          <p:nvPr/>
        </p:nvSpPr>
        <p:spPr>
          <a:xfrm>
            <a:off x="8949461" y="4023360"/>
            <a:ext cx="2647873" cy="1874519"/>
          </a:xfrm>
          <a:prstGeom prst="rect">
            <a:avLst/>
          </a:prstGeom>
          <a:solidFill>
            <a:srgbClr val="EDF4FE"/>
          </a:solidFill>
          <a:ln>
            <a:noFill/>
          </a:ln>
          <a:effectLst/>
        </p:spPr>
        <p:txBody>
          <a:bodyPr rtlCol="0" anchor="ctr" lIns="73152" rIns="73152" tIns="36576" bIns="36576"/>
          <a:lstStyle/>
          <a:p>
            <a:pPr algn="ctr"/>
          </a:p>
        </p:txBody>
      </p:sp>
      <p:sp>
        <p:nvSpPr>
          <p:cNvPr id="33" name="TextBox 32"/>
          <p:cNvSpPr txBox="1"/>
          <p:nvPr/>
        </p:nvSpPr>
        <p:spPr>
          <a:xfrm>
            <a:off x="9150629" y="4187952"/>
            <a:ext cx="2282113" cy="502920"/>
          </a:xfrm>
          <a:prstGeom prst="rect">
            <a:avLst/>
          </a:prstGeom>
          <a:noFill/>
        </p:spPr>
        <p:txBody>
          <a:bodyPr wrap="square" lIns="0" rIns="0" tIns="0" bIns="0" anchor="t"/>
          <a:lstStyle/>
          <a:p>
            <a:pPr algn="l">
              <a:lnSpc>
                <a:spcPct val="115000"/>
              </a:lnSpc>
              <a:spcAft>
                <a:spcPts val="0"/>
              </a:spcAft>
            </a:pPr>
            <a:r>
              <a:rPr sz="2400" b="1" i="0">
                <a:solidFill>
                  <a:srgbClr val="1765D1"/>
                </a:solidFill>
                <a:latin typeface="Inter"/>
              </a:rPr>
              <a:t>Churn</a:t>
            </a:r>
          </a:p>
        </p:txBody>
      </p:sp>
      <p:sp>
        <p:nvSpPr>
          <p:cNvPr id="34" name="TextBox 33"/>
          <p:cNvSpPr txBox="1"/>
          <p:nvPr/>
        </p:nvSpPr>
        <p:spPr>
          <a:xfrm>
            <a:off x="9150629" y="4754880"/>
            <a:ext cx="2282113"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Customer churn</a:t>
            </a:r>
          </a:p>
        </p:txBody>
      </p:sp>
      <p:sp>
        <p:nvSpPr>
          <p:cNvPr id="35" name="TextBox 34"/>
          <p:cNvSpPr txBox="1"/>
          <p:nvPr/>
        </p:nvSpPr>
        <p:spPr>
          <a:xfrm>
            <a:off x="9150629" y="5093208"/>
            <a:ext cx="2282113" cy="731520"/>
          </a:xfrm>
          <a:prstGeom prst="rect">
            <a:avLst/>
          </a:prstGeom>
          <a:noFill/>
        </p:spPr>
        <p:txBody>
          <a:bodyPr wrap="square" lIns="0" rIns="0" tIns="0" bIns="0" anchor="t"/>
          <a:lstStyle/>
          <a:p>
            <a:pPr algn="l">
              <a:lnSpc>
                <a:spcPct val="120000"/>
              </a:lnSpc>
              <a:spcAft>
                <a:spcPts val="0"/>
              </a:spcAft>
            </a:pPr>
            <a:r>
              <a:rPr sz="1100" b="0" i="0">
                <a:solidFill>
                  <a:srgbClr val="253650"/>
                </a:solidFill>
                <a:latin typeface="Inter"/>
              </a:rPr>
              <a:t>Customers lost in a period ÷ customers at the start.</a:t>
            </a:r>
          </a:p>
        </p:txBody>
      </p:sp>
      <p:sp>
        <p:nvSpPr>
          <p:cNvPr id="36" name="TextBox 35"/>
          <p:cNvSpPr txBox="1"/>
          <p:nvPr/>
        </p:nvSpPr>
        <p:spPr>
          <a:xfrm>
            <a:off x="594360" y="5989320"/>
            <a:ext cx="11002975" cy="320040"/>
          </a:xfrm>
          <a:prstGeom prst="rect">
            <a:avLst/>
          </a:prstGeom>
          <a:noFill/>
        </p:spPr>
        <p:txBody>
          <a:bodyPr wrap="square" lIns="0" rIns="0" tIns="0" bIns="0" anchor="t"/>
          <a:lstStyle/>
          <a:p>
            <a:pPr algn="l">
              <a:lnSpc>
                <a:spcPct val="115000"/>
              </a:lnSpc>
              <a:spcAft>
                <a:spcPts val="0"/>
              </a:spcAft>
            </a:pPr>
            <a:r>
              <a:rPr sz="1100" b="1" i="0">
                <a:solidFill>
                  <a:srgbClr val="10213B"/>
                </a:solidFill>
                <a:latin typeface="Inter"/>
              </a:rPr>
              <a:t>Rule of thumb many investors use: </a:t>
            </a:r>
            <a:r>
              <a:rPr sz="1100" b="0" i="0">
                <a:solidFill>
                  <a:srgbClr val="61738A"/>
                </a:solidFill>
                <a:latin typeface="Inter"/>
              </a:rPr>
              <a:t>LTV should comfortably exceed CAC — often cited as about 3×. Founder OS is planned to help track these simply.</a:t>
            </a:r>
          </a:p>
        </p:txBody>
      </p:sp>
      <p:sp>
        <p:nvSpPr>
          <p:cNvPr id="37" name="TextBox 3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8" name="TextBox 3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FUNDING OPTIONS COMPARED</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There is more than one way to fund a business.</a:t>
            </a:r>
          </a:p>
        </p:txBody>
      </p:sp>
      <p:graphicFrame>
        <p:nvGraphicFramePr>
          <p:cNvPr id="4" name="Table 3"/>
          <p:cNvGraphicFramePr>
            <a:graphicFrameLocks noGrp="1"/>
          </p:cNvGraphicFramePr>
          <p:nvPr/>
        </p:nvGraphicFramePr>
        <p:xfrm>
          <a:off x="594360" y="1920240"/>
          <a:ext cx="11000232" cy="3950208"/>
        </p:xfrm>
        <a:graphic>
          <a:graphicData uri="http://schemas.openxmlformats.org/drawingml/2006/table">
            <a:tbl>
              <a:tblPr firstRow="0" bandRow="0">
                <a:tableStyleId>{5C22544A-7EE6-4342-B048-85BDC9FD1C3A}</a:tableStyleId>
              </a:tblPr>
              <a:tblGrid>
                <a:gridCol w="2468880"/>
                <a:gridCol w="3063240"/>
                <a:gridCol w="2560320"/>
                <a:gridCol w="2907792"/>
              </a:tblGrid>
              <a:tr h="438912">
                <a:tc>
                  <a:txBody>
                    <a:bodyPr wrap="square" anchor="t"/>
                    <a:lstStyle/>
                    <a:p>
                      <a:pPr algn="l">
                        <a:lnSpc>
                          <a:spcPct val="115000"/>
                        </a:lnSpc>
                        <a:spcAft>
                          <a:spcPts val="0"/>
                        </a:spcAft>
                      </a:pPr>
                      <a:r>
                        <a:rPr sz="950" b="1" i="0" spc="60">
                          <a:solidFill>
                            <a:srgbClr val="FFFFFF"/>
                          </a:solidFill>
                          <a:latin typeface="Inter"/>
                        </a:rPr>
                        <a:t>SOURCE</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BEST SUITED TO</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WHAT YOU GIVE UP</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WATCH OUT FOR</a:t>
                      </a:r>
                    </a:p>
                  </a:txBody>
                  <a:tcPr marL="109728" marR="109728" marT="54864" marB="54864" anchor="ctr">
                    <a:solidFill>
                      <a:srgbClr val="10213B"/>
                    </a:solidFill>
                  </a:tcPr>
                </a:tc>
              </a:tr>
              <a:tr h="438912">
                <a:tc>
                  <a:txBody>
                    <a:bodyPr wrap="square" anchor="t"/>
                    <a:lstStyle/>
                    <a:p>
                      <a:pPr algn="l">
                        <a:lnSpc>
                          <a:spcPct val="115000"/>
                        </a:lnSpc>
                        <a:spcAft>
                          <a:spcPts val="0"/>
                        </a:spcAft>
                      </a:pPr>
                      <a:r>
                        <a:rPr sz="1100" b="1" i="0">
                          <a:solidFill>
                            <a:srgbClr val="10213B"/>
                          </a:solidFill>
                          <a:latin typeface="Inter"/>
                        </a:rPr>
                        <a:t>Revenue and savings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Businesses that can sell early</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Nothing — full control</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Slower growth; personal risk</a:t>
                      </a:r>
                    </a:p>
                  </a:txBody>
                  <a:tcPr marL="109728" marR="109728" marT="54864" marB="54864" anchor="ctr">
                    <a:solidFill>
                      <a:srgbClr val="FFFFFF"/>
                    </a:solidFill>
                  </a:tcPr>
                </a:tc>
              </a:tr>
              <a:tr h="438912">
                <a:tc>
                  <a:txBody>
                    <a:bodyPr wrap="square" anchor="t"/>
                    <a:lstStyle/>
                    <a:p>
                      <a:pPr algn="l">
                        <a:lnSpc>
                          <a:spcPct val="115000"/>
                        </a:lnSpc>
                        <a:spcAft>
                          <a:spcPts val="0"/>
                        </a:spcAft>
                      </a:pPr>
                      <a:r>
                        <a:rPr sz="1100" b="1" i="0">
                          <a:solidFill>
                            <a:srgbClr val="10213B"/>
                          </a:solidFill>
                          <a:latin typeface="Inter"/>
                        </a:rPr>
                        <a:t>Friends and family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Very early tests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Sometimes equity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Relationships if it goes wrong</a:t>
                      </a:r>
                    </a:p>
                  </a:txBody>
                  <a:tcPr marL="109728" marR="109728" marT="54864" marB="54864" anchor="ctr">
                    <a:solidFill>
                      <a:srgbClr val="EDF4FE"/>
                    </a:solidFill>
                  </a:tcPr>
                </a:tc>
              </a:tr>
              <a:tr h="438912">
                <a:tc>
                  <a:txBody>
                    <a:bodyPr wrap="square" anchor="t"/>
                    <a:lstStyle/>
                    <a:p>
                      <a:pPr algn="l">
                        <a:lnSpc>
                          <a:spcPct val="115000"/>
                        </a:lnSpc>
                        <a:spcAft>
                          <a:spcPts val="0"/>
                        </a:spcAft>
                      </a:pPr>
                      <a:r>
                        <a:rPr sz="1100" b="1" i="0">
                          <a:solidFill>
                            <a:srgbClr val="10213B"/>
                          </a:solidFill>
                          <a:latin typeface="Inter"/>
                        </a:rPr>
                        <a:t>Grants and programmes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Innovation, sector or social goals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Time and reporting</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Eligibility and timelines</a:t>
                      </a:r>
                    </a:p>
                  </a:txBody>
                  <a:tcPr marL="109728" marR="109728" marT="54864" marB="54864" anchor="ctr">
                    <a:solidFill>
                      <a:srgbClr val="FFFFFF"/>
                    </a:solidFill>
                  </a:tcPr>
                </a:tc>
              </a:tr>
              <a:tr h="438912">
                <a:tc>
                  <a:txBody>
                    <a:bodyPr wrap="square" anchor="t"/>
                    <a:lstStyle/>
                    <a:p>
                      <a:pPr algn="l">
                        <a:lnSpc>
                          <a:spcPct val="115000"/>
                        </a:lnSpc>
                        <a:spcAft>
                          <a:spcPts val="0"/>
                        </a:spcAft>
                      </a:pPr>
                      <a:r>
                        <a:rPr sz="1100" b="1" i="0">
                          <a:solidFill>
                            <a:srgbClr val="10213B"/>
                          </a:solidFill>
                          <a:latin typeface="Inter"/>
                        </a:rPr>
                        <a:t>Bank and SME finance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Proven revenue and assets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Repayments and collateral</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Cash-flow pressure</a:t>
                      </a:r>
                    </a:p>
                  </a:txBody>
                  <a:tcPr marL="109728" marR="109728" marT="54864" marB="54864" anchor="ctr">
                    <a:solidFill>
                      <a:srgbClr val="EDF4FE"/>
                    </a:solidFill>
                  </a:tcPr>
                </a:tc>
              </a:tr>
              <a:tr h="438912">
                <a:tc>
                  <a:txBody>
                    <a:bodyPr wrap="square" anchor="t"/>
                    <a:lstStyle/>
                    <a:p>
                      <a:pPr algn="l">
                        <a:lnSpc>
                          <a:spcPct val="115000"/>
                        </a:lnSpc>
                        <a:spcAft>
                          <a:spcPts val="0"/>
                        </a:spcAft>
                      </a:pPr>
                      <a:r>
                        <a:rPr sz="1100" b="1" i="0">
                          <a:solidFill>
                            <a:srgbClr val="10213B"/>
                          </a:solidFill>
                          <a:latin typeface="Inter"/>
                        </a:rPr>
                        <a:t>Angel investors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Early teams with potential to scale</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Equity</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Fit, terms and expectations</a:t>
                      </a:r>
                    </a:p>
                  </a:txBody>
                  <a:tcPr marL="109728" marR="109728" marT="54864" marB="54864" anchor="ctr">
                    <a:solidFill>
                      <a:srgbClr val="FFFFFF"/>
                    </a:solidFill>
                  </a:tcPr>
                </a:tc>
              </a:tr>
              <a:tr h="438912">
                <a:tc>
                  <a:txBody>
                    <a:bodyPr wrap="square" anchor="t"/>
                    <a:lstStyle/>
                    <a:p>
                      <a:pPr algn="l">
                        <a:lnSpc>
                          <a:spcPct val="115000"/>
                        </a:lnSpc>
                        <a:spcAft>
                          <a:spcPts val="0"/>
                        </a:spcAft>
                      </a:pPr>
                      <a:r>
                        <a:rPr sz="1100" b="1" i="0">
                          <a:solidFill>
                            <a:srgbClr val="10213B"/>
                          </a:solidFill>
                          <a:latin typeface="Inter"/>
                        </a:rPr>
                        <a:t>Venture capital</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Fast-growing, large-market ventures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Equity and some control</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Pressure for rapid scale</a:t>
                      </a:r>
                    </a:p>
                  </a:txBody>
                  <a:tcPr marL="109728" marR="109728" marT="54864" marB="54864" anchor="ctr">
                    <a:solidFill>
                      <a:srgbClr val="EDF4FE"/>
                    </a:solidFill>
                  </a:tcPr>
                </a:tc>
              </a:tr>
              <a:tr h="438912">
                <a:tc>
                  <a:txBody>
                    <a:bodyPr wrap="square" anchor="t"/>
                    <a:lstStyle/>
                    <a:p>
                      <a:pPr algn="l">
                        <a:lnSpc>
                          <a:spcPct val="115000"/>
                        </a:lnSpc>
                        <a:spcAft>
                          <a:spcPts val="0"/>
                        </a:spcAft>
                      </a:pPr>
                      <a:r>
                        <a:rPr sz="1100" b="1" i="0">
                          <a:solidFill>
                            <a:srgbClr val="10213B"/>
                          </a:solidFill>
                          <a:latin typeface="Inter"/>
                        </a:rPr>
                        <a:t>Venture debt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VC-backed companies with revenue</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Repayments and covenants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Usually needs equity investors first</a:t>
                      </a:r>
                    </a:p>
                  </a:txBody>
                  <a:tcPr marL="109728" marR="109728" marT="54864" marB="54864" anchor="ctr">
                    <a:solidFill>
                      <a:srgbClr val="FFFFFF"/>
                    </a:solidFill>
                  </a:tcPr>
                </a:tc>
              </a:tr>
              <a:tr h="438912">
                <a:tc>
                  <a:txBody>
                    <a:bodyPr wrap="square" anchor="t"/>
                    <a:lstStyle/>
                    <a:p>
                      <a:pPr algn="l">
                        <a:lnSpc>
                          <a:spcPct val="115000"/>
                        </a:lnSpc>
                        <a:spcAft>
                          <a:spcPts val="0"/>
                        </a:spcAft>
                      </a:pPr>
                      <a:r>
                        <a:rPr sz="1100" b="1" i="0">
                          <a:solidFill>
                            <a:srgbClr val="10213B"/>
                          </a:solidFill>
                          <a:latin typeface="Inter"/>
                        </a:rPr>
                        <a:t>Crowdfunding</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Consumer products with a community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Rewards or equity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Campaign effort; public scrutiny</a:t>
                      </a:r>
                    </a:p>
                  </a:txBody>
                  <a:tcPr marL="109728" marR="109728" marT="54864" marB="54864" anchor="ctr">
                    <a:solidFill>
                      <a:srgbClr val="EDF4FE"/>
                    </a:solidFill>
                  </a:tcPr>
                </a:tc>
              </a:tr>
            </a:tbl>
          </a:graphicData>
        </a:graphic>
      </p:graphicFrame>
      <p:sp>
        <p:nvSpPr>
          <p:cNvPr id="5" name="TextBox 4"/>
          <p:cNvSpPr txBox="1"/>
          <p:nvPr/>
        </p:nvSpPr>
        <p:spPr>
          <a:xfrm>
            <a:off x="594360" y="6053328"/>
            <a:ext cx="11002975" cy="27432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General guidance only — not financial advice. The right option depends on the business, its stage and the founder’s goals.</a:t>
            </a:r>
          </a:p>
        </p:txBody>
      </p:sp>
      <p:sp>
        <p:nvSpPr>
          <p:cNvPr id="6" name="TextBox 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7" name="TextBox 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HOW EQUITY FUNDING STAGES USUALLY WORK</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Each round buys proof for the next step.</a:t>
            </a:r>
          </a:p>
        </p:txBody>
      </p:sp>
      <p:sp>
        <p:nvSpPr>
          <p:cNvPr id="4" name="Rectangle 3"/>
          <p:cNvSpPr/>
          <p:nvPr/>
        </p:nvSpPr>
        <p:spPr>
          <a:xfrm>
            <a:off x="594360" y="4983479"/>
            <a:ext cx="2164019" cy="822960"/>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731520" y="5093207"/>
            <a:ext cx="1889699"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Bootstrapped</a:t>
            </a:r>
          </a:p>
        </p:txBody>
      </p:sp>
      <p:sp>
        <p:nvSpPr>
          <p:cNvPr id="6" name="TextBox 5"/>
          <p:cNvSpPr txBox="1"/>
          <p:nvPr/>
        </p:nvSpPr>
        <p:spPr>
          <a:xfrm>
            <a:off x="640080" y="2011680"/>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USED TO</a:t>
            </a:r>
          </a:p>
        </p:txBody>
      </p:sp>
      <p:sp>
        <p:nvSpPr>
          <p:cNvPr id="7" name="TextBox 6"/>
          <p:cNvSpPr txBox="1"/>
          <p:nvPr/>
        </p:nvSpPr>
        <p:spPr>
          <a:xfrm>
            <a:off x="640080" y="2258568"/>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Own money and revenue</a:t>
            </a:r>
          </a:p>
        </p:txBody>
      </p:sp>
      <p:sp>
        <p:nvSpPr>
          <p:cNvPr id="8" name="TextBox 7"/>
          <p:cNvSpPr txBox="1"/>
          <p:nvPr/>
        </p:nvSpPr>
        <p:spPr>
          <a:xfrm>
            <a:off x="640080" y="2816352"/>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INVESTORS LOOK FOR</a:t>
            </a:r>
          </a:p>
        </p:txBody>
      </p:sp>
      <p:sp>
        <p:nvSpPr>
          <p:cNvPr id="9" name="TextBox 8"/>
          <p:cNvSpPr txBox="1"/>
          <p:nvPr/>
        </p:nvSpPr>
        <p:spPr>
          <a:xfrm>
            <a:off x="640080" y="3063240"/>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A real problem and early demand</a:t>
            </a:r>
          </a:p>
        </p:txBody>
      </p:sp>
      <p:sp>
        <p:nvSpPr>
          <p:cNvPr id="10" name="Rectangle 9"/>
          <p:cNvSpPr/>
          <p:nvPr/>
        </p:nvSpPr>
        <p:spPr>
          <a:xfrm>
            <a:off x="2804099" y="4617720"/>
            <a:ext cx="2164019" cy="1188720"/>
          </a:xfrm>
          <a:prstGeom prst="rect">
            <a:avLst/>
          </a:prstGeom>
          <a:solidFill>
            <a:srgbClr val="DCE8FB"/>
          </a:solidFill>
          <a:ln>
            <a:noFill/>
          </a:ln>
          <a:effectLst/>
        </p:spPr>
        <p:txBody>
          <a:bodyPr rtlCol="0" anchor="ctr" lIns="73152" rIns="73152" tIns="36576" bIns="36576"/>
          <a:lstStyle/>
          <a:p>
            <a:pPr algn="ctr"/>
          </a:p>
        </p:txBody>
      </p:sp>
      <p:sp>
        <p:nvSpPr>
          <p:cNvPr id="11" name="TextBox 10"/>
          <p:cNvSpPr txBox="1"/>
          <p:nvPr/>
        </p:nvSpPr>
        <p:spPr>
          <a:xfrm>
            <a:off x="2941259" y="4727448"/>
            <a:ext cx="1889699"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Pre-seed</a:t>
            </a:r>
          </a:p>
        </p:txBody>
      </p:sp>
      <p:sp>
        <p:nvSpPr>
          <p:cNvPr id="12" name="TextBox 11"/>
          <p:cNvSpPr txBox="1"/>
          <p:nvPr/>
        </p:nvSpPr>
        <p:spPr>
          <a:xfrm>
            <a:off x="2849819" y="2011680"/>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USED TO</a:t>
            </a:r>
          </a:p>
        </p:txBody>
      </p:sp>
      <p:sp>
        <p:nvSpPr>
          <p:cNvPr id="13" name="TextBox 12"/>
          <p:cNvSpPr txBox="1"/>
          <p:nvPr/>
        </p:nvSpPr>
        <p:spPr>
          <a:xfrm>
            <a:off x="2849819" y="2258568"/>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Test and build the first version</a:t>
            </a:r>
          </a:p>
        </p:txBody>
      </p:sp>
      <p:sp>
        <p:nvSpPr>
          <p:cNvPr id="14" name="TextBox 13"/>
          <p:cNvSpPr txBox="1"/>
          <p:nvPr/>
        </p:nvSpPr>
        <p:spPr>
          <a:xfrm>
            <a:off x="2849819" y="2816352"/>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INVESTORS LOOK FOR</a:t>
            </a:r>
          </a:p>
        </p:txBody>
      </p:sp>
      <p:sp>
        <p:nvSpPr>
          <p:cNvPr id="15" name="TextBox 14"/>
          <p:cNvSpPr txBox="1"/>
          <p:nvPr/>
        </p:nvSpPr>
        <p:spPr>
          <a:xfrm>
            <a:off x="2849819" y="3063240"/>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Team, insight and first signals</a:t>
            </a:r>
          </a:p>
        </p:txBody>
      </p:sp>
      <p:sp>
        <p:nvSpPr>
          <p:cNvPr id="16" name="Rectangle 15"/>
          <p:cNvSpPr/>
          <p:nvPr/>
        </p:nvSpPr>
        <p:spPr>
          <a:xfrm>
            <a:off x="5013838" y="4251959"/>
            <a:ext cx="2164019" cy="1554480"/>
          </a:xfrm>
          <a:prstGeom prst="rect">
            <a:avLst/>
          </a:prstGeom>
          <a:solidFill>
            <a:srgbClr val="B8CFEE"/>
          </a:solidFill>
          <a:ln>
            <a:noFill/>
          </a:ln>
          <a:effectLst/>
        </p:spPr>
        <p:txBody>
          <a:bodyPr rtlCol="0" anchor="ctr" lIns="73152" rIns="73152" tIns="36576" bIns="36576"/>
          <a:lstStyle/>
          <a:p>
            <a:pPr algn="ctr"/>
          </a:p>
        </p:txBody>
      </p:sp>
      <p:sp>
        <p:nvSpPr>
          <p:cNvPr id="17" name="TextBox 16"/>
          <p:cNvSpPr txBox="1"/>
          <p:nvPr/>
        </p:nvSpPr>
        <p:spPr>
          <a:xfrm>
            <a:off x="5150998" y="4361688"/>
            <a:ext cx="1889699"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Seed</a:t>
            </a:r>
          </a:p>
        </p:txBody>
      </p:sp>
      <p:sp>
        <p:nvSpPr>
          <p:cNvPr id="18" name="TextBox 17"/>
          <p:cNvSpPr txBox="1"/>
          <p:nvPr/>
        </p:nvSpPr>
        <p:spPr>
          <a:xfrm>
            <a:off x="5059558" y="2011680"/>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USED TO</a:t>
            </a:r>
          </a:p>
        </p:txBody>
      </p:sp>
      <p:sp>
        <p:nvSpPr>
          <p:cNvPr id="19" name="TextBox 18"/>
          <p:cNvSpPr txBox="1"/>
          <p:nvPr/>
        </p:nvSpPr>
        <p:spPr>
          <a:xfrm>
            <a:off x="5059558" y="2258568"/>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Find product–market fit</a:t>
            </a:r>
          </a:p>
        </p:txBody>
      </p:sp>
      <p:sp>
        <p:nvSpPr>
          <p:cNvPr id="20" name="TextBox 19"/>
          <p:cNvSpPr txBox="1"/>
          <p:nvPr/>
        </p:nvSpPr>
        <p:spPr>
          <a:xfrm>
            <a:off x="5059558" y="2816352"/>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INVESTORS LOOK FOR</a:t>
            </a:r>
          </a:p>
        </p:txBody>
      </p:sp>
      <p:sp>
        <p:nvSpPr>
          <p:cNvPr id="21" name="TextBox 20"/>
          <p:cNvSpPr txBox="1"/>
          <p:nvPr/>
        </p:nvSpPr>
        <p:spPr>
          <a:xfrm>
            <a:off x="5059558" y="3063240"/>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Early traction and repeat usage</a:t>
            </a:r>
          </a:p>
        </p:txBody>
      </p:sp>
      <p:sp>
        <p:nvSpPr>
          <p:cNvPr id="22" name="Rectangle 21"/>
          <p:cNvSpPr/>
          <p:nvPr/>
        </p:nvSpPr>
        <p:spPr>
          <a:xfrm>
            <a:off x="7223577" y="3886200"/>
            <a:ext cx="2164019" cy="1920240"/>
          </a:xfrm>
          <a:prstGeom prst="rect">
            <a:avLst/>
          </a:prstGeom>
          <a:solidFill>
            <a:srgbClr val="1765D1"/>
          </a:solidFill>
          <a:ln>
            <a:noFill/>
          </a:ln>
          <a:effectLst/>
        </p:spPr>
        <p:txBody>
          <a:bodyPr rtlCol="0" anchor="ctr" lIns="73152" rIns="73152" tIns="36576" bIns="36576"/>
          <a:lstStyle/>
          <a:p>
            <a:pPr algn="ctr"/>
          </a:p>
        </p:txBody>
      </p:sp>
      <p:sp>
        <p:nvSpPr>
          <p:cNvPr id="23" name="TextBox 22"/>
          <p:cNvSpPr txBox="1"/>
          <p:nvPr/>
        </p:nvSpPr>
        <p:spPr>
          <a:xfrm>
            <a:off x="7360737" y="3995928"/>
            <a:ext cx="1889699" cy="320040"/>
          </a:xfrm>
          <a:prstGeom prst="rect">
            <a:avLst/>
          </a:prstGeom>
          <a:noFill/>
        </p:spPr>
        <p:txBody>
          <a:bodyPr wrap="square" lIns="0" rIns="0" tIns="0" bIns="0" anchor="t"/>
          <a:lstStyle/>
          <a:p>
            <a:pPr algn="l">
              <a:lnSpc>
                <a:spcPct val="115000"/>
              </a:lnSpc>
              <a:spcAft>
                <a:spcPts val="0"/>
              </a:spcAft>
            </a:pPr>
            <a:r>
              <a:rPr sz="1400" b="1" i="0">
                <a:solidFill>
                  <a:srgbClr val="FFFFFF"/>
                </a:solidFill>
                <a:latin typeface="Inter"/>
              </a:rPr>
              <a:t>Series A</a:t>
            </a:r>
          </a:p>
        </p:txBody>
      </p:sp>
      <p:sp>
        <p:nvSpPr>
          <p:cNvPr id="24" name="TextBox 23"/>
          <p:cNvSpPr txBox="1"/>
          <p:nvPr/>
        </p:nvSpPr>
        <p:spPr>
          <a:xfrm>
            <a:off x="7269297" y="2011680"/>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USED TO</a:t>
            </a:r>
          </a:p>
        </p:txBody>
      </p:sp>
      <p:sp>
        <p:nvSpPr>
          <p:cNvPr id="25" name="TextBox 24"/>
          <p:cNvSpPr txBox="1"/>
          <p:nvPr/>
        </p:nvSpPr>
        <p:spPr>
          <a:xfrm>
            <a:off x="7269297" y="2258568"/>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Build a repeatable growth engine</a:t>
            </a:r>
          </a:p>
        </p:txBody>
      </p:sp>
      <p:sp>
        <p:nvSpPr>
          <p:cNvPr id="26" name="TextBox 25"/>
          <p:cNvSpPr txBox="1"/>
          <p:nvPr/>
        </p:nvSpPr>
        <p:spPr>
          <a:xfrm>
            <a:off x="7269297" y="2816352"/>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INVESTORS LOOK FOR</a:t>
            </a:r>
          </a:p>
        </p:txBody>
      </p:sp>
      <p:sp>
        <p:nvSpPr>
          <p:cNvPr id="27" name="TextBox 26"/>
          <p:cNvSpPr txBox="1"/>
          <p:nvPr/>
        </p:nvSpPr>
        <p:spPr>
          <a:xfrm>
            <a:off x="7269297" y="3063240"/>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Proven model and strong metrics</a:t>
            </a:r>
          </a:p>
        </p:txBody>
      </p:sp>
      <p:sp>
        <p:nvSpPr>
          <p:cNvPr id="28" name="Rectangle 27"/>
          <p:cNvSpPr/>
          <p:nvPr/>
        </p:nvSpPr>
        <p:spPr>
          <a:xfrm>
            <a:off x="9433316" y="3520439"/>
            <a:ext cx="2164019" cy="2286000"/>
          </a:xfrm>
          <a:prstGeom prst="rect">
            <a:avLst/>
          </a:prstGeom>
          <a:solidFill>
            <a:srgbClr val="10213B"/>
          </a:solidFill>
          <a:ln>
            <a:noFill/>
          </a:ln>
          <a:effectLst/>
        </p:spPr>
        <p:txBody>
          <a:bodyPr rtlCol="0" anchor="ctr" lIns="73152" rIns="73152" tIns="36576" bIns="36576"/>
          <a:lstStyle/>
          <a:p>
            <a:pPr algn="ctr"/>
          </a:p>
        </p:txBody>
      </p:sp>
      <p:sp>
        <p:nvSpPr>
          <p:cNvPr id="29" name="TextBox 28"/>
          <p:cNvSpPr txBox="1"/>
          <p:nvPr/>
        </p:nvSpPr>
        <p:spPr>
          <a:xfrm>
            <a:off x="9570476" y="3630168"/>
            <a:ext cx="1889699" cy="320040"/>
          </a:xfrm>
          <a:prstGeom prst="rect">
            <a:avLst/>
          </a:prstGeom>
          <a:noFill/>
        </p:spPr>
        <p:txBody>
          <a:bodyPr wrap="square" lIns="0" rIns="0" tIns="0" bIns="0" anchor="t"/>
          <a:lstStyle/>
          <a:p>
            <a:pPr algn="l">
              <a:lnSpc>
                <a:spcPct val="115000"/>
              </a:lnSpc>
              <a:spcAft>
                <a:spcPts val="0"/>
              </a:spcAft>
            </a:pPr>
            <a:r>
              <a:rPr sz="1400" b="1" i="0">
                <a:solidFill>
                  <a:srgbClr val="FFFFFF"/>
                </a:solidFill>
                <a:latin typeface="Inter"/>
              </a:rPr>
              <a:t>Growth</a:t>
            </a:r>
          </a:p>
        </p:txBody>
      </p:sp>
      <p:sp>
        <p:nvSpPr>
          <p:cNvPr id="30" name="TextBox 29"/>
          <p:cNvSpPr txBox="1"/>
          <p:nvPr/>
        </p:nvSpPr>
        <p:spPr>
          <a:xfrm>
            <a:off x="9479036" y="2011680"/>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USED TO</a:t>
            </a:r>
          </a:p>
        </p:txBody>
      </p:sp>
      <p:sp>
        <p:nvSpPr>
          <p:cNvPr id="31" name="TextBox 30"/>
          <p:cNvSpPr txBox="1"/>
          <p:nvPr/>
        </p:nvSpPr>
        <p:spPr>
          <a:xfrm>
            <a:off x="9479036" y="2258568"/>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Scale into new markets</a:t>
            </a:r>
          </a:p>
        </p:txBody>
      </p:sp>
      <p:sp>
        <p:nvSpPr>
          <p:cNvPr id="32" name="TextBox 31"/>
          <p:cNvSpPr txBox="1"/>
          <p:nvPr/>
        </p:nvSpPr>
        <p:spPr>
          <a:xfrm>
            <a:off x="9479036" y="2816352"/>
            <a:ext cx="2026859" cy="22860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INVESTORS LOOK FOR</a:t>
            </a:r>
          </a:p>
        </p:txBody>
      </p:sp>
      <p:sp>
        <p:nvSpPr>
          <p:cNvPr id="33" name="TextBox 32"/>
          <p:cNvSpPr txBox="1"/>
          <p:nvPr/>
        </p:nvSpPr>
        <p:spPr>
          <a:xfrm>
            <a:off x="9479036" y="3063240"/>
            <a:ext cx="2026859" cy="502920"/>
          </a:xfrm>
          <a:prstGeom prst="rect">
            <a:avLst/>
          </a:prstGeom>
          <a:noFill/>
        </p:spPr>
        <p:txBody>
          <a:bodyPr wrap="square" lIns="0" rIns="0" tIns="0" bIns="0" anchor="t"/>
          <a:lstStyle/>
          <a:p>
            <a:pPr algn="l">
              <a:lnSpc>
                <a:spcPct val="115000"/>
              </a:lnSpc>
              <a:spcAft>
                <a:spcPts val="0"/>
              </a:spcAft>
            </a:pPr>
            <a:r>
              <a:rPr sz="1100" b="0" i="0">
                <a:solidFill>
                  <a:srgbClr val="253650"/>
                </a:solidFill>
                <a:latin typeface="Inter"/>
              </a:rPr>
              <a:t>Efficient, predictable growth</a:t>
            </a:r>
          </a:p>
        </p:txBody>
      </p:sp>
      <p:sp>
        <p:nvSpPr>
          <p:cNvPr id="34" name="Rectangle 33"/>
          <p:cNvSpPr/>
          <p:nvPr/>
        </p:nvSpPr>
        <p:spPr>
          <a:xfrm>
            <a:off x="594360" y="5806440"/>
            <a:ext cx="11002975" cy="27432"/>
          </a:xfrm>
          <a:prstGeom prst="rect">
            <a:avLst/>
          </a:prstGeom>
          <a:solidFill>
            <a:srgbClr val="10213B"/>
          </a:solidFill>
          <a:ln>
            <a:noFill/>
          </a:ln>
          <a:effectLst/>
        </p:spPr>
        <p:txBody>
          <a:bodyPr rtlCol="0" anchor="ctr" lIns="73152" rIns="73152" tIns="36576" bIns="36576"/>
          <a:lstStyle/>
          <a:p>
            <a:pPr algn="ctr"/>
          </a:p>
        </p:txBody>
      </p:sp>
      <p:sp>
        <p:nvSpPr>
          <p:cNvPr id="35" name="TextBox 34"/>
          <p:cNvSpPr txBox="1"/>
          <p:nvPr/>
        </p:nvSpPr>
        <p:spPr>
          <a:xfrm>
            <a:off x="594360" y="5943600"/>
            <a:ext cx="11002975" cy="32004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Stage names and expectations vary by market and sector. Many businesses never raise equity — and that can be the right choice.</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04</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Founder OS</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The planned digital workspace, illustrative screens and principles</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The digital workspace</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Onboarding and the next-step engine</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An illustrative scenario</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People, opportunities and services</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Architecture and trust</a:t>
            </a:r>
          </a:p>
        </p:txBody>
      </p:sp>
      <p:cxnSp>
        <p:nvCxnSpPr>
          <p:cNvPr id="17" name="Connector 16"/>
          <p:cNvCxnSpPr/>
          <p:nvPr/>
        </p:nvCxnSpPr>
        <p:spPr>
          <a:xfrm>
            <a:off x="8092440" y="4617720"/>
            <a:ext cx="3502152" cy="0"/>
          </a:xfrm>
          <a:prstGeom prst="line">
            <a:avLst/>
          </a:prstGeom>
          <a:ln w="12700">
            <a:solidFill>
              <a:srgbClr val="2E4A72"/>
            </a:solidFill>
          </a:ln>
        </p:spPr>
      </p:cxnSp>
      <p:sp>
        <p:nvSpPr>
          <p:cNvPr id="18" name="TextBox 17"/>
          <p:cNvSpPr txBox="1"/>
          <p:nvPr/>
        </p:nvSpPr>
        <p:spPr>
          <a:xfrm>
            <a:off x="8092440" y="470916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What to build first</a:t>
            </a:r>
          </a:p>
        </p:txBody>
      </p:sp>
      <p:sp>
        <p:nvSpPr>
          <p:cNvPr id="19" name="TextBox 18"/>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A digital workspace for the founder journey.</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5623560" cy="3931920"/>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562356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a:t>
            </a:r>
          </a:p>
        </p:txBody>
      </p:sp>
      <p:sp>
        <p:nvSpPr>
          <p:cNvPr id="11" name="Rectangle 10"/>
          <p:cNvSpPr/>
          <p:nvPr/>
        </p:nvSpPr>
        <p:spPr>
          <a:xfrm>
            <a:off x="594360" y="2258568"/>
            <a:ext cx="1234440" cy="3639312"/>
          </a:xfrm>
          <a:prstGeom prst="rect">
            <a:avLst/>
          </a:prstGeom>
          <a:solidFill>
            <a:srgbClr val="10213B"/>
          </a:solidFill>
          <a:ln>
            <a:noFill/>
          </a:ln>
          <a:effectLst/>
        </p:spPr>
        <p:txBody>
          <a:bodyPr rtlCol="0" anchor="ctr" lIns="73152" rIns="73152" tIns="36576" bIns="36576"/>
          <a:lstStyle/>
          <a:p>
            <a:pPr algn="ctr"/>
          </a:p>
        </p:txBody>
      </p:sp>
      <p:sp>
        <p:nvSpPr>
          <p:cNvPr id="12" name="TextBox 11"/>
          <p:cNvSpPr txBox="1"/>
          <p:nvPr/>
        </p:nvSpPr>
        <p:spPr>
          <a:xfrm>
            <a:off x="758952" y="2468880"/>
            <a:ext cx="1051560" cy="228600"/>
          </a:xfrm>
          <a:prstGeom prst="rect">
            <a:avLst/>
          </a:prstGeom>
          <a:noFill/>
        </p:spPr>
        <p:txBody>
          <a:bodyPr wrap="square" lIns="0" rIns="0" tIns="0" bIns="0" anchor="t"/>
          <a:lstStyle/>
          <a:p>
            <a:pPr algn="l">
              <a:lnSpc>
                <a:spcPct val="115000"/>
              </a:lnSpc>
              <a:spcAft>
                <a:spcPts val="0"/>
              </a:spcAft>
            </a:pPr>
            <a:r>
              <a:rPr sz="900" b="1" i="0">
                <a:solidFill>
                  <a:srgbClr val="FFFFFF"/>
                </a:solidFill>
                <a:latin typeface="Inter"/>
              </a:rPr>
              <a:t>Dashboard</a:t>
            </a:r>
          </a:p>
        </p:txBody>
      </p:sp>
      <p:sp>
        <p:nvSpPr>
          <p:cNvPr id="13" name="TextBox 12"/>
          <p:cNvSpPr txBox="1"/>
          <p:nvPr/>
        </p:nvSpPr>
        <p:spPr>
          <a:xfrm>
            <a:off x="758952" y="2816352"/>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My startup</a:t>
            </a:r>
          </a:p>
        </p:txBody>
      </p:sp>
      <p:sp>
        <p:nvSpPr>
          <p:cNvPr id="14" name="TextBox 13"/>
          <p:cNvSpPr txBox="1"/>
          <p:nvPr/>
        </p:nvSpPr>
        <p:spPr>
          <a:xfrm>
            <a:off x="758952" y="3163824"/>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Next steps</a:t>
            </a:r>
          </a:p>
        </p:txBody>
      </p:sp>
      <p:sp>
        <p:nvSpPr>
          <p:cNvPr id="15" name="TextBox 14"/>
          <p:cNvSpPr txBox="1"/>
          <p:nvPr/>
        </p:nvSpPr>
        <p:spPr>
          <a:xfrm>
            <a:off x="758952" y="3511296"/>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Learn</a:t>
            </a:r>
          </a:p>
        </p:txBody>
      </p:sp>
      <p:sp>
        <p:nvSpPr>
          <p:cNvPr id="16" name="TextBox 15"/>
          <p:cNvSpPr txBox="1"/>
          <p:nvPr/>
        </p:nvSpPr>
        <p:spPr>
          <a:xfrm>
            <a:off x="758952" y="3858768"/>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People</a:t>
            </a:r>
          </a:p>
        </p:txBody>
      </p:sp>
      <p:sp>
        <p:nvSpPr>
          <p:cNvPr id="17" name="TextBox 16"/>
          <p:cNvSpPr txBox="1"/>
          <p:nvPr/>
        </p:nvSpPr>
        <p:spPr>
          <a:xfrm>
            <a:off x="758952" y="4206240"/>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Opportunities</a:t>
            </a:r>
          </a:p>
        </p:txBody>
      </p:sp>
      <p:sp>
        <p:nvSpPr>
          <p:cNvPr id="18" name="TextBox 17"/>
          <p:cNvSpPr txBox="1"/>
          <p:nvPr/>
        </p:nvSpPr>
        <p:spPr>
          <a:xfrm>
            <a:off x="2057400" y="2423160"/>
            <a:ext cx="3931920" cy="27432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Your current stage</a:t>
            </a:r>
          </a:p>
        </p:txBody>
      </p:sp>
      <p:sp>
        <p:nvSpPr>
          <p:cNvPr id="19" name="TextBox 18"/>
          <p:cNvSpPr txBox="1"/>
          <p:nvPr/>
        </p:nvSpPr>
        <p:spPr>
          <a:xfrm>
            <a:off x="2057400" y="2624328"/>
            <a:ext cx="3931920" cy="32004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Validate</a:t>
            </a:r>
          </a:p>
        </p:txBody>
      </p:sp>
      <p:sp>
        <p:nvSpPr>
          <p:cNvPr id="20" name="Rectangle 19"/>
          <p:cNvSpPr/>
          <p:nvPr/>
        </p:nvSpPr>
        <p:spPr>
          <a:xfrm>
            <a:off x="2057400" y="3017520"/>
            <a:ext cx="566928" cy="73152"/>
          </a:xfrm>
          <a:prstGeom prst="rect">
            <a:avLst/>
          </a:prstGeom>
          <a:solidFill>
            <a:srgbClr val="1765D1"/>
          </a:solidFill>
          <a:ln>
            <a:noFill/>
          </a:ln>
          <a:effectLst/>
        </p:spPr>
        <p:txBody>
          <a:bodyPr rtlCol="0" anchor="ctr" lIns="73152" rIns="73152" tIns="36576" bIns="36576"/>
          <a:lstStyle/>
          <a:p>
            <a:pPr algn="ctr"/>
          </a:p>
        </p:txBody>
      </p:sp>
      <p:sp>
        <p:nvSpPr>
          <p:cNvPr id="21" name="Rectangle 20"/>
          <p:cNvSpPr/>
          <p:nvPr/>
        </p:nvSpPr>
        <p:spPr>
          <a:xfrm>
            <a:off x="2697480" y="3017520"/>
            <a:ext cx="566928" cy="73152"/>
          </a:xfrm>
          <a:prstGeom prst="rect">
            <a:avLst/>
          </a:prstGeom>
          <a:solidFill>
            <a:srgbClr val="1765D1"/>
          </a:solidFill>
          <a:ln>
            <a:noFill/>
          </a:ln>
          <a:effectLst/>
        </p:spPr>
        <p:txBody>
          <a:bodyPr rtlCol="0" anchor="ctr" lIns="73152" rIns="73152" tIns="36576" bIns="36576"/>
          <a:lstStyle/>
          <a:p>
            <a:pPr algn="ctr"/>
          </a:p>
        </p:txBody>
      </p:sp>
      <p:sp>
        <p:nvSpPr>
          <p:cNvPr id="22" name="Rectangle 21"/>
          <p:cNvSpPr/>
          <p:nvPr/>
        </p:nvSpPr>
        <p:spPr>
          <a:xfrm>
            <a:off x="333756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3" name="Rectangle 22"/>
          <p:cNvSpPr/>
          <p:nvPr/>
        </p:nvSpPr>
        <p:spPr>
          <a:xfrm>
            <a:off x="3977639"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4" name="Rectangle 23"/>
          <p:cNvSpPr/>
          <p:nvPr/>
        </p:nvSpPr>
        <p:spPr>
          <a:xfrm>
            <a:off x="461772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5" name="Rectangle 24"/>
          <p:cNvSpPr/>
          <p:nvPr/>
        </p:nvSpPr>
        <p:spPr>
          <a:xfrm>
            <a:off x="525780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6" name="Rectangle 25"/>
          <p:cNvSpPr/>
          <p:nvPr/>
        </p:nvSpPr>
        <p:spPr>
          <a:xfrm>
            <a:off x="2057400" y="3291839"/>
            <a:ext cx="3977639" cy="1097280"/>
          </a:xfrm>
          <a:prstGeom prst="rect">
            <a:avLst/>
          </a:prstGeom>
          <a:solidFill>
            <a:srgbClr val="EDF4FE"/>
          </a:solidFill>
          <a:ln>
            <a:noFill/>
          </a:ln>
          <a:effectLst/>
        </p:spPr>
        <p:txBody>
          <a:bodyPr rtlCol="0" anchor="ctr" lIns="73152" rIns="73152" tIns="36576" bIns="36576"/>
          <a:lstStyle/>
          <a:p>
            <a:pPr algn="ctr"/>
          </a:p>
        </p:txBody>
      </p:sp>
      <p:sp>
        <p:nvSpPr>
          <p:cNvPr id="27" name="TextBox 26"/>
          <p:cNvSpPr txBox="1"/>
          <p:nvPr/>
        </p:nvSpPr>
        <p:spPr>
          <a:xfrm>
            <a:off x="2194560" y="3383280"/>
            <a:ext cx="3657600" cy="228600"/>
          </a:xfrm>
          <a:prstGeom prst="rect">
            <a:avLst/>
          </a:prstGeom>
          <a:noFill/>
        </p:spPr>
        <p:txBody>
          <a:bodyPr wrap="square" lIns="0" rIns="0" tIns="0" bIns="0" anchor="t"/>
          <a:lstStyle/>
          <a:p>
            <a:pPr algn="l">
              <a:lnSpc>
                <a:spcPct val="115000"/>
              </a:lnSpc>
              <a:spcAft>
                <a:spcPts val="0"/>
              </a:spcAft>
            </a:pPr>
            <a:r>
              <a:rPr sz="750" b="1" i="0" spc="80">
                <a:solidFill>
                  <a:srgbClr val="1765D1"/>
                </a:solidFill>
                <a:latin typeface="Inter"/>
              </a:rPr>
              <a:t>SUGGESTED NEXT STEP</a:t>
            </a:r>
          </a:p>
        </p:txBody>
      </p:sp>
      <p:sp>
        <p:nvSpPr>
          <p:cNvPr id="28" name="TextBox 27"/>
          <p:cNvSpPr txBox="1"/>
          <p:nvPr/>
        </p:nvSpPr>
        <p:spPr>
          <a:xfrm>
            <a:off x="2194560" y="3611880"/>
            <a:ext cx="3749039" cy="457200"/>
          </a:xfrm>
          <a:prstGeom prst="rect">
            <a:avLst/>
          </a:prstGeom>
          <a:noFill/>
        </p:spPr>
        <p:txBody>
          <a:bodyPr wrap="square" lIns="0" rIns="0" tIns="0" bIns="0" anchor="t"/>
          <a:lstStyle/>
          <a:p>
            <a:pPr algn="l">
              <a:lnSpc>
                <a:spcPct val="110000"/>
              </a:lnSpc>
              <a:spcAft>
                <a:spcPts val="0"/>
              </a:spcAft>
            </a:pPr>
            <a:r>
              <a:rPr sz="1100" b="1" i="0">
                <a:solidFill>
                  <a:srgbClr val="10213B"/>
                </a:solidFill>
                <a:latin typeface="Inter"/>
              </a:rPr>
              <a:t>Run five customer conversations using the interview guide</a:t>
            </a:r>
          </a:p>
        </p:txBody>
      </p:sp>
      <p:sp>
        <p:nvSpPr>
          <p:cNvPr id="29" name="Rounded Rectangle 28"/>
          <p:cNvSpPr/>
          <p:nvPr/>
        </p:nvSpPr>
        <p:spPr>
          <a:xfrm>
            <a:off x="2194560" y="4023360"/>
            <a:ext cx="1143000" cy="256032"/>
          </a:xfrm>
          <a:prstGeom prst="roundRect">
            <a:avLst>
              <a:gd name="adj" fmla="val 3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800" b="1" i="0">
                <a:solidFill>
                  <a:srgbClr val="FFFFFF"/>
                </a:solidFill>
                <a:latin typeface="Inter"/>
              </a:rPr>
              <a:t>Open guide</a:t>
            </a:r>
          </a:p>
        </p:txBody>
      </p:sp>
      <p:sp>
        <p:nvSpPr>
          <p:cNvPr id="30" name="TextBox 29"/>
          <p:cNvSpPr txBox="1"/>
          <p:nvPr/>
        </p:nvSpPr>
        <p:spPr>
          <a:xfrm>
            <a:off x="2057400" y="4572000"/>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RESOURCE</a:t>
            </a:r>
          </a:p>
        </p:txBody>
      </p:sp>
      <p:sp>
        <p:nvSpPr>
          <p:cNvPr id="31" name="TextBox 30"/>
          <p:cNvSpPr txBox="1"/>
          <p:nvPr/>
        </p:nvSpPr>
        <p:spPr>
          <a:xfrm>
            <a:off x="2971800" y="4553712"/>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Customer interview template</a:t>
            </a:r>
          </a:p>
        </p:txBody>
      </p:sp>
      <p:cxnSp>
        <p:nvCxnSpPr>
          <p:cNvPr id="32" name="Connector 31"/>
          <p:cNvCxnSpPr/>
          <p:nvPr/>
        </p:nvCxnSpPr>
        <p:spPr>
          <a:xfrm>
            <a:off x="2057400" y="4864608"/>
            <a:ext cx="3977640" cy="0"/>
          </a:xfrm>
          <a:prstGeom prst="line">
            <a:avLst/>
          </a:prstGeom>
          <a:ln w="12700">
            <a:solidFill>
              <a:srgbClr val="E3ECF8"/>
            </a:solidFill>
          </a:ln>
        </p:spPr>
      </p:cxnSp>
      <p:sp>
        <p:nvSpPr>
          <p:cNvPr id="33" name="TextBox 32"/>
          <p:cNvSpPr txBox="1"/>
          <p:nvPr/>
        </p:nvSpPr>
        <p:spPr>
          <a:xfrm>
            <a:off x="2057400" y="4956048"/>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SESSION</a:t>
            </a:r>
          </a:p>
        </p:txBody>
      </p:sp>
      <p:sp>
        <p:nvSpPr>
          <p:cNvPr id="34" name="TextBox 33"/>
          <p:cNvSpPr txBox="1"/>
          <p:nvPr/>
        </p:nvSpPr>
        <p:spPr>
          <a:xfrm>
            <a:off x="2971800" y="4937760"/>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Validation clinic — book a slot</a:t>
            </a:r>
          </a:p>
        </p:txBody>
      </p:sp>
      <p:cxnSp>
        <p:nvCxnSpPr>
          <p:cNvPr id="35" name="Connector 34"/>
          <p:cNvCxnSpPr/>
          <p:nvPr/>
        </p:nvCxnSpPr>
        <p:spPr>
          <a:xfrm>
            <a:off x="2057400" y="5248656"/>
            <a:ext cx="3977640" cy="0"/>
          </a:xfrm>
          <a:prstGeom prst="line">
            <a:avLst/>
          </a:prstGeom>
          <a:ln w="12700">
            <a:solidFill>
              <a:srgbClr val="E3ECF8"/>
            </a:solidFill>
          </a:ln>
        </p:spPr>
      </p:cxnSp>
      <p:sp>
        <p:nvSpPr>
          <p:cNvPr id="36" name="TextBox 35"/>
          <p:cNvSpPr txBox="1"/>
          <p:nvPr/>
        </p:nvSpPr>
        <p:spPr>
          <a:xfrm>
            <a:off x="2057400" y="5340096"/>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CONNECT</a:t>
            </a:r>
          </a:p>
        </p:txBody>
      </p:sp>
      <p:sp>
        <p:nvSpPr>
          <p:cNvPr id="37" name="TextBox 36"/>
          <p:cNvSpPr txBox="1"/>
          <p:nvPr/>
        </p:nvSpPr>
        <p:spPr>
          <a:xfrm>
            <a:off x="2971800" y="5321808"/>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Request a mentor in your sector</a:t>
            </a:r>
          </a:p>
        </p:txBody>
      </p:sp>
      <p:cxnSp>
        <p:nvCxnSpPr>
          <p:cNvPr id="38" name="Connector 37"/>
          <p:cNvCxnSpPr/>
          <p:nvPr/>
        </p:nvCxnSpPr>
        <p:spPr>
          <a:xfrm>
            <a:off x="2057400" y="5632704"/>
            <a:ext cx="3977640" cy="0"/>
          </a:xfrm>
          <a:prstGeom prst="line">
            <a:avLst/>
          </a:prstGeom>
          <a:ln w="12700">
            <a:solidFill>
              <a:srgbClr val="E3ECF8"/>
            </a:solidFill>
          </a:ln>
        </p:spPr>
      </p:cxnSp>
      <p:sp>
        <p:nvSpPr>
          <p:cNvPr id="39" name="TextBox 38"/>
          <p:cNvSpPr txBox="1"/>
          <p:nvPr/>
        </p:nvSpPr>
        <p:spPr>
          <a:xfrm>
            <a:off x="594360" y="5989319"/>
            <a:ext cx="562356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40" name="Oval 39"/>
          <p:cNvSpPr/>
          <p:nvPr/>
        </p:nvSpPr>
        <p:spPr>
          <a:xfrm>
            <a:off x="6629400" y="2011679"/>
            <a:ext cx="365760" cy="365760"/>
          </a:xfrm>
          <a:prstGeom prst="ellipse">
            <a:avLst/>
          </a:prstGeom>
          <a:solidFill>
            <a:srgbClr val="1765D1"/>
          </a:solidFill>
          <a:ln>
            <a:noFill/>
          </a:ln>
          <a:effectLst/>
        </p:spPr>
        <p:txBody>
          <a:bodyPr rtlCol="0" anchor="ctr" lIns="73152" rIns="73152" tIns="36576" bIns="36576"/>
          <a:lstStyle/>
          <a:p>
            <a:pPr algn="ctr"/>
          </a:p>
        </p:txBody>
      </p:sp>
      <p:sp>
        <p:nvSpPr>
          <p:cNvPr id="41" name="TextBox 40"/>
          <p:cNvSpPr txBox="1"/>
          <p:nvPr/>
        </p:nvSpPr>
        <p:spPr>
          <a:xfrm>
            <a:off x="6629400" y="2057400"/>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1</a:t>
            </a:r>
          </a:p>
        </p:txBody>
      </p:sp>
      <p:sp>
        <p:nvSpPr>
          <p:cNvPr id="42" name="TextBox 41"/>
          <p:cNvSpPr txBox="1"/>
          <p:nvPr/>
        </p:nvSpPr>
        <p:spPr>
          <a:xfrm>
            <a:off x="7178040" y="1965960"/>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My startup</a:t>
            </a:r>
          </a:p>
        </p:txBody>
      </p:sp>
      <p:sp>
        <p:nvSpPr>
          <p:cNvPr id="43" name="TextBox 42"/>
          <p:cNvSpPr txBox="1"/>
          <p:nvPr/>
        </p:nvSpPr>
        <p:spPr>
          <a:xfrm>
            <a:off x="7178040" y="2313432"/>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profile · stage and goals · personal dashboard</a:t>
            </a:r>
          </a:p>
        </p:txBody>
      </p:sp>
      <p:sp>
        <p:nvSpPr>
          <p:cNvPr id="44" name="Oval 43"/>
          <p:cNvSpPr/>
          <p:nvPr/>
        </p:nvSpPr>
        <p:spPr>
          <a:xfrm>
            <a:off x="6629400" y="2999232"/>
            <a:ext cx="365760" cy="365760"/>
          </a:xfrm>
          <a:prstGeom prst="ellipse">
            <a:avLst/>
          </a:prstGeom>
          <a:solidFill>
            <a:srgbClr val="10213B"/>
          </a:solidFill>
          <a:ln>
            <a:noFill/>
          </a:ln>
          <a:effectLst/>
        </p:spPr>
        <p:txBody>
          <a:bodyPr rtlCol="0" anchor="ctr" lIns="73152" rIns="73152" tIns="36576" bIns="36576"/>
          <a:lstStyle/>
          <a:p>
            <a:pPr algn="ctr"/>
          </a:p>
        </p:txBody>
      </p:sp>
      <p:sp>
        <p:nvSpPr>
          <p:cNvPr id="45" name="TextBox 44"/>
          <p:cNvSpPr txBox="1"/>
          <p:nvPr/>
        </p:nvSpPr>
        <p:spPr>
          <a:xfrm>
            <a:off x="6629400" y="3044952"/>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2</a:t>
            </a:r>
          </a:p>
        </p:txBody>
      </p:sp>
      <p:sp>
        <p:nvSpPr>
          <p:cNvPr id="46" name="TextBox 45"/>
          <p:cNvSpPr txBox="1"/>
          <p:nvPr/>
        </p:nvSpPr>
        <p:spPr>
          <a:xfrm>
            <a:off x="7178040" y="2953512"/>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Next steps</a:t>
            </a:r>
          </a:p>
        </p:txBody>
      </p:sp>
      <p:sp>
        <p:nvSpPr>
          <p:cNvPr id="47" name="TextBox 46"/>
          <p:cNvSpPr txBox="1"/>
          <p:nvPr/>
        </p:nvSpPr>
        <p:spPr>
          <a:xfrm>
            <a:off x="7178040" y="3300984"/>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Tasks · resources and templates · learning progress</a:t>
            </a:r>
          </a:p>
        </p:txBody>
      </p:sp>
      <p:sp>
        <p:nvSpPr>
          <p:cNvPr id="48" name="Oval 47"/>
          <p:cNvSpPr/>
          <p:nvPr/>
        </p:nvSpPr>
        <p:spPr>
          <a:xfrm>
            <a:off x="6629400" y="3986784"/>
            <a:ext cx="365760" cy="365760"/>
          </a:xfrm>
          <a:prstGeom prst="ellipse">
            <a:avLst/>
          </a:prstGeom>
          <a:solidFill>
            <a:srgbClr val="1765D1"/>
          </a:solidFill>
          <a:ln>
            <a:noFill/>
          </a:ln>
          <a:effectLst/>
        </p:spPr>
        <p:txBody>
          <a:bodyPr rtlCol="0" anchor="ctr" lIns="73152" rIns="73152" tIns="36576" bIns="36576"/>
          <a:lstStyle/>
          <a:p>
            <a:pPr algn="ctr"/>
          </a:p>
        </p:txBody>
      </p:sp>
      <p:sp>
        <p:nvSpPr>
          <p:cNvPr id="49" name="TextBox 48"/>
          <p:cNvSpPr txBox="1"/>
          <p:nvPr/>
        </p:nvSpPr>
        <p:spPr>
          <a:xfrm>
            <a:off x="6629400" y="4032504"/>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3</a:t>
            </a:r>
          </a:p>
        </p:txBody>
      </p:sp>
      <p:sp>
        <p:nvSpPr>
          <p:cNvPr id="50" name="TextBox 49"/>
          <p:cNvSpPr txBox="1"/>
          <p:nvPr/>
        </p:nvSpPr>
        <p:spPr>
          <a:xfrm>
            <a:off x="7178040" y="3941064"/>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People and support</a:t>
            </a:r>
          </a:p>
        </p:txBody>
      </p:sp>
      <p:sp>
        <p:nvSpPr>
          <p:cNvPr id="51" name="TextBox 50"/>
          <p:cNvSpPr txBox="1"/>
          <p:nvPr/>
        </p:nvSpPr>
        <p:spPr>
          <a:xfrm>
            <a:off x="7178040" y="4288536"/>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Mentor and specialist discovery · connection requests · service requests</a:t>
            </a:r>
          </a:p>
        </p:txBody>
      </p:sp>
      <p:sp>
        <p:nvSpPr>
          <p:cNvPr id="52" name="Oval 51"/>
          <p:cNvSpPr/>
          <p:nvPr/>
        </p:nvSpPr>
        <p:spPr>
          <a:xfrm>
            <a:off x="6629400" y="4974336"/>
            <a:ext cx="365760" cy="365760"/>
          </a:xfrm>
          <a:prstGeom prst="ellipse">
            <a:avLst/>
          </a:prstGeom>
          <a:solidFill>
            <a:srgbClr val="10213B"/>
          </a:solidFill>
          <a:ln>
            <a:noFill/>
          </a:ln>
          <a:effectLst/>
        </p:spPr>
        <p:txBody>
          <a:bodyPr rtlCol="0" anchor="ctr" lIns="73152" rIns="73152" tIns="36576" bIns="36576"/>
          <a:lstStyle/>
          <a:p>
            <a:pPr algn="ctr"/>
          </a:p>
        </p:txBody>
      </p:sp>
      <p:sp>
        <p:nvSpPr>
          <p:cNvPr id="53" name="TextBox 52"/>
          <p:cNvSpPr txBox="1"/>
          <p:nvPr/>
        </p:nvSpPr>
        <p:spPr>
          <a:xfrm>
            <a:off x="6629400" y="5020056"/>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4</a:t>
            </a:r>
          </a:p>
        </p:txBody>
      </p:sp>
      <p:sp>
        <p:nvSpPr>
          <p:cNvPr id="54" name="TextBox 53"/>
          <p:cNvSpPr txBox="1"/>
          <p:nvPr/>
        </p:nvSpPr>
        <p:spPr>
          <a:xfrm>
            <a:off x="7178040" y="4928616"/>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Opportunities and progress</a:t>
            </a:r>
          </a:p>
        </p:txBody>
      </p:sp>
      <p:sp>
        <p:nvSpPr>
          <p:cNvPr id="55" name="TextBox 54"/>
          <p:cNvSpPr txBox="1"/>
          <p:nvPr/>
        </p:nvSpPr>
        <p:spPr>
          <a:xfrm>
            <a:off x="7178040" y="5276088"/>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Relevant opportunities · activity and progress tracking</a:t>
            </a:r>
          </a:p>
        </p:txBody>
      </p:sp>
      <p:sp>
        <p:nvSpPr>
          <p:cNvPr id="56" name="TextBox 55"/>
          <p:cNvSpPr txBox="1"/>
          <p:nvPr/>
        </p:nvSpPr>
        <p:spPr>
          <a:xfrm>
            <a:off x="6629400" y="5943600"/>
            <a:ext cx="4937760" cy="36576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Capabilities will be prioritised with pilot founders and released step by step.</a:t>
            </a:r>
          </a:p>
        </p:txBody>
      </p:sp>
      <p:sp>
        <p:nvSpPr>
          <p:cNvPr id="57" name="TextBox 5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8" name="TextBox 5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ONBOARDING</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five-minute profile that shapes everything after it.</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5760720" cy="3977639"/>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576072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 · Create your profile</a:t>
            </a:r>
          </a:p>
        </p:txBody>
      </p:sp>
      <p:sp>
        <p:nvSpPr>
          <p:cNvPr id="11" name="TextBox 10"/>
          <p:cNvSpPr txBox="1"/>
          <p:nvPr/>
        </p:nvSpPr>
        <p:spPr>
          <a:xfrm>
            <a:off x="594360" y="6016752"/>
            <a:ext cx="576072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12" name="Oval 11"/>
          <p:cNvSpPr/>
          <p:nvPr/>
        </p:nvSpPr>
        <p:spPr>
          <a:xfrm>
            <a:off x="914400" y="2468880"/>
            <a:ext cx="292608" cy="292608"/>
          </a:xfrm>
          <a:prstGeom prst="ellipse">
            <a:avLst/>
          </a:prstGeom>
          <a:solidFill>
            <a:srgbClr val="1765D1"/>
          </a:solidFill>
          <a:ln>
            <a:noFill/>
          </a:ln>
          <a:effectLst/>
        </p:spPr>
        <p:txBody>
          <a:bodyPr rtlCol="0" anchor="ctr" lIns="0" rIns="0" tIns="27432" bIns="27432" wrap="square"/>
          <a:lstStyle/>
          <a:p>
            <a:pPr algn="ctr">
              <a:lnSpc>
                <a:spcPct val="110000"/>
              </a:lnSpc>
              <a:spcAft>
                <a:spcPts val="0"/>
              </a:spcAft>
            </a:pPr>
            <a:r>
              <a:rPr sz="900" b="1" i="0">
                <a:solidFill>
                  <a:srgbClr val="FFFFFF"/>
                </a:solidFill>
                <a:latin typeface="Inter"/>
              </a:rPr>
              <a:t>1</a:t>
            </a:r>
          </a:p>
        </p:txBody>
      </p:sp>
      <p:sp>
        <p:nvSpPr>
          <p:cNvPr id="13" name="TextBox 12"/>
          <p:cNvSpPr txBox="1"/>
          <p:nvPr/>
        </p:nvSpPr>
        <p:spPr>
          <a:xfrm>
            <a:off x="685800" y="2807208"/>
            <a:ext cx="777240" cy="228600"/>
          </a:xfrm>
          <a:prstGeom prst="rect">
            <a:avLst/>
          </a:prstGeom>
          <a:noFill/>
        </p:spPr>
        <p:txBody>
          <a:bodyPr wrap="square" lIns="0" rIns="0" tIns="0" bIns="0" anchor="t"/>
          <a:lstStyle/>
          <a:p>
            <a:pPr algn="ctr">
              <a:lnSpc>
                <a:spcPct val="115000"/>
              </a:lnSpc>
              <a:spcAft>
                <a:spcPts val="0"/>
              </a:spcAft>
            </a:pPr>
            <a:r>
              <a:rPr sz="800" b="0" i="0">
                <a:solidFill>
                  <a:srgbClr val="61738A"/>
                </a:solidFill>
                <a:latin typeface="Inter"/>
              </a:rPr>
              <a:t>About you</a:t>
            </a:r>
          </a:p>
        </p:txBody>
      </p:sp>
      <p:cxnSp>
        <p:nvCxnSpPr>
          <p:cNvPr id="14" name="Connector 13"/>
          <p:cNvCxnSpPr/>
          <p:nvPr/>
        </p:nvCxnSpPr>
        <p:spPr>
          <a:xfrm>
            <a:off x="1243584" y="2615184"/>
            <a:ext cx="713231" cy="0"/>
          </a:xfrm>
          <a:prstGeom prst="line">
            <a:avLst/>
          </a:prstGeom>
          <a:ln w="19050">
            <a:solidFill>
              <a:srgbClr val="1765D1"/>
            </a:solidFill>
          </a:ln>
        </p:spPr>
      </p:cxnSp>
      <p:sp>
        <p:nvSpPr>
          <p:cNvPr id="15" name="Oval 14"/>
          <p:cNvSpPr/>
          <p:nvPr/>
        </p:nvSpPr>
        <p:spPr>
          <a:xfrm>
            <a:off x="1993391" y="2468880"/>
            <a:ext cx="292608" cy="292608"/>
          </a:xfrm>
          <a:prstGeom prst="ellipse">
            <a:avLst/>
          </a:prstGeom>
          <a:solidFill>
            <a:srgbClr val="1765D1"/>
          </a:solidFill>
          <a:ln>
            <a:noFill/>
          </a:ln>
          <a:effectLst/>
        </p:spPr>
        <p:txBody>
          <a:bodyPr rtlCol="0" anchor="ctr" lIns="0" rIns="0" tIns="27432" bIns="27432" wrap="square"/>
          <a:lstStyle/>
          <a:p>
            <a:pPr algn="ctr">
              <a:lnSpc>
                <a:spcPct val="110000"/>
              </a:lnSpc>
              <a:spcAft>
                <a:spcPts val="0"/>
              </a:spcAft>
            </a:pPr>
            <a:r>
              <a:rPr sz="900" b="1" i="0">
                <a:solidFill>
                  <a:srgbClr val="FFFFFF"/>
                </a:solidFill>
                <a:latin typeface="Inter"/>
              </a:rPr>
              <a:t>2</a:t>
            </a:r>
          </a:p>
        </p:txBody>
      </p:sp>
      <p:sp>
        <p:nvSpPr>
          <p:cNvPr id="16" name="TextBox 15"/>
          <p:cNvSpPr txBox="1"/>
          <p:nvPr/>
        </p:nvSpPr>
        <p:spPr>
          <a:xfrm>
            <a:off x="1764791" y="2807208"/>
            <a:ext cx="777240" cy="228600"/>
          </a:xfrm>
          <a:prstGeom prst="rect">
            <a:avLst/>
          </a:prstGeom>
          <a:noFill/>
        </p:spPr>
        <p:txBody>
          <a:bodyPr wrap="square" lIns="0" rIns="0" tIns="0" bIns="0" anchor="t"/>
          <a:lstStyle/>
          <a:p>
            <a:pPr algn="ctr">
              <a:lnSpc>
                <a:spcPct val="115000"/>
              </a:lnSpc>
              <a:spcAft>
                <a:spcPts val="0"/>
              </a:spcAft>
            </a:pPr>
            <a:r>
              <a:rPr sz="800" b="0" i="0">
                <a:solidFill>
                  <a:srgbClr val="61738A"/>
                </a:solidFill>
                <a:latin typeface="Inter"/>
              </a:rPr>
              <a:t>Your business</a:t>
            </a:r>
          </a:p>
        </p:txBody>
      </p:sp>
      <p:cxnSp>
        <p:nvCxnSpPr>
          <p:cNvPr id="17" name="Connector 16"/>
          <p:cNvCxnSpPr/>
          <p:nvPr/>
        </p:nvCxnSpPr>
        <p:spPr>
          <a:xfrm>
            <a:off x="2322575" y="2615184"/>
            <a:ext cx="713232" cy="0"/>
          </a:xfrm>
          <a:prstGeom prst="line">
            <a:avLst/>
          </a:prstGeom>
          <a:ln w="19050">
            <a:solidFill>
              <a:srgbClr val="1765D1"/>
            </a:solidFill>
          </a:ln>
        </p:spPr>
      </p:cxnSp>
      <p:sp>
        <p:nvSpPr>
          <p:cNvPr id="18" name="Oval 17"/>
          <p:cNvSpPr/>
          <p:nvPr/>
        </p:nvSpPr>
        <p:spPr>
          <a:xfrm>
            <a:off x="3072384" y="2468880"/>
            <a:ext cx="292608" cy="292608"/>
          </a:xfrm>
          <a:prstGeom prst="ellipse">
            <a:avLst/>
          </a:prstGeom>
          <a:solidFill>
            <a:srgbClr val="1765D1"/>
          </a:solidFill>
          <a:ln>
            <a:noFill/>
          </a:ln>
          <a:effectLst/>
        </p:spPr>
        <p:txBody>
          <a:bodyPr rtlCol="0" anchor="ctr" lIns="0" rIns="0" tIns="27432" bIns="27432" wrap="square"/>
          <a:lstStyle/>
          <a:p>
            <a:pPr algn="ctr">
              <a:lnSpc>
                <a:spcPct val="110000"/>
              </a:lnSpc>
              <a:spcAft>
                <a:spcPts val="0"/>
              </a:spcAft>
            </a:pPr>
            <a:r>
              <a:rPr sz="900" b="1" i="0">
                <a:solidFill>
                  <a:srgbClr val="FFFFFF"/>
                </a:solidFill>
                <a:latin typeface="Inter"/>
              </a:rPr>
              <a:t>3</a:t>
            </a:r>
          </a:p>
        </p:txBody>
      </p:sp>
      <p:sp>
        <p:nvSpPr>
          <p:cNvPr id="19" name="TextBox 18"/>
          <p:cNvSpPr txBox="1"/>
          <p:nvPr/>
        </p:nvSpPr>
        <p:spPr>
          <a:xfrm>
            <a:off x="2843784" y="2807208"/>
            <a:ext cx="777240" cy="228600"/>
          </a:xfrm>
          <a:prstGeom prst="rect">
            <a:avLst/>
          </a:prstGeom>
          <a:noFill/>
        </p:spPr>
        <p:txBody>
          <a:bodyPr wrap="square" lIns="0" rIns="0" tIns="0" bIns="0" anchor="t"/>
          <a:lstStyle/>
          <a:p>
            <a:pPr algn="ctr">
              <a:lnSpc>
                <a:spcPct val="115000"/>
              </a:lnSpc>
              <a:spcAft>
                <a:spcPts val="0"/>
              </a:spcAft>
            </a:pPr>
            <a:r>
              <a:rPr sz="800" b="1" i="0">
                <a:solidFill>
                  <a:srgbClr val="10213B"/>
                </a:solidFill>
                <a:latin typeface="Inter"/>
              </a:rPr>
              <a:t>Stage</a:t>
            </a:r>
          </a:p>
        </p:txBody>
      </p:sp>
      <p:cxnSp>
        <p:nvCxnSpPr>
          <p:cNvPr id="20" name="Connector 19"/>
          <p:cNvCxnSpPr/>
          <p:nvPr/>
        </p:nvCxnSpPr>
        <p:spPr>
          <a:xfrm>
            <a:off x="3401568" y="2615184"/>
            <a:ext cx="713232" cy="0"/>
          </a:xfrm>
          <a:prstGeom prst="line">
            <a:avLst/>
          </a:prstGeom>
          <a:ln w="19050">
            <a:solidFill>
              <a:srgbClr val="D9E5F6"/>
            </a:solidFill>
          </a:ln>
        </p:spPr>
      </p:cxnSp>
      <p:sp>
        <p:nvSpPr>
          <p:cNvPr id="21" name="Oval 20"/>
          <p:cNvSpPr/>
          <p:nvPr/>
        </p:nvSpPr>
        <p:spPr>
          <a:xfrm>
            <a:off x="4151376" y="2468880"/>
            <a:ext cx="292608" cy="292608"/>
          </a:xfrm>
          <a:prstGeom prst="ellipse">
            <a:avLst/>
          </a:prstGeom>
          <a:solidFill>
            <a:srgbClr val="D9E5F6"/>
          </a:solidFill>
          <a:ln>
            <a:noFill/>
          </a:ln>
          <a:effectLst/>
        </p:spPr>
        <p:txBody>
          <a:bodyPr rtlCol="0" anchor="ctr" lIns="0" rIns="0" tIns="27432" bIns="27432" wrap="square"/>
          <a:lstStyle/>
          <a:p>
            <a:pPr algn="ctr">
              <a:lnSpc>
                <a:spcPct val="110000"/>
              </a:lnSpc>
              <a:spcAft>
                <a:spcPts val="0"/>
              </a:spcAft>
            </a:pPr>
            <a:r>
              <a:rPr sz="900" b="1" i="0">
                <a:solidFill>
                  <a:srgbClr val="61738A"/>
                </a:solidFill>
                <a:latin typeface="Inter"/>
              </a:rPr>
              <a:t>4</a:t>
            </a:r>
          </a:p>
        </p:txBody>
      </p:sp>
      <p:sp>
        <p:nvSpPr>
          <p:cNvPr id="22" name="TextBox 21"/>
          <p:cNvSpPr txBox="1"/>
          <p:nvPr/>
        </p:nvSpPr>
        <p:spPr>
          <a:xfrm>
            <a:off x="3922776" y="2807208"/>
            <a:ext cx="777240" cy="228600"/>
          </a:xfrm>
          <a:prstGeom prst="rect">
            <a:avLst/>
          </a:prstGeom>
          <a:noFill/>
        </p:spPr>
        <p:txBody>
          <a:bodyPr wrap="square" lIns="0" rIns="0" tIns="0" bIns="0" anchor="t"/>
          <a:lstStyle/>
          <a:p>
            <a:pPr algn="ctr">
              <a:lnSpc>
                <a:spcPct val="115000"/>
              </a:lnSpc>
              <a:spcAft>
                <a:spcPts val="0"/>
              </a:spcAft>
            </a:pPr>
            <a:r>
              <a:rPr sz="800" b="0" i="0">
                <a:solidFill>
                  <a:srgbClr val="61738A"/>
                </a:solidFill>
                <a:latin typeface="Inter"/>
              </a:rPr>
              <a:t>Goals</a:t>
            </a:r>
          </a:p>
        </p:txBody>
      </p:sp>
      <p:cxnSp>
        <p:nvCxnSpPr>
          <p:cNvPr id="23" name="Connector 22"/>
          <p:cNvCxnSpPr/>
          <p:nvPr/>
        </p:nvCxnSpPr>
        <p:spPr>
          <a:xfrm>
            <a:off x="4480560" y="2615184"/>
            <a:ext cx="713232" cy="0"/>
          </a:xfrm>
          <a:prstGeom prst="line">
            <a:avLst/>
          </a:prstGeom>
          <a:ln w="19050">
            <a:solidFill>
              <a:srgbClr val="D9E5F6"/>
            </a:solidFill>
          </a:ln>
        </p:spPr>
      </p:cxnSp>
      <p:sp>
        <p:nvSpPr>
          <p:cNvPr id="24" name="Oval 23"/>
          <p:cNvSpPr/>
          <p:nvPr/>
        </p:nvSpPr>
        <p:spPr>
          <a:xfrm>
            <a:off x="5230368" y="2468880"/>
            <a:ext cx="292608" cy="292608"/>
          </a:xfrm>
          <a:prstGeom prst="ellipse">
            <a:avLst/>
          </a:prstGeom>
          <a:solidFill>
            <a:srgbClr val="D9E5F6"/>
          </a:solidFill>
          <a:ln>
            <a:noFill/>
          </a:ln>
          <a:effectLst/>
        </p:spPr>
        <p:txBody>
          <a:bodyPr rtlCol="0" anchor="ctr" lIns="0" rIns="0" tIns="27432" bIns="27432" wrap="square"/>
          <a:lstStyle/>
          <a:p>
            <a:pPr algn="ctr">
              <a:lnSpc>
                <a:spcPct val="110000"/>
              </a:lnSpc>
              <a:spcAft>
                <a:spcPts val="0"/>
              </a:spcAft>
            </a:pPr>
            <a:r>
              <a:rPr sz="900" b="1" i="0">
                <a:solidFill>
                  <a:srgbClr val="61738A"/>
                </a:solidFill>
                <a:latin typeface="Inter"/>
              </a:rPr>
              <a:t>5</a:t>
            </a:r>
          </a:p>
        </p:txBody>
      </p:sp>
      <p:sp>
        <p:nvSpPr>
          <p:cNvPr id="25" name="TextBox 24"/>
          <p:cNvSpPr txBox="1"/>
          <p:nvPr/>
        </p:nvSpPr>
        <p:spPr>
          <a:xfrm>
            <a:off x="5001768" y="2807208"/>
            <a:ext cx="777240" cy="228600"/>
          </a:xfrm>
          <a:prstGeom prst="rect">
            <a:avLst/>
          </a:prstGeom>
          <a:noFill/>
        </p:spPr>
        <p:txBody>
          <a:bodyPr wrap="square" lIns="0" rIns="0" tIns="0" bIns="0" anchor="t"/>
          <a:lstStyle/>
          <a:p>
            <a:pPr algn="ctr">
              <a:lnSpc>
                <a:spcPct val="115000"/>
              </a:lnSpc>
              <a:spcAft>
                <a:spcPts val="0"/>
              </a:spcAft>
            </a:pPr>
            <a:r>
              <a:rPr sz="800" b="0" i="0">
                <a:solidFill>
                  <a:srgbClr val="61738A"/>
                </a:solidFill>
                <a:latin typeface="Inter"/>
              </a:rPr>
              <a:t>Support</a:t>
            </a:r>
          </a:p>
        </p:txBody>
      </p:sp>
      <p:sp>
        <p:nvSpPr>
          <p:cNvPr id="26" name="TextBox 25"/>
          <p:cNvSpPr txBox="1"/>
          <p:nvPr/>
        </p:nvSpPr>
        <p:spPr>
          <a:xfrm>
            <a:off x="914400" y="3200400"/>
            <a:ext cx="5029200" cy="32004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Which stage best describes your business today?</a:t>
            </a:r>
          </a:p>
        </p:txBody>
      </p:sp>
      <p:sp>
        <p:nvSpPr>
          <p:cNvPr id="27" name="Rectangle 26"/>
          <p:cNvSpPr/>
          <p:nvPr/>
        </p:nvSpPr>
        <p:spPr>
          <a:xfrm>
            <a:off x="914400" y="3657600"/>
            <a:ext cx="5074920" cy="338328"/>
          </a:xfrm>
          <a:prstGeom prst="rect">
            <a:avLst/>
          </a:prstGeom>
          <a:solidFill>
            <a:srgbClr val="FFFFFF"/>
          </a:solidFill>
          <a:ln w="12700">
            <a:solidFill>
              <a:srgbClr val="D5E2F3"/>
            </a:solidFill>
          </a:ln>
          <a:effectLst/>
        </p:spPr>
        <p:txBody>
          <a:bodyPr rtlCol="0" anchor="ctr" lIns="73152" rIns="73152" tIns="36576" bIns="36576"/>
          <a:lstStyle/>
          <a:p>
            <a:pPr algn="ctr"/>
          </a:p>
        </p:txBody>
      </p:sp>
      <p:sp>
        <p:nvSpPr>
          <p:cNvPr id="28" name="Oval 27"/>
          <p:cNvSpPr/>
          <p:nvPr/>
        </p:nvSpPr>
        <p:spPr>
          <a:xfrm>
            <a:off x="1051560" y="3758184"/>
            <a:ext cx="137160" cy="137160"/>
          </a:xfrm>
          <a:prstGeom prst="ellipse">
            <a:avLst/>
          </a:prstGeom>
          <a:solidFill>
            <a:srgbClr val="FFFFFF"/>
          </a:solidFill>
          <a:ln w="9525">
            <a:solidFill>
              <a:srgbClr val="B8CFEE"/>
            </a:solidFill>
          </a:ln>
          <a:effectLst/>
        </p:spPr>
        <p:txBody>
          <a:bodyPr rtlCol="0" anchor="ctr" lIns="73152" rIns="73152" tIns="36576" bIns="36576"/>
          <a:lstStyle/>
          <a:p>
            <a:pPr algn="ctr"/>
          </a:p>
        </p:txBody>
      </p:sp>
      <p:sp>
        <p:nvSpPr>
          <p:cNvPr id="29" name="TextBox 28"/>
          <p:cNvSpPr txBox="1"/>
          <p:nvPr/>
        </p:nvSpPr>
        <p:spPr>
          <a:xfrm>
            <a:off x="1325880" y="3721608"/>
            <a:ext cx="4389120" cy="27432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Exploring an idea</a:t>
            </a:r>
          </a:p>
        </p:txBody>
      </p:sp>
      <p:sp>
        <p:nvSpPr>
          <p:cNvPr id="30" name="Rectangle 29"/>
          <p:cNvSpPr/>
          <p:nvPr/>
        </p:nvSpPr>
        <p:spPr>
          <a:xfrm>
            <a:off x="914400" y="4069080"/>
            <a:ext cx="5074920" cy="338328"/>
          </a:xfrm>
          <a:prstGeom prst="rect">
            <a:avLst/>
          </a:prstGeom>
          <a:solidFill>
            <a:srgbClr val="EDF4FE"/>
          </a:solidFill>
          <a:ln w="12700">
            <a:solidFill>
              <a:srgbClr val="1765D1"/>
            </a:solidFill>
          </a:ln>
          <a:effectLst/>
        </p:spPr>
        <p:txBody>
          <a:bodyPr rtlCol="0" anchor="ctr" lIns="73152" rIns="73152" tIns="36576" bIns="36576"/>
          <a:lstStyle/>
          <a:p>
            <a:pPr algn="ctr"/>
          </a:p>
        </p:txBody>
      </p:sp>
      <p:sp>
        <p:nvSpPr>
          <p:cNvPr id="31" name="Oval 30"/>
          <p:cNvSpPr/>
          <p:nvPr/>
        </p:nvSpPr>
        <p:spPr>
          <a:xfrm>
            <a:off x="1051560" y="4169664"/>
            <a:ext cx="137160" cy="137160"/>
          </a:xfrm>
          <a:prstGeom prst="ellipse">
            <a:avLst/>
          </a:prstGeom>
          <a:solidFill>
            <a:srgbClr val="1765D1"/>
          </a:solidFill>
          <a:ln w="9525">
            <a:solidFill>
              <a:srgbClr val="1765D1"/>
            </a:solidFill>
          </a:ln>
          <a:effectLst/>
        </p:spPr>
        <p:txBody>
          <a:bodyPr rtlCol="0" anchor="ctr" lIns="73152" rIns="73152" tIns="36576" bIns="36576"/>
          <a:lstStyle/>
          <a:p>
            <a:pPr algn="ctr"/>
          </a:p>
        </p:txBody>
      </p:sp>
      <p:sp>
        <p:nvSpPr>
          <p:cNvPr id="32" name="TextBox 31"/>
          <p:cNvSpPr txBox="1"/>
          <p:nvPr/>
        </p:nvSpPr>
        <p:spPr>
          <a:xfrm>
            <a:off x="1325880" y="4133088"/>
            <a:ext cx="4389120" cy="274320"/>
          </a:xfrm>
          <a:prstGeom prst="rect">
            <a:avLst/>
          </a:prstGeom>
          <a:noFill/>
        </p:spPr>
        <p:txBody>
          <a:bodyPr wrap="square" lIns="0" rIns="0" tIns="0" bIns="0" anchor="t"/>
          <a:lstStyle/>
          <a:p>
            <a:pPr algn="l">
              <a:lnSpc>
                <a:spcPct val="115000"/>
              </a:lnSpc>
              <a:spcAft>
                <a:spcPts val="0"/>
              </a:spcAft>
            </a:pPr>
            <a:r>
              <a:rPr sz="1050" b="1" i="0">
                <a:solidFill>
                  <a:srgbClr val="10213B"/>
                </a:solidFill>
                <a:latin typeface="Inter"/>
              </a:rPr>
              <a:t>Validating demand</a:t>
            </a:r>
          </a:p>
        </p:txBody>
      </p:sp>
      <p:sp>
        <p:nvSpPr>
          <p:cNvPr id="33" name="Rectangle 32"/>
          <p:cNvSpPr/>
          <p:nvPr/>
        </p:nvSpPr>
        <p:spPr>
          <a:xfrm>
            <a:off x="914400" y="4480560"/>
            <a:ext cx="5074920" cy="338328"/>
          </a:xfrm>
          <a:prstGeom prst="rect">
            <a:avLst/>
          </a:prstGeom>
          <a:solidFill>
            <a:srgbClr val="FFFFFF"/>
          </a:solidFill>
          <a:ln w="12700">
            <a:solidFill>
              <a:srgbClr val="D5E2F3"/>
            </a:solidFill>
          </a:ln>
          <a:effectLst/>
        </p:spPr>
        <p:txBody>
          <a:bodyPr rtlCol="0" anchor="ctr" lIns="73152" rIns="73152" tIns="36576" bIns="36576"/>
          <a:lstStyle/>
          <a:p>
            <a:pPr algn="ctr"/>
          </a:p>
        </p:txBody>
      </p:sp>
      <p:sp>
        <p:nvSpPr>
          <p:cNvPr id="34" name="Oval 33"/>
          <p:cNvSpPr/>
          <p:nvPr/>
        </p:nvSpPr>
        <p:spPr>
          <a:xfrm>
            <a:off x="1051560" y="4581144"/>
            <a:ext cx="137160" cy="137160"/>
          </a:xfrm>
          <a:prstGeom prst="ellipse">
            <a:avLst/>
          </a:prstGeom>
          <a:solidFill>
            <a:srgbClr val="FFFFFF"/>
          </a:solidFill>
          <a:ln w="9525">
            <a:solidFill>
              <a:srgbClr val="B8CFEE"/>
            </a:solidFill>
          </a:ln>
          <a:effectLst/>
        </p:spPr>
        <p:txBody>
          <a:bodyPr rtlCol="0" anchor="ctr" lIns="73152" rIns="73152" tIns="36576" bIns="36576"/>
          <a:lstStyle/>
          <a:p>
            <a:pPr algn="ctr"/>
          </a:p>
        </p:txBody>
      </p:sp>
      <p:sp>
        <p:nvSpPr>
          <p:cNvPr id="35" name="TextBox 34"/>
          <p:cNvSpPr txBox="1"/>
          <p:nvPr/>
        </p:nvSpPr>
        <p:spPr>
          <a:xfrm>
            <a:off x="1325880" y="4544568"/>
            <a:ext cx="4389120" cy="27432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Building a first offer</a:t>
            </a:r>
          </a:p>
        </p:txBody>
      </p:sp>
      <p:sp>
        <p:nvSpPr>
          <p:cNvPr id="36" name="Rectangle 35"/>
          <p:cNvSpPr/>
          <p:nvPr/>
        </p:nvSpPr>
        <p:spPr>
          <a:xfrm>
            <a:off x="914400" y="4892040"/>
            <a:ext cx="5074920" cy="338328"/>
          </a:xfrm>
          <a:prstGeom prst="rect">
            <a:avLst/>
          </a:prstGeom>
          <a:solidFill>
            <a:srgbClr val="FFFFFF"/>
          </a:solidFill>
          <a:ln w="12700">
            <a:solidFill>
              <a:srgbClr val="D5E2F3"/>
            </a:solidFill>
          </a:ln>
          <a:effectLst/>
        </p:spPr>
        <p:txBody>
          <a:bodyPr rtlCol="0" anchor="ctr" lIns="73152" rIns="73152" tIns="36576" bIns="36576"/>
          <a:lstStyle/>
          <a:p>
            <a:pPr algn="ctr"/>
          </a:p>
        </p:txBody>
      </p:sp>
      <p:sp>
        <p:nvSpPr>
          <p:cNvPr id="37" name="Oval 36"/>
          <p:cNvSpPr/>
          <p:nvPr/>
        </p:nvSpPr>
        <p:spPr>
          <a:xfrm>
            <a:off x="1051560" y="4992624"/>
            <a:ext cx="137160" cy="137160"/>
          </a:xfrm>
          <a:prstGeom prst="ellipse">
            <a:avLst/>
          </a:prstGeom>
          <a:solidFill>
            <a:srgbClr val="FFFFFF"/>
          </a:solidFill>
          <a:ln w="9525">
            <a:solidFill>
              <a:srgbClr val="B8CFEE"/>
            </a:solidFill>
          </a:ln>
          <a:effectLst/>
        </p:spPr>
        <p:txBody>
          <a:bodyPr rtlCol="0" anchor="ctr" lIns="73152" rIns="73152" tIns="36576" bIns="36576"/>
          <a:lstStyle/>
          <a:p>
            <a:pPr algn="ctr"/>
          </a:p>
        </p:txBody>
      </p:sp>
      <p:sp>
        <p:nvSpPr>
          <p:cNvPr id="38" name="TextBox 37"/>
          <p:cNvSpPr txBox="1"/>
          <p:nvPr/>
        </p:nvSpPr>
        <p:spPr>
          <a:xfrm>
            <a:off x="1325880" y="4956048"/>
            <a:ext cx="4389120" cy="27432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Launched, finding customers</a:t>
            </a:r>
          </a:p>
        </p:txBody>
      </p:sp>
      <p:sp>
        <p:nvSpPr>
          <p:cNvPr id="39" name="Rectangle 38"/>
          <p:cNvSpPr/>
          <p:nvPr/>
        </p:nvSpPr>
        <p:spPr>
          <a:xfrm>
            <a:off x="914400" y="5303520"/>
            <a:ext cx="5074920" cy="338328"/>
          </a:xfrm>
          <a:prstGeom prst="rect">
            <a:avLst/>
          </a:prstGeom>
          <a:solidFill>
            <a:srgbClr val="FFFFFF"/>
          </a:solidFill>
          <a:ln w="12700">
            <a:solidFill>
              <a:srgbClr val="D5E2F3"/>
            </a:solidFill>
          </a:ln>
          <a:effectLst/>
        </p:spPr>
        <p:txBody>
          <a:bodyPr rtlCol="0" anchor="ctr" lIns="73152" rIns="73152" tIns="36576" bIns="36576"/>
          <a:lstStyle/>
          <a:p>
            <a:pPr algn="ctr"/>
          </a:p>
        </p:txBody>
      </p:sp>
      <p:sp>
        <p:nvSpPr>
          <p:cNvPr id="40" name="Oval 39"/>
          <p:cNvSpPr/>
          <p:nvPr/>
        </p:nvSpPr>
        <p:spPr>
          <a:xfrm>
            <a:off x="1051560" y="5404104"/>
            <a:ext cx="137160" cy="137160"/>
          </a:xfrm>
          <a:prstGeom prst="ellipse">
            <a:avLst/>
          </a:prstGeom>
          <a:solidFill>
            <a:srgbClr val="FFFFFF"/>
          </a:solidFill>
          <a:ln w="9525">
            <a:solidFill>
              <a:srgbClr val="B8CFEE"/>
            </a:solidFill>
          </a:ln>
          <a:effectLst/>
        </p:spPr>
        <p:txBody>
          <a:bodyPr rtlCol="0" anchor="ctr" lIns="73152" rIns="73152" tIns="36576" bIns="36576"/>
          <a:lstStyle/>
          <a:p>
            <a:pPr algn="ctr"/>
          </a:p>
        </p:txBody>
      </p:sp>
      <p:sp>
        <p:nvSpPr>
          <p:cNvPr id="41" name="TextBox 40"/>
          <p:cNvSpPr txBox="1"/>
          <p:nvPr/>
        </p:nvSpPr>
        <p:spPr>
          <a:xfrm>
            <a:off x="1325880" y="5367528"/>
            <a:ext cx="4389120" cy="274320"/>
          </a:xfrm>
          <a:prstGeom prst="rect">
            <a:avLst/>
          </a:prstGeom>
          <a:noFill/>
        </p:spPr>
        <p:txBody>
          <a:bodyPr wrap="square" lIns="0" rIns="0" tIns="0" bIns="0" anchor="t"/>
          <a:lstStyle/>
          <a:p>
            <a:pPr algn="l">
              <a:lnSpc>
                <a:spcPct val="115000"/>
              </a:lnSpc>
              <a:spcAft>
                <a:spcPts val="0"/>
              </a:spcAft>
            </a:pPr>
            <a:r>
              <a:rPr sz="1050" b="0" i="0">
                <a:solidFill>
                  <a:srgbClr val="253650"/>
                </a:solidFill>
                <a:latin typeface="Inter"/>
              </a:rPr>
              <a:t>Growing an established business</a:t>
            </a:r>
          </a:p>
        </p:txBody>
      </p:sp>
      <p:sp>
        <p:nvSpPr>
          <p:cNvPr id="42" name="TextBox 41"/>
          <p:cNvSpPr txBox="1"/>
          <p:nvPr/>
        </p:nvSpPr>
        <p:spPr>
          <a:xfrm>
            <a:off x="6766560" y="1965960"/>
            <a:ext cx="484632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WHAT THE PROFILE CAPTURES</a:t>
            </a:r>
          </a:p>
        </p:txBody>
      </p:sp>
      <p:cxnSp>
        <p:nvCxnSpPr>
          <p:cNvPr id="43" name="Connector 42"/>
          <p:cNvCxnSpPr/>
          <p:nvPr/>
        </p:nvCxnSpPr>
        <p:spPr>
          <a:xfrm>
            <a:off x="6766560" y="2331720"/>
            <a:ext cx="4830775" cy="0"/>
          </a:xfrm>
          <a:prstGeom prst="line">
            <a:avLst/>
          </a:prstGeom>
          <a:ln w="12700">
            <a:solidFill>
              <a:srgbClr val="D5E2F3"/>
            </a:solidFill>
          </a:ln>
        </p:spPr>
      </p:cxnSp>
      <p:sp>
        <p:nvSpPr>
          <p:cNvPr id="44" name="TextBox 43"/>
          <p:cNvSpPr txBox="1"/>
          <p:nvPr/>
        </p:nvSpPr>
        <p:spPr>
          <a:xfrm>
            <a:off x="6766560" y="2450591"/>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Founder</a:t>
            </a:r>
          </a:p>
        </p:txBody>
      </p:sp>
      <p:sp>
        <p:nvSpPr>
          <p:cNvPr id="45" name="TextBox 44"/>
          <p:cNvSpPr txBox="1"/>
          <p:nvPr/>
        </p:nvSpPr>
        <p:spPr>
          <a:xfrm>
            <a:off x="8092440" y="2450591"/>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Experience, skills, time available, location</a:t>
            </a:r>
          </a:p>
        </p:txBody>
      </p:sp>
      <p:cxnSp>
        <p:nvCxnSpPr>
          <p:cNvPr id="46" name="Connector 45"/>
          <p:cNvCxnSpPr/>
          <p:nvPr/>
        </p:nvCxnSpPr>
        <p:spPr>
          <a:xfrm>
            <a:off x="6766560" y="2935224"/>
            <a:ext cx="4830775" cy="0"/>
          </a:xfrm>
          <a:prstGeom prst="line">
            <a:avLst/>
          </a:prstGeom>
          <a:ln w="12700">
            <a:solidFill>
              <a:srgbClr val="D5E2F3"/>
            </a:solidFill>
          </a:ln>
        </p:spPr>
      </p:cxnSp>
      <p:sp>
        <p:nvSpPr>
          <p:cNvPr id="47" name="TextBox 46"/>
          <p:cNvSpPr txBox="1"/>
          <p:nvPr/>
        </p:nvSpPr>
        <p:spPr>
          <a:xfrm>
            <a:off x="6766560" y="3054096"/>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Business</a:t>
            </a:r>
          </a:p>
        </p:txBody>
      </p:sp>
      <p:sp>
        <p:nvSpPr>
          <p:cNvPr id="48" name="TextBox 47"/>
          <p:cNvSpPr txBox="1"/>
          <p:nvPr/>
        </p:nvSpPr>
        <p:spPr>
          <a:xfrm>
            <a:off x="8092440" y="3054096"/>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Sector, model, customers, team size</a:t>
            </a:r>
          </a:p>
        </p:txBody>
      </p:sp>
      <p:cxnSp>
        <p:nvCxnSpPr>
          <p:cNvPr id="49" name="Connector 48"/>
          <p:cNvCxnSpPr/>
          <p:nvPr/>
        </p:nvCxnSpPr>
        <p:spPr>
          <a:xfrm>
            <a:off x="6766560" y="3538728"/>
            <a:ext cx="4830775" cy="0"/>
          </a:xfrm>
          <a:prstGeom prst="line">
            <a:avLst/>
          </a:prstGeom>
          <a:ln w="12700">
            <a:solidFill>
              <a:srgbClr val="D5E2F3"/>
            </a:solidFill>
          </a:ln>
        </p:spPr>
      </p:cxnSp>
      <p:sp>
        <p:nvSpPr>
          <p:cNvPr id="50" name="TextBox 49"/>
          <p:cNvSpPr txBox="1"/>
          <p:nvPr/>
        </p:nvSpPr>
        <p:spPr>
          <a:xfrm>
            <a:off x="6766560" y="3657600"/>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Stage</a:t>
            </a:r>
          </a:p>
        </p:txBody>
      </p:sp>
      <p:sp>
        <p:nvSpPr>
          <p:cNvPr id="51" name="TextBox 50"/>
          <p:cNvSpPr txBox="1"/>
          <p:nvPr/>
        </p:nvSpPr>
        <p:spPr>
          <a:xfrm>
            <a:off x="8092440" y="3657600"/>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Explore, Validate, Build, Launch, Grow, Capital</a:t>
            </a:r>
          </a:p>
        </p:txBody>
      </p:sp>
      <p:cxnSp>
        <p:nvCxnSpPr>
          <p:cNvPr id="52" name="Connector 51"/>
          <p:cNvCxnSpPr/>
          <p:nvPr/>
        </p:nvCxnSpPr>
        <p:spPr>
          <a:xfrm>
            <a:off x="6766560" y="4142231"/>
            <a:ext cx="4830775" cy="0"/>
          </a:xfrm>
          <a:prstGeom prst="line">
            <a:avLst/>
          </a:prstGeom>
          <a:ln w="12700">
            <a:solidFill>
              <a:srgbClr val="D5E2F3"/>
            </a:solidFill>
          </a:ln>
        </p:spPr>
      </p:cxnSp>
      <p:sp>
        <p:nvSpPr>
          <p:cNvPr id="53" name="TextBox 52"/>
          <p:cNvSpPr txBox="1"/>
          <p:nvPr/>
        </p:nvSpPr>
        <p:spPr>
          <a:xfrm>
            <a:off x="6766560" y="4261103"/>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Goals</a:t>
            </a:r>
          </a:p>
        </p:txBody>
      </p:sp>
      <p:sp>
        <p:nvSpPr>
          <p:cNvPr id="54" name="TextBox 53"/>
          <p:cNvSpPr txBox="1"/>
          <p:nvPr/>
        </p:nvSpPr>
        <p:spPr>
          <a:xfrm>
            <a:off x="8092440" y="4261103"/>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What success looks like in the next 90 days</a:t>
            </a:r>
          </a:p>
        </p:txBody>
      </p:sp>
      <p:cxnSp>
        <p:nvCxnSpPr>
          <p:cNvPr id="55" name="Connector 54"/>
          <p:cNvCxnSpPr/>
          <p:nvPr/>
        </p:nvCxnSpPr>
        <p:spPr>
          <a:xfrm>
            <a:off x="6766560" y="4745736"/>
            <a:ext cx="4830775" cy="0"/>
          </a:xfrm>
          <a:prstGeom prst="line">
            <a:avLst/>
          </a:prstGeom>
          <a:ln w="12700">
            <a:solidFill>
              <a:srgbClr val="D5E2F3"/>
            </a:solidFill>
          </a:ln>
        </p:spPr>
      </p:cxnSp>
      <p:sp>
        <p:nvSpPr>
          <p:cNvPr id="56" name="TextBox 55"/>
          <p:cNvSpPr txBox="1"/>
          <p:nvPr/>
        </p:nvSpPr>
        <p:spPr>
          <a:xfrm>
            <a:off x="6766560" y="4864607"/>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Support</a:t>
            </a:r>
          </a:p>
        </p:txBody>
      </p:sp>
      <p:sp>
        <p:nvSpPr>
          <p:cNvPr id="57" name="TextBox 56"/>
          <p:cNvSpPr txBox="1"/>
          <p:nvPr/>
        </p:nvSpPr>
        <p:spPr>
          <a:xfrm>
            <a:off x="8092440" y="4864607"/>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Preferred formats and areas where help is needed</a:t>
            </a:r>
          </a:p>
        </p:txBody>
      </p:sp>
      <p:cxnSp>
        <p:nvCxnSpPr>
          <p:cNvPr id="58" name="Connector 57"/>
          <p:cNvCxnSpPr/>
          <p:nvPr/>
        </p:nvCxnSpPr>
        <p:spPr>
          <a:xfrm>
            <a:off x="6766560" y="5349240"/>
            <a:ext cx="4830775" cy="0"/>
          </a:xfrm>
          <a:prstGeom prst="line">
            <a:avLst/>
          </a:prstGeom>
          <a:ln w="12700">
            <a:solidFill>
              <a:srgbClr val="D5E2F3"/>
            </a:solidFill>
          </a:ln>
        </p:spPr>
      </p:cxnSp>
      <p:sp>
        <p:nvSpPr>
          <p:cNvPr id="59" name="TextBox 58"/>
          <p:cNvSpPr txBox="1"/>
          <p:nvPr/>
        </p:nvSpPr>
        <p:spPr>
          <a:xfrm>
            <a:off x="6766560" y="5468112"/>
            <a:ext cx="128016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Visibility</a:t>
            </a:r>
          </a:p>
        </p:txBody>
      </p:sp>
      <p:sp>
        <p:nvSpPr>
          <p:cNvPr id="60" name="TextBox 59"/>
          <p:cNvSpPr txBox="1"/>
          <p:nvPr/>
        </p:nvSpPr>
        <p:spPr>
          <a:xfrm>
            <a:off x="8092440" y="5468112"/>
            <a:ext cx="352044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What is shared, with whom — founder controls it</a:t>
            </a:r>
          </a:p>
        </p:txBody>
      </p:sp>
      <p:sp>
        <p:nvSpPr>
          <p:cNvPr id="61" name="TextBox 6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62" name="TextBox 6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THE NEXT-STEP ENGINE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How a founder’s next step is suggested.</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2011680"/>
            <a:ext cx="3063240" cy="3337560"/>
          </a:xfrm>
          <a:prstGeom prst="rect">
            <a:avLst/>
          </a:prstGeom>
          <a:solidFill>
            <a:srgbClr val="EDF4FE"/>
          </a:solidFill>
          <a:ln>
            <a:noFill/>
          </a:ln>
          <a:effectLst/>
        </p:spPr>
        <p:txBody>
          <a:bodyPr rtlCol="0" anchor="ctr" lIns="73152" rIns="73152" tIns="36576" bIns="36576"/>
          <a:lstStyle/>
          <a:p>
            <a:pPr algn="ctr"/>
          </a:p>
        </p:txBody>
      </p:sp>
      <p:sp>
        <p:nvSpPr>
          <p:cNvPr id="6" name="TextBox 5"/>
          <p:cNvSpPr txBox="1"/>
          <p:nvPr/>
        </p:nvSpPr>
        <p:spPr>
          <a:xfrm>
            <a:off x="868680" y="2194560"/>
            <a:ext cx="2514600" cy="274320"/>
          </a:xfrm>
          <a:prstGeom prst="rect">
            <a:avLst/>
          </a:prstGeom>
          <a:noFill/>
        </p:spPr>
        <p:txBody>
          <a:bodyPr wrap="square" lIns="0" rIns="0" tIns="0" bIns="0" anchor="t"/>
          <a:lstStyle/>
          <a:p>
            <a:pPr algn="l">
              <a:lnSpc>
                <a:spcPct val="115000"/>
              </a:lnSpc>
              <a:spcAft>
                <a:spcPts val="0"/>
              </a:spcAft>
            </a:pPr>
            <a:r>
              <a:rPr sz="1000" b="1" i="0" spc="140">
                <a:solidFill>
                  <a:srgbClr val="1765D1"/>
                </a:solidFill>
                <a:latin typeface="Inter"/>
              </a:rPr>
              <a:t>INPUTS</a:t>
            </a:r>
          </a:p>
        </p:txBody>
      </p:sp>
      <p:sp>
        <p:nvSpPr>
          <p:cNvPr id="7" name="TextBox 6"/>
          <p:cNvSpPr txBox="1"/>
          <p:nvPr/>
        </p:nvSpPr>
        <p:spPr>
          <a:xfrm>
            <a:off x="868680" y="2606040"/>
            <a:ext cx="2514600" cy="457200"/>
          </a:xfrm>
          <a:prstGeom prst="rect">
            <a:avLst/>
          </a:prstGeom>
          <a:noFill/>
        </p:spPr>
        <p:txBody>
          <a:bodyPr wrap="square" lIns="0" rIns="0" tIns="0" bIns="0" anchor="t"/>
          <a:lstStyle/>
          <a:p>
            <a:pPr algn="l">
              <a:lnSpc>
                <a:spcPct val="115000"/>
              </a:lnSpc>
              <a:spcAft>
                <a:spcPts val="0"/>
              </a:spcAft>
            </a:pPr>
            <a:r>
              <a:rPr sz="1300" b="0" i="0">
                <a:solidFill>
                  <a:srgbClr val="10213B"/>
                </a:solidFill>
                <a:latin typeface="Inter"/>
              </a:rPr>
              <a:t>Profile and sector</a:t>
            </a:r>
          </a:p>
        </p:txBody>
      </p:sp>
      <p:sp>
        <p:nvSpPr>
          <p:cNvPr id="8" name="TextBox 7"/>
          <p:cNvSpPr txBox="1"/>
          <p:nvPr/>
        </p:nvSpPr>
        <p:spPr>
          <a:xfrm>
            <a:off x="868680" y="3118104"/>
            <a:ext cx="2514600" cy="457200"/>
          </a:xfrm>
          <a:prstGeom prst="rect">
            <a:avLst/>
          </a:prstGeom>
          <a:noFill/>
        </p:spPr>
        <p:txBody>
          <a:bodyPr wrap="square" lIns="0" rIns="0" tIns="0" bIns="0" anchor="t"/>
          <a:lstStyle/>
          <a:p>
            <a:pPr algn="l">
              <a:lnSpc>
                <a:spcPct val="115000"/>
              </a:lnSpc>
              <a:spcAft>
                <a:spcPts val="0"/>
              </a:spcAft>
            </a:pPr>
            <a:r>
              <a:rPr sz="1300" b="0" i="0">
                <a:solidFill>
                  <a:srgbClr val="10213B"/>
                </a:solidFill>
                <a:latin typeface="Inter"/>
              </a:rPr>
              <a:t>Current stage</a:t>
            </a:r>
          </a:p>
        </p:txBody>
      </p:sp>
      <p:sp>
        <p:nvSpPr>
          <p:cNvPr id="9" name="TextBox 8"/>
          <p:cNvSpPr txBox="1"/>
          <p:nvPr/>
        </p:nvSpPr>
        <p:spPr>
          <a:xfrm>
            <a:off x="868680" y="3630168"/>
            <a:ext cx="2514600" cy="457200"/>
          </a:xfrm>
          <a:prstGeom prst="rect">
            <a:avLst/>
          </a:prstGeom>
          <a:noFill/>
        </p:spPr>
        <p:txBody>
          <a:bodyPr wrap="square" lIns="0" rIns="0" tIns="0" bIns="0" anchor="t"/>
          <a:lstStyle/>
          <a:p>
            <a:pPr algn="l">
              <a:lnSpc>
                <a:spcPct val="115000"/>
              </a:lnSpc>
              <a:spcAft>
                <a:spcPts val="0"/>
              </a:spcAft>
            </a:pPr>
            <a:r>
              <a:rPr sz="1300" b="0" i="0">
                <a:solidFill>
                  <a:srgbClr val="10213B"/>
                </a:solidFill>
                <a:latin typeface="Inter"/>
              </a:rPr>
              <a:t>90-day goals</a:t>
            </a:r>
          </a:p>
        </p:txBody>
      </p:sp>
      <p:sp>
        <p:nvSpPr>
          <p:cNvPr id="10" name="TextBox 9"/>
          <p:cNvSpPr txBox="1"/>
          <p:nvPr/>
        </p:nvSpPr>
        <p:spPr>
          <a:xfrm>
            <a:off x="868680" y="4142232"/>
            <a:ext cx="2514600" cy="457200"/>
          </a:xfrm>
          <a:prstGeom prst="rect">
            <a:avLst/>
          </a:prstGeom>
          <a:noFill/>
        </p:spPr>
        <p:txBody>
          <a:bodyPr wrap="square" lIns="0" rIns="0" tIns="0" bIns="0" anchor="t"/>
          <a:lstStyle/>
          <a:p>
            <a:pPr algn="l">
              <a:lnSpc>
                <a:spcPct val="115000"/>
              </a:lnSpc>
              <a:spcAft>
                <a:spcPts val="0"/>
              </a:spcAft>
            </a:pPr>
            <a:r>
              <a:rPr sz="1300" b="0" i="0">
                <a:solidFill>
                  <a:srgbClr val="10213B"/>
                </a:solidFill>
                <a:latin typeface="Inter"/>
              </a:rPr>
              <a:t>Recent progress</a:t>
            </a:r>
          </a:p>
        </p:txBody>
      </p:sp>
      <p:sp>
        <p:nvSpPr>
          <p:cNvPr id="11" name="TextBox 10"/>
          <p:cNvSpPr txBox="1"/>
          <p:nvPr/>
        </p:nvSpPr>
        <p:spPr>
          <a:xfrm>
            <a:off x="868680" y="4654296"/>
            <a:ext cx="2514600" cy="457200"/>
          </a:xfrm>
          <a:prstGeom prst="rect">
            <a:avLst/>
          </a:prstGeom>
          <a:noFill/>
        </p:spPr>
        <p:txBody>
          <a:bodyPr wrap="square" lIns="0" rIns="0" tIns="0" bIns="0" anchor="t"/>
          <a:lstStyle/>
          <a:p>
            <a:pPr algn="l">
              <a:lnSpc>
                <a:spcPct val="115000"/>
              </a:lnSpc>
              <a:spcAft>
                <a:spcPts val="0"/>
              </a:spcAft>
            </a:pPr>
            <a:r>
              <a:rPr sz="1300" b="0" i="0">
                <a:solidFill>
                  <a:srgbClr val="10213B"/>
                </a:solidFill>
                <a:latin typeface="Inter"/>
              </a:rPr>
              <a:t>Time and budget</a:t>
            </a:r>
          </a:p>
        </p:txBody>
      </p:sp>
      <p:cxnSp>
        <p:nvCxnSpPr>
          <p:cNvPr id="12" name="Connector 11"/>
          <p:cNvCxnSpPr/>
          <p:nvPr/>
        </p:nvCxnSpPr>
        <p:spPr>
          <a:xfrm>
            <a:off x="3730752" y="3657600"/>
            <a:ext cx="539496" cy="0"/>
          </a:xfrm>
          <a:prstGeom prst="line">
            <a:avLst/>
          </a:prstGeom>
          <a:ln w="28575">
            <a:solidFill>
              <a:srgbClr val="1765D1"/>
            </a:solidFill>
            <a:tailEnd type="triangle" w="med" len="med"/>
          </a:ln>
        </p:spPr>
      </p:cxnSp>
      <p:sp>
        <p:nvSpPr>
          <p:cNvPr id="13" name="Rectangle 12"/>
          <p:cNvSpPr/>
          <p:nvPr/>
        </p:nvSpPr>
        <p:spPr>
          <a:xfrm>
            <a:off x="4343400" y="2011680"/>
            <a:ext cx="3063240" cy="3337560"/>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4617720" y="2194560"/>
            <a:ext cx="2514600" cy="274320"/>
          </a:xfrm>
          <a:prstGeom prst="rect">
            <a:avLst/>
          </a:prstGeom>
          <a:noFill/>
        </p:spPr>
        <p:txBody>
          <a:bodyPr wrap="square" lIns="0" rIns="0" tIns="0" bIns="0" anchor="t"/>
          <a:lstStyle/>
          <a:p>
            <a:pPr algn="l">
              <a:lnSpc>
                <a:spcPct val="115000"/>
              </a:lnSpc>
              <a:spcAft>
                <a:spcPts val="0"/>
              </a:spcAft>
            </a:pPr>
            <a:r>
              <a:rPr sz="1000" b="1" i="0" spc="140">
                <a:solidFill>
                  <a:srgbClr val="DCE6F5"/>
                </a:solidFill>
                <a:latin typeface="Inter"/>
              </a:rPr>
              <a:t>GUIDANCE</a:t>
            </a:r>
          </a:p>
        </p:txBody>
      </p:sp>
      <p:sp>
        <p:nvSpPr>
          <p:cNvPr id="15" name="TextBox 14"/>
          <p:cNvSpPr txBox="1"/>
          <p:nvPr/>
        </p:nvSpPr>
        <p:spPr>
          <a:xfrm>
            <a:off x="4617720" y="2606040"/>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Stage playbooks</a:t>
            </a:r>
          </a:p>
        </p:txBody>
      </p:sp>
      <p:sp>
        <p:nvSpPr>
          <p:cNvPr id="16" name="TextBox 15"/>
          <p:cNvSpPr txBox="1"/>
          <p:nvPr/>
        </p:nvSpPr>
        <p:spPr>
          <a:xfrm>
            <a:off x="4617720" y="3118104"/>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Rules from mentors</a:t>
            </a:r>
          </a:p>
        </p:txBody>
      </p:sp>
      <p:sp>
        <p:nvSpPr>
          <p:cNvPr id="17" name="TextBox 16"/>
          <p:cNvSpPr txBox="1"/>
          <p:nvPr/>
        </p:nvSpPr>
        <p:spPr>
          <a:xfrm>
            <a:off x="4617720" y="3630168"/>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AI-assisted suggestions</a:t>
            </a:r>
          </a:p>
        </p:txBody>
      </p:sp>
      <p:sp>
        <p:nvSpPr>
          <p:cNvPr id="18" name="TextBox 17"/>
          <p:cNvSpPr txBox="1"/>
          <p:nvPr/>
        </p:nvSpPr>
        <p:spPr>
          <a:xfrm>
            <a:off x="4617720" y="4142232"/>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Human review for complex cases</a:t>
            </a:r>
          </a:p>
        </p:txBody>
      </p:sp>
      <p:cxnSp>
        <p:nvCxnSpPr>
          <p:cNvPr id="19" name="Connector 18"/>
          <p:cNvCxnSpPr/>
          <p:nvPr/>
        </p:nvCxnSpPr>
        <p:spPr>
          <a:xfrm>
            <a:off x="7479792" y="3657600"/>
            <a:ext cx="539496" cy="0"/>
          </a:xfrm>
          <a:prstGeom prst="line">
            <a:avLst/>
          </a:prstGeom>
          <a:ln w="28575">
            <a:solidFill>
              <a:srgbClr val="1765D1"/>
            </a:solidFill>
            <a:tailEnd type="triangle" w="med" len="med"/>
          </a:ln>
        </p:spPr>
      </p:cxnSp>
      <p:sp>
        <p:nvSpPr>
          <p:cNvPr id="20" name="Rectangle 19"/>
          <p:cNvSpPr/>
          <p:nvPr/>
        </p:nvSpPr>
        <p:spPr>
          <a:xfrm>
            <a:off x="8092440" y="2011680"/>
            <a:ext cx="3063240" cy="3337560"/>
          </a:xfrm>
          <a:prstGeom prst="rect">
            <a:avLst/>
          </a:prstGeom>
          <a:solidFill>
            <a:srgbClr val="10213B"/>
          </a:solidFill>
          <a:ln>
            <a:noFill/>
          </a:ln>
          <a:effectLst/>
        </p:spPr>
        <p:txBody>
          <a:bodyPr rtlCol="0" anchor="ctr" lIns="73152" rIns="73152" tIns="36576" bIns="36576"/>
          <a:lstStyle/>
          <a:p>
            <a:pPr algn="ctr"/>
          </a:p>
        </p:txBody>
      </p:sp>
      <p:sp>
        <p:nvSpPr>
          <p:cNvPr id="21" name="TextBox 20"/>
          <p:cNvSpPr txBox="1"/>
          <p:nvPr/>
        </p:nvSpPr>
        <p:spPr>
          <a:xfrm>
            <a:off x="8366760" y="2194560"/>
            <a:ext cx="2514600" cy="274320"/>
          </a:xfrm>
          <a:prstGeom prst="rect">
            <a:avLst/>
          </a:prstGeom>
          <a:noFill/>
        </p:spPr>
        <p:txBody>
          <a:bodyPr wrap="square" lIns="0" rIns="0" tIns="0" bIns="0" anchor="t"/>
          <a:lstStyle/>
          <a:p>
            <a:pPr algn="l">
              <a:lnSpc>
                <a:spcPct val="115000"/>
              </a:lnSpc>
              <a:spcAft>
                <a:spcPts val="0"/>
              </a:spcAft>
            </a:pPr>
            <a:r>
              <a:rPr sz="1000" b="1" i="0" spc="140">
                <a:solidFill>
                  <a:srgbClr val="4F8BE0"/>
                </a:solidFill>
                <a:latin typeface="Inter"/>
              </a:rPr>
              <a:t>OUTPUTS</a:t>
            </a:r>
          </a:p>
        </p:txBody>
      </p:sp>
      <p:sp>
        <p:nvSpPr>
          <p:cNvPr id="22" name="TextBox 21"/>
          <p:cNvSpPr txBox="1"/>
          <p:nvPr/>
        </p:nvSpPr>
        <p:spPr>
          <a:xfrm>
            <a:off x="8366760" y="2606040"/>
            <a:ext cx="2514600" cy="45720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One clear next step</a:t>
            </a:r>
          </a:p>
        </p:txBody>
      </p:sp>
      <p:sp>
        <p:nvSpPr>
          <p:cNvPr id="23" name="TextBox 22"/>
          <p:cNvSpPr txBox="1"/>
          <p:nvPr/>
        </p:nvSpPr>
        <p:spPr>
          <a:xfrm>
            <a:off x="8366760" y="3118104"/>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A relevant resource</a:t>
            </a:r>
          </a:p>
        </p:txBody>
      </p:sp>
      <p:sp>
        <p:nvSpPr>
          <p:cNvPr id="24" name="TextBox 23"/>
          <p:cNvSpPr txBox="1"/>
          <p:nvPr/>
        </p:nvSpPr>
        <p:spPr>
          <a:xfrm>
            <a:off x="8366760" y="3630168"/>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A session to join</a:t>
            </a:r>
          </a:p>
        </p:txBody>
      </p:sp>
      <p:sp>
        <p:nvSpPr>
          <p:cNvPr id="25" name="TextBox 24"/>
          <p:cNvSpPr txBox="1"/>
          <p:nvPr/>
        </p:nvSpPr>
        <p:spPr>
          <a:xfrm>
            <a:off x="8366760" y="4142232"/>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A person to meet</a:t>
            </a:r>
          </a:p>
        </p:txBody>
      </p:sp>
      <p:sp>
        <p:nvSpPr>
          <p:cNvPr id="26" name="TextBox 25"/>
          <p:cNvSpPr txBox="1"/>
          <p:nvPr/>
        </p:nvSpPr>
        <p:spPr>
          <a:xfrm>
            <a:off x="8366760" y="4654296"/>
            <a:ext cx="2514600" cy="457200"/>
          </a:xfrm>
          <a:prstGeom prst="rect">
            <a:avLst/>
          </a:prstGeom>
          <a:noFill/>
        </p:spPr>
        <p:txBody>
          <a:bodyPr wrap="square" lIns="0" rIns="0" tIns="0" bIns="0" anchor="t"/>
          <a:lstStyle/>
          <a:p>
            <a:pPr algn="l">
              <a:lnSpc>
                <a:spcPct val="115000"/>
              </a:lnSpc>
              <a:spcAft>
                <a:spcPts val="0"/>
              </a:spcAft>
            </a:pPr>
            <a:r>
              <a:rPr sz="1300" b="0" i="0">
                <a:solidFill>
                  <a:srgbClr val="FFFFFF"/>
                </a:solidFill>
                <a:latin typeface="Inter"/>
              </a:rPr>
              <a:t>An opportunity to consider</a:t>
            </a:r>
          </a:p>
        </p:txBody>
      </p:sp>
      <p:cxnSp>
        <p:nvCxnSpPr>
          <p:cNvPr id="27" name="Connector 26"/>
          <p:cNvCxnSpPr/>
          <p:nvPr/>
        </p:nvCxnSpPr>
        <p:spPr>
          <a:xfrm>
            <a:off x="9624060" y="5349240"/>
            <a:ext cx="0" cy="365760"/>
          </a:xfrm>
          <a:prstGeom prst="line">
            <a:avLst/>
          </a:prstGeom>
          <a:ln w="19050">
            <a:solidFill>
              <a:srgbClr val="B8CFEE"/>
            </a:solidFill>
          </a:ln>
        </p:spPr>
      </p:cxnSp>
      <p:cxnSp>
        <p:nvCxnSpPr>
          <p:cNvPr id="28" name="Connector 27"/>
          <p:cNvCxnSpPr/>
          <p:nvPr/>
        </p:nvCxnSpPr>
        <p:spPr>
          <a:xfrm flipH="1">
            <a:off x="2125980" y="5715000"/>
            <a:ext cx="7498080" cy="0"/>
          </a:xfrm>
          <a:prstGeom prst="line">
            <a:avLst/>
          </a:prstGeom>
          <a:ln w="19050">
            <a:solidFill>
              <a:srgbClr val="B8CFEE"/>
            </a:solidFill>
          </a:ln>
        </p:spPr>
      </p:cxnSp>
      <p:cxnSp>
        <p:nvCxnSpPr>
          <p:cNvPr id="29" name="Connector 28"/>
          <p:cNvCxnSpPr/>
          <p:nvPr/>
        </p:nvCxnSpPr>
        <p:spPr>
          <a:xfrm flipV="1">
            <a:off x="2125980" y="5394960"/>
            <a:ext cx="0" cy="320040"/>
          </a:xfrm>
          <a:prstGeom prst="line">
            <a:avLst/>
          </a:prstGeom>
          <a:ln w="19050">
            <a:solidFill>
              <a:srgbClr val="B8CFEE"/>
            </a:solidFill>
            <a:tailEnd type="triangle" w="med" len="med"/>
          </a:ln>
        </p:spPr>
      </p:cxnSp>
      <p:sp>
        <p:nvSpPr>
          <p:cNvPr id="30" name="TextBox 29"/>
          <p:cNvSpPr txBox="1"/>
          <p:nvPr/>
        </p:nvSpPr>
        <p:spPr>
          <a:xfrm>
            <a:off x="4114800" y="5779008"/>
            <a:ext cx="5486400" cy="274320"/>
          </a:xfrm>
          <a:prstGeom prst="rect">
            <a:avLst/>
          </a:prstGeom>
          <a:noFill/>
        </p:spPr>
        <p:txBody>
          <a:bodyPr wrap="square" lIns="0" rIns="0" tIns="0" bIns="0" anchor="t"/>
          <a:lstStyle/>
          <a:p>
            <a:pPr algn="ctr">
              <a:lnSpc>
                <a:spcPct val="115000"/>
              </a:lnSpc>
              <a:spcAft>
                <a:spcPts val="0"/>
              </a:spcAft>
            </a:pPr>
            <a:r>
              <a:rPr sz="1100" b="1" i="0">
                <a:solidFill>
                  <a:srgbClr val="1765D1"/>
                </a:solidFill>
                <a:latin typeface="Inter"/>
              </a:rPr>
              <a:t>Progress recorded → the next suggestion improves</a:t>
            </a:r>
          </a:p>
        </p:txBody>
      </p:sp>
      <p:sp>
        <p:nvSpPr>
          <p:cNvPr id="31" name="TextBox 3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2" name="TextBox 3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FOUNDER EXPERIENCE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A founder joins with an idea and needs to validate demand.</a:t>
            </a:r>
          </a:p>
        </p:txBody>
      </p:sp>
      <p:sp>
        <p:nvSpPr>
          <p:cNvPr id="4" name="Rounded Rectangle 3"/>
          <p:cNvSpPr/>
          <p:nvPr/>
        </p:nvSpPr>
        <p:spPr>
          <a:xfrm>
            <a:off x="9629363" y="402336"/>
            <a:ext cx="19679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ILLUSTRATIVE SCENARIO</a:t>
            </a:r>
          </a:p>
        </p:txBody>
      </p:sp>
      <p:sp>
        <p:nvSpPr>
          <p:cNvPr id="5" name="Rectangle 4"/>
          <p:cNvSpPr/>
          <p:nvPr/>
        </p:nvSpPr>
        <p:spPr>
          <a:xfrm>
            <a:off x="594360" y="1965960"/>
            <a:ext cx="3063240" cy="4251960"/>
          </a:xfrm>
          <a:prstGeom prst="rect">
            <a:avLst/>
          </a:prstGeom>
          <a:solidFill>
            <a:srgbClr val="EDF4FE"/>
          </a:solidFill>
          <a:ln>
            <a:noFill/>
          </a:ln>
          <a:effectLst/>
        </p:spPr>
        <p:txBody>
          <a:bodyPr rtlCol="0" anchor="ctr" lIns="73152" rIns="73152" tIns="36576" bIns="36576"/>
          <a:lstStyle/>
          <a:p>
            <a:pPr algn="ctr"/>
          </a:p>
        </p:txBody>
      </p:sp>
      <p:sp>
        <p:nvSpPr>
          <p:cNvPr id="6" name="TextBox 5"/>
          <p:cNvSpPr txBox="1"/>
          <p:nvPr/>
        </p:nvSpPr>
        <p:spPr>
          <a:xfrm>
            <a:off x="868680" y="2194560"/>
            <a:ext cx="2560320" cy="274320"/>
          </a:xfrm>
          <a:prstGeom prst="rect">
            <a:avLst/>
          </a:prstGeom>
          <a:noFill/>
        </p:spPr>
        <p:txBody>
          <a:bodyPr wrap="square" lIns="0" rIns="0" tIns="0" bIns="0" anchor="t"/>
          <a:lstStyle/>
          <a:p>
            <a:pPr algn="l">
              <a:lnSpc>
                <a:spcPct val="115000"/>
              </a:lnSpc>
              <a:spcAft>
                <a:spcPts val="0"/>
              </a:spcAft>
            </a:pPr>
            <a:r>
              <a:rPr sz="950" b="1" i="0" spc="120">
                <a:solidFill>
                  <a:srgbClr val="1765D1"/>
                </a:solidFill>
                <a:latin typeface="Inter"/>
              </a:rPr>
              <a:t>THE SCENARIO</a:t>
            </a:r>
          </a:p>
        </p:txBody>
      </p:sp>
      <p:sp>
        <p:nvSpPr>
          <p:cNvPr id="7" name="TextBox 6"/>
          <p:cNvSpPr txBox="1"/>
          <p:nvPr/>
        </p:nvSpPr>
        <p:spPr>
          <a:xfrm>
            <a:off x="868680" y="2560320"/>
            <a:ext cx="2606040" cy="2011680"/>
          </a:xfrm>
          <a:prstGeom prst="rect">
            <a:avLst/>
          </a:prstGeom>
          <a:noFill/>
        </p:spPr>
        <p:txBody>
          <a:bodyPr wrap="square" lIns="0" rIns="0" tIns="0" bIns="0" anchor="t"/>
          <a:lstStyle/>
          <a:p>
            <a:pPr algn="l">
              <a:lnSpc>
                <a:spcPct val="130000"/>
              </a:lnSpc>
              <a:spcAft>
                <a:spcPts val="0"/>
              </a:spcAft>
            </a:pPr>
            <a:r>
              <a:rPr sz="1350" b="0" i="0">
                <a:solidFill>
                  <a:srgbClr val="10213B"/>
                </a:solidFill>
                <a:latin typeface="Inter"/>
              </a:rPr>
              <a:t>A first-time founder in Dubai wants to launch a healthy-snack brand. The recipe is ready and the enthusiasm is real, but there is no evidence yet that customers will buy.</a:t>
            </a:r>
          </a:p>
        </p:txBody>
      </p:sp>
      <p:sp>
        <p:nvSpPr>
          <p:cNvPr id="8" name="TextBox 7"/>
          <p:cNvSpPr txBox="1"/>
          <p:nvPr/>
        </p:nvSpPr>
        <p:spPr>
          <a:xfrm>
            <a:off x="868680" y="4617720"/>
            <a:ext cx="2606040" cy="1371600"/>
          </a:xfrm>
          <a:prstGeom prst="rect">
            <a:avLst/>
          </a:prstGeom>
          <a:noFill/>
        </p:spPr>
        <p:txBody>
          <a:bodyPr wrap="square" lIns="0" rIns="0" tIns="0" bIns="0" anchor="t"/>
          <a:lstStyle/>
          <a:p>
            <a:pPr algn="l">
              <a:lnSpc>
                <a:spcPct val="125000"/>
              </a:lnSpc>
              <a:spcAft>
                <a:spcPts val="0"/>
              </a:spcAft>
            </a:pPr>
            <a:r>
              <a:rPr sz="1100" b="0" i="1">
                <a:solidFill>
                  <a:srgbClr val="61738A"/>
                </a:solidFill>
                <a:latin typeface="Inter"/>
              </a:rPr>
              <a:t>This is an example of how the experience is designed to work — not a real customer case.</a:t>
            </a:r>
          </a:p>
        </p:txBody>
      </p:sp>
      <p:sp>
        <p:nvSpPr>
          <p:cNvPr id="9" name="Oval 8"/>
          <p:cNvSpPr/>
          <p:nvPr/>
        </p:nvSpPr>
        <p:spPr>
          <a:xfrm>
            <a:off x="402336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1</a:t>
            </a:r>
          </a:p>
        </p:txBody>
      </p:sp>
      <p:cxnSp>
        <p:nvCxnSpPr>
          <p:cNvPr id="10" name="Connector 9"/>
          <p:cNvCxnSpPr/>
          <p:nvPr/>
        </p:nvCxnSpPr>
        <p:spPr>
          <a:xfrm>
            <a:off x="4617720" y="2258568"/>
            <a:ext cx="1920240" cy="0"/>
          </a:xfrm>
          <a:prstGeom prst="line">
            <a:avLst/>
          </a:prstGeom>
          <a:ln w="15875">
            <a:solidFill>
              <a:srgbClr val="B8CFEE"/>
            </a:solidFill>
            <a:tailEnd type="triangle" w="med" len="med"/>
          </a:ln>
        </p:spPr>
      </p:cxnSp>
      <p:sp>
        <p:nvSpPr>
          <p:cNvPr id="11" name="TextBox 10"/>
          <p:cNvSpPr txBox="1"/>
          <p:nvPr/>
        </p:nvSpPr>
        <p:spPr>
          <a:xfrm>
            <a:off x="402336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Complete a profile</a:t>
            </a:r>
          </a:p>
        </p:txBody>
      </p:sp>
      <p:sp>
        <p:nvSpPr>
          <p:cNvPr id="12" name="TextBox 11"/>
          <p:cNvSpPr txBox="1"/>
          <p:nvPr/>
        </p:nvSpPr>
        <p:spPr>
          <a:xfrm>
            <a:off x="402336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Stage, sector, goals and time available.</a:t>
            </a:r>
          </a:p>
        </p:txBody>
      </p:sp>
      <p:sp>
        <p:nvSpPr>
          <p:cNvPr id="13" name="Oval 12"/>
          <p:cNvSpPr/>
          <p:nvPr/>
        </p:nvSpPr>
        <p:spPr>
          <a:xfrm>
            <a:off x="662940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2</a:t>
            </a:r>
          </a:p>
        </p:txBody>
      </p:sp>
      <p:cxnSp>
        <p:nvCxnSpPr>
          <p:cNvPr id="14" name="Connector 13"/>
          <p:cNvCxnSpPr/>
          <p:nvPr/>
        </p:nvCxnSpPr>
        <p:spPr>
          <a:xfrm>
            <a:off x="7223760" y="2258568"/>
            <a:ext cx="1920240" cy="0"/>
          </a:xfrm>
          <a:prstGeom prst="line">
            <a:avLst/>
          </a:prstGeom>
          <a:ln w="15875">
            <a:solidFill>
              <a:srgbClr val="B8CFEE"/>
            </a:solidFill>
            <a:tailEnd type="triangle" w="med" len="med"/>
          </a:ln>
        </p:spPr>
      </p:cxnSp>
      <p:sp>
        <p:nvSpPr>
          <p:cNvPr id="15" name="TextBox 14"/>
          <p:cNvSpPr txBox="1"/>
          <p:nvPr/>
        </p:nvSpPr>
        <p:spPr>
          <a:xfrm>
            <a:off x="662940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Identify the challenge</a:t>
            </a:r>
          </a:p>
        </p:txBody>
      </p:sp>
      <p:sp>
        <p:nvSpPr>
          <p:cNvPr id="16" name="TextBox 15"/>
          <p:cNvSpPr txBox="1"/>
          <p:nvPr/>
        </p:nvSpPr>
        <p:spPr>
          <a:xfrm>
            <a:off x="662940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“I don’t know if anyone will pay for this.”</a:t>
            </a:r>
          </a:p>
        </p:txBody>
      </p:sp>
      <p:sp>
        <p:nvSpPr>
          <p:cNvPr id="17" name="Oval 16"/>
          <p:cNvSpPr/>
          <p:nvPr/>
        </p:nvSpPr>
        <p:spPr>
          <a:xfrm>
            <a:off x="923544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3</a:t>
            </a:r>
          </a:p>
        </p:txBody>
      </p:sp>
      <p:sp>
        <p:nvSpPr>
          <p:cNvPr id="18" name="TextBox 17"/>
          <p:cNvSpPr txBox="1"/>
          <p:nvPr/>
        </p:nvSpPr>
        <p:spPr>
          <a:xfrm>
            <a:off x="923544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Get a relevant next step</a:t>
            </a:r>
          </a:p>
        </p:txBody>
      </p:sp>
      <p:sp>
        <p:nvSpPr>
          <p:cNvPr id="19" name="TextBox 18"/>
          <p:cNvSpPr txBox="1"/>
          <p:nvPr/>
        </p:nvSpPr>
        <p:spPr>
          <a:xfrm>
            <a:off x="923544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An interview guide and a short validation task.</a:t>
            </a:r>
          </a:p>
        </p:txBody>
      </p:sp>
      <p:sp>
        <p:nvSpPr>
          <p:cNvPr id="20" name="Oval 19"/>
          <p:cNvSpPr/>
          <p:nvPr/>
        </p:nvSpPr>
        <p:spPr>
          <a:xfrm>
            <a:off x="4023360" y="411480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4</a:t>
            </a:r>
          </a:p>
        </p:txBody>
      </p:sp>
      <p:cxnSp>
        <p:nvCxnSpPr>
          <p:cNvPr id="21" name="Connector 20"/>
          <p:cNvCxnSpPr/>
          <p:nvPr/>
        </p:nvCxnSpPr>
        <p:spPr>
          <a:xfrm>
            <a:off x="4617720" y="4361688"/>
            <a:ext cx="1920240" cy="0"/>
          </a:xfrm>
          <a:prstGeom prst="line">
            <a:avLst/>
          </a:prstGeom>
          <a:ln w="15875">
            <a:solidFill>
              <a:srgbClr val="B8CFEE"/>
            </a:solidFill>
            <a:tailEnd type="triangle" w="med" len="med"/>
          </a:ln>
        </p:spPr>
      </p:cxnSp>
      <p:sp>
        <p:nvSpPr>
          <p:cNvPr id="22" name="TextBox 21"/>
          <p:cNvSpPr txBox="1"/>
          <p:nvPr/>
        </p:nvSpPr>
        <p:spPr>
          <a:xfrm>
            <a:off x="402336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Attend a clinic or ask for help</a:t>
            </a:r>
          </a:p>
        </p:txBody>
      </p:sp>
      <p:sp>
        <p:nvSpPr>
          <p:cNvPr id="23" name="TextBox 22"/>
          <p:cNvSpPr txBox="1"/>
          <p:nvPr/>
        </p:nvSpPr>
        <p:spPr>
          <a:xfrm>
            <a:off x="402336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A group validation clinic or a mentor request.</a:t>
            </a:r>
          </a:p>
        </p:txBody>
      </p:sp>
      <p:sp>
        <p:nvSpPr>
          <p:cNvPr id="24" name="Oval 23"/>
          <p:cNvSpPr/>
          <p:nvPr/>
        </p:nvSpPr>
        <p:spPr>
          <a:xfrm>
            <a:off x="6629400" y="411480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5</a:t>
            </a:r>
          </a:p>
        </p:txBody>
      </p:sp>
      <p:cxnSp>
        <p:nvCxnSpPr>
          <p:cNvPr id="25" name="Connector 24"/>
          <p:cNvCxnSpPr/>
          <p:nvPr/>
        </p:nvCxnSpPr>
        <p:spPr>
          <a:xfrm>
            <a:off x="7223760" y="4361688"/>
            <a:ext cx="1920240" cy="0"/>
          </a:xfrm>
          <a:prstGeom prst="line">
            <a:avLst/>
          </a:prstGeom>
          <a:ln w="15875">
            <a:solidFill>
              <a:srgbClr val="B8CFEE"/>
            </a:solidFill>
            <a:tailEnd type="triangle" w="med" len="med"/>
          </a:ln>
        </p:spPr>
      </p:cxnSp>
      <p:sp>
        <p:nvSpPr>
          <p:cNvPr id="26" name="TextBox 25"/>
          <p:cNvSpPr txBox="1"/>
          <p:nvPr/>
        </p:nvSpPr>
        <p:spPr>
          <a:xfrm>
            <a:off x="662940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Record progress</a:t>
            </a:r>
          </a:p>
        </p:txBody>
      </p:sp>
      <p:sp>
        <p:nvSpPr>
          <p:cNvPr id="27" name="TextBox 26"/>
          <p:cNvSpPr txBox="1"/>
          <p:nvPr/>
        </p:nvSpPr>
        <p:spPr>
          <a:xfrm>
            <a:off x="662940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Notes from 12 conversations; pricing feedback logged.</a:t>
            </a:r>
          </a:p>
        </p:txBody>
      </p:sp>
      <p:sp>
        <p:nvSpPr>
          <p:cNvPr id="28" name="Oval 27"/>
          <p:cNvSpPr/>
          <p:nvPr/>
        </p:nvSpPr>
        <p:spPr>
          <a:xfrm>
            <a:off x="9235440" y="4114800"/>
            <a:ext cx="502920" cy="50292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6</a:t>
            </a:r>
          </a:p>
        </p:txBody>
      </p:sp>
      <p:sp>
        <p:nvSpPr>
          <p:cNvPr id="29" name="TextBox 28"/>
          <p:cNvSpPr txBox="1"/>
          <p:nvPr/>
        </p:nvSpPr>
        <p:spPr>
          <a:xfrm>
            <a:off x="923544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Return for the next step</a:t>
            </a:r>
          </a:p>
        </p:txBody>
      </p:sp>
      <p:sp>
        <p:nvSpPr>
          <p:cNvPr id="30" name="TextBox 29"/>
          <p:cNvSpPr txBox="1"/>
          <p:nvPr/>
        </p:nvSpPr>
        <p:spPr>
          <a:xfrm>
            <a:off x="923544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Move on to testing a first offer.</a:t>
            </a:r>
          </a:p>
        </p:txBody>
      </p:sp>
      <p:sp>
        <p:nvSpPr>
          <p:cNvPr id="31" name="TextBox 3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2" name="TextBox 3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MENTOR AND SPECIALIST DISCOVERY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Matched by need, stage and sector — not by chance.</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6400800" cy="3977639"/>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640080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 · People</a:t>
            </a:r>
          </a:p>
        </p:txBody>
      </p:sp>
      <p:sp>
        <p:nvSpPr>
          <p:cNvPr id="11" name="TextBox 10"/>
          <p:cNvSpPr txBox="1"/>
          <p:nvPr/>
        </p:nvSpPr>
        <p:spPr>
          <a:xfrm>
            <a:off x="594360" y="6016752"/>
            <a:ext cx="640080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12" name="TextBox 11"/>
          <p:cNvSpPr txBox="1"/>
          <p:nvPr/>
        </p:nvSpPr>
        <p:spPr>
          <a:xfrm>
            <a:off x="868680" y="2423160"/>
            <a:ext cx="5486400" cy="274320"/>
          </a:xfrm>
          <a:prstGeom prst="rect">
            <a:avLst/>
          </a:prstGeom>
          <a:noFill/>
        </p:spPr>
        <p:txBody>
          <a:bodyPr wrap="square" lIns="0" rIns="0" tIns="0" bIns="0" anchor="t"/>
          <a:lstStyle/>
          <a:p>
            <a:pPr algn="l">
              <a:lnSpc>
                <a:spcPct val="115000"/>
              </a:lnSpc>
              <a:spcAft>
                <a:spcPts val="0"/>
              </a:spcAft>
            </a:pPr>
            <a:r>
              <a:rPr sz="1100" b="1" i="0">
                <a:solidFill>
                  <a:srgbClr val="10213B"/>
                </a:solidFill>
                <a:latin typeface="Inter"/>
              </a:rPr>
              <a:t>Suggested for: pricing a consumer product</a:t>
            </a:r>
          </a:p>
        </p:txBody>
      </p:sp>
      <p:sp>
        <p:nvSpPr>
          <p:cNvPr id="13" name="Rectangle 12"/>
          <p:cNvSpPr/>
          <p:nvPr/>
        </p:nvSpPr>
        <p:spPr>
          <a:xfrm>
            <a:off x="868680" y="2834639"/>
            <a:ext cx="5852160" cy="868680"/>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14" name="Oval 13"/>
          <p:cNvSpPr/>
          <p:nvPr/>
        </p:nvSpPr>
        <p:spPr>
          <a:xfrm>
            <a:off x="1033271" y="3017520"/>
            <a:ext cx="502920" cy="502920"/>
          </a:xfrm>
          <a:prstGeom prst="ellipse">
            <a:avLst/>
          </a:prstGeom>
          <a:solidFill>
            <a:srgbClr val="10213B"/>
          </a:solidFill>
          <a:ln>
            <a:noFill/>
          </a:ln>
          <a:effectLst/>
        </p:spPr>
        <p:txBody>
          <a:bodyPr rtlCol="0" anchor="ctr" lIns="73152" rIns="73152" tIns="36576" bIns="36576"/>
          <a:lstStyle/>
          <a:p>
            <a:pPr algn="ctr"/>
          </a:p>
        </p:txBody>
      </p:sp>
      <p:sp>
        <p:nvSpPr>
          <p:cNvPr id="15" name="TextBox 14"/>
          <p:cNvSpPr txBox="1"/>
          <p:nvPr/>
        </p:nvSpPr>
        <p:spPr>
          <a:xfrm>
            <a:off x="1691640" y="2953511"/>
            <a:ext cx="3291840" cy="27432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MENTOR</a:t>
            </a:r>
          </a:p>
        </p:txBody>
      </p:sp>
      <p:sp>
        <p:nvSpPr>
          <p:cNvPr id="16" name="TextBox 15"/>
          <p:cNvSpPr txBox="1"/>
          <p:nvPr/>
        </p:nvSpPr>
        <p:spPr>
          <a:xfrm>
            <a:off x="1691640" y="3163823"/>
            <a:ext cx="3383280" cy="27432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Consumer brands · retail channels</a:t>
            </a:r>
          </a:p>
        </p:txBody>
      </p:sp>
      <p:sp>
        <p:nvSpPr>
          <p:cNvPr id="17" name="TextBox 16"/>
          <p:cNvSpPr txBox="1"/>
          <p:nvPr/>
        </p:nvSpPr>
        <p:spPr>
          <a:xfrm>
            <a:off x="1691640" y="3410711"/>
            <a:ext cx="338328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Match: sector, stage, need</a:t>
            </a:r>
          </a:p>
        </p:txBody>
      </p:sp>
      <p:sp>
        <p:nvSpPr>
          <p:cNvPr id="18" name="Rounded Rectangle 17"/>
          <p:cNvSpPr/>
          <p:nvPr/>
        </p:nvSpPr>
        <p:spPr>
          <a:xfrm>
            <a:off x="5212080" y="3108959"/>
            <a:ext cx="1325880" cy="329184"/>
          </a:xfrm>
          <a:prstGeom prst="roundRect">
            <a:avLst>
              <a:gd name="adj" fmla="val 3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900" b="1" i="0">
                <a:solidFill>
                  <a:srgbClr val="FFFFFF"/>
                </a:solidFill>
                <a:latin typeface="Inter"/>
              </a:rPr>
              <a:t>Request intro</a:t>
            </a:r>
          </a:p>
        </p:txBody>
      </p:sp>
      <p:sp>
        <p:nvSpPr>
          <p:cNvPr id="19" name="Rectangle 18"/>
          <p:cNvSpPr/>
          <p:nvPr/>
        </p:nvSpPr>
        <p:spPr>
          <a:xfrm>
            <a:off x="868680" y="3840479"/>
            <a:ext cx="5852160" cy="868680"/>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0" name="Oval 19"/>
          <p:cNvSpPr/>
          <p:nvPr/>
        </p:nvSpPr>
        <p:spPr>
          <a:xfrm>
            <a:off x="1033271" y="4023359"/>
            <a:ext cx="502920" cy="502920"/>
          </a:xfrm>
          <a:prstGeom prst="ellipse">
            <a:avLst/>
          </a:prstGeom>
          <a:solidFill>
            <a:srgbClr val="1765D1"/>
          </a:solidFill>
          <a:ln>
            <a:noFill/>
          </a:ln>
          <a:effectLst/>
        </p:spPr>
        <p:txBody>
          <a:bodyPr rtlCol="0" anchor="ctr" lIns="73152" rIns="73152" tIns="36576" bIns="36576"/>
          <a:lstStyle/>
          <a:p>
            <a:pPr algn="ctr"/>
          </a:p>
        </p:txBody>
      </p:sp>
      <p:sp>
        <p:nvSpPr>
          <p:cNvPr id="21" name="TextBox 20"/>
          <p:cNvSpPr txBox="1"/>
          <p:nvPr/>
        </p:nvSpPr>
        <p:spPr>
          <a:xfrm>
            <a:off x="1691640" y="3959351"/>
            <a:ext cx="3291840" cy="27432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SPECIALIST</a:t>
            </a:r>
          </a:p>
        </p:txBody>
      </p:sp>
      <p:sp>
        <p:nvSpPr>
          <p:cNvPr id="22" name="TextBox 21"/>
          <p:cNvSpPr txBox="1"/>
          <p:nvPr/>
        </p:nvSpPr>
        <p:spPr>
          <a:xfrm>
            <a:off x="1691640" y="4169663"/>
            <a:ext cx="3383280" cy="27432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Pricing and unit economics</a:t>
            </a:r>
          </a:p>
        </p:txBody>
      </p:sp>
      <p:sp>
        <p:nvSpPr>
          <p:cNvPr id="23" name="TextBox 22"/>
          <p:cNvSpPr txBox="1"/>
          <p:nvPr/>
        </p:nvSpPr>
        <p:spPr>
          <a:xfrm>
            <a:off x="1691640" y="4416551"/>
            <a:ext cx="338328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Match: current challenge</a:t>
            </a:r>
          </a:p>
        </p:txBody>
      </p:sp>
      <p:sp>
        <p:nvSpPr>
          <p:cNvPr id="24" name="Rounded Rectangle 23"/>
          <p:cNvSpPr/>
          <p:nvPr/>
        </p:nvSpPr>
        <p:spPr>
          <a:xfrm>
            <a:off x="5212080" y="4114799"/>
            <a:ext cx="1325880" cy="329184"/>
          </a:xfrm>
          <a:prstGeom prst="roundRect">
            <a:avLst>
              <a:gd name="adj" fmla="val 3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900" b="1" i="0">
                <a:solidFill>
                  <a:srgbClr val="FFFFFF"/>
                </a:solidFill>
                <a:latin typeface="Inter"/>
              </a:rPr>
              <a:t>Book session</a:t>
            </a:r>
          </a:p>
        </p:txBody>
      </p:sp>
      <p:sp>
        <p:nvSpPr>
          <p:cNvPr id="25" name="Rectangle 24"/>
          <p:cNvSpPr/>
          <p:nvPr/>
        </p:nvSpPr>
        <p:spPr>
          <a:xfrm>
            <a:off x="868680" y="4846320"/>
            <a:ext cx="5852160" cy="868680"/>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6" name="Oval 25"/>
          <p:cNvSpPr/>
          <p:nvPr/>
        </p:nvSpPr>
        <p:spPr>
          <a:xfrm>
            <a:off x="1033271" y="5029200"/>
            <a:ext cx="502920" cy="502920"/>
          </a:xfrm>
          <a:prstGeom prst="ellipse">
            <a:avLst/>
          </a:prstGeom>
          <a:solidFill>
            <a:srgbClr val="1F4A85"/>
          </a:solidFill>
          <a:ln>
            <a:noFill/>
          </a:ln>
          <a:effectLst/>
        </p:spPr>
        <p:txBody>
          <a:bodyPr rtlCol="0" anchor="ctr" lIns="73152" rIns="73152" tIns="36576" bIns="36576"/>
          <a:lstStyle/>
          <a:p>
            <a:pPr algn="ctr"/>
          </a:p>
        </p:txBody>
      </p:sp>
      <p:sp>
        <p:nvSpPr>
          <p:cNvPr id="27" name="TextBox 26"/>
          <p:cNvSpPr txBox="1"/>
          <p:nvPr/>
        </p:nvSpPr>
        <p:spPr>
          <a:xfrm>
            <a:off x="1691640" y="4965192"/>
            <a:ext cx="3291840" cy="27432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PEER GROUP</a:t>
            </a:r>
          </a:p>
        </p:txBody>
      </p:sp>
      <p:sp>
        <p:nvSpPr>
          <p:cNvPr id="28" name="TextBox 27"/>
          <p:cNvSpPr txBox="1"/>
          <p:nvPr/>
        </p:nvSpPr>
        <p:spPr>
          <a:xfrm>
            <a:off x="1691640" y="5175504"/>
            <a:ext cx="3383280" cy="27432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Food and beverage founders</a:t>
            </a:r>
          </a:p>
        </p:txBody>
      </p:sp>
      <p:sp>
        <p:nvSpPr>
          <p:cNvPr id="29" name="TextBox 28"/>
          <p:cNvSpPr txBox="1"/>
          <p:nvPr/>
        </p:nvSpPr>
        <p:spPr>
          <a:xfrm>
            <a:off x="1691640" y="5422392"/>
            <a:ext cx="338328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Match: sector and stage</a:t>
            </a:r>
          </a:p>
        </p:txBody>
      </p:sp>
      <p:sp>
        <p:nvSpPr>
          <p:cNvPr id="30" name="Rounded Rectangle 29"/>
          <p:cNvSpPr/>
          <p:nvPr/>
        </p:nvSpPr>
        <p:spPr>
          <a:xfrm>
            <a:off x="5212080" y="5120640"/>
            <a:ext cx="1325880" cy="329184"/>
          </a:xfrm>
          <a:prstGeom prst="roundRect">
            <a:avLst>
              <a:gd name="adj" fmla="val 3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900" b="1" i="0">
                <a:solidFill>
                  <a:srgbClr val="FFFFFF"/>
                </a:solidFill>
                <a:latin typeface="Inter"/>
              </a:rPr>
              <a:t>Join group</a:t>
            </a:r>
          </a:p>
        </p:txBody>
      </p:sp>
      <p:sp>
        <p:nvSpPr>
          <p:cNvPr id="31" name="TextBox 30"/>
          <p:cNvSpPr txBox="1"/>
          <p:nvPr/>
        </p:nvSpPr>
        <p:spPr>
          <a:xfrm>
            <a:off x="7406640" y="1965960"/>
            <a:ext cx="420624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MATCHING CRITERIA</a:t>
            </a:r>
          </a:p>
        </p:txBody>
      </p:sp>
      <p:cxnSp>
        <p:nvCxnSpPr>
          <p:cNvPr id="32" name="Connector 31"/>
          <p:cNvCxnSpPr/>
          <p:nvPr/>
        </p:nvCxnSpPr>
        <p:spPr>
          <a:xfrm>
            <a:off x="7406640" y="2331720"/>
            <a:ext cx="4190695" cy="0"/>
          </a:xfrm>
          <a:prstGeom prst="line">
            <a:avLst/>
          </a:prstGeom>
          <a:ln w="12700">
            <a:solidFill>
              <a:srgbClr val="D5E2F3"/>
            </a:solidFill>
          </a:ln>
        </p:spPr>
      </p:cxnSp>
      <p:sp>
        <p:nvSpPr>
          <p:cNvPr id="33" name="TextBox 32"/>
          <p:cNvSpPr txBox="1"/>
          <p:nvPr/>
        </p:nvSpPr>
        <p:spPr>
          <a:xfrm>
            <a:off x="7406640" y="2450591"/>
            <a:ext cx="137160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Need</a:t>
            </a:r>
          </a:p>
        </p:txBody>
      </p:sp>
      <p:sp>
        <p:nvSpPr>
          <p:cNvPr id="34" name="TextBox 33"/>
          <p:cNvSpPr txBox="1"/>
          <p:nvPr/>
        </p:nvSpPr>
        <p:spPr>
          <a:xfrm>
            <a:off x="8823960" y="2450591"/>
            <a:ext cx="2743200" cy="50292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The founder’s current challenge</a:t>
            </a:r>
          </a:p>
        </p:txBody>
      </p:sp>
      <p:cxnSp>
        <p:nvCxnSpPr>
          <p:cNvPr id="35" name="Connector 34"/>
          <p:cNvCxnSpPr/>
          <p:nvPr/>
        </p:nvCxnSpPr>
        <p:spPr>
          <a:xfrm>
            <a:off x="7406640" y="2990087"/>
            <a:ext cx="4190695" cy="0"/>
          </a:xfrm>
          <a:prstGeom prst="line">
            <a:avLst/>
          </a:prstGeom>
          <a:ln w="12700">
            <a:solidFill>
              <a:srgbClr val="D5E2F3"/>
            </a:solidFill>
          </a:ln>
        </p:spPr>
      </p:cxnSp>
      <p:sp>
        <p:nvSpPr>
          <p:cNvPr id="36" name="TextBox 35"/>
          <p:cNvSpPr txBox="1"/>
          <p:nvPr/>
        </p:nvSpPr>
        <p:spPr>
          <a:xfrm>
            <a:off x="7406640" y="3108959"/>
            <a:ext cx="137160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Stage</a:t>
            </a:r>
          </a:p>
        </p:txBody>
      </p:sp>
      <p:sp>
        <p:nvSpPr>
          <p:cNvPr id="37" name="TextBox 36"/>
          <p:cNvSpPr txBox="1"/>
          <p:nvPr/>
        </p:nvSpPr>
        <p:spPr>
          <a:xfrm>
            <a:off x="8823960" y="3108959"/>
            <a:ext cx="2743200" cy="50292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Where the business is today</a:t>
            </a:r>
          </a:p>
        </p:txBody>
      </p:sp>
      <p:cxnSp>
        <p:nvCxnSpPr>
          <p:cNvPr id="38" name="Connector 37"/>
          <p:cNvCxnSpPr/>
          <p:nvPr/>
        </p:nvCxnSpPr>
        <p:spPr>
          <a:xfrm>
            <a:off x="7406640" y="3648456"/>
            <a:ext cx="4190695" cy="0"/>
          </a:xfrm>
          <a:prstGeom prst="line">
            <a:avLst/>
          </a:prstGeom>
          <a:ln w="12700">
            <a:solidFill>
              <a:srgbClr val="D5E2F3"/>
            </a:solidFill>
          </a:ln>
        </p:spPr>
      </p:cxnSp>
      <p:sp>
        <p:nvSpPr>
          <p:cNvPr id="39" name="TextBox 38"/>
          <p:cNvSpPr txBox="1"/>
          <p:nvPr/>
        </p:nvSpPr>
        <p:spPr>
          <a:xfrm>
            <a:off x="7406640" y="3767328"/>
            <a:ext cx="137160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Sector</a:t>
            </a:r>
          </a:p>
        </p:txBody>
      </p:sp>
      <p:sp>
        <p:nvSpPr>
          <p:cNvPr id="40" name="TextBox 39"/>
          <p:cNvSpPr txBox="1"/>
          <p:nvPr/>
        </p:nvSpPr>
        <p:spPr>
          <a:xfrm>
            <a:off x="8823960" y="3767328"/>
            <a:ext cx="2743200" cy="50292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Relevant industry experience</a:t>
            </a:r>
          </a:p>
        </p:txBody>
      </p:sp>
      <p:cxnSp>
        <p:nvCxnSpPr>
          <p:cNvPr id="41" name="Connector 40"/>
          <p:cNvCxnSpPr/>
          <p:nvPr/>
        </p:nvCxnSpPr>
        <p:spPr>
          <a:xfrm>
            <a:off x="7406640" y="4306824"/>
            <a:ext cx="4190695" cy="0"/>
          </a:xfrm>
          <a:prstGeom prst="line">
            <a:avLst/>
          </a:prstGeom>
          <a:ln w="12700">
            <a:solidFill>
              <a:srgbClr val="D5E2F3"/>
            </a:solidFill>
          </a:ln>
        </p:spPr>
      </p:cxnSp>
      <p:sp>
        <p:nvSpPr>
          <p:cNvPr id="42" name="TextBox 41"/>
          <p:cNvSpPr txBox="1"/>
          <p:nvPr/>
        </p:nvSpPr>
        <p:spPr>
          <a:xfrm>
            <a:off x="7406640" y="4425696"/>
            <a:ext cx="137160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Availability</a:t>
            </a:r>
          </a:p>
        </p:txBody>
      </p:sp>
      <p:sp>
        <p:nvSpPr>
          <p:cNvPr id="43" name="TextBox 42"/>
          <p:cNvSpPr txBox="1"/>
          <p:nvPr/>
        </p:nvSpPr>
        <p:spPr>
          <a:xfrm>
            <a:off x="8823960" y="4425696"/>
            <a:ext cx="2743200" cy="50292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Real time the expert can give</a:t>
            </a:r>
          </a:p>
        </p:txBody>
      </p:sp>
      <p:cxnSp>
        <p:nvCxnSpPr>
          <p:cNvPr id="44" name="Connector 43"/>
          <p:cNvCxnSpPr/>
          <p:nvPr/>
        </p:nvCxnSpPr>
        <p:spPr>
          <a:xfrm>
            <a:off x="7406640" y="4965192"/>
            <a:ext cx="4190695" cy="0"/>
          </a:xfrm>
          <a:prstGeom prst="line">
            <a:avLst/>
          </a:prstGeom>
          <a:ln w="12700">
            <a:solidFill>
              <a:srgbClr val="D5E2F3"/>
            </a:solidFill>
          </a:ln>
        </p:spPr>
      </p:cxnSp>
      <p:sp>
        <p:nvSpPr>
          <p:cNvPr id="45" name="TextBox 44"/>
          <p:cNvSpPr txBox="1"/>
          <p:nvPr/>
        </p:nvSpPr>
        <p:spPr>
          <a:xfrm>
            <a:off x="7406640" y="5084064"/>
            <a:ext cx="137160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Consent</a:t>
            </a:r>
          </a:p>
        </p:txBody>
      </p:sp>
      <p:sp>
        <p:nvSpPr>
          <p:cNvPr id="46" name="TextBox 45"/>
          <p:cNvSpPr txBox="1"/>
          <p:nvPr/>
        </p:nvSpPr>
        <p:spPr>
          <a:xfrm>
            <a:off x="8823960" y="5084064"/>
            <a:ext cx="2743200" cy="50292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Both sides agree before an introduction</a:t>
            </a:r>
          </a:p>
        </p:txBody>
      </p:sp>
      <p:sp>
        <p:nvSpPr>
          <p:cNvPr id="47" name="TextBox 4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8" name="TextBox 4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OPPORTUNITIES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Relevant opportunities, with context and a next step.</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6400800" cy="3977639"/>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640080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 · Radar</a:t>
            </a:r>
          </a:p>
        </p:txBody>
      </p:sp>
      <p:sp>
        <p:nvSpPr>
          <p:cNvPr id="11" name="TextBox 10"/>
          <p:cNvSpPr txBox="1"/>
          <p:nvPr/>
        </p:nvSpPr>
        <p:spPr>
          <a:xfrm>
            <a:off x="594360" y="6016752"/>
            <a:ext cx="640080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12" name="Rounded Rectangle 11"/>
          <p:cNvSpPr/>
          <p:nvPr/>
        </p:nvSpPr>
        <p:spPr>
          <a:xfrm>
            <a:off x="868680" y="2423160"/>
            <a:ext cx="960120" cy="274320"/>
          </a:xfrm>
          <a:prstGeom prst="roundRect">
            <a:avLst>
              <a:gd name="adj" fmla="val 50000"/>
            </a:avLst>
          </a:prstGeom>
          <a:solidFill>
            <a:srgbClr val="10213B"/>
          </a:solidFill>
          <a:ln>
            <a:noFill/>
          </a:ln>
          <a:effectLst/>
        </p:spPr>
        <p:txBody>
          <a:bodyPr rtlCol="0" anchor="ctr" lIns="0" rIns="0" tIns="27432" bIns="27432" wrap="square"/>
          <a:lstStyle/>
          <a:p>
            <a:pPr algn="ctr">
              <a:lnSpc>
                <a:spcPct val="110000"/>
              </a:lnSpc>
              <a:spcAft>
                <a:spcPts val="0"/>
              </a:spcAft>
            </a:pPr>
            <a:r>
              <a:rPr sz="850" b="1" i="0">
                <a:solidFill>
                  <a:srgbClr val="FFFFFF"/>
                </a:solidFill>
                <a:latin typeface="Inter"/>
              </a:rPr>
              <a:t>All</a:t>
            </a:r>
          </a:p>
        </p:txBody>
      </p:sp>
      <p:sp>
        <p:nvSpPr>
          <p:cNvPr id="13" name="Rounded Rectangle 12"/>
          <p:cNvSpPr/>
          <p:nvPr/>
        </p:nvSpPr>
        <p:spPr>
          <a:xfrm>
            <a:off x="1920239" y="2423160"/>
            <a:ext cx="960120" cy="274320"/>
          </a:xfrm>
          <a:prstGeom prst="roundRect">
            <a:avLst>
              <a:gd name="adj" fmla="val 50000"/>
            </a:avLst>
          </a:prstGeom>
          <a:solidFill>
            <a:srgbClr val="EDF4FE"/>
          </a:solidFill>
          <a:ln>
            <a:noFill/>
          </a:ln>
          <a:effectLst/>
        </p:spPr>
        <p:txBody>
          <a:bodyPr rtlCol="0" anchor="ctr" lIns="0" rIns="0" tIns="27432" bIns="27432" wrap="square"/>
          <a:lstStyle/>
          <a:p>
            <a:pPr algn="ctr">
              <a:lnSpc>
                <a:spcPct val="110000"/>
              </a:lnSpc>
              <a:spcAft>
                <a:spcPts val="0"/>
              </a:spcAft>
            </a:pPr>
            <a:r>
              <a:rPr sz="850" b="1" i="0">
                <a:solidFill>
                  <a:srgbClr val="10213B"/>
                </a:solidFill>
                <a:latin typeface="Inter"/>
              </a:rPr>
              <a:t>Programmes</a:t>
            </a:r>
          </a:p>
        </p:txBody>
      </p:sp>
      <p:sp>
        <p:nvSpPr>
          <p:cNvPr id="14" name="Rounded Rectangle 13"/>
          <p:cNvSpPr/>
          <p:nvPr/>
        </p:nvSpPr>
        <p:spPr>
          <a:xfrm>
            <a:off x="2971800" y="2423160"/>
            <a:ext cx="960120" cy="274320"/>
          </a:xfrm>
          <a:prstGeom prst="roundRect">
            <a:avLst>
              <a:gd name="adj" fmla="val 50000"/>
            </a:avLst>
          </a:prstGeom>
          <a:solidFill>
            <a:srgbClr val="EDF4FE"/>
          </a:solidFill>
          <a:ln>
            <a:noFill/>
          </a:ln>
          <a:effectLst/>
        </p:spPr>
        <p:txBody>
          <a:bodyPr rtlCol="0" anchor="ctr" lIns="0" rIns="0" tIns="27432" bIns="27432" wrap="square"/>
          <a:lstStyle/>
          <a:p>
            <a:pPr algn="ctr">
              <a:lnSpc>
                <a:spcPct val="110000"/>
              </a:lnSpc>
              <a:spcAft>
                <a:spcPts val="0"/>
              </a:spcAft>
            </a:pPr>
            <a:r>
              <a:rPr sz="850" b="1" i="0">
                <a:solidFill>
                  <a:srgbClr val="10213B"/>
                </a:solidFill>
                <a:latin typeface="Inter"/>
              </a:rPr>
              <a:t>Funding</a:t>
            </a:r>
          </a:p>
        </p:txBody>
      </p:sp>
      <p:sp>
        <p:nvSpPr>
          <p:cNvPr id="15" name="Rounded Rectangle 14"/>
          <p:cNvSpPr/>
          <p:nvPr/>
        </p:nvSpPr>
        <p:spPr>
          <a:xfrm>
            <a:off x="4023359" y="2423160"/>
            <a:ext cx="960120" cy="274320"/>
          </a:xfrm>
          <a:prstGeom prst="roundRect">
            <a:avLst>
              <a:gd name="adj" fmla="val 50000"/>
            </a:avLst>
          </a:prstGeom>
          <a:solidFill>
            <a:srgbClr val="EDF4FE"/>
          </a:solidFill>
          <a:ln>
            <a:noFill/>
          </a:ln>
          <a:effectLst/>
        </p:spPr>
        <p:txBody>
          <a:bodyPr rtlCol="0" anchor="ctr" lIns="0" rIns="0" tIns="27432" bIns="27432" wrap="square"/>
          <a:lstStyle/>
          <a:p>
            <a:pPr algn="ctr">
              <a:lnSpc>
                <a:spcPct val="110000"/>
              </a:lnSpc>
              <a:spcAft>
                <a:spcPts val="0"/>
              </a:spcAft>
            </a:pPr>
            <a:r>
              <a:rPr sz="850" b="1" i="0">
                <a:solidFill>
                  <a:srgbClr val="10213B"/>
                </a:solidFill>
                <a:latin typeface="Inter"/>
              </a:rPr>
              <a:t>Events</a:t>
            </a:r>
          </a:p>
        </p:txBody>
      </p:sp>
      <p:sp>
        <p:nvSpPr>
          <p:cNvPr id="16" name="Rounded Rectangle 15"/>
          <p:cNvSpPr/>
          <p:nvPr/>
        </p:nvSpPr>
        <p:spPr>
          <a:xfrm>
            <a:off x="5074920" y="2423160"/>
            <a:ext cx="960120" cy="274320"/>
          </a:xfrm>
          <a:prstGeom prst="roundRect">
            <a:avLst>
              <a:gd name="adj" fmla="val 50000"/>
            </a:avLst>
          </a:prstGeom>
          <a:solidFill>
            <a:srgbClr val="EDF4FE"/>
          </a:solidFill>
          <a:ln>
            <a:noFill/>
          </a:ln>
          <a:effectLst/>
        </p:spPr>
        <p:txBody>
          <a:bodyPr rtlCol="0" anchor="ctr" lIns="0" rIns="0" tIns="27432" bIns="27432" wrap="square"/>
          <a:lstStyle/>
          <a:p>
            <a:pPr algn="ctr">
              <a:lnSpc>
                <a:spcPct val="110000"/>
              </a:lnSpc>
              <a:spcAft>
                <a:spcPts val="0"/>
              </a:spcAft>
            </a:pPr>
            <a:r>
              <a:rPr sz="850" b="1" i="0">
                <a:solidFill>
                  <a:srgbClr val="10213B"/>
                </a:solidFill>
                <a:latin typeface="Inter"/>
              </a:rPr>
              <a:t>Insights</a:t>
            </a:r>
          </a:p>
        </p:txBody>
      </p:sp>
      <p:cxnSp>
        <p:nvCxnSpPr>
          <p:cNvPr id="17" name="Connector 16"/>
          <p:cNvCxnSpPr/>
          <p:nvPr/>
        </p:nvCxnSpPr>
        <p:spPr>
          <a:xfrm>
            <a:off x="868680" y="2880360"/>
            <a:ext cx="5852160" cy="0"/>
          </a:xfrm>
          <a:prstGeom prst="line">
            <a:avLst/>
          </a:prstGeom>
          <a:ln w="12700">
            <a:solidFill>
              <a:srgbClr val="D5E2F3"/>
            </a:solidFill>
          </a:ln>
        </p:spPr>
      </p:cxnSp>
      <p:sp>
        <p:nvSpPr>
          <p:cNvPr id="18" name="TextBox 17"/>
          <p:cNvSpPr txBox="1"/>
          <p:nvPr/>
        </p:nvSpPr>
        <p:spPr>
          <a:xfrm>
            <a:off x="868680" y="2990088"/>
            <a:ext cx="1280160" cy="22860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PROGRAMME</a:t>
            </a:r>
          </a:p>
        </p:txBody>
      </p:sp>
      <p:sp>
        <p:nvSpPr>
          <p:cNvPr id="19" name="TextBox 18"/>
          <p:cNvSpPr txBox="1"/>
          <p:nvPr/>
        </p:nvSpPr>
        <p:spPr>
          <a:xfrm>
            <a:off x="868680" y="3200400"/>
            <a:ext cx="457200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Accelerator applications open — consumer and retail</a:t>
            </a:r>
          </a:p>
        </p:txBody>
      </p:sp>
      <p:sp>
        <p:nvSpPr>
          <p:cNvPr id="20" name="TextBox 19"/>
          <p:cNvSpPr txBox="1"/>
          <p:nvPr/>
        </p:nvSpPr>
        <p:spPr>
          <a:xfrm>
            <a:off x="868680" y="3474720"/>
            <a:ext cx="457200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Why it matters: fits your stage and sector</a:t>
            </a:r>
          </a:p>
        </p:txBody>
      </p:sp>
      <p:sp>
        <p:nvSpPr>
          <p:cNvPr id="21" name="TextBox 20"/>
          <p:cNvSpPr txBox="1"/>
          <p:nvPr/>
        </p:nvSpPr>
        <p:spPr>
          <a:xfrm>
            <a:off x="5394960" y="3200400"/>
            <a:ext cx="1325880" cy="274320"/>
          </a:xfrm>
          <a:prstGeom prst="rect">
            <a:avLst/>
          </a:prstGeom>
          <a:noFill/>
        </p:spPr>
        <p:txBody>
          <a:bodyPr wrap="square" lIns="0" rIns="0" tIns="0" bIns="0" anchor="t"/>
          <a:lstStyle/>
          <a:p>
            <a:pPr algn="r">
              <a:lnSpc>
                <a:spcPct val="115000"/>
              </a:lnSpc>
              <a:spcAft>
                <a:spcPts val="0"/>
              </a:spcAft>
            </a:pPr>
            <a:r>
              <a:rPr sz="900" b="0" i="0">
                <a:solidFill>
                  <a:srgbClr val="61738A"/>
                </a:solidFill>
                <a:latin typeface="Inter"/>
              </a:rPr>
              <a:t>Closes in 3 weeks</a:t>
            </a:r>
          </a:p>
        </p:txBody>
      </p:sp>
      <p:cxnSp>
        <p:nvCxnSpPr>
          <p:cNvPr id="22" name="Connector 21"/>
          <p:cNvCxnSpPr/>
          <p:nvPr/>
        </p:nvCxnSpPr>
        <p:spPr>
          <a:xfrm>
            <a:off x="868680" y="3840480"/>
            <a:ext cx="5852160" cy="0"/>
          </a:xfrm>
          <a:prstGeom prst="line">
            <a:avLst/>
          </a:prstGeom>
          <a:ln w="12700">
            <a:solidFill>
              <a:srgbClr val="D5E2F3"/>
            </a:solidFill>
          </a:ln>
        </p:spPr>
      </p:cxnSp>
      <p:sp>
        <p:nvSpPr>
          <p:cNvPr id="23" name="TextBox 22"/>
          <p:cNvSpPr txBox="1"/>
          <p:nvPr/>
        </p:nvSpPr>
        <p:spPr>
          <a:xfrm>
            <a:off x="868680" y="3950208"/>
            <a:ext cx="1280160" cy="22860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FUNDING</a:t>
            </a:r>
          </a:p>
        </p:txBody>
      </p:sp>
      <p:sp>
        <p:nvSpPr>
          <p:cNvPr id="24" name="TextBox 23"/>
          <p:cNvSpPr txBox="1"/>
          <p:nvPr/>
        </p:nvSpPr>
        <p:spPr>
          <a:xfrm>
            <a:off x="868680" y="4160520"/>
            <a:ext cx="457200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Grant call for early-stage innovation projects</a:t>
            </a:r>
          </a:p>
        </p:txBody>
      </p:sp>
      <p:sp>
        <p:nvSpPr>
          <p:cNvPr id="25" name="TextBox 24"/>
          <p:cNvSpPr txBox="1"/>
          <p:nvPr/>
        </p:nvSpPr>
        <p:spPr>
          <a:xfrm>
            <a:off x="868680" y="4434840"/>
            <a:ext cx="457200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Why it matters: non-dilutive; check eligibility</a:t>
            </a:r>
          </a:p>
        </p:txBody>
      </p:sp>
      <p:sp>
        <p:nvSpPr>
          <p:cNvPr id="26" name="TextBox 25"/>
          <p:cNvSpPr txBox="1"/>
          <p:nvPr/>
        </p:nvSpPr>
        <p:spPr>
          <a:xfrm>
            <a:off x="5394960" y="4160520"/>
            <a:ext cx="1325880" cy="274320"/>
          </a:xfrm>
          <a:prstGeom prst="rect">
            <a:avLst/>
          </a:prstGeom>
          <a:noFill/>
        </p:spPr>
        <p:txBody>
          <a:bodyPr wrap="square" lIns="0" rIns="0" tIns="0" bIns="0" anchor="t"/>
          <a:lstStyle/>
          <a:p>
            <a:pPr algn="r">
              <a:lnSpc>
                <a:spcPct val="115000"/>
              </a:lnSpc>
              <a:spcAft>
                <a:spcPts val="0"/>
              </a:spcAft>
            </a:pPr>
            <a:r>
              <a:rPr sz="900" b="0" i="0">
                <a:solidFill>
                  <a:srgbClr val="61738A"/>
                </a:solidFill>
                <a:latin typeface="Inter"/>
              </a:rPr>
              <a:t>Source linked</a:t>
            </a:r>
          </a:p>
        </p:txBody>
      </p:sp>
      <p:cxnSp>
        <p:nvCxnSpPr>
          <p:cNvPr id="27" name="Connector 26"/>
          <p:cNvCxnSpPr/>
          <p:nvPr/>
        </p:nvCxnSpPr>
        <p:spPr>
          <a:xfrm>
            <a:off x="868680" y="4800600"/>
            <a:ext cx="5852160" cy="0"/>
          </a:xfrm>
          <a:prstGeom prst="line">
            <a:avLst/>
          </a:prstGeom>
          <a:ln w="12700">
            <a:solidFill>
              <a:srgbClr val="D5E2F3"/>
            </a:solidFill>
          </a:ln>
        </p:spPr>
      </p:cxnSp>
      <p:sp>
        <p:nvSpPr>
          <p:cNvPr id="28" name="TextBox 27"/>
          <p:cNvSpPr txBox="1"/>
          <p:nvPr/>
        </p:nvSpPr>
        <p:spPr>
          <a:xfrm>
            <a:off x="868680" y="4910328"/>
            <a:ext cx="1280160" cy="228600"/>
          </a:xfrm>
          <a:prstGeom prst="rect">
            <a:avLst/>
          </a:prstGeom>
          <a:noFill/>
        </p:spPr>
        <p:txBody>
          <a:bodyPr wrap="square" lIns="0" rIns="0" tIns="0" bIns="0" anchor="t"/>
          <a:lstStyle/>
          <a:p>
            <a:pPr algn="l">
              <a:lnSpc>
                <a:spcPct val="115000"/>
              </a:lnSpc>
              <a:spcAft>
                <a:spcPts val="0"/>
              </a:spcAft>
            </a:pPr>
            <a:r>
              <a:rPr sz="800" b="1" i="0" spc="100">
                <a:solidFill>
                  <a:srgbClr val="1765D1"/>
                </a:solidFill>
                <a:latin typeface="Inter"/>
              </a:rPr>
              <a:t>INSIGHT</a:t>
            </a:r>
          </a:p>
        </p:txBody>
      </p:sp>
      <p:sp>
        <p:nvSpPr>
          <p:cNvPr id="29" name="TextBox 28"/>
          <p:cNvSpPr txBox="1"/>
          <p:nvPr/>
        </p:nvSpPr>
        <p:spPr>
          <a:xfrm>
            <a:off x="868680" y="5120640"/>
            <a:ext cx="457200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Founder interview: lessons from a first retail launch</a:t>
            </a:r>
          </a:p>
        </p:txBody>
      </p:sp>
      <p:sp>
        <p:nvSpPr>
          <p:cNvPr id="30" name="TextBox 29"/>
          <p:cNvSpPr txBox="1"/>
          <p:nvPr/>
        </p:nvSpPr>
        <p:spPr>
          <a:xfrm>
            <a:off x="868680" y="5394960"/>
            <a:ext cx="4572000" cy="274320"/>
          </a:xfrm>
          <a:prstGeom prst="rect">
            <a:avLst/>
          </a:prstGeom>
          <a:noFill/>
        </p:spPr>
        <p:txBody>
          <a:bodyPr wrap="square" lIns="0" rIns="0" tIns="0" bIns="0" anchor="t"/>
          <a:lstStyle/>
          <a:p>
            <a:pPr algn="l">
              <a:lnSpc>
                <a:spcPct val="115000"/>
              </a:lnSpc>
              <a:spcAft>
                <a:spcPts val="0"/>
              </a:spcAft>
            </a:pPr>
            <a:r>
              <a:rPr sz="950" b="0" i="0">
                <a:solidFill>
                  <a:srgbClr val="61738A"/>
                </a:solidFill>
                <a:latin typeface="Inter"/>
              </a:rPr>
              <a:t>Why it matters: you are entering retail next</a:t>
            </a:r>
          </a:p>
        </p:txBody>
      </p:sp>
      <p:sp>
        <p:nvSpPr>
          <p:cNvPr id="31" name="TextBox 30"/>
          <p:cNvSpPr txBox="1"/>
          <p:nvPr/>
        </p:nvSpPr>
        <p:spPr>
          <a:xfrm>
            <a:off x="5394960" y="5120640"/>
            <a:ext cx="1325880" cy="274320"/>
          </a:xfrm>
          <a:prstGeom prst="rect">
            <a:avLst/>
          </a:prstGeom>
          <a:noFill/>
        </p:spPr>
        <p:txBody>
          <a:bodyPr wrap="square" lIns="0" rIns="0" tIns="0" bIns="0" anchor="t"/>
          <a:lstStyle/>
          <a:p>
            <a:pPr algn="r">
              <a:lnSpc>
                <a:spcPct val="115000"/>
              </a:lnSpc>
              <a:spcAft>
                <a:spcPts val="0"/>
              </a:spcAft>
            </a:pPr>
            <a:r>
              <a:rPr sz="900" b="0" i="0">
                <a:solidFill>
                  <a:srgbClr val="61738A"/>
                </a:solidFill>
                <a:latin typeface="Inter"/>
              </a:rPr>
              <a:t>8-minute read</a:t>
            </a:r>
          </a:p>
        </p:txBody>
      </p:sp>
      <p:sp>
        <p:nvSpPr>
          <p:cNvPr id="32" name="TextBox 31"/>
          <p:cNvSpPr txBox="1"/>
          <p:nvPr/>
        </p:nvSpPr>
        <p:spPr>
          <a:xfrm>
            <a:off x="7406640" y="1965960"/>
            <a:ext cx="420624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EVERY ITEM SHOWS</a:t>
            </a:r>
          </a:p>
        </p:txBody>
      </p:sp>
      <p:cxnSp>
        <p:nvCxnSpPr>
          <p:cNvPr id="33" name="Connector 32"/>
          <p:cNvCxnSpPr/>
          <p:nvPr/>
        </p:nvCxnSpPr>
        <p:spPr>
          <a:xfrm>
            <a:off x="7406640" y="2331720"/>
            <a:ext cx="4190695" cy="0"/>
          </a:xfrm>
          <a:prstGeom prst="line">
            <a:avLst/>
          </a:prstGeom>
          <a:ln w="12700">
            <a:solidFill>
              <a:srgbClr val="D5E2F3"/>
            </a:solidFill>
          </a:ln>
        </p:spPr>
      </p:cxnSp>
      <p:sp>
        <p:nvSpPr>
          <p:cNvPr id="34" name="TextBox 33"/>
          <p:cNvSpPr txBox="1"/>
          <p:nvPr/>
        </p:nvSpPr>
        <p:spPr>
          <a:xfrm>
            <a:off x="7406640" y="2459736"/>
            <a:ext cx="1463040" cy="36576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Relevance</a:t>
            </a:r>
          </a:p>
        </p:txBody>
      </p:sp>
      <p:sp>
        <p:nvSpPr>
          <p:cNvPr id="35" name="TextBox 34"/>
          <p:cNvSpPr txBox="1"/>
          <p:nvPr/>
        </p:nvSpPr>
        <p:spPr>
          <a:xfrm>
            <a:off x="8915400" y="2459736"/>
            <a:ext cx="265176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Why it fits this founder</a:t>
            </a:r>
          </a:p>
        </p:txBody>
      </p:sp>
      <p:cxnSp>
        <p:nvCxnSpPr>
          <p:cNvPr id="36" name="Connector 35"/>
          <p:cNvCxnSpPr/>
          <p:nvPr/>
        </p:nvCxnSpPr>
        <p:spPr>
          <a:xfrm>
            <a:off x="7406640" y="3081527"/>
            <a:ext cx="4190695" cy="0"/>
          </a:xfrm>
          <a:prstGeom prst="line">
            <a:avLst/>
          </a:prstGeom>
          <a:ln w="12700">
            <a:solidFill>
              <a:srgbClr val="D5E2F3"/>
            </a:solidFill>
          </a:ln>
        </p:spPr>
      </p:cxnSp>
      <p:sp>
        <p:nvSpPr>
          <p:cNvPr id="37" name="TextBox 36"/>
          <p:cNvSpPr txBox="1"/>
          <p:nvPr/>
        </p:nvSpPr>
        <p:spPr>
          <a:xfrm>
            <a:off x="7406640" y="3209544"/>
            <a:ext cx="1463040" cy="36576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Source</a:t>
            </a:r>
          </a:p>
        </p:txBody>
      </p:sp>
      <p:sp>
        <p:nvSpPr>
          <p:cNvPr id="38" name="TextBox 37"/>
          <p:cNvSpPr txBox="1"/>
          <p:nvPr/>
        </p:nvSpPr>
        <p:spPr>
          <a:xfrm>
            <a:off x="8915400" y="3209544"/>
            <a:ext cx="265176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Credited and linked</a:t>
            </a:r>
          </a:p>
        </p:txBody>
      </p:sp>
      <p:cxnSp>
        <p:nvCxnSpPr>
          <p:cNvPr id="39" name="Connector 38"/>
          <p:cNvCxnSpPr/>
          <p:nvPr/>
        </p:nvCxnSpPr>
        <p:spPr>
          <a:xfrm>
            <a:off x="7406640" y="3831335"/>
            <a:ext cx="4190695" cy="0"/>
          </a:xfrm>
          <a:prstGeom prst="line">
            <a:avLst/>
          </a:prstGeom>
          <a:ln w="12700">
            <a:solidFill>
              <a:srgbClr val="D5E2F3"/>
            </a:solidFill>
          </a:ln>
        </p:spPr>
      </p:cxnSp>
      <p:sp>
        <p:nvSpPr>
          <p:cNvPr id="40" name="TextBox 39"/>
          <p:cNvSpPr txBox="1"/>
          <p:nvPr/>
        </p:nvSpPr>
        <p:spPr>
          <a:xfrm>
            <a:off x="7406640" y="3959351"/>
            <a:ext cx="1463040" cy="36576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Date</a:t>
            </a:r>
          </a:p>
        </p:txBody>
      </p:sp>
      <p:sp>
        <p:nvSpPr>
          <p:cNvPr id="41" name="TextBox 40"/>
          <p:cNvSpPr txBox="1"/>
          <p:nvPr/>
        </p:nvSpPr>
        <p:spPr>
          <a:xfrm>
            <a:off x="8915400" y="3959351"/>
            <a:ext cx="265176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When it was published or closes</a:t>
            </a:r>
          </a:p>
        </p:txBody>
      </p:sp>
      <p:cxnSp>
        <p:nvCxnSpPr>
          <p:cNvPr id="42" name="Connector 41"/>
          <p:cNvCxnSpPr/>
          <p:nvPr/>
        </p:nvCxnSpPr>
        <p:spPr>
          <a:xfrm>
            <a:off x="7406640" y="4581144"/>
            <a:ext cx="4190695" cy="0"/>
          </a:xfrm>
          <a:prstGeom prst="line">
            <a:avLst/>
          </a:prstGeom>
          <a:ln w="12700">
            <a:solidFill>
              <a:srgbClr val="D5E2F3"/>
            </a:solidFill>
          </a:ln>
        </p:spPr>
      </p:cxnSp>
      <p:sp>
        <p:nvSpPr>
          <p:cNvPr id="43" name="TextBox 42"/>
          <p:cNvSpPr txBox="1"/>
          <p:nvPr/>
        </p:nvSpPr>
        <p:spPr>
          <a:xfrm>
            <a:off x="7406640" y="4709159"/>
            <a:ext cx="1463040" cy="36576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Next step</a:t>
            </a:r>
          </a:p>
        </p:txBody>
      </p:sp>
      <p:sp>
        <p:nvSpPr>
          <p:cNvPr id="44" name="TextBox 43"/>
          <p:cNvSpPr txBox="1"/>
          <p:nvPr/>
        </p:nvSpPr>
        <p:spPr>
          <a:xfrm>
            <a:off x="8915400" y="4709159"/>
            <a:ext cx="2651760"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What to do about it</a:t>
            </a:r>
          </a:p>
        </p:txBody>
      </p:sp>
      <p:sp>
        <p:nvSpPr>
          <p:cNvPr id="45" name="TextBox 44"/>
          <p:cNvSpPr txBox="1"/>
          <p:nvPr/>
        </p:nvSpPr>
        <p:spPr>
          <a:xfrm>
            <a:off x="7406640" y="5440680"/>
            <a:ext cx="4206240" cy="548640"/>
          </a:xfrm>
          <a:prstGeom prst="rect">
            <a:avLst/>
          </a:prstGeom>
          <a:noFill/>
        </p:spPr>
        <p:txBody>
          <a:bodyPr wrap="square" lIns="0" rIns="0" tIns="0" bIns="0" anchor="t"/>
          <a:lstStyle/>
          <a:p>
            <a:pPr algn="l">
              <a:lnSpc>
                <a:spcPct val="120000"/>
              </a:lnSpc>
              <a:spcAft>
                <a:spcPts val="0"/>
              </a:spcAft>
            </a:pPr>
            <a:r>
              <a:rPr sz="1000" b="0" i="1">
                <a:solidFill>
                  <a:srgbClr val="61738A"/>
                </a:solidFill>
                <a:latin typeface="Inter"/>
              </a:rPr>
              <a:t>Sample items for illustration; they do not refer to real programmes.</a:t>
            </a:r>
          </a:p>
        </p:txBody>
      </p:sp>
      <p:sp>
        <p:nvSpPr>
          <p:cNvPr id="46" name="TextBox 4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7" name="TextBox 4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SERVICE REQUESTS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From “I need help” to a delivered, reviewed outcome.</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Pentagon 4"/>
          <p:cNvSpPr/>
          <p:nvPr/>
        </p:nvSpPr>
        <p:spPr>
          <a:xfrm>
            <a:off x="594360" y="2103120"/>
            <a:ext cx="1888693" cy="594360"/>
          </a:xfrm>
          <a:prstGeom prst="homePlat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300" b="1" i="0">
                <a:solidFill>
                  <a:srgbClr val="10213B"/>
                </a:solidFill>
                <a:latin typeface="Inter"/>
              </a:rPr>
              <a:t>Request</a:t>
            </a:r>
          </a:p>
        </p:txBody>
      </p:sp>
      <p:sp>
        <p:nvSpPr>
          <p:cNvPr id="6" name="TextBox 5"/>
          <p:cNvSpPr txBox="1"/>
          <p:nvPr/>
        </p:nvSpPr>
        <p:spPr>
          <a:xfrm>
            <a:off x="731520"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describes the need in plain words.</a:t>
            </a:r>
          </a:p>
        </p:txBody>
      </p:sp>
      <p:sp>
        <p:nvSpPr>
          <p:cNvPr id="7" name="Chevron 6"/>
          <p:cNvSpPr/>
          <p:nvPr/>
        </p:nvSpPr>
        <p:spPr>
          <a:xfrm>
            <a:off x="2428189" y="2103120"/>
            <a:ext cx="1888693" cy="59436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300" b="1" i="0">
                <a:solidFill>
                  <a:srgbClr val="10213B"/>
                </a:solidFill>
                <a:latin typeface="Inter"/>
              </a:rPr>
              <a:t>Scope</a:t>
            </a:r>
          </a:p>
        </p:txBody>
      </p:sp>
      <p:sp>
        <p:nvSpPr>
          <p:cNvPr id="8" name="TextBox 7"/>
          <p:cNvSpPr txBox="1"/>
          <p:nvPr/>
        </p:nvSpPr>
        <p:spPr>
          <a:xfrm>
            <a:off x="2565349"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Need is clarified into a defined piece of work.</a:t>
            </a:r>
          </a:p>
        </p:txBody>
      </p:sp>
      <p:sp>
        <p:nvSpPr>
          <p:cNvPr id="9" name="Chevron 8"/>
          <p:cNvSpPr/>
          <p:nvPr/>
        </p:nvSpPr>
        <p:spPr>
          <a:xfrm>
            <a:off x="4262018" y="2103120"/>
            <a:ext cx="1888693" cy="594360"/>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Match</a:t>
            </a:r>
          </a:p>
        </p:txBody>
      </p:sp>
      <p:sp>
        <p:nvSpPr>
          <p:cNvPr id="10" name="TextBox 9"/>
          <p:cNvSpPr txBox="1"/>
          <p:nvPr/>
        </p:nvSpPr>
        <p:spPr>
          <a:xfrm>
            <a:off x="4399178"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Suitable expert or partner is proposed.</a:t>
            </a:r>
          </a:p>
        </p:txBody>
      </p:sp>
      <p:sp>
        <p:nvSpPr>
          <p:cNvPr id="11" name="Chevron 10"/>
          <p:cNvSpPr/>
          <p:nvPr/>
        </p:nvSpPr>
        <p:spPr>
          <a:xfrm>
            <a:off x="6095847" y="2103120"/>
            <a:ext cx="1888693" cy="594360"/>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Agree</a:t>
            </a:r>
          </a:p>
        </p:txBody>
      </p:sp>
      <p:sp>
        <p:nvSpPr>
          <p:cNvPr id="12" name="TextBox 11"/>
          <p:cNvSpPr txBox="1"/>
          <p:nvPr/>
        </p:nvSpPr>
        <p:spPr>
          <a:xfrm>
            <a:off x="6233007"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Scope, timing and price confirmed up front.</a:t>
            </a:r>
          </a:p>
        </p:txBody>
      </p:sp>
      <p:sp>
        <p:nvSpPr>
          <p:cNvPr id="13" name="Chevron 12"/>
          <p:cNvSpPr/>
          <p:nvPr/>
        </p:nvSpPr>
        <p:spPr>
          <a:xfrm>
            <a:off x="7929676" y="2103120"/>
            <a:ext cx="1888693" cy="594360"/>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Deliver</a:t>
            </a:r>
          </a:p>
        </p:txBody>
      </p:sp>
      <p:sp>
        <p:nvSpPr>
          <p:cNvPr id="14" name="TextBox 13"/>
          <p:cNvSpPr txBox="1"/>
          <p:nvPr/>
        </p:nvSpPr>
        <p:spPr>
          <a:xfrm>
            <a:off x="8066836"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Work done; progress visible to the founder.</a:t>
            </a:r>
          </a:p>
        </p:txBody>
      </p:sp>
      <p:sp>
        <p:nvSpPr>
          <p:cNvPr id="15" name="Chevron 14"/>
          <p:cNvSpPr/>
          <p:nvPr/>
        </p:nvSpPr>
        <p:spPr>
          <a:xfrm>
            <a:off x="9763506" y="2103120"/>
            <a:ext cx="1888693" cy="594360"/>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Review</a:t>
            </a:r>
          </a:p>
        </p:txBody>
      </p:sp>
      <p:sp>
        <p:nvSpPr>
          <p:cNvPr id="16" name="TextBox 15"/>
          <p:cNvSpPr txBox="1"/>
          <p:nvPr/>
        </p:nvSpPr>
        <p:spPr>
          <a:xfrm>
            <a:off x="9900666" y="2880360"/>
            <a:ext cx="1559509"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rates the outcome; quality is tracked.</a:t>
            </a:r>
          </a:p>
        </p:txBody>
      </p:sp>
      <p:sp>
        <p:nvSpPr>
          <p:cNvPr id="17" name="Rectangle 16"/>
          <p:cNvSpPr/>
          <p:nvPr/>
        </p:nvSpPr>
        <p:spPr>
          <a:xfrm>
            <a:off x="594360" y="4069080"/>
            <a:ext cx="11002975" cy="2103120"/>
          </a:xfrm>
          <a:prstGeom prst="rect">
            <a:avLst/>
          </a:prstGeom>
          <a:solidFill>
            <a:srgbClr val="EDF4FE"/>
          </a:solidFill>
          <a:ln>
            <a:noFill/>
          </a:ln>
          <a:effectLst/>
        </p:spPr>
        <p:txBody>
          <a:bodyPr rtlCol="0" anchor="ctr" lIns="73152" rIns="73152" tIns="36576" bIns="36576"/>
          <a:lstStyle/>
          <a:p>
            <a:pPr algn="ctr"/>
          </a:p>
        </p:txBody>
      </p:sp>
      <p:sp>
        <p:nvSpPr>
          <p:cNvPr id="18" name="TextBox 17"/>
          <p:cNvSpPr txBox="1"/>
          <p:nvPr/>
        </p:nvSpPr>
        <p:spPr>
          <a:xfrm>
            <a:off x="868680" y="4224528"/>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QUALITY SAFEGUARDS UNDER TEST IN THE PILOT</a:t>
            </a:r>
          </a:p>
        </p:txBody>
      </p:sp>
      <p:sp>
        <p:nvSpPr>
          <p:cNvPr id="19" name="TextBox 18"/>
          <p:cNvSpPr txBox="1"/>
          <p:nvPr/>
        </p:nvSpPr>
        <p:spPr>
          <a:xfrm>
            <a:off x="868680" y="4617720"/>
            <a:ext cx="2560320" cy="36576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Clear scope first</a:t>
            </a:r>
          </a:p>
        </p:txBody>
      </p:sp>
      <p:sp>
        <p:nvSpPr>
          <p:cNvPr id="20" name="TextBox 19"/>
          <p:cNvSpPr txBox="1"/>
          <p:nvPr/>
        </p:nvSpPr>
        <p:spPr>
          <a:xfrm>
            <a:off x="868680" y="4983480"/>
            <a:ext cx="256032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No open-ended engagements</a:t>
            </a:r>
          </a:p>
        </p:txBody>
      </p:sp>
      <p:sp>
        <p:nvSpPr>
          <p:cNvPr id="21" name="TextBox 20"/>
          <p:cNvSpPr txBox="1"/>
          <p:nvPr/>
        </p:nvSpPr>
        <p:spPr>
          <a:xfrm>
            <a:off x="3611880" y="4617720"/>
            <a:ext cx="2560320" cy="36576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Transparent pricing</a:t>
            </a:r>
          </a:p>
        </p:txBody>
      </p:sp>
      <p:sp>
        <p:nvSpPr>
          <p:cNvPr id="22" name="TextBox 21"/>
          <p:cNvSpPr txBox="1"/>
          <p:nvPr/>
        </p:nvSpPr>
        <p:spPr>
          <a:xfrm>
            <a:off x="3611880" y="4983480"/>
            <a:ext cx="256032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Agreed before work starts</a:t>
            </a:r>
          </a:p>
        </p:txBody>
      </p:sp>
      <p:sp>
        <p:nvSpPr>
          <p:cNvPr id="23" name="TextBox 22"/>
          <p:cNvSpPr txBox="1"/>
          <p:nvPr/>
        </p:nvSpPr>
        <p:spPr>
          <a:xfrm>
            <a:off x="6355080" y="4617720"/>
            <a:ext cx="2560320" cy="36576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Vetted providers</a:t>
            </a:r>
          </a:p>
        </p:txBody>
      </p:sp>
      <p:sp>
        <p:nvSpPr>
          <p:cNvPr id="24" name="TextBox 23"/>
          <p:cNvSpPr txBox="1"/>
          <p:nvPr/>
        </p:nvSpPr>
        <p:spPr>
          <a:xfrm>
            <a:off x="6355080" y="4983480"/>
            <a:ext cx="256032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Selected on track record</a:t>
            </a:r>
          </a:p>
        </p:txBody>
      </p:sp>
      <p:sp>
        <p:nvSpPr>
          <p:cNvPr id="25" name="TextBox 24"/>
          <p:cNvSpPr txBox="1"/>
          <p:nvPr/>
        </p:nvSpPr>
        <p:spPr>
          <a:xfrm>
            <a:off x="9098280" y="4617720"/>
            <a:ext cx="2560320" cy="36576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Founder reviews</a:t>
            </a:r>
          </a:p>
        </p:txBody>
      </p:sp>
      <p:sp>
        <p:nvSpPr>
          <p:cNvPr id="26" name="TextBox 25"/>
          <p:cNvSpPr txBox="1"/>
          <p:nvPr/>
        </p:nvSpPr>
        <p:spPr>
          <a:xfrm>
            <a:off x="9098280" y="4983480"/>
            <a:ext cx="256032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Visible quality over time</a:t>
            </a:r>
          </a:p>
        </p:txBody>
      </p:sp>
      <p:sp>
        <p:nvSpPr>
          <p:cNvPr id="27" name="TextBox 2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8" name="TextBox 2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MILESTONES AND PROGRESS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simple plan that shows how far you have come.</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6400800" cy="3977639"/>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640080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 · My plan</a:t>
            </a:r>
          </a:p>
        </p:txBody>
      </p:sp>
      <p:sp>
        <p:nvSpPr>
          <p:cNvPr id="11" name="TextBox 10"/>
          <p:cNvSpPr txBox="1"/>
          <p:nvPr/>
        </p:nvSpPr>
        <p:spPr>
          <a:xfrm>
            <a:off x="594360" y="6016752"/>
            <a:ext cx="640080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12" name="TextBox 11"/>
          <p:cNvSpPr txBox="1"/>
          <p:nvPr/>
        </p:nvSpPr>
        <p:spPr>
          <a:xfrm>
            <a:off x="868680" y="2423160"/>
            <a:ext cx="457200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90-day plan template · Validate stage</a:t>
            </a:r>
          </a:p>
        </p:txBody>
      </p:sp>
      <p:sp>
        <p:nvSpPr>
          <p:cNvPr id="13" name="Oval 12"/>
          <p:cNvSpPr/>
          <p:nvPr/>
        </p:nvSpPr>
        <p:spPr>
          <a:xfrm>
            <a:off x="914400" y="2907791"/>
            <a:ext cx="237744" cy="237744"/>
          </a:xfrm>
          <a:prstGeom prst="ellipse">
            <a:avLst/>
          </a:prstGeom>
          <a:solidFill>
            <a:srgbClr val="1765D1"/>
          </a:solidFill>
          <a:ln w="15875">
            <a:solidFill>
              <a:srgbClr val="1765D1"/>
            </a:solidFill>
          </a:ln>
          <a:effectLst/>
        </p:spPr>
        <p:txBody>
          <a:bodyPr rtlCol="0" anchor="ctr" lIns="73152" rIns="73152" tIns="36576" bIns="36576"/>
          <a:lstStyle/>
          <a:p>
            <a:pPr algn="ctr"/>
          </a:p>
        </p:txBody>
      </p:sp>
      <p:sp>
        <p:nvSpPr>
          <p:cNvPr id="14" name="TextBox 13"/>
          <p:cNvSpPr txBox="1"/>
          <p:nvPr/>
        </p:nvSpPr>
        <p:spPr>
          <a:xfrm>
            <a:off x="1325880" y="2898647"/>
            <a:ext cx="3840480" cy="274320"/>
          </a:xfrm>
          <a:prstGeom prst="rect">
            <a:avLst/>
          </a:prstGeom>
          <a:noFill/>
        </p:spPr>
        <p:txBody>
          <a:bodyPr wrap="square" lIns="0" rIns="0" tIns="0" bIns="0" anchor="t"/>
          <a:lstStyle/>
          <a:p>
            <a:pPr algn="l">
              <a:lnSpc>
                <a:spcPct val="115000"/>
              </a:lnSpc>
              <a:spcAft>
                <a:spcPts val="0"/>
              </a:spcAft>
            </a:pPr>
            <a:r>
              <a:rPr sz="1150" b="0" i="0">
                <a:solidFill>
                  <a:srgbClr val="10213B"/>
                </a:solidFill>
                <a:latin typeface="Inter"/>
              </a:rPr>
              <a:t>Problem statement written</a:t>
            </a:r>
          </a:p>
        </p:txBody>
      </p:sp>
      <p:sp>
        <p:nvSpPr>
          <p:cNvPr id="15" name="TextBox 14"/>
          <p:cNvSpPr txBox="1"/>
          <p:nvPr/>
        </p:nvSpPr>
        <p:spPr>
          <a:xfrm>
            <a:off x="5532120" y="2907791"/>
            <a:ext cx="1188720" cy="274320"/>
          </a:xfrm>
          <a:prstGeom prst="rect">
            <a:avLst/>
          </a:prstGeom>
          <a:noFill/>
        </p:spPr>
        <p:txBody>
          <a:bodyPr wrap="square" lIns="0" rIns="0" tIns="0" bIns="0" anchor="t"/>
          <a:lstStyle/>
          <a:p>
            <a:pPr algn="r">
              <a:lnSpc>
                <a:spcPct val="115000"/>
              </a:lnSpc>
              <a:spcAft>
                <a:spcPts val="0"/>
              </a:spcAft>
            </a:pPr>
            <a:r>
              <a:rPr sz="950" b="1" i="0">
                <a:solidFill>
                  <a:srgbClr val="1765D1"/>
                </a:solidFill>
                <a:latin typeface="Inter"/>
              </a:rPr>
              <a:t>Done</a:t>
            </a:r>
          </a:p>
        </p:txBody>
      </p:sp>
      <p:cxnSp>
        <p:nvCxnSpPr>
          <p:cNvPr id="16" name="Connector 15"/>
          <p:cNvCxnSpPr/>
          <p:nvPr/>
        </p:nvCxnSpPr>
        <p:spPr>
          <a:xfrm>
            <a:off x="1033271" y="3163823"/>
            <a:ext cx="0" cy="310897"/>
          </a:xfrm>
          <a:prstGeom prst="line">
            <a:avLst/>
          </a:prstGeom>
          <a:ln w="15875">
            <a:solidFill>
              <a:srgbClr val="B8CFEE"/>
            </a:solidFill>
          </a:ln>
        </p:spPr>
      </p:cxnSp>
      <p:sp>
        <p:nvSpPr>
          <p:cNvPr id="17" name="Oval 16"/>
          <p:cNvSpPr/>
          <p:nvPr/>
        </p:nvSpPr>
        <p:spPr>
          <a:xfrm>
            <a:off x="914400" y="3474720"/>
            <a:ext cx="237744" cy="237744"/>
          </a:xfrm>
          <a:prstGeom prst="ellipse">
            <a:avLst/>
          </a:prstGeom>
          <a:solidFill>
            <a:srgbClr val="1765D1"/>
          </a:solidFill>
          <a:ln w="15875">
            <a:solidFill>
              <a:srgbClr val="1765D1"/>
            </a:solidFill>
          </a:ln>
          <a:effectLst/>
        </p:spPr>
        <p:txBody>
          <a:bodyPr rtlCol="0" anchor="ctr" lIns="73152" rIns="73152" tIns="36576" bIns="36576"/>
          <a:lstStyle/>
          <a:p>
            <a:pPr algn="ctr"/>
          </a:p>
        </p:txBody>
      </p:sp>
      <p:sp>
        <p:nvSpPr>
          <p:cNvPr id="18" name="TextBox 17"/>
          <p:cNvSpPr txBox="1"/>
          <p:nvPr/>
        </p:nvSpPr>
        <p:spPr>
          <a:xfrm>
            <a:off x="1325880" y="3465575"/>
            <a:ext cx="3840480" cy="274320"/>
          </a:xfrm>
          <a:prstGeom prst="rect">
            <a:avLst/>
          </a:prstGeom>
          <a:noFill/>
        </p:spPr>
        <p:txBody>
          <a:bodyPr wrap="square" lIns="0" rIns="0" tIns="0" bIns="0" anchor="t"/>
          <a:lstStyle/>
          <a:p>
            <a:pPr algn="l">
              <a:lnSpc>
                <a:spcPct val="115000"/>
              </a:lnSpc>
              <a:spcAft>
                <a:spcPts val="0"/>
              </a:spcAft>
            </a:pPr>
            <a:r>
              <a:rPr sz="1150" b="0" i="0">
                <a:solidFill>
                  <a:srgbClr val="10213B"/>
                </a:solidFill>
                <a:latin typeface="Inter"/>
              </a:rPr>
              <a:t>Interview guide prepared</a:t>
            </a:r>
          </a:p>
        </p:txBody>
      </p:sp>
      <p:sp>
        <p:nvSpPr>
          <p:cNvPr id="19" name="TextBox 18"/>
          <p:cNvSpPr txBox="1"/>
          <p:nvPr/>
        </p:nvSpPr>
        <p:spPr>
          <a:xfrm>
            <a:off x="5532120" y="3474720"/>
            <a:ext cx="1188720" cy="274320"/>
          </a:xfrm>
          <a:prstGeom prst="rect">
            <a:avLst/>
          </a:prstGeom>
          <a:noFill/>
        </p:spPr>
        <p:txBody>
          <a:bodyPr wrap="square" lIns="0" rIns="0" tIns="0" bIns="0" anchor="t"/>
          <a:lstStyle/>
          <a:p>
            <a:pPr algn="r">
              <a:lnSpc>
                <a:spcPct val="115000"/>
              </a:lnSpc>
              <a:spcAft>
                <a:spcPts val="0"/>
              </a:spcAft>
            </a:pPr>
            <a:r>
              <a:rPr sz="950" b="1" i="0">
                <a:solidFill>
                  <a:srgbClr val="1765D1"/>
                </a:solidFill>
                <a:latin typeface="Inter"/>
              </a:rPr>
              <a:t>Done</a:t>
            </a:r>
          </a:p>
        </p:txBody>
      </p:sp>
      <p:cxnSp>
        <p:nvCxnSpPr>
          <p:cNvPr id="20" name="Connector 19"/>
          <p:cNvCxnSpPr/>
          <p:nvPr/>
        </p:nvCxnSpPr>
        <p:spPr>
          <a:xfrm>
            <a:off x="1033271" y="3730752"/>
            <a:ext cx="0" cy="310896"/>
          </a:xfrm>
          <a:prstGeom prst="line">
            <a:avLst/>
          </a:prstGeom>
          <a:ln w="15875">
            <a:solidFill>
              <a:srgbClr val="B8CFEE"/>
            </a:solidFill>
          </a:ln>
        </p:spPr>
      </p:cxnSp>
      <p:sp>
        <p:nvSpPr>
          <p:cNvPr id="21" name="Oval 20"/>
          <p:cNvSpPr/>
          <p:nvPr/>
        </p:nvSpPr>
        <p:spPr>
          <a:xfrm>
            <a:off x="914400" y="4041648"/>
            <a:ext cx="237744" cy="237744"/>
          </a:xfrm>
          <a:prstGeom prst="ellipse">
            <a:avLst/>
          </a:prstGeom>
          <a:solidFill>
            <a:srgbClr val="FFFFFF"/>
          </a:solidFill>
          <a:ln w="15875">
            <a:solidFill>
              <a:srgbClr val="1765D1"/>
            </a:solidFill>
          </a:ln>
          <a:effectLst/>
        </p:spPr>
        <p:txBody>
          <a:bodyPr rtlCol="0" anchor="ctr" lIns="73152" rIns="73152" tIns="36576" bIns="36576"/>
          <a:lstStyle/>
          <a:p>
            <a:pPr algn="ctr"/>
          </a:p>
        </p:txBody>
      </p:sp>
      <p:sp>
        <p:nvSpPr>
          <p:cNvPr id="22" name="Oval 21"/>
          <p:cNvSpPr/>
          <p:nvPr/>
        </p:nvSpPr>
        <p:spPr>
          <a:xfrm>
            <a:off x="978408" y="4105656"/>
            <a:ext cx="109728" cy="109728"/>
          </a:xfrm>
          <a:prstGeom prst="ellipse">
            <a:avLst/>
          </a:prstGeom>
          <a:solidFill>
            <a:srgbClr val="1765D1"/>
          </a:solidFill>
          <a:ln>
            <a:noFill/>
          </a:ln>
          <a:effectLst/>
        </p:spPr>
        <p:txBody>
          <a:bodyPr rtlCol="0" anchor="ctr" lIns="73152" rIns="73152" tIns="36576" bIns="36576"/>
          <a:lstStyle/>
          <a:p>
            <a:pPr algn="ctr"/>
          </a:p>
        </p:txBody>
      </p:sp>
      <p:sp>
        <p:nvSpPr>
          <p:cNvPr id="23" name="TextBox 22"/>
          <p:cNvSpPr txBox="1"/>
          <p:nvPr/>
        </p:nvSpPr>
        <p:spPr>
          <a:xfrm>
            <a:off x="1325880" y="4032504"/>
            <a:ext cx="3840480" cy="27432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Customer conversations</a:t>
            </a:r>
          </a:p>
        </p:txBody>
      </p:sp>
      <p:sp>
        <p:nvSpPr>
          <p:cNvPr id="24" name="TextBox 23"/>
          <p:cNvSpPr txBox="1"/>
          <p:nvPr/>
        </p:nvSpPr>
        <p:spPr>
          <a:xfrm>
            <a:off x="5532120" y="4041648"/>
            <a:ext cx="1188720" cy="274320"/>
          </a:xfrm>
          <a:prstGeom prst="rect">
            <a:avLst/>
          </a:prstGeom>
          <a:noFill/>
        </p:spPr>
        <p:txBody>
          <a:bodyPr wrap="square" lIns="0" rIns="0" tIns="0" bIns="0" anchor="t"/>
          <a:lstStyle/>
          <a:p>
            <a:pPr algn="r">
              <a:lnSpc>
                <a:spcPct val="115000"/>
              </a:lnSpc>
              <a:spcAft>
                <a:spcPts val="0"/>
              </a:spcAft>
            </a:pPr>
            <a:r>
              <a:rPr sz="950" b="1" i="0">
                <a:solidFill>
                  <a:srgbClr val="1765D1"/>
                </a:solidFill>
                <a:latin typeface="Inter"/>
              </a:rPr>
              <a:t>In progress</a:t>
            </a:r>
          </a:p>
        </p:txBody>
      </p:sp>
      <p:cxnSp>
        <p:nvCxnSpPr>
          <p:cNvPr id="25" name="Connector 24"/>
          <p:cNvCxnSpPr/>
          <p:nvPr/>
        </p:nvCxnSpPr>
        <p:spPr>
          <a:xfrm>
            <a:off x="1033271" y="4297680"/>
            <a:ext cx="0" cy="310896"/>
          </a:xfrm>
          <a:prstGeom prst="line">
            <a:avLst/>
          </a:prstGeom>
          <a:ln w="15875">
            <a:solidFill>
              <a:srgbClr val="B8CFEE"/>
            </a:solidFill>
          </a:ln>
        </p:spPr>
      </p:cxnSp>
      <p:sp>
        <p:nvSpPr>
          <p:cNvPr id="26" name="Oval 25"/>
          <p:cNvSpPr/>
          <p:nvPr/>
        </p:nvSpPr>
        <p:spPr>
          <a:xfrm>
            <a:off x="914400" y="4608575"/>
            <a:ext cx="237744" cy="237744"/>
          </a:xfrm>
          <a:prstGeom prst="ellipse">
            <a:avLst/>
          </a:prstGeom>
          <a:solidFill>
            <a:srgbClr val="FFFFFF"/>
          </a:solidFill>
          <a:ln w="15875">
            <a:solidFill>
              <a:srgbClr val="1765D1"/>
            </a:solidFill>
          </a:ln>
          <a:effectLst/>
        </p:spPr>
        <p:txBody>
          <a:bodyPr rtlCol="0" anchor="ctr" lIns="73152" rIns="73152" tIns="36576" bIns="36576"/>
          <a:lstStyle/>
          <a:p>
            <a:pPr algn="ctr"/>
          </a:p>
        </p:txBody>
      </p:sp>
      <p:sp>
        <p:nvSpPr>
          <p:cNvPr id="27" name="TextBox 26"/>
          <p:cNvSpPr txBox="1"/>
          <p:nvPr/>
        </p:nvSpPr>
        <p:spPr>
          <a:xfrm>
            <a:off x="1325880" y="4599431"/>
            <a:ext cx="3840480" cy="274320"/>
          </a:xfrm>
          <a:prstGeom prst="rect">
            <a:avLst/>
          </a:prstGeom>
          <a:noFill/>
        </p:spPr>
        <p:txBody>
          <a:bodyPr wrap="square" lIns="0" rIns="0" tIns="0" bIns="0" anchor="t"/>
          <a:lstStyle/>
          <a:p>
            <a:pPr algn="l">
              <a:lnSpc>
                <a:spcPct val="115000"/>
              </a:lnSpc>
              <a:spcAft>
                <a:spcPts val="0"/>
              </a:spcAft>
            </a:pPr>
            <a:r>
              <a:rPr sz="1150" b="0" i="0">
                <a:solidFill>
                  <a:srgbClr val="10213B"/>
                </a:solidFill>
                <a:latin typeface="Inter"/>
              </a:rPr>
              <a:t>Price test with pre-orders</a:t>
            </a:r>
          </a:p>
        </p:txBody>
      </p:sp>
      <p:sp>
        <p:nvSpPr>
          <p:cNvPr id="28" name="TextBox 27"/>
          <p:cNvSpPr txBox="1"/>
          <p:nvPr/>
        </p:nvSpPr>
        <p:spPr>
          <a:xfrm>
            <a:off x="5532120" y="4608575"/>
            <a:ext cx="1188720" cy="274320"/>
          </a:xfrm>
          <a:prstGeom prst="rect">
            <a:avLst/>
          </a:prstGeom>
          <a:noFill/>
        </p:spPr>
        <p:txBody>
          <a:bodyPr wrap="square" lIns="0" rIns="0" tIns="0" bIns="0" anchor="t"/>
          <a:lstStyle/>
          <a:p>
            <a:pPr algn="r">
              <a:lnSpc>
                <a:spcPct val="115000"/>
              </a:lnSpc>
              <a:spcAft>
                <a:spcPts val="0"/>
              </a:spcAft>
            </a:pPr>
            <a:r>
              <a:rPr sz="950" b="1" i="0">
                <a:solidFill>
                  <a:srgbClr val="61738A"/>
                </a:solidFill>
                <a:latin typeface="Inter"/>
              </a:rPr>
              <a:t>Next</a:t>
            </a:r>
          </a:p>
        </p:txBody>
      </p:sp>
      <p:cxnSp>
        <p:nvCxnSpPr>
          <p:cNvPr id="29" name="Connector 28"/>
          <p:cNvCxnSpPr/>
          <p:nvPr/>
        </p:nvCxnSpPr>
        <p:spPr>
          <a:xfrm>
            <a:off x="1033271" y="4864607"/>
            <a:ext cx="0" cy="310896"/>
          </a:xfrm>
          <a:prstGeom prst="line">
            <a:avLst/>
          </a:prstGeom>
          <a:ln w="15875">
            <a:solidFill>
              <a:srgbClr val="B8CFEE"/>
            </a:solidFill>
          </a:ln>
        </p:spPr>
      </p:cxnSp>
      <p:sp>
        <p:nvSpPr>
          <p:cNvPr id="30" name="Oval 29"/>
          <p:cNvSpPr/>
          <p:nvPr/>
        </p:nvSpPr>
        <p:spPr>
          <a:xfrm>
            <a:off x="914400" y="5175504"/>
            <a:ext cx="237744" cy="237744"/>
          </a:xfrm>
          <a:prstGeom prst="ellipse">
            <a:avLst/>
          </a:prstGeom>
          <a:solidFill>
            <a:srgbClr val="FFFFFF"/>
          </a:solidFill>
          <a:ln w="15875">
            <a:solidFill>
              <a:srgbClr val="1765D1"/>
            </a:solidFill>
          </a:ln>
          <a:effectLst/>
        </p:spPr>
        <p:txBody>
          <a:bodyPr rtlCol="0" anchor="ctr" lIns="73152" rIns="73152" tIns="36576" bIns="36576"/>
          <a:lstStyle/>
          <a:p>
            <a:pPr algn="ctr"/>
          </a:p>
        </p:txBody>
      </p:sp>
      <p:sp>
        <p:nvSpPr>
          <p:cNvPr id="31" name="TextBox 30"/>
          <p:cNvSpPr txBox="1"/>
          <p:nvPr/>
        </p:nvSpPr>
        <p:spPr>
          <a:xfrm>
            <a:off x="1325880" y="5166360"/>
            <a:ext cx="3840480" cy="274320"/>
          </a:xfrm>
          <a:prstGeom prst="rect">
            <a:avLst/>
          </a:prstGeom>
          <a:noFill/>
        </p:spPr>
        <p:txBody>
          <a:bodyPr wrap="square" lIns="0" rIns="0" tIns="0" bIns="0" anchor="t"/>
          <a:lstStyle/>
          <a:p>
            <a:pPr algn="l">
              <a:lnSpc>
                <a:spcPct val="115000"/>
              </a:lnSpc>
              <a:spcAft>
                <a:spcPts val="0"/>
              </a:spcAft>
            </a:pPr>
            <a:r>
              <a:rPr sz="1150" b="0" i="0">
                <a:solidFill>
                  <a:srgbClr val="10213B"/>
                </a:solidFill>
                <a:latin typeface="Inter"/>
              </a:rPr>
              <a:t>Decision: continue, change or stop</a:t>
            </a:r>
          </a:p>
        </p:txBody>
      </p:sp>
      <p:sp>
        <p:nvSpPr>
          <p:cNvPr id="32" name="TextBox 31"/>
          <p:cNvSpPr txBox="1"/>
          <p:nvPr/>
        </p:nvSpPr>
        <p:spPr>
          <a:xfrm>
            <a:off x="5532120" y="5175504"/>
            <a:ext cx="1188720" cy="274320"/>
          </a:xfrm>
          <a:prstGeom prst="rect">
            <a:avLst/>
          </a:prstGeom>
          <a:noFill/>
        </p:spPr>
        <p:txBody>
          <a:bodyPr wrap="square" lIns="0" rIns="0" tIns="0" bIns="0" anchor="t"/>
          <a:lstStyle/>
          <a:p>
            <a:pPr algn="r">
              <a:lnSpc>
                <a:spcPct val="115000"/>
              </a:lnSpc>
              <a:spcAft>
                <a:spcPts val="0"/>
              </a:spcAft>
            </a:pPr>
            <a:r>
              <a:rPr sz="950" b="1" i="0">
                <a:solidFill>
                  <a:srgbClr val="61738A"/>
                </a:solidFill>
                <a:latin typeface="Inter"/>
              </a:rPr>
              <a:t>Next</a:t>
            </a:r>
          </a:p>
        </p:txBody>
      </p:sp>
      <p:sp>
        <p:nvSpPr>
          <p:cNvPr id="33" name="TextBox 32"/>
          <p:cNvSpPr txBox="1"/>
          <p:nvPr/>
        </p:nvSpPr>
        <p:spPr>
          <a:xfrm>
            <a:off x="7406640" y="1965960"/>
            <a:ext cx="420624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WHY IT MATTERS</a:t>
            </a:r>
          </a:p>
        </p:txBody>
      </p:sp>
      <p:cxnSp>
        <p:nvCxnSpPr>
          <p:cNvPr id="34" name="Connector 33"/>
          <p:cNvCxnSpPr/>
          <p:nvPr/>
        </p:nvCxnSpPr>
        <p:spPr>
          <a:xfrm>
            <a:off x="7406640" y="2331720"/>
            <a:ext cx="4190695" cy="0"/>
          </a:xfrm>
          <a:prstGeom prst="line">
            <a:avLst/>
          </a:prstGeom>
          <a:ln w="12700">
            <a:solidFill>
              <a:srgbClr val="D5E2F3"/>
            </a:solidFill>
          </a:ln>
        </p:spPr>
      </p:cxnSp>
      <p:sp>
        <p:nvSpPr>
          <p:cNvPr id="35" name="TextBox 34"/>
          <p:cNvSpPr txBox="1"/>
          <p:nvPr/>
        </p:nvSpPr>
        <p:spPr>
          <a:xfrm>
            <a:off x="7406640" y="2450591"/>
            <a:ext cx="4206240" cy="27432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For founders</a:t>
            </a:r>
          </a:p>
        </p:txBody>
      </p:sp>
      <p:sp>
        <p:nvSpPr>
          <p:cNvPr id="36" name="TextBox 35"/>
          <p:cNvSpPr txBox="1"/>
          <p:nvPr/>
        </p:nvSpPr>
        <p:spPr>
          <a:xfrm>
            <a:off x="7406640" y="2743200"/>
            <a:ext cx="4206240" cy="36576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Momentum and a record of decisions made.</a:t>
            </a:r>
          </a:p>
        </p:txBody>
      </p:sp>
      <p:cxnSp>
        <p:nvCxnSpPr>
          <p:cNvPr id="37" name="Connector 36"/>
          <p:cNvCxnSpPr/>
          <p:nvPr/>
        </p:nvCxnSpPr>
        <p:spPr>
          <a:xfrm>
            <a:off x="7406640" y="3108960"/>
            <a:ext cx="4190695" cy="0"/>
          </a:xfrm>
          <a:prstGeom prst="line">
            <a:avLst/>
          </a:prstGeom>
          <a:ln w="12700">
            <a:solidFill>
              <a:srgbClr val="D5E2F3"/>
            </a:solidFill>
          </a:ln>
        </p:spPr>
      </p:cxnSp>
      <p:sp>
        <p:nvSpPr>
          <p:cNvPr id="38" name="TextBox 37"/>
          <p:cNvSpPr txBox="1"/>
          <p:nvPr/>
        </p:nvSpPr>
        <p:spPr>
          <a:xfrm>
            <a:off x="7406640" y="3227832"/>
            <a:ext cx="4206240" cy="27432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For mentors</a:t>
            </a:r>
          </a:p>
        </p:txBody>
      </p:sp>
      <p:sp>
        <p:nvSpPr>
          <p:cNvPr id="39" name="TextBox 38"/>
          <p:cNvSpPr txBox="1"/>
          <p:nvPr/>
        </p:nvSpPr>
        <p:spPr>
          <a:xfrm>
            <a:off x="7406640" y="3520440"/>
            <a:ext cx="4206240" cy="36576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Context before each conversation.</a:t>
            </a:r>
          </a:p>
        </p:txBody>
      </p:sp>
      <p:cxnSp>
        <p:nvCxnSpPr>
          <p:cNvPr id="40" name="Connector 39"/>
          <p:cNvCxnSpPr/>
          <p:nvPr/>
        </p:nvCxnSpPr>
        <p:spPr>
          <a:xfrm>
            <a:off x="7406640" y="3886200"/>
            <a:ext cx="4190695" cy="0"/>
          </a:xfrm>
          <a:prstGeom prst="line">
            <a:avLst/>
          </a:prstGeom>
          <a:ln w="12700">
            <a:solidFill>
              <a:srgbClr val="D5E2F3"/>
            </a:solidFill>
          </a:ln>
        </p:spPr>
      </p:cxnSp>
      <p:sp>
        <p:nvSpPr>
          <p:cNvPr id="41" name="TextBox 40"/>
          <p:cNvSpPr txBox="1"/>
          <p:nvPr/>
        </p:nvSpPr>
        <p:spPr>
          <a:xfrm>
            <a:off x="7406640" y="4005072"/>
            <a:ext cx="4206240" cy="27432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For readiness</a:t>
            </a:r>
          </a:p>
        </p:txBody>
      </p:sp>
      <p:sp>
        <p:nvSpPr>
          <p:cNvPr id="42" name="TextBox 41"/>
          <p:cNvSpPr txBox="1"/>
          <p:nvPr/>
        </p:nvSpPr>
        <p:spPr>
          <a:xfrm>
            <a:off x="7406640" y="4297680"/>
            <a:ext cx="4206240" cy="36576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Evidence to share — only with consent.</a:t>
            </a:r>
          </a:p>
        </p:txBody>
      </p:sp>
      <p:cxnSp>
        <p:nvCxnSpPr>
          <p:cNvPr id="43" name="Connector 42"/>
          <p:cNvCxnSpPr/>
          <p:nvPr/>
        </p:nvCxnSpPr>
        <p:spPr>
          <a:xfrm>
            <a:off x="7406640" y="4663440"/>
            <a:ext cx="4190695" cy="0"/>
          </a:xfrm>
          <a:prstGeom prst="line">
            <a:avLst/>
          </a:prstGeom>
          <a:ln w="12700">
            <a:solidFill>
              <a:srgbClr val="D5E2F3"/>
            </a:solidFill>
          </a:ln>
        </p:spPr>
      </p:cxnSp>
      <p:sp>
        <p:nvSpPr>
          <p:cNvPr id="44" name="TextBox 43"/>
          <p:cNvSpPr txBox="1"/>
          <p:nvPr/>
        </p:nvSpPr>
        <p:spPr>
          <a:xfrm>
            <a:off x="7406640" y="4782312"/>
            <a:ext cx="4206240" cy="27432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For Startup Roof</a:t>
            </a:r>
          </a:p>
        </p:txBody>
      </p:sp>
      <p:sp>
        <p:nvSpPr>
          <p:cNvPr id="45" name="TextBox 44"/>
          <p:cNvSpPr txBox="1"/>
          <p:nvPr/>
        </p:nvSpPr>
        <p:spPr>
          <a:xfrm>
            <a:off x="7406640" y="5074920"/>
            <a:ext cx="4206240" cy="36576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Measures whether support is useful.</a:t>
            </a:r>
          </a:p>
        </p:txBody>
      </p:sp>
      <p:sp>
        <p:nvSpPr>
          <p:cNvPr id="46" name="TextBox 4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7" name="TextBox 4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PLANNED BUILDING BLOCKS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simple, modular platform — built step by step.</a:t>
            </a:r>
          </a:p>
        </p:txBody>
      </p:sp>
      <p:sp>
        <p:nvSpPr>
          <p:cNvPr id="4" name="Rounded Rectangle 3"/>
          <p:cNvSpPr/>
          <p:nvPr/>
        </p:nvSpPr>
        <p:spPr>
          <a:xfrm>
            <a:off x="9710013" y="402336"/>
            <a:ext cx="18873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ARCHITECTURE</a:t>
            </a:r>
          </a:p>
        </p:txBody>
      </p:sp>
      <p:sp>
        <p:nvSpPr>
          <p:cNvPr id="5" name="Rectangle 4"/>
          <p:cNvSpPr/>
          <p:nvPr/>
        </p:nvSpPr>
        <p:spPr>
          <a:xfrm>
            <a:off x="594360" y="1965960"/>
            <a:ext cx="2377440" cy="694944"/>
          </a:xfrm>
          <a:prstGeom prst="rect">
            <a:avLst/>
          </a:prstGeom>
          <a:solidFill>
            <a:srgbClr val="10213B"/>
          </a:solidFill>
          <a:ln>
            <a:noFill/>
          </a:ln>
          <a:effectLst/>
        </p:spPr>
        <p:txBody>
          <a:bodyPr rtlCol="0" anchor="ctr" lIns="73152" rIns="73152" tIns="36576" bIns="36576"/>
          <a:lstStyle/>
          <a:p>
            <a:pPr algn="ctr"/>
          </a:p>
        </p:txBody>
      </p:sp>
      <p:sp>
        <p:nvSpPr>
          <p:cNvPr id="6" name="TextBox 5"/>
          <p:cNvSpPr txBox="1"/>
          <p:nvPr/>
        </p:nvSpPr>
        <p:spPr>
          <a:xfrm>
            <a:off x="777240" y="1965960"/>
            <a:ext cx="2103120" cy="694944"/>
          </a:xfrm>
          <a:prstGeom prst="rect">
            <a:avLst/>
          </a:prstGeom>
          <a:noFill/>
        </p:spPr>
        <p:txBody>
          <a:bodyPr wrap="square" lIns="0" rIns="0" tIns="0" bIns="0" anchor="ctr"/>
          <a:lstStyle/>
          <a:p>
            <a:pPr algn="l">
              <a:lnSpc>
                <a:spcPct val="115000"/>
              </a:lnSpc>
              <a:spcAft>
                <a:spcPts val="0"/>
              </a:spcAft>
            </a:pPr>
            <a:r>
              <a:rPr sz="1100" b="1" i="0" spc="120">
                <a:solidFill>
                  <a:srgbClr val="FFFFFF"/>
                </a:solidFill>
                <a:latin typeface="Inter"/>
              </a:rPr>
              <a:t>EXPERIENCE</a:t>
            </a:r>
          </a:p>
        </p:txBody>
      </p:sp>
      <p:sp>
        <p:nvSpPr>
          <p:cNvPr id="7" name="Rectangle 6"/>
          <p:cNvSpPr/>
          <p:nvPr/>
        </p:nvSpPr>
        <p:spPr>
          <a:xfrm>
            <a:off x="3063240" y="1965960"/>
            <a:ext cx="8534095" cy="694944"/>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8" name="TextBox 7"/>
          <p:cNvSpPr txBox="1"/>
          <p:nvPr/>
        </p:nvSpPr>
        <p:spPr>
          <a:xfrm>
            <a:off x="3291840" y="1965960"/>
            <a:ext cx="8076895" cy="694944"/>
          </a:xfrm>
          <a:prstGeom prst="rect">
            <a:avLst/>
          </a:prstGeom>
          <a:noFill/>
        </p:spPr>
        <p:txBody>
          <a:bodyPr wrap="square" lIns="0" rIns="0" tIns="0" bIns="0" anchor="ctr"/>
          <a:lstStyle/>
          <a:p>
            <a:pPr algn="l">
              <a:lnSpc>
                <a:spcPct val="115000"/>
              </a:lnSpc>
              <a:spcAft>
                <a:spcPts val="0"/>
              </a:spcAft>
            </a:pPr>
            <a:r>
              <a:rPr sz="1250" b="0" i="0">
                <a:solidFill>
                  <a:srgbClr val="253650"/>
                </a:solidFill>
                <a:latin typeface="Inter"/>
              </a:rPr>
              <a:t>Web and mobile-friendly workspace · dashboard · notifications · community spaces</a:t>
            </a:r>
          </a:p>
        </p:txBody>
      </p:sp>
      <p:sp>
        <p:nvSpPr>
          <p:cNvPr id="9" name="Rectangle 8"/>
          <p:cNvSpPr/>
          <p:nvPr/>
        </p:nvSpPr>
        <p:spPr>
          <a:xfrm>
            <a:off x="594360" y="2752344"/>
            <a:ext cx="2377440" cy="694944"/>
          </a:xfrm>
          <a:prstGeom prst="rect">
            <a:avLst/>
          </a:prstGeom>
          <a:solidFill>
            <a:srgbClr val="17407F"/>
          </a:solidFill>
          <a:ln>
            <a:noFill/>
          </a:ln>
          <a:effectLst/>
        </p:spPr>
        <p:txBody>
          <a:bodyPr rtlCol="0" anchor="ctr" lIns="73152" rIns="73152" tIns="36576" bIns="36576"/>
          <a:lstStyle/>
          <a:p>
            <a:pPr algn="ctr"/>
          </a:p>
        </p:txBody>
      </p:sp>
      <p:sp>
        <p:nvSpPr>
          <p:cNvPr id="10" name="TextBox 9"/>
          <p:cNvSpPr txBox="1"/>
          <p:nvPr/>
        </p:nvSpPr>
        <p:spPr>
          <a:xfrm>
            <a:off x="777240" y="2752344"/>
            <a:ext cx="2103120" cy="694944"/>
          </a:xfrm>
          <a:prstGeom prst="rect">
            <a:avLst/>
          </a:prstGeom>
          <a:noFill/>
        </p:spPr>
        <p:txBody>
          <a:bodyPr wrap="square" lIns="0" rIns="0" tIns="0" bIns="0" anchor="ctr"/>
          <a:lstStyle/>
          <a:p>
            <a:pPr algn="l">
              <a:lnSpc>
                <a:spcPct val="115000"/>
              </a:lnSpc>
              <a:spcAft>
                <a:spcPts val="0"/>
              </a:spcAft>
            </a:pPr>
            <a:r>
              <a:rPr sz="1100" b="1" i="0" spc="120">
                <a:solidFill>
                  <a:srgbClr val="FFFFFF"/>
                </a:solidFill>
                <a:latin typeface="Inter"/>
              </a:rPr>
              <a:t>FOUNDER MODULES</a:t>
            </a:r>
          </a:p>
        </p:txBody>
      </p:sp>
      <p:sp>
        <p:nvSpPr>
          <p:cNvPr id="11" name="Rectangle 10"/>
          <p:cNvSpPr/>
          <p:nvPr/>
        </p:nvSpPr>
        <p:spPr>
          <a:xfrm>
            <a:off x="3063240" y="2752344"/>
            <a:ext cx="8534095" cy="694944"/>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12" name="TextBox 11"/>
          <p:cNvSpPr txBox="1"/>
          <p:nvPr/>
        </p:nvSpPr>
        <p:spPr>
          <a:xfrm>
            <a:off x="3291840" y="2752344"/>
            <a:ext cx="8076895" cy="694944"/>
          </a:xfrm>
          <a:prstGeom prst="rect">
            <a:avLst/>
          </a:prstGeom>
          <a:noFill/>
        </p:spPr>
        <p:txBody>
          <a:bodyPr wrap="square" lIns="0" rIns="0" tIns="0" bIns="0" anchor="ctr"/>
          <a:lstStyle/>
          <a:p>
            <a:pPr algn="l">
              <a:lnSpc>
                <a:spcPct val="115000"/>
              </a:lnSpc>
              <a:spcAft>
                <a:spcPts val="0"/>
              </a:spcAft>
            </a:pPr>
            <a:r>
              <a:rPr sz="1250" b="0" i="0">
                <a:solidFill>
                  <a:srgbClr val="253650"/>
                </a:solidFill>
                <a:latin typeface="Inter"/>
              </a:rPr>
              <a:t>Profile · next steps · resources · learning · people · opportunities · services · progress</a:t>
            </a:r>
          </a:p>
        </p:txBody>
      </p:sp>
      <p:sp>
        <p:nvSpPr>
          <p:cNvPr id="13" name="Rectangle 12"/>
          <p:cNvSpPr/>
          <p:nvPr/>
        </p:nvSpPr>
        <p:spPr>
          <a:xfrm>
            <a:off x="594360" y="3538728"/>
            <a:ext cx="2377440" cy="694944"/>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777240" y="3538728"/>
            <a:ext cx="2103120" cy="694944"/>
          </a:xfrm>
          <a:prstGeom prst="rect">
            <a:avLst/>
          </a:prstGeom>
          <a:noFill/>
        </p:spPr>
        <p:txBody>
          <a:bodyPr wrap="square" lIns="0" rIns="0" tIns="0" bIns="0" anchor="ctr"/>
          <a:lstStyle/>
          <a:p>
            <a:pPr algn="l">
              <a:lnSpc>
                <a:spcPct val="115000"/>
              </a:lnSpc>
              <a:spcAft>
                <a:spcPts val="0"/>
              </a:spcAft>
            </a:pPr>
            <a:r>
              <a:rPr sz="1100" b="1" i="0" spc="120">
                <a:solidFill>
                  <a:srgbClr val="FFFFFF"/>
                </a:solidFill>
                <a:latin typeface="Inter"/>
              </a:rPr>
              <a:t>GUIDANCE LAYER</a:t>
            </a:r>
          </a:p>
        </p:txBody>
      </p:sp>
      <p:sp>
        <p:nvSpPr>
          <p:cNvPr id="15" name="Rectangle 14"/>
          <p:cNvSpPr/>
          <p:nvPr/>
        </p:nvSpPr>
        <p:spPr>
          <a:xfrm>
            <a:off x="3063240" y="3538728"/>
            <a:ext cx="8534095" cy="694944"/>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16" name="TextBox 15"/>
          <p:cNvSpPr txBox="1"/>
          <p:nvPr/>
        </p:nvSpPr>
        <p:spPr>
          <a:xfrm>
            <a:off x="3291840" y="3538728"/>
            <a:ext cx="8076895" cy="694944"/>
          </a:xfrm>
          <a:prstGeom prst="rect">
            <a:avLst/>
          </a:prstGeom>
          <a:noFill/>
        </p:spPr>
        <p:txBody>
          <a:bodyPr wrap="square" lIns="0" rIns="0" tIns="0" bIns="0" anchor="ctr"/>
          <a:lstStyle/>
          <a:p>
            <a:pPr algn="l">
              <a:lnSpc>
                <a:spcPct val="115000"/>
              </a:lnSpc>
              <a:spcAft>
                <a:spcPts val="0"/>
              </a:spcAft>
            </a:pPr>
            <a:r>
              <a:rPr sz="1250" b="0" i="0">
                <a:solidFill>
                  <a:srgbClr val="253650"/>
                </a:solidFill>
                <a:latin typeface="Inter"/>
              </a:rPr>
              <a:t>Stage playbooks · mentor rules · AI-assisted drafting and suggestions · human escalation</a:t>
            </a:r>
          </a:p>
        </p:txBody>
      </p:sp>
      <p:sp>
        <p:nvSpPr>
          <p:cNvPr id="17" name="Rectangle 16"/>
          <p:cNvSpPr/>
          <p:nvPr/>
        </p:nvSpPr>
        <p:spPr>
          <a:xfrm>
            <a:off x="594360" y="4325112"/>
            <a:ext cx="2377440" cy="694944"/>
          </a:xfrm>
          <a:prstGeom prst="rect">
            <a:avLst/>
          </a:prstGeom>
          <a:solidFill>
            <a:srgbClr val="DCE8FB"/>
          </a:solidFill>
          <a:ln>
            <a:noFill/>
          </a:ln>
          <a:effectLst/>
        </p:spPr>
        <p:txBody>
          <a:bodyPr rtlCol="0" anchor="ctr" lIns="73152" rIns="73152" tIns="36576" bIns="36576"/>
          <a:lstStyle/>
          <a:p>
            <a:pPr algn="ctr"/>
          </a:p>
        </p:txBody>
      </p:sp>
      <p:sp>
        <p:nvSpPr>
          <p:cNvPr id="18" name="TextBox 17"/>
          <p:cNvSpPr txBox="1"/>
          <p:nvPr/>
        </p:nvSpPr>
        <p:spPr>
          <a:xfrm>
            <a:off x="777240" y="4325112"/>
            <a:ext cx="2103120" cy="694944"/>
          </a:xfrm>
          <a:prstGeom prst="rect">
            <a:avLst/>
          </a:prstGeom>
          <a:noFill/>
        </p:spPr>
        <p:txBody>
          <a:bodyPr wrap="square" lIns="0" rIns="0" tIns="0" bIns="0" anchor="ctr"/>
          <a:lstStyle/>
          <a:p>
            <a:pPr algn="l">
              <a:lnSpc>
                <a:spcPct val="115000"/>
              </a:lnSpc>
              <a:spcAft>
                <a:spcPts val="0"/>
              </a:spcAft>
            </a:pPr>
            <a:r>
              <a:rPr sz="1100" b="1" i="0" spc="120">
                <a:solidFill>
                  <a:srgbClr val="10213B"/>
                </a:solidFill>
                <a:latin typeface="Inter"/>
              </a:rPr>
              <a:t>DATA AND TRUST</a:t>
            </a:r>
          </a:p>
        </p:txBody>
      </p:sp>
      <p:sp>
        <p:nvSpPr>
          <p:cNvPr id="19" name="Rectangle 18"/>
          <p:cNvSpPr/>
          <p:nvPr/>
        </p:nvSpPr>
        <p:spPr>
          <a:xfrm>
            <a:off x="3063240" y="4325112"/>
            <a:ext cx="8534095" cy="694944"/>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0" name="TextBox 19"/>
          <p:cNvSpPr txBox="1"/>
          <p:nvPr/>
        </p:nvSpPr>
        <p:spPr>
          <a:xfrm>
            <a:off x="3291840" y="4325112"/>
            <a:ext cx="8076895" cy="694944"/>
          </a:xfrm>
          <a:prstGeom prst="rect">
            <a:avLst/>
          </a:prstGeom>
          <a:noFill/>
        </p:spPr>
        <p:txBody>
          <a:bodyPr wrap="square" lIns="0" rIns="0" tIns="0" bIns="0" anchor="ctr"/>
          <a:lstStyle/>
          <a:p>
            <a:pPr algn="l">
              <a:lnSpc>
                <a:spcPct val="115000"/>
              </a:lnSpc>
              <a:spcAft>
                <a:spcPts val="0"/>
              </a:spcAft>
            </a:pPr>
            <a:r>
              <a:rPr sz="1250" b="0" i="0">
                <a:solidFill>
                  <a:srgbClr val="253650"/>
                </a:solidFill>
                <a:latin typeface="Inter"/>
              </a:rPr>
              <a:t>Consent records · visibility settings · secure storage · audit of introductions</a:t>
            </a:r>
          </a:p>
        </p:txBody>
      </p:sp>
      <p:sp>
        <p:nvSpPr>
          <p:cNvPr id="21" name="Rectangle 20"/>
          <p:cNvSpPr/>
          <p:nvPr/>
        </p:nvSpPr>
        <p:spPr>
          <a:xfrm>
            <a:off x="594360" y="5111496"/>
            <a:ext cx="2377440" cy="694944"/>
          </a:xfrm>
          <a:prstGeom prst="rect">
            <a:avLst/>
          </a:prstGeom>
          <a:solidFill>
            <a:srgbClr val="EDF4FE"/>
          </a:solidFill>
          <a:ln>
            <a:noFill/>
          </a:ln>
          <a:effectLst/>
        </p:spPr>
        <p:txBody>
          <a:bodyPr rtlCol="0" anchor="ctr" lIns="73152" rIns="73152" tIns="36576" bIns="36576"/>
          <a:lstStyle/>
          <a:p>
            <a:pPr algn="ctr"/>
          </a:p>
        </p:txBody>
      </p:sp>
      <p:sp>
        <p:nvSpPr>
          <p:cNvPr id="22" name="TextBox 21"/>
          <p:cNvSpPr txBox="1"/>
          <p:nvPr/>
        </p:nvSpPr>
        <p:spPr>
          <a:xfrm>
            <a:off x="777240" y="5111496"/>
            <a:ext cx="2103120" cy="694944"/>
          </a:xfrm>
          <a:prstGeom prst="rect">
            <a:avLst/>
          </a:prstGeom>
          <a:noFill/>
        </p:spPr>
        <p:txBody>
          <a:bodyPr wrap="square" lIns="0" rIns="0" tIns="0" bIns="0" anchor="ctr"/>
          <a:lstStyle/>
          <a:p>
            <a:pPr algn="l">
              <a:lnSpc>
                <a:spcPct val="115000"/>
              </a:lnSpc>
              <a:spcAft>
                <a:spcPts val="0"/>
              </a:spcAft>
            </a:pPr>
            <a:r>
              <a:rPr sz="1100" b="1" i="0" spc="120">
                <a:solidFill>
                  <a:srgbClr val="10213B"/>
                </a:solidFill>
                <a:latin typeface="Inter"/>
              </a:rPr>
              <a:t>INTEGRATIONS</a:t>
            </a:r>
          </a:p>
        </p:txBody>
      </p:sp>
      <p:sp>
        <p:nvSpPr>
          <p:cNvPr id="23" name="Rectangle 22"/>
          <p:cNvSpPr/>
          <p:nvPr/>
        </p:nvSpPr>
        <p:spPr>
          <a:xfrm>
            <a:off x="3063240" y="5111496"/>
            <a:ext cx="8534095" cy="694944"/>
          </a:xfrm>
          <a:prstGeom prst="rect">
            <a:avLst/>
          </a:prstGeom>
          <a:solidFill>
            <a:srgbClr val="FFFFFF"/>
          </a:solidFill>
          <a:ln w="9525">
            <a:solidFill>
              <a:srgbClr val="D5E2F3"/>
            </a:solidFill>
          </a:ln>
          <a:effectLst/>
        </p:spPr>
        <p:txBody>
          <a:bodyPr rtlCol="0" anchor="ctr" lIns="73152" rIns="73152" tIns="36576" bIns="36576"/>
          <a:lstStyle/>
          <a:p>
            <a:pPr algn="ctr"/>
          </a:p>
        </p:txBody>
      </p:sp>
      <p:sp>
        <p:nvSpPr>
          <p:cNvPr id="24" name="TextBox 23"/>
          <p:cNvSpPr txBox="1"/>
          <p:nvPr/>
        </p:nvSpPr>
        <p:spPr>
          <a:xfrm>
            <a:off x="3291840" y="5111496"/>
            <a:ext cx="8076895" cy="694944"/>
          </a:xfrm>
          <a:prstGeom prst="rect">
            <a:avLst/>
          </a:prstGeom>
          <a:noFill/>
        </p:spPr>
        <p:txBody>
          <a:bodyPr wrap="square" lIns="0" rIns="0" tIns="0" bIns="0" anchor="ctr"/>
          <a:lstStyle/>
          <a:p>
            <a:pPr algn="l">
              <a:lnSpc>
                <a:spcPct val="115000"/>
              </a:lnSpc>
              <a:spcAft>
                <a:spcPts val="0"/>
              </a:spcAft>
            </a:pPr>
            <a:r>
              <a:rPr sz="1250" b="0" i="0">
                <a:solidFill>
                  <a:srgbClr val="253650"/>
                </a:solidFill>
                <a:latin typeface="Inter"/>
              </a:rPr>
              <a:t>Calendar and video · email and messaging · payments · partner tools, where rights allow</a:t>
            </a:r>
          </a:p>
        </p:txBody>
      </p:sp>
      <p:sp>
        <p:nvSpPr>
          <p:cNvPr id="25" name="TextBox 24"/>
          <p:cNvSpPr txBox="1"/>
          <p:nvPr/>
        </p:nvSpPr>
        <p:spPr>
          <a:xfrm>
            <a:off x="594360" y="5989320"/>
            <a:ext cx="11002975" cy="27432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Technology choices will be made after the pilot confirms which capabilities founders actually use.</a:t>
            </a:r>
          </a:p>
        </p:txBody>
      </p:sp>
      <p:sp>
        <p:nvSpPr>
          <p:cNvPr id="26" name="TextBox 2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7" name="TextBox 2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TRUST, PRIVACY AND RESPONSIBLE AI</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Principles we intend to build in from day one.</a:t>
            </a:r>
          </a:p>
        </p:txBody>
      </p:sp>
      <p:sp>
        <p:nvSpPr>
          <p:cNvPr id="4" name="Rectangle 3"/>
          <p:cNvSpPr/>
          <p:nvPr/>
        </p:nvSpPr>
        <p:spPr>
          <a:xfrm>
            <a:off x="594360" y="2011680"/>
            <a:ext cx="3545738" cy="150876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868680" y="2240280"/>
            <a:ext cx="2997098"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Consent first</a:t>
            </a:r>
          </a:p>
        </p:txBody>
      </p:sp>
      <p:sp>
        <p:nvSpPr>
          <p:cNvPr id="6" name="TextBox 5"/>
          <p:cNvSpPr txBox="1"/>
          <p:nvPr/>
        </p:nvSpPr>
        <p:spPr>
          <a:xfrm>
            <a:off x="868680" y="2651760"/>
            <a:ext cx="2997098" cy="822960"/>
          </a:xfrm>
          <a:prstGeom prst="rect">
            <a:avLst/>
          </a:prstGeom>
          <a:noFill/>
        </p:spPr>
        <p:txBody>
          <a:bodyPr wrap="square" lIns="0" rIns="0" tIns="0" bIns="0" anchor="t"/>
          <a:lstStyle/>
          <a:p>
            <a:pPr algn="l">
              <a:lnSpc>
                <a:spcPct val="125000"/>
              </a:lnSpc>
              <a:spcAft>
                <a:spcPts val="0"/>
              </a:spcAft>
            </a:pPr>
            <a:r>
              <a:rPr sz="1200" b="0" i="0">
                <a:solidFill>
                  <a:srgbClr val="C9D6E8"/>
                </a:solidFill>
                <a:latin typeface="Inter"/>
              </a:rPr>
              <a:t>No introduction or data sharing without the founder’s agreement.</a:t>
            </a:r>
          </a:p>
        </p:txBody>
      </p:sp>
      <p:sp>
        <p:nvSpPr>
          <p:cNvPr id="7" name="Rectangle 6"/>
          <p:cNvSpPr/>
          <p:nvPr/>
        </p:nvSpPr>
        <p:spPr>
          <a:xfrm>
            <a:off x="4322978" y="2011680"/>
            <a:ext cx="3545738" cy="1508760"/>
          </a:xfrm>
          <a:prstGeom prst="rect">
            <a:avLst/>
          </a:prstGeom>
          <a:solidFill>
            <a:srgbClr val="EDF4FE"/>
          </a:solidFill>
          <a:ln>
            <a:noFill/>
          </a:ln>
          <a:effectLst/>
        </p:spPr>
        <p:txBody>
          <a:bodyPr rtlCol="0" anchor="ctr" lIns="73152" rIns="73152" tIns="36576" bIns="36576"/>
          <a:lstStyle/>
          <a:p>
            <a:pPr algn="ctr"/>
          </a:p>
        </p:txBody>
      </p:sp>
      <p:sp>
        <p:nvSpPr>
          <p:cNvPr id="8" name="TextBox 7"/>
          <p:cNvSpPr txBox="1"/>
          <p:nvPr/>
        </p:nvSpPr>
        <p:spPr>
          <a:xfrm>
            <a:off x="4597298" y="2240280"/>
            <a:ext cx="2997098"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Founder-controlled visibility</a:t>
            </a:r>
          </a:p>
        </p:txBody>
      </p:sp>
      <p:sp>
        <p:nvSpPr>
          <p:cNvPr id="9" name="TextBox 8"/>
          <p:cNvSpPr txBox="1"/>
          <p:nvPr/>
        </p:nvSpPr>
        <p:spPr>
          <a:xfrm>
            <a:off x="4597298" y="2651760"/>
            <a:ext cx="2997098" cy="822960"/>
          </a:xfrm>
          <a:prstGeom prst="rect">
            <a:avLst/>
          </a:prstGeom>
          <a:noFill/>
        </p:spPr>
        <p:txBody>
          <a:bodyPr wrap="square" lIns="0" rIns="0" tIns="0" bIns="0" anchor="t"/>
          <a:lstStyle/>
          <a:p>
            <a:pPr algn="l">
              <a:lnSpc>
                <a:spcPct val="125000"/>
              </a:lnSpc>
              <a:spcAft>
                <a:spcPts val="0"/>
              </a:spcAft>
            </a:pPr>
            <a:r>
              <a:rPr sz="1200" b="0" i="0">
                <a:solidFill>
                  <a:srgbClr val="253650"/>
                </a:solidFill>
                <a:latin typeface="Inter"/>
              </a:rPr>
              <a:t>Founders decide what their profile shows, and to whom.</a:t>
            </a:r>
          </a:p>
        </p:txBody>
      </p:sp>
      <p:sp>
        <p:nvSpPr>
          <p:cNvPr id="10" name="Rectangle 9"/>
          <p:cNvSpPr/>
          <p:nvPr/>
        </p:nvSpPr>
        <p:spPr>
          <a:xfrm>
            <a:off x="8051596" y="2011680"/>
            <a:ext cx="3545738" cy="1508760"/>
          </a:xfrm>
          <a:prstGeom prst="rect">
            <a:avLst/>
          </a:prstGeom>
          <a:solidFill>
            <a:srgbClr val="EDF4FE"/>
          </a:solidFill>
          <a:ln>
            <a:noFill/>
          </a:ln>
          <a:effectLst/>
        </p:spPr>
        <p:txBody>
          <a:bodyPr rtlCol="0" anchor="ctr" lIns="73152" rIns="73152" tIns="36576" bIns="36576"/>
          <a:lstStyle/>
          <a:p>
            <a:pPr algn="ctr"/>
          </a:p>
        </p:txBody>
      </p:sp>
      <p:sp>
        <p:nvSpPr>
          <p:cNvPr id="11" name="TextBox 10"/>
          <p:cNvSpPr txBox="1"/>
          <p:nvPr/>
        </p:nvSpPr>
        <p:spPr>
          <a:xfrm>
            <a:off x="8325916" y="2240280"/>
            <a:ext cx="2997098"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Data minimisation</a:t>
            </a:r>
          </a:p>
        </p:txBody>
      </p:sp>
      <p:sp>
        <p:nvSpPr>
          <p:cNvPr id="12" name="TextBox 11"/>
          <p:cNvSpPr txBox="1"/>
          <p:nvPr/>
        </p:nvSpPr>
        <p:spPr>
          <a:xfrm>
            <a:off x="8325916" y="2651760"/>
            <a:ext cx="2997098" cy="822960"/>
          </a:xfrm>
          <a:prstGeom prst="rect">
            <a:avLst/>
          </a:prstGeom>
          <a:noFill/>
        </p:spPr>
        <p:txBody>
          <a:bodyPr wrap="square" lIns="0" rIns="0" tIns="0" bIns="0" anchor="t"/>
          <a:lstStyle/>
          <a:p>
            <a:pPr algn="l">
              <a:lnSpc>
                <a:spcPct val="125000"/>
              </a:lnSpc>
              <a:spcAft>
                <a:spcPts val="0"/>
              </a:spcAft>
            </a:pPr>
            <a:r>
              <a:rPr sz="1200" b="0" i="0">
                <a:solidFill>
                  <a:srgbClr val="253650"/>
                </a:solidFill>
                <a:latin typeface="Inter"/>
              </a:rPr>
              <a:t>Collect only what improves the founder’s support.</a:t>
            </a:r>
          </a:p>
        </p:txBody>
      </p:sp>
      <p:sp>
        <p:nvSpPr>
          <p:cNvPr id="13" name="Rectangle 12"/>
          <p:cNvSpPr/>
          <p:nvPr/>
        </p:nvSpPr>
        <p:spPr>
          <a:xfrm>
            <a:off x="594360" y="3703320"/>
            <a:ext cx="3545738" cy="1508760"/>
          </a:xfrm>
          <a:prstGeom prst="rect">
            <a:avLst/>
          </a:prstGeom>
          <a:solidFill>
            <a:srgbClr val="EDF4FE"/>
          </a:solidFill>
          <a:ln>
            <a:noFill/>
          </a:ln>
          <a:effectLst/>
        </p:spPr>
        <p:txBody>
          <a:bodyPr rtlCol="0" anchor="ctr" lIns="73152" rIns="73152" tIns="36576" bIns="36576"/>
          <a:lstStyle/>
          <a:p>
            <a:pPr algn="ctr"/>
          </a:p>
        </p:txBody>
      </p:sp>
      <p:sp>
        <p:nvSpPr>
          <p:cNvPr id="14" name="TextBox 13"/>
          <p:cNvSpPr txBox="1"/>
          <p:nvPr/>
        </p:nvSpPr>
        <p:spPr>
          <a:xfrm>
            <a:off x="868680" y="3931920"/>
            <a:ext cx="2997098"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Transparent AI</a:t>
            </a:r>
          </a:p>
        </p:txBody>
      </p:sp>
      <p:sp>
        <p:nvSpPr>
          <p:cNvPr id="15" name="TextBox 14"/>
          <p:cNvSpPr txBox="1"/>
          <p:nvPr/>
        </p:nvSpPr>
        <p:spPr>
          <a:xfrm>
            <a:off x="868680" y="4343400"/>
            <a:ext cx="2997098" cy="822960"/>
          </a:xfrm>
          <a:prstGeom prst="rect">
            <a:avLst/>
          </a:prstGeom>
          <a:noFill/>
        </p:spPr>
        <p:txBody>
          <a:bodyPr wrap="square" lIns="0" rIns="0" tIns="0" bIns="0" anchor="t"/>
          <a:lstStyle/>
          <a:p>
            <a:pPr algn="l">
              <a:lnSpc>
                <a:spcPct val="125000"/>
              </a:lnSpc>
              <a:spcAft>
                <a:spcPts val="0"/>
              </a:spcAft>
            </a:pPr>
            <a:r>
              <a:rPr sz="1200" b="0" i="0">
                <a:solidFill>
                  <a:srgbClr val="253650"/>
                </a:solidFill>
                <a:latin typeface="Inter"/>
              </a:rPr>
              <a:t>AI-assisted content is labelled; founders can always ask a person.</a:t>
            </a:r>
          </a:p>
        </p:txBody>
      </p:sp>
      <p:sp>
        <p:nvSpPr>
          <p:cNvPr id="16" name="Rectangle 15"/>
          <p:cNvSpPr/>
          <p:nvPr/>
        </p:nvSpPr>
        <p:spPr>
          <a:xfrm>
            <a:off x="4322978" y="3703320"/>
            <a:ext cx="3545738" cy="1508760"/>
          </a:xfrm>
          <a:prstGeom prst="rect">
            <a:avLst/>
          </a:prstGeom>
          <a:solidFill>
            <a:srgbClr val="10213B"/>
          </a:solidFill>
          <a:ln>
            <a:noFill/>
          </a:ln>
          <a:effectLst/>
        </p:spPr>
        <p:txBody>
          <a:bodyPr rtlCol="0" anchor="ctr" lIns="73152" rIns="73152" tIns="36576" bIns="36576"/>
          <a:lstStyle/>
          <a:p>
            <a:pPr algn="ctr"/>
          </a:p>
        </p:txBody>
      </p:sp>
      <p:sp>
        <p:nvSpPr>
          <p:cNvPr id="17" name="TextBox 16"/>
          <p:cNvSpPr txBox="1"/>
          <p:nvPr/>
        </p:nvSpPr>
        <p:spPr>
          <a:xfrm>
            <a:off x="4597298" y="3931920"/>
            <a:ext cx="2997098"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Human escalation</a:t>
            </a:r>
          </a:p>
        </p:txBody>
      </p:sp>
      <p:sp>
        <p:nvSpPr>
          <p:cNvPr id="18" name="TextBox 17"/>
          <p:cNvSpPr txBox="1"/>
          <p:nvPr/>
        </p:nvSpPr>
        <p:spPr>
          <a:xfrm>
            <a:off x="4597298" y="4343400"/>
            <a:ext cx="2997098" cy="822960"/>
          </a:xfrm>
          <a:prstGeom prst="rect">
            <a:avLst/>
          </a:prstGeom>
          <a:noFill/>
        </p:spPr>
        <p:txBody>
          <a:bodyPr wrap="square" lIns="0" rIns="0" tIns="0" bIns="0" anchor="t"/>
          <a:lstStyle/>
          <a:p>
            <a:pPr algn="l">
              <a:lnSpc>
                <a:spcPct val="125000"/>
              </a:lnSpc>
              <a:spcAft>
                <a:spcPts val="0"/>
              </a:spcAft>
            </a:pPr>
            <a:r>
              <a:rPr sz="1200" b="0" i="0">
                <a:solidFill>
                  <a:srgbClr val="C9D6E8"/>
                </a:solidFill>
                <a:latin typeface="Inter"/>
              </a:rPr>
              <a:t>Complex legal, financial or personal matters go to qualified people.</a:t>
            </a:r>
          </a:p>
        </p:txBody>
      </p:sp>
      <p:sp>
        <p:nvSpPr>
          <p:cNvPr id="19" name="Rectangle 18"/>
          <p:cNvSpPr/>
          <p:nvPr/>
        </p:nvSpPr>
        <p:spPr>
          <a:xfrm>
            <a:off x="8051596" y="3703320"/>
            <a:ext cx="3545738" cy="1508760"/>
          </a:xfrm>
          <a:prstGeom prst="rect">
            <a:avLst/>
          </a:prstGeom>
          <a:solidFill>
            <a:srgbClr val="EDF4FE"/>
          </a:solidFill>
          <a:ln>
            <a:noFill/>
          </a:ln>
          <a:effectLst/>
        </p:spPr>
        <p:txBody>
          <a:bodyPr rtlCol="0" anchor="ctr" lIns="73152" rIns="73152" tIns="36576" bIns="36576"/>
          <a:lstStyle/>
          <a:p>
            <a:pPr algn="ctr"/>
          </a:p>
        </p:txBody>
      </p:sp>
      <p:sp>
        <p:nvSpPr>
          <p:cNvPr id="20" name="TextBox 19"/>
          <p:cNvSpPr txBox="1"/>
          <p:nvPr/>
        </p:nvSpPr>
        <p:spPr>
          <a:xfrm>
            <a:off x="8325916" y="3931920"/>
            <a:ext cx="2997098"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Secure by design</a:t>
            </a:r>
          </a:p>
        </p:txBody>
      </p:sp>
      <p:sp>
        <p:nvSpPr>
          <p:cNvPr id="21" name="TextBox 20"/>
          <p:cNvSpPr txBox="1"/>
          <p:nvPr/>
        </p:nvSpPr>
        <p:spPr>
          <a:xfrm>
            <a:off x="8325916" y="4343400"/>
            <a:ext cx="2997098" cy="822960"/>
          </a:xfrm>
          <a:prstGeom prst="rect">
            <a:avLst/>
          </a:prstGeom>
          <a:noFill/>
        </p:spPr>
        <p:txBody>
          <a:bodyPr wrap="square" lIns="0" rIns="0" tIns="0" bIns="0" anchor="t"/>
          <a:lstStyle/>
          <a:p>
            <a:pPr algn="l">
              <a:lnSpc>
                <a:spcPct val="125000"/>
              </a:lnSpc>
              <a:spcAft>
                <a:spcPts val="0"/>
              </a:spcAft>
            </a:pPr>
            <a:r>
              <a:rPr sz="1200" b="0" i="0">
                <a:solidFill>
                  <a:srgbClr val="253650"/>
                </a:solidFill>
                <a:latin typeface="Inter"/>
              </a:rPr>
              <a:t>Access controls, encryption and audit trails as standard practice.</a:t>
            </a:r>
          </a:p>
        </p:txBody>
      </p:sp>
      <p:sp>
        <p:nvSpPr>
          <p:cNvPr id="22" name="TextBox 21"/>
          <p:cNvSpPr txBox="1"/>
          <p:nvPr/>
        </p:nvSpPr>
        <p:spPr>
          <a:xfrm>
            <a:off x="594360" y="5532120"/>
            <a:ext cx="11002975" cy="594360"/>
          </a:xfrm>
          <a:prstGeom prst="rect">
            <a:avLst/>
          </a:prstGeom>
          <a:noFill/>
        </p:spPr>
        <p:txBody>
          <a:bodyPr wrap="square" lIns="0" rIns="0" tIns="0" bIns="0" anchor="t"/>
          <a:lstStyle/>
          <a:p>
            <a:pPr algn="l">
              <a:lnSpc>
                <a:spcPct val="125000"/>
              </a:lnSpc>
              <a:spcAft>
                <a:spcPts val="0"/>
              </a:spcAft>
            </a:pPr>
            <a:r>
              <a:rPr sz="1050" b="0" i="0">
                <a:solidFill>
                  <a:srgbClr val="61738A"/>
                </a:solidFill>
                <a:latin typeface="Inter"/>
              </a:rPr>
              <a:t>Founder OS will be designed with the UAE Personal Data Protection Law (Federal Decree-Law No. 45 of 2021) and the rules of any other market it enters in mind; formal legal review will precede launch.</a:t>
            </a:r>
          </a:p>
        </p:txBody>
      </p:sp>
      <p:sp>
        <p:nvSpPr>
          <p:cNvPr id="23" name="TextBox 22"/>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4" name="TextBox 23"/>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OS · WHAT TO BUILD FIRST</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Start small, learn fast, then add depth.</a:t>
            </a:r>
          </a:p>
        </p:txBody>
      </p:sp>
      <p:sp>
        <p:nvSpPr>
          <p:cNvPr id="4" name="Rectangle 3"/>
          <p:cNvSpPr/>
          <p:nvPr/>
        </p:nvSpPr>
        <p:spPr>
          <a:xfrm>
            <a:off x="594360" y="1965960"/>
            <a:ext cx="2647873" cy="777240"/>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795528" y="2057400"/>
            <a:ext cx="2282113" cy="320040"/>
          </a:xfrm>
          <a:prstGeom prst="rect">
            <a:avLst/>
          </a:prstGeom>
          <a:noFill/>
        </p:spPr>
        <p:txBody>
          <a:bodyPr wrap="square" lIns="0" rIns="0" tIns="0" bIns="0" anchor="t"/>
          <a:lstStyle/>
          <a:p>
            <a:pPr algn="l">
              <a:lnSpc>
                <a:spcPct val="115000"/>
              </a:lnSpc>
              <a:spcAft>
                <a:spcPts val="0"/>
              </a:spcAft>
            </a:pPr>
            <a:r>
              <a:rPr sz="1300" b="1" i="0" spc="120">
                <a:solidFill>
                  <a:srgbClr val="FFFFFF"/>
                </a:solidFill>
                <a:latin typeface="Inter"/>
              </a:rPr>
              <a:t>MUST HAVE</a:t>
            </a:r>
          </a:p>
        </p:txBody>
      </p:sp>
      <p:sp>
        <p:nvSpPr>
          <p:cNvPr id="6" name="TextBox 5"/>
          <p:cNvSpPr txBox="1"/>
          <p:nvPr/>
        </p:nvSpPr>
        <p:spPr>
          <a:xfrm>
            <a:off x="795528" y="2377440"/>
            <a:ext cx="2282113" cy="274320"/>
          </a:xfrm>
          <a:prstGeom prst="rect">
            <a:avLst/>
          </a:prstGeom>
          <a:noFill/>
        </p:spPr>
        <p:txBody>
          <a:bodyPr wrap="square" lIns="0" rIns="0" tIns="0" bIns="0" anchor="t"/>
          <a:lstStyle/>
          <a:p>
            <a:pPr algn="l">
              <a:lnSpc>
                <a:spcPct val="115000"/>
              </a:lnSpc>
              <a:spcAft>
                <a:spcPts val="0"/>
              </a:spcAft>
            </a:pPr>
            <a:r>
              <a:rPr sz="1050" b="0" i="0">
                <a:solidFill>
                  <a:srgbClr val="DCE6F5"/>
                </a:solidFill>
                <a:latin typeface="Inter"/>
              </a:rPr>
              <a:t>Pilot</a:t>
            </a:r>
          </a:p>
        </p:txBody>
      </p:sp>
      <p:sp>
        <p:nvSpPr>
          <p:cNvPr id="7" name="Rectangle 6"/>
          <p:cNvSpPr/>
          <p:nvPr/>
        </p:nvSpPr>
        <p:spPr>
          <a:xfrm>
            <a:off x="594360" y="2880360"/>
            <a:ext cx="2647873" cy="493776"/>
          </a:xfrm>
          <a:prstGeom prst="rect">
            <a:avLst/>
          </a:prstGeom>
          <a:solidFill>
            <a:srgbClr val="EDF4FE"/>
          </a:solidFill>
          <a:ln>
            <a:noFill/>
          </a:ln>
          <a:effectLst/>
        </p:spPr>
        <p:txBody>
          <a:bodyPr rtlCol="0" anchor="ctr" lIns="73152" rIns="73152" tIns="36576" bIns="36576"/>
          <a:lstStyle/>
          <a:p>
            <a:pPr algn="ctr"/>
          </a:p>
        </p:txBody>
      </p:sp>
      <p:sp>
        <p:nvSpPr>
          <p:cNvPr id="8" name="TextBox 7"/>
          <p:cNvSpPr txBox="1"/>
          <p:nvPr/>
        </p:nvSpPr>
        <p:spPr>
          <a:xfrm>
            <a:off x="777240" y="2935224"/>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Founder profile and stage</a:t>
            </a:r>
          </a:p>
        </p:txBody>
      </p:sp>
      <p:sp>
        <p:nvSpPr>
          <p:cNvPr id="9" name="Rectangle 8"/>
          <p:cNvSpPr/>
          <p:nvPr/>
        </p:nvSpPr>
        <p:spPr>
          <a:xfrm>
            <a:off x="594360" y="3447288"/>
            <a:ext cx="2647873" cy="493776"/>
          </a:xfrm>
          <a:prstGeom prst="rect">
            <a:avLst/>
          </a:prstGeom>
          <a:solidFill>
            <a:srgbClr val="EDF4FE"/>
          </a:solidFill>
          <a:ln>
            <a:noFill/>
          </a:ln>
          <a:effectLst/>
        </p:spPr>
        <p:txBody>
          <a:bodyPr rtlCol="0" anchor="ctr" lIns="73152" rIns="73152" tIns="36576" bIns="36576"/>
          <a:lstStyle/>
          <a:p>
            <a:pPr algn="ctr"/>
          </a:p>
        </p:txBody>
      </p:sp>
      <p:sp>
        <p:nvSpPr>
          <p:cNvPr id="10" name="TextBox 9"/>
          <p:cNvSpPr txBox="1"/>
          <p:nvPr/>
        </p:nvSpPr>
        <p:spPr>
          <a:xfrm>
            <a:off x="777240" y="3502152"/>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Next-step suggestions</a:t>
            </a:r>
          </a:p>
        </p:txBody>
      </p:sp>
      <p:sp>
        <p:nvSpPr>
          <p:cNvPr id="11" name="Rectangle 10"/>
          <p:cNvSpPr/>
          <p:nvPr/>
        </p:nvSpPr>
        <p:spPr>
          <a:xfrm>
            <a:off x="594360" y="4014215"/>
            <a:ext cx="2647873" cy="493776"/>
          </a:xfrm>
          <a:prstGeom prst="rect">
            <a:avLst/>
          </a:prstGeom>
          <a:solidFill>
            <a:srgbClr val="EDF4FE"/>
          </a:solidFill>
          <a:ln>
            <a:noFill/>
          </a:ln>
          <a:effectLst/>
        </p:spPr>
        <p:txBody>
          <a:bodyPr rtlCol="0" anchor="ctr" lIns="73152" rIns="73152" tIns="36576" bIns="36576"/>
          <a:lstStyle/>
          <a:p>
            <a:pPr algn="ctr"/>
          </a:p>
        </p:txBody>
      </p:sp>
      <p:sp>
        <p:nvSpPr>
          <p:cNvPr id="12" name="TextBox 11"/>
          <p:cNvSpPr txBox="1"/>
          <p:nvPr/>
        </p:nvSpPr>
        <p:spPr>
          <a:xfrm>
            <a:off x="777240" y="4069079"/>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Resource and template library</a:t>
            </a:r>
          </a:p>
        </p:txBody>
      </p:sp>
      <p:sp>
        <p:nvSpPr>
          <p:cNvPr id="13" name="Rectangle 12"/>
          <p:cNvSpPr/>
          <p:nvPr/>
        </p:nvSpPr>
        <p:spPr>
          <a:xfrm>
            <a:off x="594360" y="4581144"/>
            <a:ext cx="2647873" cy="493776"/>
          </a:xfrm>
          <a:prstGeom prst="rect">
            <a:avLst/>
          </a:prstGeom>
          <a:solidFill>
            <a:srgbClr val="EDF4FE"/>
          </a:solidFill>
          <a:ln>
            <a:noFill/>
          </a:ln>
          <a:effectLst/>
        </p:spPr>
        <p:txBody>
          <a:bodyPr rtlCol="0" anchor="ctr" lIns="73152" rIns="73152" tIns="36576" bIns="36576"/>
          <a:lstStyle/>
          <a:p>
            <a:pPr algn="ctr"/>
          </a:p>
        </p:txBody>
      </p:sp>
      <p:sp>
        <p:nvSpPr>
          <p:cNvPr id="14" name="TextBox 13"/>
          <p:cNvSpPr txBox="1"/>
          <p:nvPr/>
        </p:nvSpPr>
        <p:spPr>
          <a:xfrm>
            <a:off x="777240" y="4636007"/>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Session booking and requests</a:t>
            </a:r>
          </a:p>
        </p:txBody>
      </p:sp>
      <p:sp>
        <p:nvSpPr>
          <p:cNvPr id="15" name="Rectangle 14"/>
          <p:cNvSpPr/>
          <p:nvPr/>
        </p:nvSpPr>
        <p:spPr>
          <a:xfrm>
            <a:off x="594360" y="5148072"/>
            <a:ext cx="2647873" cy="493776"/>
          </a:xfrm>
          <a:prstGeom prst="rect">
            <a:avLst/>
          </a:prstGeom>
          <a:solidFill>
            <a:srgbClr val="EDF4FE"/>
          </a:solidFill>
          <a:ln>
            <a:noFill/>
          </a:ln>
          <a:effectLst/>
        </p:spPr>
        <p:txBody>
          <a:bodyPr rtlCol="0" anchor="ctr" lIns="73152" rIns="73152" tIns="36576" bIns="36576"/>
          <a:lstStyle/>
          <a:p>
            <a:pPr algn="ctr"/>
          </a:p>
        </p:txBody>
      </p:sp>
      <p:sp>
        <p:nvSpPr>
          <p:cNvPr id="16" name="TextBox 15"/>
          <p:cNvSpPr txBox="1"/>
          <p:nvPr/>
        </p:nvSpPr>
        <p:spPr>
          <a:xfrm>
            <a:off x="777240" y="5202936"/>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Basic progress tracking</a:t>
            </a:r>
          </a:p>
        </p:txBody>
      </p:sp>
      <p:sp>
        <p:nvSpPr>
          <p:cNvPr id="17" name="Rectangle 16"/>
          <p:cNvSpPr/>
          <p:nvPr/>
        </p:nvSpPr>
        <p:spPr>
          <a:xfrm>
            <a:off x="3379393" y="1965960"/>
            <a:ext cx="2647873" cy="777240"/>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3580561" y="2057400"/>
            <a:ext cx="2282113" cy="320040"/>
          </a:xfrm>
          <a:prstGeom prst="rect">
            <a:avLst/>
          </a:prstGeom>
          <a:noFill/>
        </p:spPr>
        <p:txBody>
          <a:bodyPr wrap="square" lIns="0" rIns="0" tIns="0" bIns="0" anchor="t"/>
          <a:lstStyle/>
          <a:p>
            <a:pPr algn="l">
              <a:lnSpc>
                <a:spcPct val="115000"/>
              </a:lnSpc>
              <a:spcAft>
                <a:spcPts val="0"/>
              </a:spcAft>
            </a:pPr>
            <a:r>
              <a:rPr sz="1300" b="1" i="0" spc="120">
                <a:solidFill>
                  <a:srgbClr val="FFFFFF"/>
                </a:solidFill>
                <a:latin typeface="Inter"/>
              </a:rPr>
              <a:t>SHOULD HAVE</a:t>
            </a:r>
          </a:p>
        </p:txBody>
      </p:sp>
      <p:sp>
        <p:nvSpPr>
          <p:cNvPr id="19" name="TextBox 18"/>
          <p:cNvSpPr txBox="1"/>
          <p:nvPr/>
        </p:nvSpPr>
        <p:spPr>
          <a:xfrm>
            <a:off x="3580561" y="2377440"/>
            <a:ext cx="2282113" cy="274320"/>
          </a:xfrm>
          <a:prstGeom prst="rect">
            <a:avLst/>
          </a:prstGeom>
          <a:noFill/>
        </p:spPr>
        <p:txBody>
          <a:bodyPr wrap="square" lIns="0" rIns="0" tIns="0" bIns="0" anchor="t"/>
          <a:lstStyle/>
          <a:p>
            <a:pPr algn="l">
              <a:lnSpc>
                <a:spcPct val="115000"/>
              </a:lnSpc>
              <a:spcAft>
                <a:spcPts val="0"/>
              </a:spcAft>
            </a:pPr>
            <a:r>
              <a:rPr sz="1050" b="0" i="0">
                <a:solidFill>
                  <a:srgbClr val="DCE6F5"/>
                </a:solidFill>
                <a:latin typeface="Inter"/>
              </a:rPr>
              <a:t>After pilot</a:t>
            </a:r>
          </a:p>
        </p:txBody>
      </p:sp>
      <p:sp>
        <p:nvSpPr>
          <p:cNvPr id="20" name="Rectangle 19"/>
          <p:cNvSpPr/>
          <p:nvPr/>
        </p:nvSpPr>
        <p:spPr>
          <a:xfrm>
            <a:off x="3379393" y="2880360"/>
            <a:ext cx="2647873" cy="493776"/>
          </a:xfrm>
          <a:prstGeom prst="rect">
            <a:avLst/>
          </a:prstGeom>
          <a:solidFill>
            <a:srgbClr val="EDF4FE"/>
          </a:solidFill>
          <a:ln>
            <a:noFill/>
          </a:ln>
          <a:effectLst/>
        </p:spPr>
        <p:txBody>
          <a:bodyPr rtlCol="0" anchor="ctr" lIns="73152" rIns="73152" tIns="36576" bIns="36576"/>
          <a:lstStyle/>
          <a:p>
            <a:pPr algn="ctr"/>
          </a:p>
        </p:txBody>
      </p:sp>
      <p:sp>
        <p:nvSpPr>
          <p:cNvPr id="21" name="TextBox 20"/>
          <p:cNvSpPr txBox="1"/>
          <p:nvPr/>
        </p:nvSpPr>
        <p:spPr>
          <a:xfrm>
            <a:off x="3562273" y="2935224"/>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Mentor and specialist discovery</a:t>
            </a:r>
          </a:p>
        </p:txBody>
      </p:sp>
      <p:sp>
        <p:nvSpPr>
          <p:cNvPr id="22" name="Rectangle 21"/>
          <p:cNvSpPr/>
          <p:nvPr/>
        </p:nvSpPr>
        <p:spPr>
          <a:xfrm>
            <a:off x="3379393" y="3447288"/>
            <a:ext cx="2647873" cy="493776"/>
          </a:xfrm>
          <a:prstGeom prst="rect">
            <a:avLst/>
          </a:prstGeom>
          <a:solidFill>
            <a:srgbClr val="EDF4FE"/>
          </a:solidFill>
          <a:ln>
            <a:noFill/>
          </a:ln>
          <a:effectLst/>
        </p:spPr>
        <p:txBody>
          <a:bodyPr rtlCol="0" anchor="ctr" lIns="73152" rIns="73152" tIns="36576" bIns="36576"/>
          <a:lstStyle/>
          <a:p>
            <a:pPr algn="ctr"/>
          </a:p>
        </p:txBody>
      </p:sp>
      <p:sp>
        <p:nvSpPr>
          <p:cNvPr id="23" name="TextBox 22"/>
          <p:cNvSpPr txBox="1"/>
          <p:nvPr/>
        </p:nvSpPr>
        <p:spPr>
          <a:xfrm>
            <a:off x="3562273" y="3502152"/>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Opportunities feed (Radar)</a:t>
            </a:r>
          </a:p>
        </p:txBody>
      </p:sp>
      <p:sp>
        <p:nvSpPr>
          <p:cNvPr id="24" name="Rectangle 23"/>
          <p:cNvSpPr/>
          <p:nvPr/>
        </p:nvSpPr>
        <p:spPr>
          <a:xfrm>
            <a:off x="3379393" y="4014215"/>
            <a:ext cx="2647873" cy="493776"/>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3562273" y="4069079"/>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Peer groups and discussions</a:t>
            </a:r>
          </a:p>
        </p:txBody>
      </p:sp>
      <p:sp>
        <p:nvSpPr>
          <p:cNvPr id="26" name="Rectangle 25"/>
          <p:cNvSpPr/>
          <p:nvPr/>
        </p:nvSpPr>
        <p:spPr>
          <a:xfrm>
            <a:off x="3379393" y="4581144"/>
            <a:ext cx="2647873" cy="493776"/>
          </a:xfrm>
          <a:prstGeom prst="rect">
            <a:avLst/>
          </a:prstGeom>
          <a:solidFill>
            <a:srgbClr val="EDF4FE"/>
          </a:solidFill>
          <a:ln>
            <a:noFill/>
          </a:ln>
          <a:effectLst/>
        </p:spPr>
        <p:txBody>
          <a:bodyPr rtlCol="0" anchor="ctr" lIns="73152" rIns="73152" tIns="36576" bIns="36576"/>
          <a:lstStyle/>
          <a:p>
            <a:pPr algn="ctr"/>
          </a:p>
        </p:txBody>
      </p:sp>
      <p:sp>
        <p:nvSpPr>
          <p:cNvPr id="27" name="TextBox 26"/>
          <p:cNvSpPr txBox="1"/>
          <p:nvPr/>
        </p:nvSpPr>
        <p:spPr>
          <a:xfrm>
            <a:off x="3562273" y="4636007"/>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Service request workflow</a:t>
            </a:r>
          </a:p>
        </p:txBody>
      </p:sp>
      <p:sp>
        <p:nvSpPr>
          <p:cNvPr id="28" name="Rectangle 27"/>
          <p:cNvSpPr/>
          <p:nvPr/>
        </p:nvSpPr>
        <p:spPr>
          <a:xfrm>
            <a:off x="6164427" y="1965960"/>
            <a:ext cx="2647873" cy="777240"/>
          </a:xfrm>
          <a:prstGeom prst="rect">
            <a:avLst/>
          </a:prstGeom>
          <a:solidFill>
            <a:srgbClr val="17407F"/>
          </a:solidFill>
          <a:ln>
            <a:noFill/>
          </a:ln>
          <a:effectLst/>
        </p:spPr>
        <p:txBody>
          <a:bodyPr rtlCol="0" anchor="ctr" lIns="73152" rIns="73152" tIns="36576" bIns="36576"/>
          <a:lstStyle/>
          <a:p>
            <a:pPr algn="ctr"/>
          </a:p>
        </p:txBody>
      </p:sp>
      <p:sp>
        <p:nvSpPr>
          <p:cNvPr id="29" name="TextBox 28"/>
          <p:cNvSpPr txBox="1"/>
          <p:nvPr/>
        </p:nvSpPr>
        <p:spPr>
          <a:xfrm>
            <a:off x="6365595" y="2057400"/>
            <a:ext cx="2282113" cy="320040"/>
          </a:xfrm>
          <a:prstGeom prst="rect">
            <a:avLst/>
          </a:prstGeom>
          <a:noFill/>
        </p:spPr>
        <p:txBody>
          <a:bodyPr wrap="square" lIns="0" rIns="0" tIns="0" bIns="0" anchor="t"/>
          <a:lstStyle/>
          <a:p>
            <a:pPr algn="l">
              <a:lnSpc>
                <a:spcPct val="115000"/>
              </a:lnSpc>
              <a:spcAft>
                <a:spcPts val="0"/>
              </a:spcAft>
            </a:pPr>
            <a:r>
              <a:rPr sz="1300" b="1" i="0" spc="120">
                <a:solidFill>
                  <a:srgbClr val="FFFFFF"/>
                </a:solidFill>
                <a:latin typeface="Inter"/>
              </a:rPr>
              <a:t>COULD HAVE</a:t>
            </a:r>
          </a:p>
        </p:txBody>
      </p:sp>
      <p:sp>
        <p:nvSpPr>
          <p:cNvPr id="30" name="TextBox 29"/>
          <p:cNvSpPr txBox="1"/>
          <p:nvPr/>
        </p:nvSpPr>
        <p:spPr>
          <a:xfrm>
            <a:off x="6365595" y="2377440"/>
            <a:ext cx="2282113" cy="274320"/>
          </a:xfrm>
          <a:prstGeom prst="rect">
            <a:avLst/>
          </a:prstGeom>
          <a:noFill/>
        </p:spPr>
        <p:txBody>
          <a:bodyPr wrap="square" lIns="0" rIns="0" tIns="0" bIns="0" anchor="t"/>
          <a:lstStyle/>
          <a:p>
            <a:pPr algn="l">
              <a:lnSpc>
                <a:spcPct val="115000"/>
              </a:lnSpc>
              <a:spcAft>
                <a:spcPts val="0"/>
              </a:spcAft>
            </a:pPr>
            <a:r>
              <a:rPr sz="1050" b="0" i="0">
                <a:solidFill>
                  <a:srgbClr val="DCE6F5"/>
                </a:solidFill>
                <a:latin typeface="Inter"/>
              </a:rPr>
              <a:t>Once proven</a:t>
            </a:r>
          </a:p>
        </p:txBody>
      </p:sp>
      <p:sp>
        <p:nvSpPr>
          <p:cNvPr id="31" name="Rectangle 30"/>
          <p:cNvSpPr/>
          <p:nvPr/>
        </p:nvSpPr>
        <p:spPr>
          <a:xfrm>
            <a:off x="6164427" y="2880360"/>
            <a:ext cx="2647873" cy="493776"/>
          </a:xfrm>
          <a:prstGeom prst="rect">
            <a:avLst/>
          </a:prstGeom>
          <a:solidFill>
            <a:srgbClr val="EDF4FE"/>
          </a:solidFill>
          <a:ln>
            <a:noFill/>
          </a:ln>
          <a:effectLst/>
        </p:spPr>
        <p:txBody>
          <a:bodyPr rtlCol="0" anchor="ctr" lIns="73152" rIns="73152" tIns="36576" bIns="36576"/>
          <a:lstStyle/>
          <a:p>
            <a:pPr algn="ctr"/>
          </a:p>
        </p:txBody>
      </p:sp>
      <p:sp>
        <p:nvSpPr>
          <p:cNvPr id="32" name="TextBox 31"/>
          <p:cNvSpPr txBox="1"/>
          <p:nvPr/>
        </p:nvSpPr>
        <p:spPr>
          <a:xfrm>
            <a:off x="6347307" y="2935224"/>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AI-assisted drafting and planning</a:t>
            </a:r>
          </a:p>
        </p:txBody>
      </p:sp>
      <p:sp>
        <p:nvSpPr>
          <p:cNvPr id="33" name="Rectangle 32"/>
          <p:cNvSpPr/>
          <p:nvPr/>
        </p:nvSpPr>
        <p:spPr>
          <a:xfrm>
            <a:off x="6164427" y="3447288"/>
            <a:ext cx="2647873" cy="493776"/>
          </a:xfrm>
          <a:prstGeom prst="rect">
            <a:avLst/>
          </a:prstGeom>
          <a:solidFill>
            <a:srgbClr val="EDF4FE"/>
          </a:solidFill>
          <a:ln>
            <a:noFill/>
          </a:ln>
          <a:effectLst/>
        </p:spPr>
        <p:txBody>
          <a:bodyPr rtlCol="0" anchor="ctr" lIns="73152" rIns="73152" tIns="36576" bIns="36576"/>
          <a:lstStyle/>
          <a:p>
            <a:pPr algn="ctr"/>
          </a:p>
        </p:txBody>
      </p:sp>
      <p:sp>
        <p:nvSpPr>
          <p:cNvPr id="34" name="TextBox 33"/>
          <p:cNvSpPr txBox="1"/>
          <p:nvPr/>
        </p:nvSpPr>
        <p:spPr>
          <a:xfrm>
            <a:off x="6347307" y="3502152"/>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Partner tool integrations</a:t>
            </a:r>
          </a:p>
        </p:txBody>
      </p:sp>
      <p:sp>
        <p:nvSpPr>
          <p:cNvPr id="35" name="Rectangle 34"/>
          <p:cNvSpPr/>
          <p:nvPr/>
        </p:nvSpPr>
        <p:spPr>
          <a:xfrm>
            <a:off x="6164427" y="4014215"/>
            <a:ext cx="2647873" cy="493776"/>
          </a:xfrm>
          <a:prstGeom prst="rect">
            <a:avLst/>
          </a:prstGeom>
          <a:solidFill>
            <a:srgbClr val="EDF4FE"/>
          </a:solidFill>
          <a:ln>
            <a:noFill/>
          </a:ln>
          <a:effectLst/>
        </p:spPr>
        <p:txBody>
          <a:bodyPr rtlCol="0" anchor="ctr" lIns="73152" rIns="73152" tIns="36576" bIns="36576"/>
          <a:lstStyle/>
          <a:p>
            <a:pPr algn="ctr"/>
          </a:p>
        </p:txBody>
      </p:sp>
      <p:sp>
        <p:nvSpPr>
          <p:cNvPr id="36" name="TextBox 35"/>
          <p:cNvSpPr txBox="1"/>
          <p:nvPr/>
        </p:nvSpPr>
        <p:spPr>
          <a:xfrm>
            <a:off x="6347307" y="4069079"/>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Learning paths with progress</a:t>
            </a:r>
          </a:p>
        </p:txBody>
      </p:sp>
      <p:sp>
        <p:nvSpPr>
          <p:cNvPr id="37" name="Rectangle 36"/>
          <p:cNvSpPr/>
          <p:nvPr/>
        </p:nvSpPr>
        <p:spPr>
          <a:xfrm>
            <a:off x="6164427" y="4581144"/>
            <a:ext cx="2647873" cy="493776"/>
          </a:xfrm>
          <a:prstGeom prst="rect">
            <a:avLst/>
          </a:prstGeom>
          <a:solidFill>
            <a:srgbClr val="EDF4FE"/>
          </a:solidFill>
          <a:ln>
            <a:noFill/>
          </a:ln>
          <a:effectLst/>
        </p:spPr>
        <p:txBody>
          <a:bodyPr rtlCol="0" anchor="ctr" lIns="73152" rIns="73152" tIns="36576" bIns="36576"/>
          <a:lstStyle/>
          <a:p>
            <a:pPr algn="ctr"/>
          </a:p>
        </p:txBody>
      </p:sp>
      <p:sp>
        <p:nvSpPr>
          <p:cNvPr id="38" name="TextBox 37"/>
          <p:cNvSpPr txBox="1"/>
          <p:nvPr/>
        </p:nvSpPr>
        <p:spPr>
          <a:xfrm>
            <a:off x="6347307" y="4636007"/>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Mobile app experience</a:t>
            </a:r>
          </a:p>
        </p:txBody>
      </p:sp>
      <p:sp>
        <p:nvSpPr>
          <p:cNvPr id="39" name="Rectangle 38"/>
          <p:cNvSpPr/>
          <p:nvPr/>
        </p:nvSpPr>
        <p:spPr>
          <a:xfrm>
            <a:off x="8949461" y="1965960"/>
            <a:ext cx="2647873" cy="777240"/>
          </a:xfrm>
          <a:prstGeom prst="rect">
            <a:avLst/>
          </a:prstGeom>
          <a:solidFill>
            <a:srgbClr val="10213B"/>
          </a:solidFill>
          <a:ln>
            <a:noFill/>
          </a:ln>
          <a:effectLst/>
        </p:spPr>
        <p:txBody>
          <a:bodyPr rtlCol="0" anchor="ctr" lIns="73152" rIns="73152" tIns="36576" bIns="36576"/>
          <a:lstStyle/>
          <a:p>
            <a:pPr algn="ctr"/>
          </a:p>
        </p:txBody>
      </p:sp>
      <p:sp>
        <p:nvSpPr>
          <p:cNvPr id="40" name="TextBox 39"/>
          <p:cNvSpPr txBox="1"/>
          <p:nvPr/>
        </p:nvSpPr>
        <p:spPr>
          <a:xfrm>
            <a:off x="9150629" y="2057400"/>
            <a:ext cx="2282113" cy="320040"/>
          </a:xfrm>
          <a:prstGeom prst="rect">
            <a:avLst/>
          </a:prstGeom>
          <a:noFill/>
        </p:spPr>
        <p:txBody>
          <a:bodyPr wrap="square" lIns="0" rIns="0" tIns="0" bIns="0" anchor="t"/>
          <a:lstStyle/>
          <a:p>
            <a:pPr algn="l">
              <a:lnSpc>
                <a:spcPct val="115000"/>
              </a:lnSpc>
              <a:spcAft>
                <a:spcPts val="0"/>
              </a:spcAft>
            </a:pPr>
            <a:r>
              <a:rPr sz="1300" b="1" i="0" spc="120">
                <a:solidFill>
                  <a:srgbClr val="FFFFFF"/>
                </a:solidFill>
                <a:latin typeface="Inter"/>
              </a:rPr>
              <a:t>LATER</a:t>
            </a:r>
          </a:p>
        </p:txBody>
      </p:sp>
      <p:sp>
        <p:nvSpPr>
          <p:cNvPr id="41" name="TextBox 40"/>
          <p:cNvSpPr txBox="1"/>
          <p:nvPr/>
        </p:nvSpPr>
        <p:spPr>
          <a:xfrm>
            <a:off x="9150629" y="2377440"/>
            <a:ext cx="2282113" cy="274320"/>
          </a:xfrm>
          <a:prstGeom prst="rect">
            <a:avLst/>
          </a:prstGeom>
          <a:noFill/>
        </p:spPr>
        <p:txBody>
          <a:bodyPr wrap="square" lIns="0" rIns="0" tIns="0" bIns="0" anchor="t"/>
          <a:lstStyle/>
          <a:p>
            <a:pPr algn="l">
              <a:lnSpc>
                <a:spcPct val="115000"/>
              </a:lnSpc>
              <a:spcAft>
                <a:spcPts val="0"/>
              </a:spcAft>
            </a:pPr>
            <a:r>
              <a:rPr sz="1050" b="0" i="0">
                <a:solidFill>
                  <a:srgbClr val="DCE6F5"/>
                </a:solidFill>
                <a:latin typeface="Inter"/>
              </a:rPr>
              <a:t>Separate decisions</a:t>
            </a:r>
          </a:p>
        </p:txBody>
      </p:sp>
      <p:sp>
        <p:nvSpPr>
          <p:cNvPr id="42" name="Rectangle 41"/>
          <p:cNvSpPr/>
          <p:nvPr/>
        </p:nvSpPr>
        <p:spPr>
          <a:xfrm>
            <a:off x="8949461" y="2880360"/>
            <a:ext cx="2647873" cy="493776"/>
          </a:xfrm>
          <a:prstGeom prst="rect">
            <a:avLst/>
          </a:prstGeom>
          <a:solidFill>
            <a:srgbClr val="EDF4FE"/>
          </a:solidFill>
          <a:ln>
            <a:noFill/>
          </a:ln>
          <a:effectLst/>
        </p:spPr>
        <p:txBody>
          <a:bodyPr rtlCol="0" anchor="ctr" lIns="73152" rIns="73152" tIns="36576" bIns="36576"/>
          <a:lstStyle/>
          <a:p>
            <a:pPr algn="ctr"/>
          </a:p>
        </p:txBody>
      </p:sp>
      <p:sp>
        <p:nvSpPr>
          <p:cNvPr id="43" name="TextBox 42"/>
          <p:cNvSpPr txBox="1"/>
          <p:nvPr/>
        </p:nvSpPr>
        <p:spPr>
          <a:xfrm>
            <a:off x="9132341" y="2935224"/>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Investor-readiness profiles</a:t>
            </a:r>
          </a:p>
        </p:txBody>
      </p:sp>
      <p:sp>
        <p:nvSpPr>
          <p:cNvPr id="44" name="Rectangle 43"/>
          <p:cNvSpPr/>
          <p:nvPr/>
        </p:nvSpPr>
        <p:spPr>
          <a:xfrm>
            <a:off x="8949461" y="3447288"/>
            <a:ext cx="2647873" cy="493776"/>
          </a:xfrm>
          <a:prstGeom prst="rect">
            <a:avLst/>
          </a:prstGeom>
          <a:solidFill>
            <a:srgbClr val="EDF4FE"/>
          </a:solidFill>
          <a:ln>
            <a:noFill/>
          </a:ln>
          <a:effectLst/>
        </p:spPr>
        <p:txBody>
          <a:bodyPr rtlCol="0" anchor="ctr" lIns="73152" rIns="73152" tIns="36576" bIns="36576"/>
          <a:lstStyle/>
          <a:p>
            <a:pPr algn="ctr"/>
          </a:p>
        </p:txBody>
      </p:sp>
      <p:sp>
        <p:nvSpPr>
          <p:cNvPr id="45" name="TextBox 44"/>
          <p:cNvSpPr txBox="1"/>
          <p:nvPr/>
        </p:nvSpPr>
        <p:spPr>
          <a:xfrm>
            <a:off x="9132341" y="3502152"/>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Payments and marketplace</a:t>
            </a:r>
          </a:p>
        </p:txBody>
      </p:sp>
      <p:sp>
        <p:nvSpPr>
          <p:cNvPr id="46" name="Rectangle 45"/>
          <p:cNvSpPr/>
          <p:nvPr/>
        </p:nvSpPr>
        <p:spPr>
          <a:xfrm>
            <a:off x="8949461" y="4014215"/>
            <a:ext cx="2647873" cy="493776"/>
          </a:xfrm>
          <a:prstGeom prst="rect">
            <a:avLst/>
          </a:prstGeom>
          <a:solidFill>
            <a:srgbClr val="EDF4FE"/>
          </a:solidFill>
          <a:ln>
            <a:noFill/>
          </a:ln>
          <a:effectLst/>
        </p:spPr>
        <p:txBody>
          <a:bodyPr rtlCol="0" anchor="ctr" lIns="73152" rIns="73152" tIns="36576" bIns="36576"/>
          <a:lstStyle/>
          <a:p>
            <a:pPr algn="ctr"/>
          </a:p>
        </p:txBody>
      </p:sp>
      <p:sp>
        <p:nvSpPr>
          <p:cNvPr id="47" name="TextBox 46"/>
          <p:cNvSpPr txBox="1"/>
          <p:nvPr/>
        </p:nvSpPr>
        <p:spPr>
          <a:xfrm>
            <a:off x="9132341" y="4069079"/>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Multi-market localisation</a:t>
            </a:r>
          </a:p>
        </p:txBody>
      </p:sp>
      <p:sp>
        <p:nvSpPr>
          <p:cNvPr id="48" name="Rectangle 47"/>
          <p:cNvSpPr/>
          <p:nvPr/>
        </p:nvSpPr>
        <p:spPr>
          <a:xfrm>
            <a:off x="8949461" y="4581144"/>
            <a:ext cx="2647873" cy="493776"/>
          </a:xfrm>
          <a:prstGeom prst="rect">
            <a:avLst/>
          </a:prstGeom>
          <a:solidFill>
            <a:srgbClr val="EDF4FE"/>
          </a:solidFill>
          <a:ln>
            <a:noFill/>
          </a:ln>
          <a:effectLst/>
        </p:spPr>
        <p:txBody>
          <a:bodyPr rtlCol="0" anchor="ctr" lIns="73152" rIns="73152" tIns="36576" bIns="36576"/>
          <a:lstStyle/>
          <a:p>
            <a:pPr algn="ctr"/>
          </a:p>
        </p:txBody>
      </p:sp>
      <p:sp>
        <p:nvSpPr>
          <p:cNvPr id="49" name="TextBox 48"/>
          <p:cNvSpPr txBox="1"/>
          <p:nvPr/>
        </p:nvSpPr>
        <p:spPr>
          <a:xfrm>
            <a:off x="9132341" y="4636007"/>
            <a:ext cx="2327833" cy="411480"/>
          </a:xfrm>
          <a:prstGeom prst="rect">
            <a:avLst/>
          </a:prstGeom>
          <a:noFill/>
        </p:spPr>
        <p:txBody>
          <a:bodyPr wrap="square" lIns="0" rIns="0" tIns="0" bIns="0" anchor="ctr"/>
          <a:lstStyle/>
          <a:p>
            <a:pPr algn="l">
              <a:lnSpc>
                <a:spcPct val="115000"/>
              </a:lnSpc>
              <a:spcAft>
                <a:spcPts val="0"/>
              </a:spcAft>
            </a:pPr>
            <a:r>
              <a:rPr sz="1150" b="1" i="0">
                <a:solidFill>
                  <a:srgbClr val="10213B"/>
                </a:solidFill>
                <a:latin typeface="Inter"/>
              </a:rPr>
              <a:t>Advanced analytics</a:t>
            </a:r>
          </a:p>
        </p:txBody>
      </p:sp>
      <p:sp>
        <p:nvSpPr>
          <p:cNvPr id="50" name="TextBox 49"/>
          <p:cNvSpPr txBox="1"/>
          <p:nvPr/>
        </p:nvSpPr>
        <p:spPr>
          <a:xfrm>
            <a:off x="594360" y="5897880"/>
            <a:ext cx="11002975" cy="32004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Prioritisation will be confirmed with pilot founders; items may move between columns.</a:t>
            </a:r>
          </a:p>
        </p:txBody>
      </p:sp>
      <p:sp>
        <p:nvSpPr>
          <p:cNvPr id="51" name="TextBox 5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2" name="TextBox 5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05</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Ecosystem services</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Community, mentoring, Academy, expert services, insights and incubation</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AI with human support</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Community and a year-round rhythm</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Mentoring</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Founder Academy</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Expert services</a:t>
            </a:r>
          </a:p>
        </p:txBody>
      </p:sp>
      <p:cxnSp>
        <p:nvCxnSpPr>
          <p:cNvPr id="17" name="Connector 16"/>
          <p:cNvCxnSpPr/>
          <p:nvPr/>
        </p:nvCxnSpPr>
        <p:spPr>
          <a:xfrm>
            <a:off x="8092440" y="4617720"/>
            <a:ext cx="3502152" cy="0"/>
          </a:xfrm>
          <a:prstGeom prst="line">
            <a:avLst/>
          </a:prstGeom>
          <a:ln w="12700">
            <a:solidFill>
              <a:srgbClr val="2E4A72"/>
            </a:solidFill>
          </a:ln>
        </p:spPr>
      </p:cxnSp>
      <p:sp>
        <p:nvSpPr>
          <p:cNvPr id="18" name="TextBox 17"/>
          <p:cNvSpPr txBox="1"/>
          <p:nvPr/>
        </p:nvSpPr>
        <p:spPr>
          <a:xfrm>
            <a:off x="8092440" y="470916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Insights, incubation and readiness</a:t>
            </a:r>
          </a:p>
        </p:txBody>
      </p:sp>
      <p:sp>
        <p:nvSpPr>
          <p:cNvPr id="19" name="TextBox 18"/>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5806440" y="0"/>
            <a:ext cx="6385255" cy="6858000"/>
          </a:xfrm>
          <a:prstGeom prst="rect">
            <a:avLst/>
          </a:prstGeom>
          <a:solidFill>
            <a:srgbClr val="DCE8FB"/>
          </a:solidFill>
          <a:ln>
            <a:noFill/>
          </a:ln>
          <a:effectLst/>
        </p:spPr>
        <p:txBody>
          <a:bodyPr rtlCol="0" anchor="ctr" lIns="73152" rIns="73152" tIns="36576" bIns="36576"/>
          <a:lstStyle/>
          <a:p>
            <a:pPr algn="ctr"/>
          </a:p>
        </p:txBody>
      </p:sp>
      <p:sp>
        <p:nvSpPr>
          <p:cNvPr id="3" name="Rounded Rectangle 2"/>
          <p:cNvSpPr/>
          <p:nvPr/>
        </p:nvSpPr>
        <p:spPr>
          <a:xfrm>
            <a:off x="6572670" y="4526280"/>
            <a:ext cx="4852793" cy="480060"/>
          </a:xfrm>
          <a:prstGeom prst="roundRect">
            <a:avLst>
              <a:gd name="adj" fmla="val 50000"/>
            </a:avLst>
          </a:prstGeom>
          <a:solidFill>
            <a:srgbClr val="C4D8F6"/>
          </a:solidFill>
          <a:ln>
            <a:noFill/>
          </a:ln>
          <a:effectLst/>
        </p:spPr>
        <p:txBody>
          <a:bodyPr rtlCol="0" anchor="ctr" lIns="73152" rIns="73152" tIns="36576" bIns="36576"/>
          <a:lstStyle/>
          <a:p>
            <a:pPr algn="ctr"/>
          </a:p>
        </p:txBody>
      </p:sp>
      <p:sp>
        <p:nvSpPr>
          <p:cNvPr id="4" name="Oval 3"/>
          <p:cNvSpPr/>
          <p:nvPr/>
        </p:nvSpPr>
        <p:spPr>
          <a:xfrm>
            <a:off x="6749493" y="3419816"/>
            <a:ext cx="412585" cy="412585"/>
          </a:xfrm>
          <a:prstGeom prst="ellipse">
            <a:avLst/>
          </a:prstGeom>
          <a:solidFill>
            <a:srgbClr val="10213B"/>
          </a:solidFill>
          <a:ln>
            <a:noFill/>
          </a:ln>
          <a:effectLst/>
        </p:spPr>
        <p:txBody>
          <a:bodyPr rtlCol="0" anchor="ctr" lIns="73152" rIns="73152" tIns="36576" bIns="36576"/>
          <a:lstStyle/>
          <a:p>
            <a:pPr algn="ctr"/>
          </a:p>
        </p:txBody>
      </p:sp>
      <p:sp>
        <p:nvSpPr>
          <p:cNvPr id="5" name="Round Same Side Corner Rectangle 4"/>
          <p:cNvSpPr/>
          <p:nvPr/>
        </p:nvSpPr>
        <p:spPr>
          <a:xfrm>
            <a:off x="6562847" y="3891343"/>
            <a:ext cx="785877" cy="491173"/>
          </a:xfrm>
          <a:prstGeom prst="round2SameRect">
            <a:avLst>
              <a:gd name="adj1" fmla="val 50000"/>
              <a:gd name="adj2" fmla="val 0"/>
            </a:avLst>
          </a:prstGeom>
          <a:solidFill>
            <a:srgbClr val="10213B"/>
          </a:solidFill>
          <a:ln>
            <a:noFill/>
          </a:ln>
          <a:effectLst/>
        </p:spPr>
        <p:txBody>
          <a:bodyPr rtlCol="0" anchor="ctr" lIns="73152" rIns="73152" tIns="36576" bIns="36576"/>
          <a:lstStyle/>
          <a:p>
            <a:pPr algn="ctr"/>
          </a:p>
        </p:txBody>
      </p:sp>
      <p:sp>
        <p:nvSpPr>
          <p:cNvPr id="6" name="Oval 5"/>
          <p:cNvSpPr/>
          <p:nvPr/>
        </p:nvSpPr>
        <p:spPr>
          <a:xfrm>
            <a:off x="7771133" y="3587845"/>
            <a:ext cx="412585" cy="412585"/>
          </a:xfrm>
          <a:prstGeom prst="ellipse">
            <a:avLst/>
          </a:prstGeom>
          <a:solidFill>
            <a:srgbClr val="1765D1"/>
          </a:solidFill>
          <a:ln>
            <a:noFill/>
          </a:ln>
          <a:effectLst/>
        </p:spPr>
        <p:txBody>
          <a:bodyPr rtlCol="0" anchor="ctr" lIns="73152" rIns="73152" tIns="36576" bIns="36576"/>
          <a:lstStyle/>
          <a:p>
            <a:pPr algn="ctr"/>
          </a:p>
        </p:txBody>
      </p:sp>
      <p:sp>
        <p:nvSpPr>
          <p:cNvPr id="7" name="Round Same Side Corner Rectangle 6"/>
          <p:cNvSpPr/>
          <p:nvPr/>
        </p:nvSpPr>
        <p:spPr>
          <a:xfrm>
            <a:off x="7584487" y="4059372"/>
            <a:ext cx="785877" cy="491173"/>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8" name="Oval 7"/>
          <p:cNvSpPr/>
          <p:nvPr/>
        </p:nvSpPr>
        <p:spPr>
          <a:xfrm>
            <a:off x="8792774" y="3492232"/>
            <a:ext cx="412585" cy="412585"/>
          </a:xfrm>
          <a:prstGeom prst="ellipse">
            <a:avLst/>
          </a:prstGeom>
          <a:solidFill>
            <a:srgbClr val="1F4A85"/>
          </a:solidFill>
          <a:ln>
            <a:noFill/>
          </a:ln>
          <a:effectLst/>
        </p:spPr>
        <p:txBody>
          <a:bodyPr rtlCol="0" anchor="ctr" lIns="73152" rIns="73152" tIns="36576" bIns="36576"/>
          <a:lstStyle/>
          <a:p>
            <a:pPr algn="ctr"/>
          </a:p>
        </p:txBody>
      </p:sp>
      <p:sp>
        <p:nvSpPr>
          <p:cNvPr id="9" name="Round Same Side Corner Rectangle 8"/>
          <p:cNvSpPr/>
          <p:nvPr/>
        </p:nvSpPr>
        <p:spPr>
          <a:xfrm>
            <a:off x="8606128" y="3963758"/>
            <a:ext cx="785877" cy="491173"/>
          </a:xfrm>
          <a:prstGeom prst="round2SameRect">
            <a:avLst>
              <a:gd name="adj1" fmla="val 50000"/>
              <a:gd name="adj2" fmla="val 0"/>
            </a:avLst>
          </a:prstGeom>
          <a:solidFill>
            <a:srgbClr val="1F4A85"/>
          </a:solidFill>
          <a:ln>
            <a:noFill/>
          </a:ln>
          <a:effectLst/>
        </p:spPr>
        <p:txBody>
          <a:bodyPr rtlCol="0" anchor="ctr" lIns="73152" rIns="73152" tIns="36576" bIns="36576"/>
          <a:lstStyle/>
          <a:p>
            <a:pPr algn="ctr"/>
          </a:p>
        </p:txBody>
      </p:sp>
      <p:sp>
        <p:nvSpPr>
          <p:cNvPr id="10" name="Oval 9"/>
          <p:cNvSpPr/>
          <p:nvPr/>
        </p:nvSpPr>
        <p:spPr>
          <a:xfrm>
            <a:off x="9814415" y="3620594"/>
            <a:ext cx="412585" cy="412585"/>
          </a:xfrm>
          <a:prstGeom prst="ellipse">
            <a:avLst/>
          </a:prstGeom>
          <a:solidFill>
            <a:srgbClr val="4F8BE0"/>
          </a:solidFill>
          <a:ln>
            <a:noFill/>
          </a:ln>
          <a:effectLst/>
        </p:spPr>
        <p:txBody>
          <a:bodyPr rtlCol="0" anchor="ctr" lIns="73152" rIns="73152" tIns="36576" bIns="36576"/>
          <a:lstStyle/>
          <a:p>
            <a:pPr algn="ctr"/>
          </a:p>
        </p:txBody>
      </p:sp>
      <p:sp>
        <p:nvSpPr>
          <p:cNvPr id="11" name="Round Same Side Corner Rectangle 10"/>
          <p:cNvSpPr/>
          <p:nvPr/>
        </p:nvSpPr>
        <p:spPr>
          <a:xfrm>
            <a:off x="9627769" y="4092121"/>
            <a:ext cx="785877" cy="491173"/>
          </a:xfrm>
          <a:prstGeom prst="round2SameRect">
            <a:avLst>
              <a:gd name="adj1" fmla="val 50000"/>
              <a:gd name="adj2" fmla="val 0"/>
            </a:avLst>
          </a:prstGeom>
          <a:solidFill>
            <a:srgbClr val="4F8BE0"/>
          </a:solidFill>
          <a:ln>
            <a:noFill/>
          </a:ln>
          <a:effectLst/>
        </p:spPr>
        <p:txBody>
          <a:bodyPr rtlCol="0" anchor="ctr" lIns="73152" rIns="73152" tIns="36576" bIns="36576"/>
          <a:lstStyle/>
          <a:p>
            <a:pPr algn="ctr"/>
          </a:p>
        </p:txBody>
      </p:sp>
      <p:sp>
        <p:nvSpPr>
          <p:cNvPr id="12" name="Oval 11"/>
          <p:cNvSpPr/>
          <p:nvPr/>
        </p:nvSpPr>
        <p:spPr>
          <a:xfrm>
            <a:off x="10836056" y="3632555"/>
            <a:ext cx="412585" cy="412585"/>
          </a:xfrm>
          <a:prstGeom prst="ellipse">
            <a:avLst/>
          </a:prstGeom>
          <a:solidFill>
            <a:srgbClr val="17407F"/>
          </a:solidFill>
          <a:ln>
            <a:noFill/>
          </a:ln>
          <a:effectLst/>
        </p:spPr>
        <p:txBody>
          <a:bodyPr rtlCol="0" anchor="ctr" lIns="73152" rIns="73152" tIns="36576" bIns="36576"/>
          <a:lstStyle/>
          <a:p>
            <a:pPr algn="ctr"/>
          </a:p>
        </p:txBody>
      </p:sp>
      <p:sp>
        <p:nvSpPr>
          <p:cNvPr id="13" name="Round Same Side Corner Rectangle 12"/>
          <p:cNvSpPr/>
          <p:nvPr/>
        </p:nvSpPr>
        <p:spPr>
          <a:xfrm>
            <a:off x="10649410" y="4104081"/>
            <a:ext cx="785877" cy="491173"/>
          </a:xfrm>
          <a:prstGeom prst="round2SameRect">
            <a:avLst>
              <a:gd name="adj1" fmla="val 50000"/>
              <a:gd name="adj2" fmla="val 0"/>
            </a:avLst>
          </a:prstGeom>
          <a:solidFill>
            <a:srgbClr val="17407F"/>
          </a:solidFill>
          <a:ln>
            <a:noFill/>
          </a:ln>
          <a:effectLst/>
        </p:spPr>
        <p:txBody>
          <a:bodyPr rtlCol="0" anchor="ctr" lIns="73152" rIns="73152" tIns="36576" bIns="36576"/>
          <a:lstStyle/>
          <a:p>
            <a:pPr algn="ctr"/>
          </a:p>
        </p:txBody>
      </p:sp>
      <p:sp>
        <p:nvSpPr>
          <p:cNvPr id="14" name="Rectangle 13"/>
          <p:cNvSpPr/>
          <p:nvPr/>
        </p:nvSpPr>
        <p:spPr>
          <a:xfrm>
            <a:off x="7429719" y="4379976"/>
            <a:ext cx="329184" cy="146304"/>
          </a:xfrm>
          <a:prstGeom prst="rect">
            <a:avLst/>
          </a:prstGeom>
          <a:solidFill>
            <a:srgbClr val="FFFFFF"/>
          </a:solidFill>
          <a:ln w="9525">
            <a:solidFill>
              <a:srgbClr val="B8CFEE"/>
            </a:solidFill>
          </a:ln>
          <a:effectLst/>
        </p:spPr>
        <p:txBody>
          <a:bodyPr rtlCol="0" anchor="ctr" lIns="73152" rIns="73152" tIns="36576" bIns="36576"/>
          <a:lstStyle/>
          <a:p>
            <a:pPr algn="ctr"/>
          </a:p>
        </p:txBody>
      </p:sp>
      <p:sp>
        <p:nvSpPr>
          <p:cNvPr id="15" name="Rectangle 14"/>
          <p:cNvSpPr/>
          <p:nvPr/>
        </p:nvSpPr>
        <p:spPr>
          <a:xfrm>
            <a:off x="10239231" y="4379976"/>
            <a:ext cx="329184" cy="146304"/>
          </a:xfrm>
          <a:prstGeom prst="rect">
            <a:avLst/>
          </a:prstGeom>
          <a:solidFill>
            <a:srgbClr val="FFFFFF"/>
          </a:solidFill>
          <a:ln w="9525">
            <a:solidFill>
              <a:srgbClr val="B8CFEE"/>
            </a:solidFill>
          </a:ln>
          <a:effectLst/>
        </p:spPr>
        <p:txBody>
          <a:bodyPr rtlCol="0" anchor="ctr" lIns="73152" rIns="73152" tIns="36576" bIns="36576"/>
          <a:lstStyle/>
          <a:p>
            <a:pPr algn="ctr"/>
          </a:p>
        </p:txBody>
      </p:sp>
      <p:sp>
        <p:nvSpPr>
          <p:cNvPr id="16" name="Rectangle 15"/>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17" name="TextBox 16"/>
          <p:cNvSpPr txBox="1"/>
          <p:nvPr/>
        </p:nvSpPr>
        <p:spPr>
          <a:xfrm>
            <a:off x="685800" y="1371600"/>
            <a:ext cx="4846320" cy="274320"/>
          </a:xfrm>
          <a:prstGeom prst="rect">
            <a:avLst/>
          </a:prstGeom>
          <a:noFill/>
        </p:spPr>
        <p:txBody>
          <a:bodyPr wrap="square" lIns="0" rIns="0" tIns="0" bIns="0" anchor="t"/>
          <a:lstStyle/>
          <a:p>
            <a:pPr algn="l">
              <a:lnSpc>
                <a:spcPct val="115000"/>
              </a:lnSpc>
              <a:spcAft>
                <a:spcPts val="0"/>
              </a:spcAft>
            </a:pPr>
            <a:r>
              <a:rPr sz="1000" b="1" i="0" spc="150">
                <a:solidFill>
                  <a:srgbClr val="4F8BE0"/>
                </a:solidFill>
                <a:latin typeface="Inter"/>
              </a:rPr>
              <a:t>COMMUNITY</a:t>
            </a:r>
          </a:p>
        </p:txBody>
      </p:sp>
      <p:sp>
        <p:nvSpPr>
          <p:cNvPr id="18" name="TextBox 17"/>
          <p:cNvSpPr txBox="1"/>
          <p:nvPr/>
        </p:nvSpPr>
        <p:spPr>
          <a:xfrm>
            <a:off x="685800" y="1783080"/>
            <a:ext cx="4846320" cy="2194560"/>
          </a:xfrm>
          <a:prstGeom prst="rect">
            <a:avLst/>
          </a:prstGeom>
          <a:noFill/>
        </p:spPr>
        <p:txBody>
          <a:bodyPr wrap="square" lIns="0" rIns="0" tIns="0" bIns="0" anchor="t"/>
          <a:lstStyle/>
          <a:p>
            <a:pPr algn="l">
              <a:lnSpc>
                <a:spcPct val="105000"/>
              </a:lnSpc>
              <a:spcAft>
                <a:spcPts val="0"/>
              </a:spcAft>
            </a:pPr>
            <a:r>
              <a:rPr sz="3200" b="1" i="0">
                <a:solidFill>
                  <a:srgbClr val="FFFFFF"/>
                </a:solidFill>
                <a:latin typeface="Inter"/>
              </a:rPr>
              <a:t>Founders do better together.</a:t>
            </a:r>
          </a:p>
        </p:txBody>
      </p:sp>
      <p:sp>
        <p:nvSpPr>
          <p:cNvPr id="19" name="TextBox 18"/>
          <p:cNvSpPr txBox="1"/>
          <p:nvPr/>
        </p:nvSpPr>
        <p:spPr>
          <a:xfrm>
            <a:off x="685800" y="3931920"/>
            <a:ext cx="4663440" cy="1828800"/>
          </a:xfrm>
          <a:prstGeom prst="rect">
            <a:avLst/>
          </a:prstGeom>
          <a:noFill/>
        </p:spPr>
        <p:txBody>
          <a:bodyPr wrap="square" lIns="0" rIns="0" tIns="0" bIns="0" anchor="t"/>
          <a:lstStyle/>
          <a:p>
            <a:pPr algn="l">
              <a:lnSpc>
                <a:spcPct val="135000"/>
              </a:lnSpc>
              <a:spcAft>
                <a:spcPts val="0"/>
              </a:spcAft>
            </a:pPr>
            <a:r>
              <a:rPr sz="1400" b="0" i="0">
                <a:solidFill>
                  <a:srgbClr val="C9D6E8"/>
                </a:solidFill>
                <a:latin typeface="Inter"/>
              </a:rPr>
              <a:t>Peer groups, office hours and small gatherings turn a lonely journey into a shared one — with accountability built in.</a:t>
            </a:r>
          </a:p>
        </p:txBody>
      </p:sp>
      <p:sp>
        <p:nvSpPr>
          <p:cNvPr id="20" name="TextBox 19"/>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AI GUIDANCE WITH HUMAN SUPPORT</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Digital guidance, strengthened by human experience.</a:t>
            </a:r>
          </a:p>
        </p:txBody>
      </p:sp>
      <p:sp>
        <p:nvSpPr>
          <p:cNvPr id="4" name="Rounded Rectangle 3"/>
          <p:cNvSpPr/>
          <p:nvPr/>
        </p:nvSpPr>
        <p:spPr>
          <a:xfrm>
            <a:off x="9951963" y="402336"/>
            <a:ext cx="16453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APPROACH</a:t>
            </a:r>
          </a:p>
        </p:txBody>
      </p:sp>
      <p:sp>
        <p:nvSpPr>
          <p:cNvPr id="5" name="Rectangle 4"/>
          <p:cNvSpPr/>
          <p:nvPr/>
        </p:nvSpPr>
        <p:spPr>
          <a:xfrm>
            <a:off x="594360" y="2011680"/>
            <a:ext cx="4206240" cy="73152"/>
          </a:xfrm>
          <a:prstGeom prst="rect">
            <a:avLst/>
          </a:prstGeom>
          <a:solidFill>
            <a:srgbClr val="1765D1"/>
          </a:solidFill>
          <a:ln>
            <a:noFill/>
          </a:ln>
          <a:effectLst/>
        </p:spPr>
        <p:txBody>
          <a:bodyPr rtlCol="0" anchor="ctr" lIns="73152" rIns="73152" tIns="36576" bIns="36576"/>
          <a:lstStyle/>
          <a:p>
            <a:pPr algn="ctr"/>
          </a:p>
        </p:txBody>
      </p:sp>
      <p:sp>
        <p:nvSpPr>
          <p:cNvPr id="6" name="TextBox 5"/>
          <p:cNvSpPr txBox="1"/>
          <p:nvPr/>
        </p:nvSpPr>
        <p:spPr>
          <a:xfrm>
            <a:off x="594360" y="2240280"/>
            <a:ext cx="4206240" cy="274320"/>
          </a:xfrm>
          <a:prstGeom prst="rect">
            <a:avLst/>
          </a:prstGeom>
          <a:noFill/>
        </p:spPr>
        <p:txBody>
          <a:bodyPr wrap="square" lIns="0" rIns="0" tIns="0" bIns="0" anchor="t"/>
          <a:lstStyle/>
          <a:p>
            <a:pPr algn="l">
              <a:lnSpc>
                <a:spcPct val="115000"/>
              </a:lnSpc>
              <a:spcAft>
                <a:spcPts val="0"/>
              </a:spcAft>
            </a:pPr>
            <a:r>
              <a:rPr sz="1000" b="1" i="0" spc="130">
                <a:solidFill>
                  <a:srgbClr val="1765D1"/>
                </a:solidFill>
                <a:latin typeface="Inter"/>
              </a:rPr>
              <a:t>AI-ASSISTED SUPPORT</a:t>
            </a:r>
          </a:p>
        </p:txBody>
      </p:sp>
      <p:sp>
        <p:nvSpPr>
          <p:cNvPr id="7" name="TextBox 6"/>
          <p:cNvSpPr txBox="1"/>
          <p:nvPr/>
        </p:nvSpPr>
        <p:spPr>
          <a:xfrm>
            <a:off x="594360" y="2542032"/>
            <a:ext cx="4206240"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Helps founders prepare and keep momentum</a:t>
            </a:r>
          </a:p>
        </p:txBody>
      </p:sp>
      <p:cxnSp>
        <p:nvCxnSpPr>
          <p:cNvPr id="8" name="Connector 7"/>
          <p:cNvCxnSpPr/>
          <p:nvPr/>
        </p:nvCxnSpPr>
        <p:spPr>
          <a:xfrm>
            <a:off x="594360" y="3108960"/>
            <a:ext cx="4206240" cy="0"/>
          </a:xfrm>
          <a:prstGeom prst="line">
            <a:avLst/>
          </a:prstGeom>
          <a:ln w="12700">
            <a:solidFill>
              <a:srgbClr val="D5E2F3"/>
            </a:solidFill>
          </a:ln>
        </p:spPr>
      </p:cxnSp>
      <p:sp>
        <p:nvSpPr>
          <p:cNvPr id="9" name="TextBox 8"/>
          <p:cNvSpPr txBox="1"/>
          <p:nvPr/>
        </p:nvSpPr>
        <p:spPr>
          <a:xfrm>
            <a:off x="594360" y="322783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Organising information</a:t>
            </a:r>
          </a:p>
        </p:txBody>
      </p:sp>
      <p:cxnSp>
        <p:nvCxnSpPr>
          <p:cNvPr id="10" name="Connector 9"/>
          <p:cNvCxnSpPr/>
          <p:nvPr/>
        </p:nvCxnSpPr>
        <p:spPr>
          <a:xfrm>
            <a:off x="594360" y="3657600"/>
            <a:ext cx="4206240" cy="0"/>
          </a:xfrm>
          <a:prstGeom prst="line">
            <a:avLst/>
          </a:prstGeom>
          <a:ln w="12700">
            <a:solidFill>
              <a:srgbClr val="D5E2F3"/>
            </a:solidFill>
          </a:ln>
        </p:spPr>
      </p:cxnSp>
      <p:sp>
        <p:nvSpPr>
          <p:cNvPr id="11" name="TextBox 10"/>
          <p:cNvSpPr txBox="1"/>
          <p:nvPr/>
        </p:nvSpPr>
        <p:spPr>
          <a:xfrm>
            <a:off x="594360" y="377647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Exploring questions</a:t>
            </a:r>
          </a:p>
        </p:txBody>
      </p:sp>
      <p:cxnSp>
        <p:nvCxnSpPr>
          <p:cNvPr id="12" name="Connector 11"/>
          <p:cNvCxnSpPr/>
          <p:nvPr/>
        </p:nvCxnSpPr>
        <p:spPr>
          <a:xfrm>
            <a:off x="594360" y="4206240"/>
            <a:ext cx="4206240" cy="0"/>
          </a:xfrm>
          <a:prstGeom prst="line">
            <a:avLst/>
          </a:prstGeom>
          <a:ln w="12700">
            <a:solidFill>
              <a:srgbClr val="D5E2F3"/>
            </a:solidFill>
          </a:ln>
        </p:spPr>
      </p:cxnSp>
      <p:sp>
        <p:nvSpPr>
          <p:cNvPr id="13" name="TextBox 12"/>
          <p:cNvSpPr txBox="1"/>
          <p:nvPr/>
        </p:nvSpPr>
        <p:spPr>
          <a:xfrm>
            <a:off x="594360" y="432511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Drafting plans</a:t>
            </a:r>
          </a:p>
        </p:txBody>
      </p:sp>
      <p:cxnSp>
        <p:nvCxnSpPr>
          <p:cNvPr id="14" name="Connector 13"/>
          <p:cNvCxnSpPr/>
          <p:nvPr/>
        </p:nvCxnSpPr>
        <p:spPr>
          <a:xfrm>
            <a:off x="594360" y="4754879"/>
            <a:ext cx="4206240" cy="0"/>
          </a:xfrm>
          <a:prstGeom prst="line">
            <a:avLst/>
          </a:prstGeom>
          <a:ln w="12700">
            <a:solidFill>
              <a:srgbClr val="D5E2F3"/>
            </a:solidFill>
          </a:ln>
        </p:spPr>
      </p:cxnSp>
      <p:sp>
        <p:nvSpPr>
          <p:cNvPr id="15" name="TextBox 14"/>
          <p:cNvSpPr txBox="1"/>
          <p:nvPr/>
        </p:nvSpPr>
        <p:spPr>
          <a:xfrm>
            <a:off x="594360" y="4873751"/>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Suggesting resources</a:t>
            </a:r>
          </a:p>
        </p:txBody>
      </p:sp>
      <p:cxnSp>
        <p:nvCxnSpPr>
          <p:cNvPr id="16" name="Connector 15"/>
          <p:cNvCxnSpPr/>
          <p:nvPr/>
        </p:nvCxnSpPr>
        <p:spPr>
          <a:xfrm>
            <a:off x="594360" y="5303520"/>
            <a:ext cx="4206240" cy="0"/>
          </a:xfrm>
          <a:prstGeom prst="line">
            <a:avLst/>
          </a:prstGeom>
          <a:ln w="12700">
            <a:solidFill>
              <a:srgbClr val="D5E2F3"/>
            </a:solidFill>
          </a:ln>
        </p:spPr>
      </p:cxnSp>
      <p:sp>
        <p:nvSpPr>
          <p:cNvPr id="17" name="TextBox 16"/>
          <p:cNvSpPr txBox="1"/>
          <p:nvPr/>
        </p:nvSpPr>
        <p:spPr>
          <a:xfrm>
            <a:off x="594360" y="542239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Tracking next steps</a:t>
            </a:r>
          </a:p>
        </p:txBody>
      </p:sp>
      <p:sp>
        <p:nvSpPr>
          <p:cNvPr id="18" name="Rectangle 17"/>
          <p:cNvSpPr/>
          <p:nvPr/>
        </p:nvSpPr>
        <p:spPr>
          <a:xfrm>
            <a:off x="7388352" y="2011680"/>
            <a:ext cx="4206240" cy="73152"/>
          </a:xfrm>
          <a:prstGeom prst="rect">
            <a:avLst/>
          </a:prstGeom>
          <a:solidFill>
            <a:srgbClr val="10213B"/>
          </a:solidFill>
          <a:ln>
            <a:noFill/>
          </a:ln>
          <a:effectLst/>
        </p:spPr>
        <p:txBody>
          <a:bodyPr rtlCol="0" anchor="ctr" lIns="73152" rIns="73152" tIns="36576" bIns="36576"/>
          <a:lstStyle/>
          <a:p>
            <a:pPr algn="ctr"/>
          </a:p>
        </p:txBody>
      </p:sp>
      <p:sp>
        <p:nvSpPr>
          <p:cNvPr id="19" name="TextBox 18"/>
          <p:cNvSpPr txBox="1"/>
          <p:nvPr/>
        </p:nvSpPr>
        <p:spPr>
          <a:xfrm>
            <a:off x="7388352" y="2240280"/>
            <a:ext cx="4206240" cy="274320"/>
          </a:xfrm>
          <a:prstGeom prst="rect">
            <a:avLst/>
          </a:prstGeom>
          <a:noFill/>
        </p:spPr>
        <p:txBody>
          <a:bodyPr wrap="square" lIns="0" rIns="0" tIns="0" bIns="0" anchor="t"/>
          <a:lstStyle/>
          <a:p>
            <a:pPr algn="l">
              <a:lnSpc>
                <a:spcPct val="115000"/>
              </a:lnSpc>
              <a:spcAft>
                <a:spcPts val="0"/>
              </a:spcAft>
            </a:pPr>
            <a:r>
              <a:rPr sz="1000" b="1" i="0" spc="130">
                <a:solidFill>
                  <a:srgbClr val="10213B"/>
                </a:solidFill>
                <a:latin typeface="Inter"/>
              </a:rPr>
              <a:t>HUMAN SUPPORT</a:t>
            </a:r>
          </a:p>
        </p:txBody>
      </p:sp>
      <p:sp>
        <p:nvSpPr>
          <p:cNvPr id="20" name="TextBox 19"/>
          <p:cNvSpPr txBox="1"/>
          <p:nvPr/>
        </p:nvSpPr>
        <p:spPr>
          <a:xfrm>
            <a:off x="7388352" y="2542032"/>
            <a:ext cx="4206240"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Brings judgement and real-world context</a:t>
            </a:r>
          </a:p>
        </p:txBody>
      </p:sp>
      <p:cxnSp>
        <p:nvCxnSpPr>
          <p:cNvPr id="21" name="Connector 20"/>
          <p:cNvCxnSpPr/>
          <p:nvPr/>
        </p:nvCxnSpPr>
        <p:spPr>
          <a:xfrm>
            <a:off x="7388352" y="3108960"/>
            <a:ext cx="4206240" cy="0"/>
          </a:xfrm>
          <a:prstGeom prst="line">
            <a:avLst/>
          </a:prstGeom>
          <a:ln w="12700">
            <a:solidFill>
              <a:srgbClr val="D5E2F3"/>
            </a:solidFill>
          </a:ln>
        </p:spPr>
      </p:cxnSp>
      <p:sp>
        <p:nvSpPr>
          <p:cNvPr id="22" name="TextBox 21"/>
          <p:cNvSpPr txBox="1"/>
          <p:nvPr/>
        </p:nvSpPr>
        <p:spPr>
          <a:xfrm>
            <a:off x="7388352" y="322783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Mentoring</a:t>
            </a:r>
          </a:p>
        </p:txBody>
      </p:sp>
      <p:cxnSp>
        <p:nvCxnSpPr>
          <p:cNvPr id="23" name="Connector 22"/>
          <p:cNvCxnSpPr/>
          <p:nvPr/>
        </p:nvCxnSpPr>
        <p:spPr>
          <a:xfrm>
            <a:off x="7388352" y="3657600"/>
            <a:ext cx="4206240" cy="0"/>
          </a:xfrm>
          <a:prstGeom prst="line">
            <a:avLst/>
          </a:prstGeom>
          <a:ln w="12700">
            <a:solidFill>
              <a:srgbClr val="D5E2F3"/>
            </a:solidFill>
          </a:ln>
        </p:spPr>
      </p:cxnSp>
      <p:sp>
        <p:nvSpPr>
          <p:cNvPr id="24" name="TextBox 23"/>
          <p:cNvSpPr txBox="1"/>
          <p:nvPr/>
        </p:nvSpPr>
        <p:spPr>
          <a:xfrm>
            <a:off x="7388352" y="377647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Specialist judgement</a:t>
            </a:r>
          </a:p>
        </p:txBody>
      </p:sp>
      <p:cxnSp>
        <p:nvCxnSpPr>
          <p:cNvPr id="25" name="Connector 24"/>
          <p:cNvCxnSpPr/>
          <p:nvPr/>
        </p:nvCxnSpPr>
        <p:spPr>
          <a:xfrm>
            <a:off x="7388352" y="4206240"/>
            <a:ext cx="4206240" cy="0"/>
          </a:xfrm>
          <a:prstGeom prst="line">
            <a:avLst/>
          </a:prstGeom>
          <a:ln w="12700">
            <a:solidFill>
              <a:srgbClr val="D5E2F3"/>
            </a:solidFill>
          </a:ln>
        </p:spPr>
      </p:cxnSp>
      <p:sp>
        <p:nvSpPr>
          <p:cNvPr id="26" name="TextBox 25"/>
          <p:cNvSpPr txBox="1"/>
          <p:nvPr/>
        </p:nvSpPr>
        <p:spPr>
          <a:xfrm>
            <a:off x="7388352" y="432511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Practical feedback</a:t>
            </a:r>
          </a:p>
        </p:txBody>
      </p:sp>
      <p:cxnSp>
        <p:nvCxnSpPr>
          <p:cNvPr id="27" name="Connector 26"/>
          <p:cNvCxnSpPr/>
          <p:nvPr/>
        </p:nvCxnSpPr>
        <p:spPr>
          <a:xfrm>
            <a:off x="7388352" y="4754879"/>
            <a:ext cx="4206240" cy="0"/>
          </a:xfrm>
          <a:prstGeom prst="line">
            <a:avLst/>
          </a:prstGeom>
          <a:ln w="12700">
            <a:solidFill>
              <a:srgbClr val="D5E2F3"/>
            </a:solidFill>
          </a:ln>
        </p:spPr>
      </p:cxnSp>
      <p:sp>
        <p:nvSpPr>
          <p:cNvPr id="28" name="TextBox 27"/>
          <p:cNvSpPr txBox="1"/>
          <p:nvPr/>
        </p:nvSpPr>
        <p:spPr>
          <a:xfrm>
            <a:off x="7388352" y="4873751"/>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Complex business decisions</a:t>
            </a:r>
          </a:p>
        </p:txBody>
      </p:sp>
      <p:cxnSp>
        <p:nvCxnSpPr>
          <p:cNvPr id="29" name="Connector 28"/>
          <p:cNvCxnSpPr/>
          <p:nvPr/>
        </p:nvCxnSpPr>
        <p:spPr>
          <a:xfrm>
            <a:off x="7388352" y="5303520"/>
            <a:ext cx="4206240" cy="0"/>
          </a:xfrm>
          <a:prstGeom prst="line">
            <a:avLst/>
          </a:prstGeom>
          <a:ln w="12700">
            <a:solidFill>
              <a:srgbClr val="D5E2F3"/>
            </a:solidFill>
          </a:ln>
        </p:spPr>
      </p:cxnSp>
      <p:sp>
        <p:nvSpPr>
          <p:cNvPr id="30" name="TextBox 29"/>
          <p:cNvSpPr txBox="1"/>
          <p:nvPr/>
        </p:nvSpPr>
        <p:spPr>
          <a:xfrm>
            <a:off x="7388352" y="542239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Sector expertise</a:t>
            </a:r>
          </a:p>
        </p:txBody>
      </p:sp>
      <p:sp>
        <p:nvSpPr>
          <p:cNvPr id="31" name="Oval 30"/>
          <p:cNvSpPr/>
          <p:nvPr/>
        </p:nvSpPr>
        <p:spPr>
          <a:xfrm>
            <a:off x="5074920" y="2606040"/>
            <a:ext cx="2057400" cy="2057400"/>
          </a:xfrm>
          <a:prstGeom prst="ellips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500" b="1" i="0">
                <a:solidFill>
                  <a:srgbClr val="10213B"/>
                </a:solidFill>
                <a:latin typeface="Inter"/>
              </a:rPr>
              <a:t>The founder
decides</a:t>
            </a:r>
          </a:p>
        </p:txBody>
      </p:sp>
      <p:sp>
        <p:nvSpPr>
          <p:cNvPr id="32" name="TextBox 31"/>
          <p:cNvSpPr txBox="1"/>
          <p:nvPr/>
        </p:nvSpPr>
        <p:spPr>
          <a:xfrm>
            <a:off x="594360" y="5943600"/>
            <a:ext cx="10972800" cy="32004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Principle: </a:t>
            </a:r>
            <a:r>
              <a:rPr sz="1150" b="0" i="0">
                <a:solidFill>
                  <a:srgbClr val="61738A"/>
                </a:solidFill>
                <a:latin typeface="Inter"/>
              </a:rPr>
              <a:t>AI prepares, people judge, founders decide. AI features will be tested with pilot founders before release; none is presented here as live.</a:t>
            </a:r>
          </a:p>
        </p:txBody>
      </p:sp>
      <p:sp>
        <p:nvSpPr>
          <p:cNvPr id="33" name="TextBox 32"/>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4" name="TextBox 33"/>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COMMUNITY AND MEANINGFUL CONNECTIONS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Relevant connections, measured by what happens next.</a:t>
            </a:r>
          </a:p>
        </p:txBody>
      </p:sp>
      <p:sp>
        <p:nvSpPr>
          <p:cNvPr id="4" name="Pentagon 3"/>
          <p:cNvSpPr/>
          <p:nvPr/>
        </p:nvSpPr>
        <p:spPr>
          <a:xfrm>
            <a:off x="594360" y="2148840"/>
            <a:ext cx="1888693" cy="548640"/>
          </a:xfrm>
          <a:prstGeom prst="homePlat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Request</a:t>
            </a:r>
          </a:p>
        </p:txBody>
      </p:sp>
      <p:sp>
        <p:nvSpPr>
          <p:cNvPr id="5" name="Chevron 4"/>
          <p:cNvSpPr/>
          <p:nvPr/>
        </p:nvSpPr>
        <p:spPr>
          <a:xfrm>
            <a:off x="2428189" y="2148840"/>
            <a:ext cx="1888693" cy="548640"/>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Consent</a:t>
            </a:r>
          </a:p>
        </p:txBody>
      </p:sp>
      <p:sp>
        <p:nvSpPr>
          <p:cNvPr id="6" name="Chevron 5"/>
          <p:cNvSpPr/>
          <p:nvPr/>
        </p:nvSpPr>
        <p:spPr>
          <a:xfrm>
            <a:off x="4262018"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Introduction</a:t>
            </a:r>
          </a:p>
        </p:txBody>
      </p:sp>
      <p:sp>
        <p:nvSpPr>
          <p:cNvPr id="7" name="Chevron 6"/>
          <p:cNvSpPr/>
          <p:nvPr/>
        </p:nvSpPr>
        <p:spPr>
          <a:xfrm>
            <a:off x="6095847"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Conversation</a:t>
            </a:r>
          </a:p>
        </p:txBody>
      </p:sp>
      <p:sp>
        <p:nvSpPr>
          <p:cNvPr id="8" name="Chevron 7"/>
          <p:cNvSpPr/>
          <p:nvPr/>
        </p:nvSpPr>
        <p:spPr>
          <a:xfrm>
            <a:off x="7929676"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Follow-up</a:t>
            </a:r>
          </a:p>
        </p:txBody>
      </p:sp>
      <p:sp>
        <p:nvSpPr>
          <p:cNvPr id="9" name="Chevron 8"/>
          <p:cNvSpPr/>
          <p:nvPr/>
        </p:nvSpPr>
        <p:spPr>
          <a:xfrm>
            <a:off x="9763506" y="2148840"/>
            <a:ext cx="1888693" cy="548640"/>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Outcome noted</a:t>
            </a:r>
          </a:p>
        </p:txBody>
      </p:sp>
      <p:sp>
        <p:nvSpPr>
          <p:cNvPr id="10" name="TextBox 9"/>
          <p:cNvSpPr txBox="1"/>
          <p:nvPr/>
        </p:nvSpPr>
        <p:spPr>
          <a:xfrm>
            <a:off x="594360" y="2816352"/>
            <a:ext cx="10972800" cy="27432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How a useful connection is designed to work — each introduction is opt-in on both sides and followed up.</a:t>
            </a:r>
          </a:p>
        </p:txBody>
      </p:sp>
      <p:sp>
        <p:nvSpPr>
          <p:cNvPr id="11" name="TextBox 10"/>
          <p:cNvSpPr txBox="1"/>
          <p:nvPr/>
        </p:nvSpPr>
        <p:spPr>
          <a:xfrm>
            <a:off x="594360" y="33832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WAYS PEOPLE MAY CONNECT</a:t>
            </a:r>
          </a:p>
        </p:txBody>
      </p:sp>
      <p:sp>
        <p:nvSpPr>
          <p:cNvPr id="12" name="TextBox 11"/>
          <p:cNvSpPr txBox="1"/>
          <p:nvPr/>
        </p:nvSpPr>
        <p:spPr>
          <a:xfrm>
            <a:off x="594360" y="3730752"/>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Founder introductions</a:t>
            </a:r>
          </a:p>
          <a:p>
            <a:pPr algn="l">
              <a:lnSpc>
                <a:spcPct val="110000"/>
              </a:lnSpc>
              <a:spcAft>
                <a:spcPts val="0"/>
              </a:spcAft>
            </a:pPr>
            <a:r>
              <a:rPr sz="1100" b="0" i="0">
                <a:solidFill>
                  <a:srgbClr val="61738A"/>
                </a:solidFill>
                <a:latin typeface="Inter"/>
              </a:rPr>
              <a:t>matched by need, stage or sector</a:t>
            </a:r>
          </a:p>
        </p:txBody>
      </p:sp>
      <p:sp>
        <p:nvSpPr>
          <p:cNvPr id="13" name="TextBox 12"/>
          <p:cNvSpPr txBox="1"/>
          <p:nvPr/>
        </p:nvSpPr>
        <p:spPr>
          <a:xfrm>
            <a:off x="3931920" y="3730752"/>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Peer groups</a:t>
            </a:r>
          </a:p>
          <a:p>
            <a:pPr algn="l">
              <a:lnSpc>
                <a:spcPct val="110000"/>
              </a:lnSpc>
              <a:spcAft>
                <a:spcPts val="0"/>
              </a:spcAft>
            </a:pPr>
            <a:r>
              <a:rPr sz="1100" b="0" i="0">
                <a:solidFill>
                  <a:srgbClr val="61738A"/>
                </a:solidFill>
                <a:latin typeface="Inter"/>
              </a:rPr>
              <a:t>small cohorts facing similar problems</a:t>
            </a:r>
          </a:p>
        </p:txBody>
      </p:sp>
      <p:sp>
        <p:nvSpPr>
          <p:cNvPr id="14" name="TextBox 13"/>
          <p:cNvSpPr txBox="1"/>
          <p:nvPr/>
        </p:nvSpPr>
        <p:spPr>
          <a:xfrm>
            <a:off x="594360" y="4297680"/>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Office hours</a:t>
            </a:r>
          </a:p>
          <a:p>
            <a:pPr algn="l">
              <a:lnSpc>
                <a:spcPct val="110000"/>
              </a:lnSpc>
              <a:spcAft>
                <a:spcPts val="0"/>
              </a:spcAft>
            </a:pPr>
            <a:r>
              <a:rPr sz="1100" b="0" i="0">
                <a:solidFill>
                  <a:srgbClr val="61738A"/>
                </a:solidFill>
                <a:latin typeface="Inter"/>
              </a:rPr>
              <a:t>short, bookable time with experts</a:t>
            </a:r>
          </a:p>
        </p:txBody>
      </p:sp>
      <p:sp>
        <p:nvSpPr>
          <p:cNvPr id="15" name="TextBox 14"/>
          <p:cNvSpPr txBox="1"/>
          <p:nvPr/>
        </p:nvSpPr>
        <p:spPr>
          <a:xfrm>
            <a:off x="3931920" y="4297680"/>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Mentor sessions</a:t>
            </a:r>
          </a:p>
          <a:p>
            <a:pPr algn="l">
              <a:lnSpc>
                <a:spcPct val="110000"/>
              </a:lnSpc>
              <a:spcAft>
                <a:spcPts val="0"/>
              </a:spcAft>
            </a:pPr>
            <a:r>
              <a:rPr sz="1100" b="0" i="0">
                <a:solidFill>
                  <a:srgbClr val="61738A"/>
                </a:solidFill>
                <a:latin typeface="Inter"/>
              </a:rPr>
              <a:t>focused conversations with follow-up</a:t>
            </a:r>
          </a:p>
        </p:txBody>
      </p:sp>
      <p:sp>
        <p:nvSpPr>
          <p:cNvPr id="16" name="TextBox 15"/>
          <p:cNvSpPr txBox="1"/>
          <p:nvPr/>
        </p:nvSpPr>
        <p:spPr>
          <a:xfrm>
            <a:off x="594360" y="4864608"/>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Small gatherings</a:t>
            </a:r>
          </a:p>
          <a:p>
            <a:pPr algn="l">
              <a:lnSpc>
                <a:spcPct val="110000"/>
              </a:lnSpc>
              <a:spcAft>
                <a:spcPts val="0"/>
              </a:spcAft>
            </a:pPr>
            <a:r>
              <a:rPr sz="1100" b="0" i="0">
                <a:solidFill>
                  <a:srgbClr val="61738A"/>
                </a:solidFill>
                <a:latin typeface="Inter"/>
              </a:rPr>
              <a:t>in-person meetups in the UAE</a:t>
            </a:r>
          </a:p>
        </p:txBody>
      </p:sp>
      <p:sp>
        <p:nvSpPr>
          <p:cNvPr id="17" name="TextBox 16"/>
          <p:cNvSpPr txBox="1"/>
          <p:nvPr/>
        </p:nvSpPr>
        <p:spPr>
          <a:xfrm>
            <a:off x="3931920" y="4864608"/>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Community discussions</a:t>
            </a:r>
          </a:p>
          <a:p>
            <a:pPr algn="l">
              <a:lnSpc>
                <a:spcPct val="110000"/>
              </a:lnSpc>
              <a:spcAft>
                <a:spcPts val="0"/>
              </a:spcAft>
            </a:pPr>
            <a:r>
              <a:rPr sz="1100" b="0" i="0">
                <a:solidFill>
                  <a:srgbClr val="61738A"/>
                </a:solidFill>
                <a:latin typeface="Inter"/>
              </a:rPr>
              <a:t>questions answered by peers</a:t>
            </a:r>
          </a:p>
        </p:txBody>
      </p:sp>
      <p:sp>
        <p:nvSpPr>
          <p:cNvPr id="18" name="TextBox 17"/>
          <p:cNvSpPr txBox="1"/>
          <p:nvPr/>
        </p:nvSpPr>
        <p:spPr>
          <a:xfrm>
            <a:off x="594360" y="5431536"/>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Accountability</a:t>
            </a:r>
          </a:p>
          <a:p>
            <a:pPr algn="l">
              <a:lnSpc>
                <a:spcPct val="110000"/>
              </a:lnSpc>
              <a:spcAft>
                <a:spcPts val="0"/>
              </a:spcAft>
            </a:pPr>
            <a:r>
              <a:rPr sz="1100" b="0" i="0">
                <a:solidFill>
                  <a:srgbClr val="61738A"/>
                </a:solidFill>
                <a:latin typeface="Inter"/>
              </a:rPr>
              <a:t>check-ins on commitments made</a:t>
            </a:r>
          </a:p>
        </p:txBody>
      </p:sp>
      <p:sp>
        <p:nvSpPr>
          <p:cNvPr id="19" name="Rectangle 18"/>
          <p:cNvSpPr/>
          <p:nvPr/>
        </p:nvSpPr>
        <p:spPr>
          <a:xfrm>
            <a:off x="7589520" y="3383280"/>
            <a:ext cx="4005072" cy="2788920"/>
          </a:xfrm>
          <a:prstGeom prst="rect">
            <a:avLst/>
          </a:prstGeom>
          <a:solidFill>
            <a:srgbClr val="10213B"/>
          </a:solidFill>
          <a:ln>
            <a:noFill/>
          </a:ln>
          <a:effectLst/>
        </p:spPr>
        <p:txBody>
          <a:bodyPr rtlCol="0" anchor="ctr" lIns="73152" rIns="73152" tIns="36576" bIns="36576"/>
          <a:lstStyle/>
          <a:p>
            <a:pPr algn="ctr"/>
          </a:p>
        </p:txBody>
      </p:sp>
      <p:sp>
        <p:nvSpPr>
          <p:cNvPr id="20" name="TextBox 19"/>
          <p:cNvSpPr txBox="1"/>
          <p:nvPr/>
        </p:nvSpPr>
        <p:spPr>
          <a:xfrm>
            <a:off x="7863840" y="3584448"/>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PRODUCT PRINCIPLES</a:t>
            </a:r>
          </a:p>
        </p:txBody>
      </p:sp>
      <p:sp>
        <p:nvSpPr>
          <p:cNvPr id="21" name="TextBox 20"/>
          <p:cNvSpPr txBox="1"/>
          <p:nvPr/>
        </p:nvSpPr>
        <p:spPr>
          <a:xfrm>
            <a:off x="7863840" y="395020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Consent first</a:t>
            </a:r>
          </a:p>
          <a:p>
            <a:pPr algn="l">
              <a:lnSpc>
                <a:spcPct val="115000"/>
              </a:lnSpc>
              <a:spcAft>
                <a:spcPts val="0"/>
              </a:spcAft>
            </a:pPr>
            <a:r>
              <a:rPr sz="1100" b="0" i="0">
                <a:solidFill>
                  <a:srgbClr val="C9D6E8"/>
                </a:solidFill>
                <a:latin typeface="Inter"/>
              </a:rPr>
              <a:t>No introduction without agreement from both sides.</a:t>
            </a:r>
          </a:p>
        </p:txBody>
      </p:sp>
      <p:sp>
        <p:nvSpPr>
          <p:cNvPr id="22" name="TextBox 21"/>
          <p:cNvSpPr txBox="1"/>
          <p:nvPr/>
        </p:nvSpPr>
        <p:spPr>
          <a:xfrm>
            <a:off x="7863840" y="468172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Founder-controlled visibility</a:t>
            </a:r>
          </a:p>
          <a:p>
            <a:pPr algn="l">
              <a:lnSpc>
                <a:spcPct val="115000"/>
              </a:lnSpc>
              <a:spcAft>
                <a:spcPts val="0"/>
              </a:spcAft>
            </a:pPr>
            <a:r>
              <a:rPr sz="1100" b="0" i="0">
                <a:solidFill>
                  <a:srgbClr val="C9D6E8"/>
                </a:solidFill>
                <a:latin typeface="Inter"/>
              </a:rPr>
              <a:t>Founders choose what their profile shows, and to whom.</a:t>
            </a:r>
          </a:p>
        </p:txBody>
      </p:sp>
      <p:sp>
        <p:nvSpPr>
          <p:cNvPr id="23" name="TextBox 22"/>
          <p:cNvSpPr txBox="1"/>
          <p:nvPr/>
        </p:nvSpPr>
        <p:spPr>
          <a:xfrm>
            <a:off x="7863840" y="541324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Quality over size</a:t>
            </a:r>
          </a:p>
          <a:p>
            <a:pPr algn="l">
              <a:lnSpc>
                <a:spcPct val="115000"/>
              </a:lnSpc>
              <a:spcAft>
                <a:spcPts val="0"/>
              </a:spcAft>
            </a:pPr>
            <a:r>
              <a:rPr sz="1100" b="0" i="0">
                <a:solidFill>
                  <a:srgbClr val="C9D6E8"/>
                </a:solidFill>
                <a:latin typeface="Inter"/>
              </a:rPr>
              <a:t>We track completed, useful interactions — not directory size.</a:t>
            </a:r>
          </a:p>
        </p:txBody>
      </p:sp>
      <p:sp>
        <p:nvSpPr>
          <p:cNvPr id="24" name="TextBox 2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5" name="TextBox 2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A YEAR-ROUND RHYTHM</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Support that does not stop when a programme ends.</a:t>
            </a:r>
          </a:p>
        </p:txBody>
      </p:sp>
      <p:sp>
        <p:nvSpPr>
          <p:cNvPr id="4" name="Rounded Rectangle 3"/>
          <p:cNvSpPr/>
          <p:nvPr/>
        </p:nvSpPr>
        <p:spPr>
          <a:xfrm>
            <a:off x="10113264" y="402336"/>
            <a:ext cx="14840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RHYTHM</a:t>
            </a:r>
          </a:p>
        </p:txBody>
      </p:sp>
      <p:sp>
        <p:nvSpPr>
          <p:cNvPr id="5" name="Oval 4"/>
          <p:cNvSpPr/>
          <p:nvPr/>
        </p:nvSpPr>
        <p:spPr>
          <a:xfrm>
            <a:off x="1234440" y="2011680"/>
            <a:ext cx="4114800" cy="4114800"/>
          </a:xfrm>
          <a:prstGeom prst="ellipse">
            <a:avLst/>
          </a:prstGeom>
          <a:solidFill>
            <a:srgbClr val="EDF4FE"/>
          </a:solidFill>
          <a:ln>
            <a:noFill/>
          </a:ln>
          <a:effectLst/>
        </p:spPr>
        <p:txBody>
          <a:bodyPr rtlCol="0" anchor="ctr" lIns="73152" rIns="73152" tIns="36576" bIns="36576"/>
          <a:lstStyle/>
          <a:p>
            <a:pPr algn="ctr"/>
          </a:p>
        </p:txBody>
      </p:sp>
      <p:sp>
        <p:nvSpPr>
          <p:cNvPr id="6" name="Oval 5"/>
          <p:cNvSpPr/>
          <p:nvPr/>
        </p:nvSpPr>
        <p:spPr>
          <a:xfrm>
            <a:off x="1828800" y="2606040"/>
            <a:ext cx="2926080" cy="2926080"/>
          </a:xfrm>
          <a:prstGeom prst="ellipse">
            <a:avLst/>
          </a:prstGeom>
          <a:solidFill>
            <a:srgbClr val="DCE8FB"/>
          </a:solidFill>
          <a:ln>
            <a:noFill/>
          </a:ln>
          <a:effectLst/>
        </p:spPr>
        <p:txBody>
          <a:bodyPr rtlCol="0" anchor="ctr" lIns="73152" rIns="73152" tIns="36576" bIns="36576"/>
          <a:lstStyle/>
          <a:p>
            <a:pPr algn="ctr"/>
          </a:p>
        </p:txBody>
      </p:sp>
      <p:sp>
        <p:nvSpPr>
          <p:cNvPr id="7" name="Oval 6"/>
          <p:cNvSpPr/>
          <p:nvPr/>
        </p:nvSpPr>
        <p:spPr>
          <a:xfrm>
            <a:off x="2377440" y="3154680"/>
            <a:ext cx="1828800" cy="1828800"/>
          </a:xfrm>
          <a:prstGeom prst="ellipse">
            <a:avLst/>
          </a:prstGeom>
          <a:solidFill>
            <a:srgbClr val="B8CFEE"/>
          </a:solidFill>
          <a:ln>
            <a:noFill/>
          </a:ln>
          <a:effectLst/>
        </p:spPr>
        <p:txBody>
          <a:bodyPr rtlCol="0" anchor="ctr" lIns="73152" rIns="73152" tIns="36576" bIns="36576"/>
          <a:lstStyle/>
          <a:p>
            <a:pPr algn="ctr"/>
          </a:p>
        </p:txBody>
      </p:sp>
      <p:sp>
        <p:nvSpPr>
          <p:cNvPr id="8" name="TextBox 7"/>
          <p:cNvSpPr txBox="1"/>
          <p:nvPr/>
        </p:nvSpPr>
        <p:spPr>
          <a:xfrm>
            <a:off x="2194560" y="2103120"/>
            <a:ext cx="2194560" cy="274320"/>
          </a:xfrm>
          <a:prstGeom prst="rect">
            <a:avLst/>
          </a:prstGeom>
          <a:noFill/>
        </p:spPr>
        <p:txBody>
          <a:bodyPr wrap="square" lIns="0" rIns="0" tIns="0" bIns="0" anchor="t"/>
          <a:lstStyle/>
          <a:p>
            <a:pPr algn="ctr">
              <a:lnSpc>
                <a:spcPct val="115000"/>
              </a:lnSpc>
              <a:spcAft>
                <a:spcPts val="0"/>
              </a:spcAft>
            </a:pPr>
            <a:r>
              <a:rPr sz="900" b="1" i="0" spc="120">
                <a:solidFill>
                  <a:srgbClr val="1765D1"/>
                </a:solidFill>
                <a:latin typeface="Inter"/>
              </a:rPr>
              <a:t>ALWAYS ON</a:t>
            </a:r>
          </a:p>
        </p:txBody>
      </p:sp>
      <p:sp>
        <p:nvSpPr>
          <p:cNvPr id="9" name="TextBox 8"/>
          <p:cNvSpPr txBox="1"/>
          <p:nvPr/>
        </p:nvSpPr>
        <p:spPr>
          <a:xfrm>
            <a:off x="2194560" y="2697480"/>
            <a:ext cx="2194560" cy="274320"/>
          </a:xfrm>
          <a:prstGeom prst="rect">
            <a:avLst/>
          </a:prstGeom>
          <a:noFill/>
        </p:spPr>
        <p:txBody>
          <a:bodyPr wrap="square" lIns="0" rIns="0" tIns="0" bIns="0" anchor="t"/>
          <a:lstStyle/>
          <a:p>
            <a:pPr algn="ctr">
              <a:lnSpc>
                <a:spcPct val="115000"/>
              </a:lnSpc>
              <a:spcAft>
                <a:spcPts val="0"/>
              </a:spcAft>
            </a:pPr>
            <a:r>
              <a:rPr sz="900" b="1" i="0" spc="120">
                <a:solidFill>
                  <a:srgbClr val="1765D1"/>
                </a:solidFill>
                <a:latin typeface="Inter"/>
              </a:rPr>
              <a:t>MONTHLY</a:t>
            </a:r>
          </a:p>
        </p:txBody>
      </p:sp>
      <p:sp>
        <p:nvSpPr>
          <p:cNvPr id="10" name="TextBox 9"/>
          <p:cNvSpPr txBox="1"/>
          <p:nvPr/>
        </p:nvSpPr>
        <p:spPr>
          <a:xfrm>
            <a:off x="2194560" y="3246120"/>
            <a:ext cx="2194560" cy="274320"/>
          </a:xfrm>
          <a:prstGeom prst="rect">
            <a:avLst/>
          </a:prstGeom>
          <a:noFill/>
        </p:spPr>
        <p:txBody>
          <a:bodyPr wrap="square" lIns="0" rIns="0" tIns="0" bIns="0" anchor="t"/>
          <a:lstStyle/>
          <a:p>
            <a:pPr algn="ctr">
              <a:lnSpc>
                <a:spcPct val="115000"/>
              </a:lnSpc>
              <a:spcAft>
                <a:spcPts val="0"/>
              </a:spcAft>
            </a:pPr>
            <a:r>
              <a:rPr sz="900" b="1" i="0" spc="120">
                <a:solidFill>
                  <a:srgbClr val="1765D1"/>
                </a:solidFill>
                <a:latin typeface="Inter"/>
              </a:rPr>
              <a:t>WEEKLY</a:t>
            </a:r>
          </a:p>
        </p:txBody>
      </p:sp>
      <p:sp>
        <p:nvSpPr>
          <p:cNvPr id="11" name="Rounded Rectangle 10"/>
          <p:cNvSpPr/>
          <p:nvPr/>
        </p:nvSpPr>
        <p:spPr>
          <a:xfrm>
            <a:off x="2788920" y="3794760"/>
            <a:ext cx="1005840" cy="685800"/>
          </a:xfrm>
          <a:prstGeom prst="roundRect">
            <a:avLst>
              <a:gd name="adj" fmla="val 40000"/>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Founder</a:t>
            </a:r>
          </a:p>
        </p:txBody>
      </p:sp>
      <p:sp>
        <p:nvSpPr>
          <p:cNvPr id="12" name="Rectangle 11"/>
          <p:cNvSpPr/>
          <p:nvPr/>
        </p:nvSpPr>
        <p:spPr>
          <a:xfrm>
            <a:off x="6035040" y="2011680"/>
            <a:ext cx="73152" cy="841248"/>
          </a:xfrm>
          <a:prstGeom prst="rect">
            <a:avLst/>
          </a:prstGeom>
          <a:solidFill>
            <a:srgbClr val="1765D1"/>
          </a:solidFill>
          <a:ln>
            <a:noFill/>
          </a:ln>
          <a:effectLst/>
        </p:spPr>
        <p:txBody>
          <a:bodyPr rtlCol="0" anchor="ctr" lIns="73152" rIns="73152" tIns="36576" bIns="36576"/>
          <a:lstStyle/>
          <a:p>
            <a:pPr algn="ctr"/>
          </a:p>
        </p:txBody>
      </p:sp>
      <p:sp>
        <p:nvSpPr>
          <p:cNvPr id="13" name="TextBox 12"/>
          <p:cNvSpPr txBox="1"/>
          <p:nvPr/>
        </p:nvSpPr>
        <p:spPr>
          <a:xfrm>
            <a:off x="6309360" y="2029968"/>
            <a:ext cx="53035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Weekly</a:t>
            </a:r>
          </a:p>
        </p:txBody>
      </p:sp>
      <p:sp>
        <p:nvSpPr>
          <p:cNvPr id="14" name="TextBox 13"/>
          <p:cNvSpPr txBox="1"/>
          <p:nvPr/>
        </p:nvSpPr>
        <p:spPr>
          <a:xfrm>
            <a:off x="6309360" y="2395728"/>
            <a:ext cx="5303520" cy="5029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Office hours · peer-group check-ins · new resources and opportunities in Founder OS</a:t>
            </a:r>
          </a:p>
        </p:txBody>
      </p:sp>
      <p:sp>
        <p:nvSpPr>
          <p:cNvPr id="15" name="Rectangle 14"/>
          <p:cNvSpPr/>
          <p:nvPr/>
        </p:nvSpPr>
        <p:spPr>
          <a:xfrm>
            <a:off x="6035040" y="3017520"/>
            <a:ext cx="73152" cy="841248"/>
          </a:xfrm>
          <a:prstGeom prst="rect">
            <a:avLst/>
          </a:prstGeom>
          <a:solidFill>
            <a:srgbClr val="1A55AC"/>
          </a:solidFill>
          <a:ln>
            <a:noFill/>
          </a:ln>
          <a:effectLst/>
        </p:spPr>
        <p:txBody>
          <a:bodyPr rtlCol="0" anchor="ctr" lIns="73152" rIns="73152" tIns="36576" bIns="36576"/>
          <a:lstStyle/>
          <a:p>
            <a:pPr algn="ctr"/>
          </a:p>
        </p:txBody>
      </p:sp>
      <p:sp>
        <p:nvSpPr>
          <p:cNvPr id="16" name="TextBox 15"/>
          <p:cNvSpPr txBox="1"/>
          <p:nvPr/>
        </p:nvSpPr>
        <p:spPr>
          <a:xfrm>
            <a:off x="6309360" y="3035808"/>
            <a:ext cx="53035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Monthly</a:t>
            </a:r>
          </a:p>
        </p:txBody>
      </p:sp>
      <p:sp>
        <p:nvSpPr>
          <p:cNvPr id="17" name="TextBox 16"/>
          <p:cNvSpPr txBox="1"/>
          <p:nvPr/>
        </p:nvSpPr>
        <p:spPr>
          <a:xfrm>
            <a:off x="6309360" y="3401568"/>
            <a:ext cx="5303520" cy="5029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Thematic clinics · Academy sessions · mentor rounds · small founder gatherings</a:t>
            </a:r>
          </a:p>
        </p:txBody>
      </p:sp>
      <p:sp>
        <p:nvSpPr>
          <p:cNvPr id="18" name="Rectangle 17"/>
          <p:cNvSpPr/>
          <p:nvPr/>
        </p:nvSpPr>
        <p:spPr>
          <a:xfrm>
            <a:off x="6035040" y="4023360"/>
            <a:ext cx="73152" cy="841248"/>
          </a:xfrm>
          <a:prstGeom prst="rect">
            <a:avLst/>
          </a:prstGeom>
          <a:solidFill>
            <a:srgbClr val="17407F"/>
          </a:solidFill>
          <a:ln>
            <a:noFill/>
          </a:ln>
          <a:effectLst/>
        </p:spPr>
        <p:txBody>
          <a:bodyPr rtlCol="0" anchor="ctr" lIns="73152" rIns="73152" tIns="36576" bIns="36576"/>
          <a:lstStyle/>
          <a:p>
            <a:pPr algn="ctr"/>
          </a:p>
        </p:txBody>
      </p:sp>
      <p:sp>
        <p:nvSpPr>
          <p:cNvPr id="19" name="TextBox 18"/>
          <p:cNvSpPr txBox="1"/>
          <p:nvPr/>
        </p:nvSpPr>
        <p:spPr>
          <a:xfrm>
            <a:off x="6309360" y="4041648"/>
            <a:ext cx="53035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Quarterly</a:t>
            </a:r>
          </a:p>
        </p:txBody>
      </p:sp>
      <p:sp>
        <p:nvSpPr>
          <p:cNvPr id="20" name="TextBox 19"/>
          <p:cNvSpPr txBox="1"/>
          <p:nvPr/>
        </p:nvSpPr>
        <p:spPr>
          <a:xfrm>
            <a:off x="6309360" y="4407408"/>
            <a:ext cx="5303520" cy="5029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Progress reviews · showcase sessions · partner workshops · cohort intakes</a:t>
            </a:r>
          </a:p>
        </p:txBody>
      </p:sp>
      <p:sp>
        <p:nvSpPr>
          <p:cNvPr id="21" name="Rectangle 20"/>
          <p:cNvSpPr/>
          <p:nvPr/>
        </p:nvSpPr>
        <p:spPr>
          <a:xfrm>
            <a:off x="6035040" y="5029200"/>
            <a:ext cx="73152" cy="841248"/>
          </a:xfrm>
          <a:prstGeom prst="rect">
            <a:avLst/>
          </a:prstGeom>
          <a:solidFill>
            <a:srgbClr val="10213B"/>
          </a:solidFill>
          <a:ln>
            <a:noFill/>
          </a:ln>
          <a:effectLst/>
        </p:spPr>
        <p:txBody>
          <a:bodyPr rtlCol="0" anchor="ctr" lIns="73152" rIns="73152" tIns="36576" bIns="36576"/>
          <a:lstStyle/>
          <a:p>
            <a:pPr algn="ctr"/>
          </a:p>
        </p:txBody>
      </p:sp>
      <p:sp>
        <p:nvSpPr>
          <p:cNvPr id="22" name="TextBox 21"/>
          <p:cNvSpPr txBox="1"/>
          <p:nvPr/>
        </p:nvSpPr>
        <p:spPr>
          <a:xfrm>
            <a:off x="6309360" y="5047488"/>
            <a:ext cx="53035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Always on</a:t>
            </a:r>
          </a:p>
        </p:txBody>
      </p:sp>
      <p:sp>
        <p:nvSpPr>
          <p:cNvPr id="23" name="TextBox 22"/>
          <p:cNvSpPr txBox="1"/>
          <p:nvPr/>
        </p:nvSpPr>
        <p:spPr>
          <a:xfrm>
            <a:off x="6309360" y="5413248"/>
            <a:ext cx="5303520" cy="5029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OS workspace · community discussions · service requests · Radar insights</a:t>
            </a:r>
          </a:p>
        </p:txBody>
      </p:sp>
      <p:sp>
        <p:nvSpPr>
          <p:cNvPr id="24" name="TextBox 23"/>
          <p:cNvSpPr txBox="1"/>
          <p:nvPr/>
        </p:nvSpPr>
        <p:spPr>
          <a:xfrm>
            <a:off x="6035040" y="6035040"/>
            <a:ext cx="5486400" cy="27432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Formats and frequency will be set by founder demand and delivery capacity.</a:t>
            </a:r>
          </a:p>
        </p:txBody>
      </p:sp>
      <p:sp>
        <p:nvSpPr>
          <p:cNvPr id="25" name="TextBox 24"/>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6" name="TextBox 25"/>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HOW MENTORING WORKS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Focused conversations with follow-through.</a:t>
            </a:r>
          </a:p>
        </p:txBody>
      </p:sp>
      <p:sp>
        <p:nvSpPr>
          <p:cNvPr id="4" name="Rounded Rectangle 3"/>
          <p:cNvSpPr/>
          <p:nvPr/>
        </p:nvSpPr>
        <p:spPr>
          <a:xfrm>
            <a:off x="10193914" y="402336"/>
            <a:ext cx="14034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MODEL</a:t>
            </a:r>
          </a:p>
        </p:txBody>
      </p:sp>
      <p:sp>
        <p:nvSpPr>
          <p:cNvPr id="5" name="Oval 4"/>
          <p:cNvSpPr/>
          <p:nvPr/>
        </p:nvSpPr>
        <p:spPr>
          <a:xfrm>
            <a:off x="1374617" y="2011680"/>
            <a:ext cx="640080" cy="64008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600" b="1" i="0">
                <a:solidFill>
                  <a:srgbClr val="FFFFFF"/>
                </a:solidFill>
                <a:latin typeface="Inter"/>
              </a:rPr>
              <a:t>1</a:t>
            </a:r>
          </a:p>
        </p:txBody>
      </p:sp>
      <p:cxnSp>
        <p:nvCxnSpPr>
          <p:cNvPr id="6" name="Connector 5"/>
          <p:cNvCxnSpPr/>
          <p:nvPr/>
        </p:nvCxnSpPr>
        <p:spPr>
          <a:xfrm>
            <a:off x="2078705" y="2331720"/>
            <a:ext cx="1432499" cy="0"/>
          </a:xfrm>
          <a:prstGeom prst="line">
            <a:avLst/>
          </a:prstGeom>
          <a:ln w="19050">
            <a:solidFill>
              <a:srgbClr val="B8CFEE"/>
            </a:solidFill>
            <a:tailEnd type="triangle" w="med" len="med"/>
          </a:ln>
        </p:spPr>
      </p:cxnSp>
      <p:sp>
        <p:nvSpPr>
          <p:cNvPr id="7" name="TextBox 6"/>
          <p:cNvSpPr txBox="1"/>
          <p:nvPr/>
        </p:nvSpPr>
        <p:spPr>
          <a:xfrm>
            <a:off x="685800" y="2788920"/>
            <a:ext cx="2017715" cy="320040"/>
          </a:xfrm>
          <a:prstGeom prst="rect">
            <a:avLst/>
          </a:prstGeom>
          <a:noFill/>
        </p:spPr>
        <p:txBody>
          <a:bodyPr wrap="square" lIns="0" rIns="0" tIns="0" bIns="0" anchor="t"/>
          <a:lstStyle/>
          <a:p>
            <a:pPr algn="ctr">
              <a:lnSpc>
                <a:spcPct val="115000"/>
              </a:lnSpc>
              <a:spcAft>
                <a:spcPts val="0"/>
              </a:spcAft>
            </a:pPr>
            <a:r>
              <a:rPr sz="1400" b="1" i="0">
                <a:solidFill>
                  <a:srgbClr val="10213B"/>
                </a:solidFill>
                <a:latin typeface="Inter"/>
              </a:rPr>
              <a:t>Prepare</a:t>
            </a:r>
          </a:p>
        </p:txBody>
      </p:sp>
      <p:sp>
        <p:nvSpPr>
          <p:cNvPr id="8" name="TextBox 7"/>
          <p:cNvSpPr txBox="1"/>
          <p:nvPr/>
        </p:nvSpPr>
        <p:spPr>
          <a:xfrm>
            <a:off x="731520" y="3154680"/>
            <a:ext cx="1926275" cy="822960"/>
          </a:xfrm>
          <a:prstGeom prst="rect">
            <a:avLst/>
          </a:prstGeom>
          <a:noFill/>
        </p:spPr>
        <p:txBody>
          <a:bodyPr wrap="square" lIns="0" rIns="0" tIns="0" bIns="0" anchor="t"/>
          <a:lstStyle/>
          <a:p>
            <a:pPr algn="ctr">
              <a:lnSpc>
                <a:spcPct val="120000"/>
              </a:lnSpc>
              <a:spcAft>
                <a:spcPts val="0"/>
              </a:spcAft>
            </a:pPr>
            <a:r>
              <a:rPr sz="1100" b="0" i="0">
                <a:solidFill>
                  <a:srgbClr val="253650"/>
                </a:solidFill>
                <a:latin typeface="Inter"/>
              </a:rPr>
              <a:t>Founder states the question and shares context in Founder OS.</a:t>
            </a:r>
          </a:p>
        </p:txBody>
      </p:sp>
      <p:sp>
        <p:nvSpPr>
          <p:cNvPr id="9" name="Oval 8"/>
          <p:cNvSpPr/>
          <p:nvPr/>
        </p:nvSpPr>
        <p:spPr>
          <a:xfrm>
            <a:off x="3575212" y="2011680"/>
            <a:ext cx="640080" cy="64008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600" b="1" i="0">
                <a:solidFill>
                  <a:srgbClr val="FFFFFF"/>
                </a:solidFill>
                <a:latin typeface="Inter"/>
              </a:rPr>
              <a:t>2</a:t>
            </a:r>
          </a:p>
        </p:txBody>
      </p:sp>
      <p:cxnSp>
        <p:nvCxnSpPr>
          <p:cNvPr id="10" name="Connector 9"/>
          <p:cNvCxnSpPr/>
          <p:nvPr/>
        </p:nvCxnSpPr>
        <p:spPr>
          <a:xfrm>
            <a:off x="4279300" y="2331720"/>
            <a:ext cx="1432499" cy="0"/>
          </a:xfrm>
          <a:prstGeom prst="line">
            <a:avLst/>
          </a:prstGeom>
          <a:ln w="19050">
            <a:solidFill>
              <a:srgbClr val="B8CFEE"/>
            </a:solidFill>
            <a:tailEnd type="triangle" w="med" len="med"/>
          </a:ln>
        </p:spPr>
      </p:cxnSp>
      <p:sp>
        <p:nvSpPr>
          <p:cNvPr id="11" name="TextBox 10"/>
          <p:cNvSpPr txBox="1"/>
          <p:nvPr/>
        </p:nvSpPr>
        <p:spPr>
          <a:xfrm>
            <a:off x="2886395" y="2788920"/>
            <a:ext cx="2017715" cy="320040"/>
          </a:xfrm>
          <a:prstGeom prst="rect">
            <a:avLst/>
          </a:prstGeom>
          <a:noFill/>
        </p:spPr>
        <p:txBody>
          <a:bodyPr wrap="square" lIns="0" rIns="0" tIns="0" bIns="0" anchor="t"/>
          <a:lstStyle/>
          <a:p>
            <a:pPr algn="ctr">
              <a:lnSpc>
                <a:spcPct val="115000"/>
              </a:lnSpc>
              <a:spcAft>
                <a:spcPts val="0"/>
              </a:spcAft>
            </a:pPr>
            <a:r>
              <a:rPr sz="1400" b="1" i="0">
                <a:solidFill>
                  <a:srgbClr val="10213B"/>
                </a:solidFill>
                <a:latin typeface="Inter"/>
              </a:rPr>
              <a:t>Match</a:t>
            </a:r>
          </a:p>
        </p:txBody>
      </p:sp>
      <p:sp>
        <p:nvSpPr>
          <p:cNvPr id="12" name="TextBox 11"/>
          <p:cNvSpPr txBox="1"/>
          <p:nvPr/>
        </p:nvSpPr>
        <p:spPr>
          <a:xfrm>
            <a:off x="2932115" y="3154680"/>
            <a:ext cx="1926275" cy="822960"/>
          </a:xfrm>
          <a:prstGeom prst="rect">
            <a:avLst/>
          </a:prstGeom>
          <a:noFill/>
        </p:spPr>
        <p:txBody>
          <a:bodyPr wrap="square" lIns="0" rIns="0" tIns="0" bIns="0" anchor="t"/>
          <a:lstStyle/>
          <a:p>
            <a:pPr algn="ctr">
              <a:lnSpc>
                <a:spcPct val="120000"/>
              </a:lnSpc>
              <a:spcAft>
                <a:spcPts val="0"/>
              </a:spcAft>
            </a:pPr>
            <a:r>
              <a:rPr sz="1100" b="0" i="0">
                <a:solidFill>
                  <a:srgbClr val="253650"/>
                </a:solidFill>
                <a:latin typeface="Inter"/>
              </a:rPr>
              <a:t>A mentor with relevant experience accepts the request.</a:t>
            </a:r>
          </a:p>
        </p:txBody>
      </p:sp>
      <p:sp>
        <p:nvSpPr>
          <p:cNvPr id="13" name="Oval 12"/>
          <p:cNvSpPr/>
          <p:nvPr/>
        </p:nvSpPr>
        <p:spPr>
          <a:xfrm>
            <a:off x="5775807" y="2011680"/>
            <a:ext cx="640080" cy="64008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600" b="1" i="0">
                <a:solidFill>
                  <a:srgbClr val="FFFFFF"/>
                </a:solidFill>
                <a:latin typeface="Inter"/>
              </a:rPr>
              <a:t>3</a:t>
            </a:r>
          </a:p>
        </p:txBody>
      </p:sp>
      <p:cxnSp>
        <p:nvCxnSpPr>
          <p:cNvPr id="14" name="Connector 13"/>
          <p:cNvCxnSpPr/>
          <p:nvPr/>
        </p:nvCxnSpPr>
        <p:spPr>
          <a:xfrm>
            <a:off x="6479895" y="2331720"/>
            <a:ext cx="1432499" cy="0"/>
          </a:xfrm>
          <a:prstGeom prst="line">
            <a:avLst/>
          </a:prstGeom>
          <a:ln w="19050">
            <a:solidFill>
              <a:srgbClr val="B8CFEE"/>
            </a:solidFill>
            <a:tailEnd type="triangle" w="med" len="med"/>
          </a:ln>
        </p:spPr>
      </p:cxnSp>
      <p:sp>
        <p:nvSpPr>
          <p:cNvPr id="15" name="TextBox 14"/>
          <p:cNvSpPr txBox="1"/>
          <p:nvPr/>
        </p:nvSpPr>
        <p:spPr>
          <a:xfrm>
            <a:off x="5086990" y="2788920"/>
            <a:ext cx="2017715" cy="320040"/>
          </a:xfrm>
          <a:prstGeom prst="rect">
            <a:avLst/>
          </a:prstGeom>
          <a:noFill/>
        </p:spPr>
        <p:txBody>
          <a:bodyPr wrap="square" lIns="0" rIns="0" tIns="0" bIns="0" anchor="t"/>
          <a:lstStyle/>
          <a:p>
            <a:pPr algn="ctr">
              <a:lnSpc>
                <a:spcPct val="115000"/>
              </a:lnSpc>
              <a:spcAft>
                <a:spcPts val="0"/>
              </a:spcAft>
            </a:pPr>
            <a:r>
              <a:rPr sz="1400" b="1" i="0">
                <a:solidFill>
                  <a:srgbClr val="10213B"/>
                </a:solidFill>
                <a:latin typeface="Inter"/>
              </a:rPr>
              <a:t>Meet</a:t>
            </a:r>
          </a:p>
        </p:txBody>
      </p:sp>
      <p:sp>
        <p:nvSpPr>
          <p:cNvPr id="16" name="TextBox 15"/>
          <p:cNvSpPr txBox="1"/>
          <p:nvPr/>
        </p:nvSpPr>
        <p:spPr>
          <a:xfrm>
            <a:off x="5132710" y="3154680"/>
            <a:ext cx="1926275" cy="822960"/>
          </a:xfrm>
          <a:prstGeom prst="rect">
            <a:avLst/>
          </a:prstGeom>
          <a:noFill/>
        </p:spPr>
        <p:txBody>
          <a:bodyPr wrap="square" lIns="0" rIns="0" tIns="0" bIns="0" anchor="t"/>
          <a:lstStyle/>
          <a:p>
            <a:pPr algn="ctr">
              <a:lnSpc>
                <a:spcPct val="120000"/>
              </a:lnSpc>
              <a:spcAft>
                <a:spcPts val="0"/>
              </a:spcAft>
            </a:pPr>
            <a:r>
              <a:rPr sz="1100" b="0" i="0">
                <a:solidFill>
                  <a:srgbClr val="253650"/>
                </a:solidFill>
                <a:latin typeface="Inter"/>
              </a:rPr>
              <a:t>30–60 minutes focused on one decision or problem.</a:t>
            </a:r>
          </a:p>
        </p:txBody>
      </p:sp>
      <p:sp>
        <p:nvSpPr>
          <p:cNvPr id="17" name="Oval 16"/>
          <p:cNvSpPr/>
          <p:nvPr/>
        </p:nvSpPr>
        <p:spPr>
          <a:xfrm>
            <a:off x="7976402" y="2011680"/>
            <a:ext cx="640080" cy="64008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600" b="1" i="0">
                <a:solidFill>
                  <a:srgbClr val="FFFFFF"/>
                </a:solidFill>
                <a:latin typeface="Inter"/>
              </a:rPr>
              <a:t>4</a:t>
            </a:r>
          </a:p>
        </p:txBody>
      </p:sp>
      <p:cxnSp>
        <p:nvCxnSpPr>
          <p:cNvPr id="18" name="Connector 17"/>
          <p:cNvCxnSpPr/>
          <p:nvPr/>
        </p:nvCxnSpPr>
        <p:spPr>
          <a:xfrm>
            <a:off x="8680490" y="2331720"/>
            <a:ext cx="1432499" cy="0"/>
          </a:xfrm>
          <a:prstGeom prst="line">
            <a:avLst/>
          </a:prstGeom>
          <a:ln w="19050">
            <a:solidFill>
              <a:srgbClr val="B8CFEE"/>
            </a:solidFill>
            <a:tailEnd type="triangle" w="med" len="med"/>
          </a:ln>
        </p:spPr>
      </p:cxnSp>
      <p:sp>
        <p:nvSpPr>
          <p:cNvPr id="19" name="TextBox 18"/>
          <p:cNvSpPr txBox="1"/>
          <p:nvPr/>
        </p:nvSpPr>
        <p:spPr>
          <a:xfrm>
            <a:off x="7287585" y="2788920"/>
            <a:ext cx="2017715" cy="320040"/>
          </a:xfrm>
          <a:prstGeom prst="rect">
            <a:avLst/>
          </a:prstGeom>
          <a:noFill/>
        </p:spPr>
        <p:txBody>
          <a:bodyPr wrap="square" lIns="0" rIns="0" tIns="0" bIns="0" anchor="t"/>
          <a:lstStyle/>
          <a:p>
            <a:pPr algn="ctr">
              <a:lnSpc>
                <a:spcPct val="115000"/>
              </a:lnSpc>
              <a:spcAft>
                <a:spcPts val="0"/>
              </a:spcAft>
            </a:pPr>
            <a:r>
              <a:rPr sz="1400" b="1" i="0">
                <a:solidFill>
                  <a:srgbClr val="10213B"/>
                </a:solidFill>
                <a:latin typeface="Inter"/>
              </a:rPr>
              <a:t>Commit</a:t>
            </a:r>
          </a:p>
        </p:txBody>
      </p:sp>
      <p:sp>
        <p:nvSpPr>
          <p:cNvPr id="20" name="TextBox 19"/>
          <p:cNvSpPr txBox="1"/>
          <p:nvPr/>
        </p:nvSpPr>
        <p:spPr>
          <a:xfrm>
            <a:off x="7333305" y="3154680"/>
            <a:ext cx="1926275" cy="822960"/>
          </a:xfrm>
          <a:prstGeom prst="rect">
            <a:avLst/>
          </a:prstGeom>
          <a:noFill/>
        </p:spPr>
        <p:txBody>
          <a:bodyPr wrap="square" lIns="0" rIns="0" tIns="0" bIns="0" anchor="t"/>
          <a:lstStyle/>
          <a:p>
            <a:pPr algn="ctr">
              <a:lnSpc>
                <a:spcPct val="120000"/>
              </a:lnSpc>
              <a:spcAft>
                <a:spcPts val="0"/>
              </a:spcAft>
            </a:pPr>
            <a:r>
              <a:rPr sz="1100" b="0" i="0">
                <a:solidFill>
                  <a:srgbClr val="253650"/>
                </a:solidFill>
                <a:latin typeface="Inter"/>
              </a:rPr>
              <a:t>Founder records one or two concrete actions.</a:t>
            </a:r>
          </a:p>
        </p:txBody>
      </p:sp>
      <p:sp>
        <p:nvSpPr>
          <p:cNvPr id="21" name="Oval 20"/>
          <p:cNvSpPr/>
          <p:nvPr/>
        </p:nvSpPr>
        <p:spPr>
          <a:xfrm>
            <a:off x="10176997" y="2011680"/>
            <a:ext cx="640080" cy="64008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600" b="1" i="0">
                <a:solidFill>
                  <a:srgbClr val="FFFFFF"/>
                </a:solidFill>
                <a:latin typeface="Inter"/>
              </a:rPr>
              <a:t>5</a:t>
            </a:r>
          </a:p>
        </p:txBody>
      </p:sp>
      <p:sp>
        <p:nvSpPr>
          <p:cNvPr id="22" name="TextBox 21"/>
          <p:cNvSpPr txBox="1"/>
          <p:nvPr/>
        </p:nvSpPr>
        <p:spPr>
          <a:xfrm>
            <a:off x="9488180" y="2788920"/>
            <a:ext cx="2017715" cy="320040"/>
          </a:xfrm>
          <a:prstGeom prst="rect">
            <a:avLst/>
          </a:prstGeom>
          <a:noFill/>
        </p:spPr>
        <p:txBody>
          <a:bodyPr wrap="square" lIns="0" rIns="0" tIns="0" bIns="0" anchor="t"/>
          <a:lstStyle/>
          <a:p>
            <a:pPr algn="ctr">
              <a:lnSpc>
                <a:spcPct val="115000"/>
              </a:lnSpc>
              <a:spcAft>
                <a:spcPts val="0"/>
              </a:spcAft>
            </a:pPr>
            <a:r>
              <a:rPr sz="1400" b="1" i="0">
                <a:solidFill>
                  <a:srgbClr val="10213B"/>
                </a:solidFill>
                <a:latin typeface="Inter"/>
              </a:rPr>
              <a:t>Follow up</a:t>
            </a:r>
          </a:p>
        </p:txBody>
      </p:sp>
      <p:sp>
        <p:nvSpPr>
          <p:cNvPr id="23" name="TextBox 22"/>
          <p:cNvSpPr txBox="1"/>
          <p:nvPr/>
        </p:nvSpPr>
        <p:spPr>
          <a:xfrm>
            <a:off x="9533900" y="3154680"/>
            <a:ext cx="1926275" cy="822960"/>
          </a:xfrm>
          <a:prstGeom prst="rect">
            <a:avLst/>
          </a:prstGeom>
          <a:noFill/>
        </p:spPr>
        <p:txBody>
          <a:bodyPr wrap="square" lIns="0" rIns="0" tIns="0" bIns="0" anchor="t"/>
          <a:lstStyle/>
          <a:p>
            <a:pPr algn="ctr">
              <a:lnSpc>
                <a:spcPct val="120000"/>
              </a:lnSpc>
              <a:spcAft>
                <a:spcPts val="0"/>
              </a:spcAft>
            </a:pPr>
            <a:r>
              <a:rPr sz="1100" b="0" i="0">
                <a:solidFill>
                  <a:srgbClr val="253650"/>
                </a:solidFill>
                <a:latin typeface="Inter"/>
              </a:rPr>
              <a:t>Check-in on progress; next session only if useful.</a:t>
            </a:r>
          </a:p>
        </p:txBody>
      </p:sp>
      <p:sp>
        <p:nvSpPr>
          <p:cNvPr id="24" name="Rectangle 23"/>
          <p:cNvSpPr/>
          <p:nvPr/>
        </p:nvSpPr>
        <p:spPr>
          <a:xfrm>
            <a:off x="594360" y="4206240"/>
            <a:ext cx="5394960" cy="1965960"/>
          </a:xfrm>
          <a:prstGeom prst="rect">
            <a:avLst/>
          </a:prstGeom>
          <a:solidFill>
            <a:srgbClr val="EDF4FE"/>
          </a:solidFill>
          <a:ln>
            <a:noFill/>
          </a:ln>
          <a:effectLst/>
        </p:spPr>
        <p:txBody>
          <a:bodyPr rtlCol="0" anchor="ctr" lIns="73152" rIns="73152" tIns="36576" bIns="36576"/>
          <a:lstStyle/>
          <a:p>
            <a:pPr algn="ctr"/>
          </a:p>
        </p:txBody>
      </p:sp>
      <p:sp>
        <p:nvSpPr>
          <p:cNvPr id="25" name="TextBox 24"/>
          <p:cNvSpPr txBox="1"/>
          <p:nvPr/>
        </p:nvSpPr>
        <p:spPr>
          <a:xfrm>
            <a:off x="868680" y="4370832"/>
            <a:ext cx="484632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MENTORS COMMIT TO</a:t>
            </a:r>
          </a:p>
        </p:txBody>
      </p:sp>
      <p:sp>
        <p:nvSpPr>
          <p:cNvPr id="26" name="TextBox 25"/>
          <p:cNvSpPr txBox="1"/>
          <p:nvPr/>
        </p:nvSpPr>
        <p:spPr>
          <a:xfrm>
            <a:off x="868680" y="4736592"/>
            <a:ext cx="2423160" cy="59436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Honest, practical feedback</a:t>
            </a:r>
          </a:p>
        </p:txBody>
      </p:sp>
      <p:sp>
        <p:nvSpPr>
          <p:cNvPr id="27" name="TextBox 26"/>
          <p:cNvSpPr txBox="1"/>
          <p:nvPr/>
        </p:nvSpPr>
        <p:spPr>
          <a:xfrm>
            <a:off x="3383280" y="4736592"/>
            <a:ext cx="2423160" cy="59436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Declaring any conflicts of interest</a:t>
            </a:r>
          </a:p>
        </p:txBody>
      </p:sp>
      <p:sp>
        <p:nvSpPr>
          <p:cNvPr id="28" name="TextBox 27"/>
          <p:cNvSpPr txBox="1"/>
          <p:nvPr/>
        </p:nvSpPr>
        <p:spPr>
          <a:xfrm>
            <a:off x="868680" y="5376672"/>
            <a:ext cx="2423160" cy="59436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Respecting confidentiality</a:t>
            </a:r>
          </a:p>
        </p:txBody>
      </p:sp>
      <p:sp>
        <p:nvSpPr>
          <p:cNvPr id="29" name="TextBox 28"/>
          <p:cNvSpPr txBox="1"/>
          <p:nvPr/>
        </p:nvSpPr>
        <p:spPr>
          <a:xfrm>
            <a:off x="3383280" y="5376672"/>
            <a:ext cx="2423160" cy="594360"/>
          </a:xfrm>
          <a:prstGeom prst="rect">
            <a:avLst/>
          </a:prstGeom>
          <a:noFill/>
        </p:spPr>
        <p:txBody>
          <a:bodyPr wrap="square" lIns="0" rIns="0" tIns="0" bIns="0" anchor="t"/>
          <a:lstStyle/>
          <a:p>
            <a:pPr algn="l">
              <a:lnSpc>
                <a:spcPct val="115000"/>
              </a:lnSpc>
              <a:spcAft>
                <a:spcPts val="0"/>
              </a:spcAft>
            </a:pPr>
            <a:r>
              <a:rPr sz="1200" b="1" i="0">
                <a:solidFill>
                  <a:srgbClr val="10213B"/>
                </a:solidFill>
                <a:latin typeface="Inter"/>
              </a:rPr>
              <a:t>Agreed availability, not open-ended time</a:t>
            </a:r>
          </a:p>
        </p:txBody>
      </p:sp>
      <p:sp>
        <p:nvSpPr>
          <p:cNvPr id="30" name="Rectangle 29"/>
          <p:cNvSpPr/>
          <p:nvPr/>
        </p:nvSpPr>
        <p:spPr>
          <a:xfrm>
            <a:off x="6172200" y="4206240"/>
            <a:ext cx="5394960" cy="1965960"/>
          </a:xfrm>
          <a:prstGeom prst="rect">
            <a:avLst/>
          </a:prstGeom>
          <a:solidFill>
            <a:srgbClr val="10213B"/>
          </a:solidFill>
          <a:ln>
            <a:noFill/>
          </a:ln>
          <a:effectLst/>
        </p:spPr>
        <p:txBody>
          <a:bodyPr rtlCol="0" anchor="ctr" lIns="73152" rIns="73152" tIns="36576" bIns="36576"/>
          <a:lstStyle/>
          <a:p>
            <a:pPr algn="ctr"/>
          </a:p>
        </p:txBody>
      </p:sp>
      <p:sp>
        <p:nvSpPr>
          <p:cNvPr id="31" name="TextBox 30"/>
          <p:cNvSpPr txBox="1"/>
          <p:nvPr/>
        </p:nvSpPr>
        <p:spPr>
          <a:xfrm>
            <a:off x="6446520" y="4370832"/>
            <a:ext cx="48463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FOUNDERS COMMIT TO</a:t>
            </a:r>
          </a:p>
        </p:txBody>
      </p:sp>
      <p:sp>
        <p:nvSpPr>
          <p:cNvPr id="32" name="TextBox 31"/>
          <p:cNvSpPr txBox="1"/>
          <p:nvPr/>
        </p:nvSpPr>
        <p:spPr>
          <a:xfrm>
            <a:off x="6446520" y="4736592"/>
            <a:ext cx="2423160" cy="594360"/>
          </a:xfrm>
          <a:prstGeom prst="rect">
            <a:avLst/>
          </a:prstGeom>
          <a:noFill/>
        </p:spPr>
        <p:txBody>
          <a:bodyPr wrap="square" lIns="0" rIns="0" tIns="0" bIns="0" anchor="t"/>
          <a:lstStyle/>
          <a:p>
            <a:pPr algn="l">
              <a:lnSpc>
                <a:spcPct val="115000"/>
              </a:lnSpc>
              <a:spcAft>
                <a:spcPts val="0"/>
              </a:spcAft>
            </a:pPr>
            <a:r>
              <a:rPr sz="1200" b="1" i="0">
                <a:solidFill>
                  <a:srgbClr val="FFFFFF"/>
                </a:solidFill>
                <a:latin typeface="Inter"/>
              </a:rPr>
              <a:t>Preparing a clear question</a:t>
            </a:r>
          </a:p>
        </p:txBody>
      </p:sp>
      <p:sp>
        <p:nvSpPr>
          <p:cNvPr id="33" name="TextBox 32"/>
          <p:cNvSpPr txBox="1"/>
          <p:nvPr/>
        </p:nvSpPr>
        <p:spPr>
          <a:xfrm>
            <a:off x="8961120" y="4736592"/>
            <a:ext cx="2423160" cy="594360"/>
          </a:xfrm>
          <a:prstGeom prst="rect">
            <a:avLst/>
          </a:prstGeom>
          <a:noFill/>
        </p:spPr>
        <p:txBody>
          <a:bodyPr wrap="square" lIns="0" rIns="0" tIns="0" bIns="0" anchor="t"/>
          <a:lstStyle/>
          <a:p>
            <a:pPr algn="l">
              <a:lnSpc>
                <a:spcPct val="115000"/>
              </a:lnSpc>
              <a:spcAft>
                <a:spcPts val="0"/>
              </a:spcAft>
            </a:pPr>
            <a:r>
              <a:rPr sz="1200" b="1" i="0">
                <a:solidFill>
                  <a:srgbClr val="FFFFFF"/>
                </a:solidFill>
                <a:latin typeface="Inter"/>
              </a:rPr>
              <a:t>Respecting the mentor’s time</a:t>
            </a:r>
          </a:p>
        </p:txBody>
      </p:sp>
      <p:sp>
        <p:nvSpPr>
          <p:cNvPr id="34" name="TextBox 33"/>
          <p:cNvSpPr txBox="1"/>
          <p:nvPr/>
        </p:nvSpPr>
        <p:spPr>
          <a:xfrm>
            <a:off x="6446520" y="5376672"/>
            <a:ext cx="2423160" cy="594360"/>
          </a:xfrm>
          <a:prstGeom prst="rect">
            <a:avLst/>
          </a:prstGeom>
          <a:noFill/>
        </p:spPr>
        <p:txBody>
          <a:bodyPr wrap="square" lIns="0" rIns="0" tIns="0" bIns="0" anchor="t"/>
          <a:lstStyle/>
          <a:p>
            <a:pPr algn="l">
              <a:lnSpc>
                <a:spcPct val="115000"/>
              </a:lnSpc>
              <a:spcAft>
                <a:spcPts val="0"/>
              </a:spcAft>
            </a:pPr>
            <a:r>
              <a:rPr sz="1200" b="1" i="0">
                <a:solidFill>
                  <a:srgbClr val="FFFFFF"/>
                </a:solidFill>
                <a:latin typeface="Inter"/>
              </a:rPr>
              <a:t>Acting on what was agreed</a:t>
            </a:r>
          </a:p>
        </p:txBody>
      </p:sp>
      <p:sp>
        <p:nvSpPr>
          <p:cNvPr id="35" name="TextBox 34"/>
          <p:cNvSpPr txBox="1"/>
          <p:nvPr/>
        </p:nvSpPr>
        <p:spPr>
          <a:xfrm>
            <a:off x="8961120" y="5376672"/>
            <a:ext cx="2423160" cy="594360"/>
          </a:xfrm>
          <a:prstGeom prst="rect">
            <a:avLst/>
          </a:prstGeom>
          <a:noFill/>
        </p:spPr>
        <p:txBody>
          <a:bodyPr wrap="square" lIns="0" rIns="0" tIns="0" bIns="0" anchor="t"/>
          <a:lstStyle/>
          <a:p>
            <a:pPr algn="l">
              <a:lnSpc>
                <a:spcPct val="115000"/>
              </a:lnSpc>
              <a:spcAft>
                <a:spcPts val="0"/>
              </a:spcAft>
            </a:pPr>
            <a:r>
              <a:rPr sz="1200" b="1" i="0">
                <a:solidFill>
                  <a:srgbClr val="FFFFFF"/>
                </a:solidFill>
                <a:latin typeface="Inter"/>
              </a:rPr>
              <a:t>Sharing progress and feedback</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5806440" y="0"/>
            <a:ext cx="6385255" cy="6858000"/>
          </a:xfrm>
          <a:prstGeom prst="rect">
            <a:avLst/>
          </a:prstGeom>
          <a:solidFill>
            <a:srgbClr val="EDF4FE"/>
          </a:solidFill>
          <a:ln>
            <a:noFill/>
          </a:ln>
          <a:effectLst/>
        </p:spPr>
        <p:txBody>
          <a:bodyPr rtlCol="0" anchor="ctr" lIns="73152" rIns="73152" tIns="36576" bIns="36576"/>
          <a:lstStyle/>
          <a:p>
            <a:pPr algn="ctr"/>
          </a:p>
        </p:txBody>
      </p:sp>
      <p:sp>
        <p:nvSpPr>
          <p:cNvPr id="3" name="Rounded Rectangle 2"/>
          <p:cNvSpPr/>
          <p:nvPr/>
        </p:nvSpPr>
        <p:spPr>
          <a:xfrm>
            <a:off x="6572670" y="4526280"/>
            <a:ext cx="4852793" cy="480060"/>
          </a:xfrm>
          <a:prstGeom prst="roundRect">
            <a:avLst>
              <a:gd name="adj" fmla="val 50000"/>
            </a:avLst>
          </a:prstGeom>
          <a:solidFill>
            <a:srgbClr val="C4D8F6"/>
          </a:solidFill>
          <a:ln>
            <a:noFill/>
          </a:ln>
          <a:effectLst/>
        </p:spPr>
        <p:txBody>
          <a:bodyPr rtlCol="0" anchor="ctr" lIns="73152" rIns="73152" tIns="36576" bIns="36576"/>
          <a:lstStyle/>
          <a:p>
            <a:pPr algn="ctr"/>
          </a:p>
        </p:txBody>
      </p:sp>
      <p:sp>
        <p:nvSpPr>
          <p:cNvPr id="4" name="Oval 3"/>
          <p:cNvSpPr/>
          <p:nvPr/>
        </p:nvSpPr>
        <p:spPr>
          <a:xfrm>
            <a:off x="6711985" y="3368247"/>
            <a:ext cx="487601" cy="487601"/>
          </a:xfrm>
          <a:prstGeom prst="ellipse">
            <a:avLst/>
          </a:prstGeom>
          <a:solidFill>
            <a:srgbClr val="10213B"/>
          </a:solidFill>
          <a:ln>
            <a:noFill/>
          </a:ln>
          <a:effectLst/>
        </p:spPr>
        <p:txBody>
          <a:bodyPr rtlCol="0" anchor="ctr" lIns="73152" rIns="73152" tIns="36576" bIns="36576"/>
          <a:lstStyle/>
          <a:p>
            <a:pPr algn="ctr"/>
          </a:p>
        </p:txBody>
      </p:sp>
      <p:sp>
        <p:nvSpPr>
          <p:cNvPr id="5" name="Round Same Side Corner Rectangle 4"/>
          <p:cNvSpPr/>
          <p:nvPr/>
        </p:nvSpPr>
        <p:spPr>
          <a:xfrm>
            <a:off x="6491403" y="3925506"/>
            <a:ext cx="928764" cy="580477"/>
          </a:xfrm>
          <a:prstGeom prst="round2SameRect">
            <a:avLst>
              <a:gd name="adj1" fmla="val 50000"/>
              <a:gd name="adj2" fmla="val 0"/>
            </a:avLst>
          </a:prstGeom>
          <a:solidFill>
            <a:srgbClr val="10213B"/>
          </a:solidFill>
          <a:ln>
            <a:noFill/>
          </a:ln>
          <a:effectLst/>
        </p:spPr>
        <p:txBody>
          <a:bodyPr rtlCol="0" anchor="ctr" lIns="73152" rIns="73152" tIns="36576" bIns="36576"/>
          <a:lstStyle/>
          <a:p>
            <a:pPr algn="ctr"/>
          </a:p>
        </p:txBody>
      </p:sp>
      <p:sp>
        <p:nvSpPr>
          <p:cNvPr id="6" name="Oval 5"/>
          <p:cNvSpPr/>
          <p:nvPr/>
        </p:nvSpPr>
        <p:spPr>
          <a:xfrm>
            <a:off x="8074173" y="3319037"/>
            <a:ext cx="487601" cy="487601"/>
          </a:xfrm>
          <a:prstGeom prst="ellipse">
            <a:avLst/>
          </a:prstGeom>
          <a:solidFill>
            <a:srgbClr val="1765D1"/>
          </a:solidFill>
          <a:ln>
            <a:noFill/>
          </a:ln>
          <a:effectLst/>
        </p:spPr>
        <p:txBody>
          <a:bodyPr rtlCol="0" anchor="ctr" lIns="73152" rIns="73152" tIns="36576" bIns="36576"/>
          <a:lstStyle/>
          <a:p>
            <a:pPr algn="ctr"/>
          </a:p>
        </p:txBody>
      </p:sp>
      <p:sp>
        <p:nvSpPr>
          <p:cNvPr id="7" name="Round Same Side Corner Rectangle 6"/>
          <p:cNvSpPr/>
          <p:nvPr/>
        </p:nvSpPr>
        <p:spPr>
          <a:xfrm>
            <a:off x="7853591" y="3876296"/>
            <a:ext cx="928764" cy="580477"/>
          </a:xfrm>
          <a:prstGeom prst="round2SameRect">
            <a:avLst>
              <a:gd name="adj1" fmla="val 50000"/>
              <a:gd name="adj2" fmla="val 0"/>
            </a:avLst>
          </a:prstGeom>
          <a:solidFill>
            <a:srgbClr val="1765D1"/>
          </a:solidFill>
          <a:ln>
            <a:noFill/>
          </a:ln>
          <a:effectLst/>
        </p:spPr>
        <p:txBody>
          <a:bodyPr rtlCol="0" anchor="ctr" lIns="73152" rIns="73152" tIns="36576" bIns="36576"/>
          <a:lstStyle/>
          <a:p>
            <a:pPr algn="ctr"/>
          </a:p>
        </p:txBody>
      </p:sp>
      <p:sp>
        <p:nvSpPr>
          <p:cNvPr id="8" name="Oval 7"/>
          <p:cNvSpPr/>
          <p:nvPr/>
        </p:nvSpPr>
        <p:spPr>
          <a:xfrm>
            <a:off x="9436360" y="3190231"/>
            <a:ext cx="487601" cy="487601"/>
          </a:xfrm>
          <a:prstGeom prst="ellipse">
            <a:avLst/>
          </a:prstGeom>
          <a:solidFill>
            <a:srgbClr val="1F4A85"/>
          </a:solidFill>
          <a:ln>
            <a:noFill/>
          </a:ln>
          <a:effectLst/>
        </p:spPr>
        <p:txBody>
          <a:bodyPr rtlCol="0" anchor="ctr" lIns="73152" rIns="73152" tIns="36576" bIns="36576"/>
          <a:lstStyle/>
          <a:p>
            <a:pPr algn="ctr"/>
          </a:p>
        </p:txBody>
      </p:sp>
      <p:sp>
        <p:nvSpPr>
          <p:cNvPr id="9" name="Round Same Side Corner Rectangle 8"/>
          <p:cNvSpPr/>
          <p:nvPr/>
        </p:nvSpPr>
        <p:spPr>
          <a:xfrm>
            <a:off x="9215779" y="3747490"/>
            <a:ext cx="928764" cy="580477"/>
          </a:xfrm>
          <a:prstGeom prst="round2SameRect">
            <a:avLst>
              <a:gd name="adj1" fmla="val 50000"/>
              <a:gd name="adj2" fmla="val 0"/>
            </a:avLst>
          </a:prstGeom>
          <a:solidFill>
            <a:srgbClr val="1F4A85"/>
          </a:solidFill>
          <a:ln>
            <a:noFill/>
          </a:ln>
          <a:effectLst/>
        </p:spPr>
        <p:txBody>
          <a:bodyPr rtlCol="0" anchor="ctr" lIns="73152" rIns="73152" tIns="36576" bIns="36576"/>
          <a:lstStyle/>
          <a:p>
            <a:pPr algn="ctr"/>
          </a:p>
        </p:txBody>
      </p:sp>
      <p:sp>
        <p:nvSpPr>
          <p:cNvPr id="10" name="Oval 9"/>
          <p:cNvSpPr/>
          <p:nvPr/>
        </p:nvSpPr>
        <p:spPr>
          <a:xfrm>
            <a:off x="10798548" y="3589654"/>
            <a:ext cx="487601" cy="487601"/>
          </a:xfrm>
          <a:prstGeom prst="ellipse">
            <a:avLst/>
          </a:prstGeom>
          <a:solidFill>
            <a:srgbClr val="4F8BE0"/>
          </a:solidFill>
          <a:ln>
            <a:noFill/>
          </a:ln>
          <a:effectLst/>
        </p:spPr>
        <p:txBody>
          <a:bodyPr rtlCol="0" anchor="ctr" lIns="73152" rIns="73152" tIns="36576" bIns="36576"/>
          <a:lstStyle/>
          <a:p>
            <a:pPr algn="ctr"/>
          </a:p>
        </p:txBody>
      </p:sp>
      <p:sp>
        <p:nvSpPr>
          <p:cNvPr id="11" name="Round Same Side Corner Rectangle 10"/>
          <p:cNvSpPr/>
          <p:nvPr/>
        </p:nvSpPr>
        <p:spPr>
          <a:xfrm>
            <a:off x="10577967" y="4146912"/>
            <a:ext cx="928764" cy="580477"/>
          </a:xfrm>
          <a:prstGeom prst="round2SameRect">
            <a:avLst>
              <a:gd name="adj1" fmla="val 50000"/>
              <a:gd name="adj2" fmla="val 0"/>
            </a:avLst>
          </a:prstGeom>
          <a:solidFill>
            <a:srgbClr val="4F8BE0"/>
          </a:solidFill>
          <a:ln>
            <a:noFill/>
          </a:ln>
          <a:effectLst/>
        </p:spPr>
        <p:txBody>
          <a:bodyPr rtlCol="0" anchor="ctr" lIns="73152" rIns="73152" tIns="36576" bIns="36576"/>
          <a:lstStyle/>
          <a:p>
            <a:pPr algn="ctr"/>
          </a:p>
        </p:txBody>
      </p:sp>
      <p:sp>
        <p:nvSpPr>
          <p:cNvPr id="12" name="Rectangle 11"/>
          <p:cNvSpPr/>
          <p:nvPr/>
        </p:nvSpPr>
        <p:spPr>
          <a:xfrm>
            <a:off x="7429719" y="4379976"/>
            <a:ext cx="329184" cy="146304"/>
          </a:xfrm>
          <a:prstGeom prst="rect">
            <a:avLst/>
          </a:prstGeom>
          <a:solidFill>
            <a:srgbClr val="FFFFFF"/>
          </a:solidFill>
          <a:ln w="9525">
            <a:solidFill>
              <a:srgbClr val="B8CFEE"/>
            </a:solidFill>
          </a:ln>
          <a:effectLst/>
        </p:spPr>
        <p:txBody>
          <a:bodyPr rtlCol="0" anchor="ctr" lIns="73152" rIns="73152" tIns="36576" bIns="36576"/>
          <a:lstStyle/>
          <a:p>
            <a:pPr algn="ctr"/>
          </a:p>
        </p:txBody>
      </p:sp>
      <p:sp>
        <p:nvSpPr>
          <p:cNvPr id="13" name="Rectangle 12"/>
          <p:cNvSpPr/>
          <p:nvPr/>
        </p:nvSpPr>
        <p:spPr>
          <a:xfrm>
            <a:off x="10239231" y="4379976"/>
            <a:ext cx="329184" cy="146304"/>
          </a:xfrm>
          <a:prstGeom prst="rect">
            <a:avLst/>
          </a:prstGeom>
          <a:solidFill>
            <a:srgbClr val="FFFFFF"/>
          </a:solidFill>
          <a:ln w="9525">
            <a:solidFill>
              <a:srgbClr val="B8CFEE"/>
            </a:solidFill>
          </a:ln>
          <a:effectLst/>
        </p:spPr>
        <p:txBody>
          <a:bodyPr rtlCol="0" anchor="ctr" lIns="73152" rIns="73152" tIns="36576" bIns="36576"/>
          <a:lstStyle/>
          <a:p>
            <a:pPr algn="ctr"/>
          </a:p>
        </p:txBody>
      </p:sp>
      <p:sp>
        <p:nvSpPr>
          <p:cNvPr id="14" name="Rectangle 13"/>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15" name="TextBox 14"/>
          <p:cNvSpPr txBox="1"/>
          <p:nvPr/>
        </p:nvSpPr>
        <p:spPr>
          <a:xfrm>
            <a:off x="685800" y="1371600"/>
            <a:ext cx="4846320" cy="274320"/>
          </a:xfrm>
          <a:prstGeom prst="rect">
            <a:avLst/>
          </a:prstGeom>
          <a:noFill/>
        </p:spPr>
        <p:txBody>
          <a:bodyPr wrap="square" lIns="0" rIns="0" tIns="0" bIns="0" anchor="t"/>
          <a:lstStyle/>
          <a:p>
            <a:pPr algn="l">
              <a:lnSpc>
                <a:spcPct val="115000"/>
              </a:lnSpc>
              <a:spcAft>
                <a:spcPts val="0"/>
              </a:spcAft>
            </a:pPr>
            <a:r>
              <a:rPr sz="1000" b="1" i="0" spc="150">
                <a:solidFill>
                  <a:srgbClr val="4F8BE0"/>
                </a:solidFill>
                <a:latin typeface="Inter"/>
              </a:rPr>
              <a:t>FOUNDER ACADEMY</a:t>
            </a:r>
          </a:p>
        </p:txBody>
      </p:sp>
      <p:sp>
        <p:nvSpPr>
          <p:cNvPr id="16" name="TextBox 15"/>
          <p:cNvSpPr txBox="1"/>
          <p:nvPr/>
        </p:nvSpPr>
        <p:spPr>
          <a:xfrm>
            <a:off x="685800" y="1783080"/>
            <a:ext cx="4846320" cy="2194560"/>
          </a:xfrm>
          <a:prstGeom prst="rect">
            <a:avLst/>
          </a:prstGeom>
          <a:noFill/>
        </p:spPr>
        <p:txBody>
          <a:bodyPr wrap="square" lIns="0" rIns="0" tIns="0" bIns="0" anchor="t"/>
          <a:lstStyle/>
          <a:p>
            <a:pPr algn="l">
              <a:lnSpc>
                <a:spcPct val="105000"/>
              </a:lnSpc>
              <a:spcAft>
                <a:spcPts val="0"/>
              </a:spcAft>
            </a:pPr>
            <a:r>
              <a:rPr sz="3200" b="1" i="0">
                <a:solidFill>
                  <a:srgbClr val="FFFFFF"/>
                </a:solidFill>
                <a:latin typeface="Inter"/>
              </a:rPr>
              <a:t>Learn it on Monday. Use it on Tuesday.</a:t>
            </a:r>
          </a:p>
        </p:txBody>
      </p:sp>
      <p:sp>
        <p:nvSpPr>
          <p:cNvPr id="17" name="TextBox 16"/>
          <p:cNvSpPr txBox="1"/>
          <p:nvPr/>
        </p:nvSpPr>
        <p:spPr>
          <a:xfrm>
            <a:off x="685800" y="3931920"/>
            <a:ext cx="4663440" cy="1828800"/>
          </a:xfrm>
          <a:prstGeom prst="rect">
            <a:avLst/>
          </a:prstGeom>
          <a:noFill/>
        </p:spPr>
        <p:txBody>
          <a:bodyPr wrap="square" lIns="0" rIns="0" tIns="0" bIns="0" anchor="t"/>
          <a:lstStyle/>
          <a:p>
            <a:pPr algn="l">
              <a:lnSpc>
                <a:spcPct val="135000"/>
              </a:lnSpc>
              <a:spcAft>
                <a:spcPts val="0"/>
              </a:spcAft>
            </a:pPr>
            <a:r>
              <a:rPr sz="1400" b="0" i="0">
                <a:solidFill>
                  <a:srgbClr val="C9D6E8"/>
                </a:solidFill>
                <a:latin typeface="Inter"/>
              </a:rPr>
              <a:t>Short, practical sessions where every founder leaves with a task to apply to their own business.</a:t>
            </a:r>
          </a:p>
        </p:txBody>
      </p:sp>
      <p:sp>
        <p:nvSpPr>
          <p:cNvPr id="18" name="TextBox 17"/>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ACADEMY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Practical learning that ends in action.</a:t>
            </a:r>
          </a:p>
        </p:txBody>
      </p:sp>
      <p:sp>
        <p:nvSpPr>
          <p:cNvPr id="4" name="Rounded Rectangle 3"/>
          <p:cNvSpPr/>
          <p:nvPr/>
        </p:nvSpPr>
        <p:spPr>
          <a:xfrm>
            <a:off x="10113264" y="402336"/>
            <a:ext cx="14840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THEMES</a:t>
            </a:r>
          </a:p>
        </p:txBody>
      </p:sp>
      <p:cxnSp>
        <p:nvCxnSpPr>
          <p:cNvPr id="5" name="Connector 4"/>
          <p:cNvCxnSpPr/>
          <p:nvPr/>
        </p:nvCxnSpPr>
        <p:spPr>
          <a:xfrm>
            <a:off x="594360" y="2057400"/>
            <a:ext cx="3017519" cy="0"/>
          </a:xfrm>
          <a:prstGeom prst="line">
            <a:avLst/>
          </a:prstGeom>
          <a:ln w="12700">
            <a:solidFill>
              <a:srgbClr val="10213B"/>
            </a:solidFill>
          </a:ln>
        </p:spPr>
      </p:cxnSp>
      <p:sp>
        <p:nvSpPr>
          <p:cNvPr id="6" name="TextBox 5"/>
          <p:cNvSpPr txBox="1"/>
          <p:nvPr/>
        </p:nvSpPr>
        <p:spPr>
          <a:xfrm>
            <a:off x="594360" y="2185416"/>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01</a:t>
            </a:r>
          </a:p>
        </p:txBody>
      </p:sp>
      <p:sp>
        <p:nvSpPr>
          <p:cNvPr id="7" name="TextBox 6"/>
          <p:cNvSpPr txBox="1"/>
          <p:nvPr/>
        </p:nvSpPr>
        <p:spPr>
          <a:xfrm>
            <a:off x="1051560" y="2167128"/>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Idea validation</a:t>
            </a:r>
          </a:p>
        </p:txBody>
      </p:sp>
      <p:cxnSp>
        <p:nvCxnSpPr>
          <p:cNvPr id="8" name="Connector 7"/>
          <p:cNvCxnSpPr/>
          <p:nvPr/>
        </p:nvCxnSpPr>
        <p:spPr>
          <a:xfrm>
            <a:off x="3840480" y="2057400"/>
            <a:ext cx="3017520" cy="0"/>
          </a:xfrm>
          <a:prstGeom prst="line">
            <a:avLst/>
          </a:prstGeom>
          <a:ln w="12700">
            <a:solidFill>
              <a:srgbClr val="10213B"/>
            </a:solidFill>
          </a:ln>
        </p:spPr>
      </p:cxnSp>
      <p:sp>
        <p:nvSpPr>
          <p:cNvPr id="9" name="TextBox 8"/>
          <p:cNvSpPr txBox="1"/>
          <p:nvPr/>
        </p:nvSpPr>
        <p:spPr>
          <a:xfrm>
            <a:off x="3840480" y="2185416"/>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02</a:t>
            </a:r>
          </a:p>
        </p:txBody>
      </p:sp>
      <p:sp>
        <p:nvSpPr>
          <p:cNvPr id="10" name="TextBox 9"/>
          <p:cNvSpPr txBox="1"/>
          <p:nvPr/>
        </p:nvSpPr>
        <p:spPr>
          <a:xfrm>
            <a:off x="4297680" y="2167128"/>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Business models</a:t>
            </a:r>
          </a:p>
        </p:txBody>
      </p:sp>
      <p:cxnSp>
        <p:nvCxnSpPr>
          <p:cNvPr id="11" name="Connector 10"/>
          <p:cNvCxnSpPr/>
          <p:nvPr/>
        </p:nvCxnSpPr>
        <p:spPr>
          <a:xfrm>
            <a:off x="594360" y="2953512"/>
            <a:ext cx="3017519" cy="0"/>
          </a:xfrm>
          <a:prstGeom prst="line">
            <a:avLst/>
          </a:prstGeom>
          <a:ln w="12700">
            <a:solidFill>
              <a:srgbClr val="D5E2F3"/>
            </a:solidFill>
          </a:ln>
        </p:spPr>
      </p:cxnSp>
      <p:sp>
        <p:nvSpPr>
          <p:cNvPr id="12" name="TextBox 11"/>
          <p:cNvSpPr txBox="1"/>
          <p:nvPr/>
        </p:nvSpPr>
        <p:spPr>
          <a:xfrm>
            <a:off x="594360" y="3081528"/>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03</a:t>
            </a:r>
          </a:p>
        </p:txBody>
      </p:sp>
      <p:sp>
        <p:nvSpPr>
          <p:cNvPr id="13" name="TextBox 12"/>
          <p:cNvSpPr txBox="1"/>
          <p:nvPr/>
        </p:nvSpPr>
        <p:spPr>
          <a:xfrm>
            <a:off x="1051560" y="3063240"/>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AI and automation</a:t>
            </a:r>
          </a:p>
        </p:txBody>
      </p:sp>
      <p:cxnSp>
        <p:nvCxnSpPr>
          <p:cNvPr id="14" name="Connector 13"/>
          <p:cNvCxnSpPr/>
          <p:nvPr/>
        </p:nvCxnSpPr>
        <p:spPr>
          <a:xfrm>
            <a:off x="3840480" y="2953512"/>
            <a:ext cx="3017520" cy="0"/>
          </a:xfrm>
          <a:prstGeom prst="line">
            <a:avLst/>
          </a:prstGeom>
          <a:ln w="12700">
            <a:solidFill>
              <a:srgbClr val="D5E2F3"/>
            </a:solidFill>
          </a:ln>
        </p:spPr>
      </p:cxnSp>
      <p:sp>
        <p:nvSpPr>
          <p:cNvPr id="15" name="TextBox 14"/>
          <p:cNvSpPr txBox="1"/>
          <p:nvPr/>
        </p:nvSpPr>
        <p:spPr>
          <a:xfrm>
            <a:off x="3840480" y="3081528"/>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04</a:t>
            </a:r>
          </a:p>
        </p:txBody>
      </p:sp>
      <p:sp>
        <p:nvSpPr>
          <p:cNvPr id="16" name="TextBox 15"/>
          <p:cNvSpPr txBox="1"/>
          <p:nvPr/>
        </p:nvSpPr>
        <p:spPr>
          <a:xfrm>
            <a:off x="4297680" y="3063240"/>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Go-to-market and customer acquisition</a:t>
            </a:r>
          </a:p>
        </p:txBody>
      </p:sp>
      <p:cxnSp>
        <p:nvCxnSpPr>
          <p:cNvPr id="17" name="Connector 16"/>
          <p:cNvCxnSpPr/>
          <p:nvPr/>
        </p:nvCxnSpPr>
        <p:spPr>
          <a:xfrm>
            <a:off x="594360" y="3849624"/>
            <a:ext cx="3017519" cy="0"/>
          </a:xfrm>
          <a:prstGeom prst="line">
            <a:avLst/>
          </a:prstGeom>
          <a:ln w="12700">
            <a:solidFill>
              <a:srgbClr val="D5E2F3"/>
            </a:solidFill>
          </a:ln>
        </p:spPr>
      </p:cxnSp>
      <p:sp>
        <p:nvSpPr>
          <p:cNvPr id="18" name="TextBox 17"/>
          <p:cNvSpPr txBox="1"/>
          <p:nvPr/>
        </p:nvSpPr>
        <p:spPr>
          <a:xfrm>
            <a:off x="594360" y="3977639"/>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05</a:t>
            </a:r>
          </a:p>
        </p:txBody>
      </p:sp>
      <p:sp>
        <p:nvSpPr>
          <p:cNvPr id="19" name="TextBox 18"/>
          <p:cNvSpPr txBox="1"/>
          <p:nvPr/>
        </p:nvSpPr>
        <p:spPr>
          <a:xfrm>
            <a:off x="1051560" y="3959352"/>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Pricing and unit economics</a:t>
            </a:r>
          </a:p>
        </p:txBody>
      </p:sp>
      <p:cxnSp>
        <p:nvCxnSpPr>
          <p:cNvPr id="20" name="Connector 19"/>
          <p:cNvCxnSpPr/>
          <p:nvPr/>
        </p:nvCxnSpPr>
        <p:spPr>
          <a:xfrm>
            <a:off x="3840480" y="3849624"/>
            <a:ext cx="3017520" cy="0"/>
          </a:xfrm>
          <a:prstGeom prst="line">
            <a:avLst/>
          </a:prstGeom>
          <a:ln w="12700">
            <a:solidFill>
              <a:srgbClr val="D5E2F3"/>
            </a:solidFill>
          </a:ln>
        </p:spPr>
      </p:cxnSp>
      <p:sp>
        <p:nvSpPr>
          <p:cNvPr id="21" name="TextBox 20"/>
          <p:cNvSpPr txBox="1"/>
          <p:nvPr/>
        </p:nvSpPr>
        <p:spPr>
          <a:xfrm>
            <a:off x="3840480" y="3977639"/>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06</a:t>
            </a:r>
          </a:p>
        </p:txBody>
      </p:sp>
      <p:sp>
        <p:nvSpPr>
          <p:cNvPr id="22" name="TextBox 21"/>
          <p:cNvSpPr txBox="1"/>
          <p:nvPr/>
        </p:nvSpPr>
        <p:spPr>
          <a:xfrm>
            <a:off x="4297680" y="3959352"/>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Pitch readiness</a:t>
            </a:r>
          </a:p>
        </p:txBody>
      </p:sp>
      <p:cxnSp>
        <p:nvCxnSpPr>
          <p:cNvPr id="23" name="Connector 22"/>
          <p:cNvCxnSpPr/>
          <p:nvPr/>
        </p:nvCxnSpPr>
        <p:spPr>
          <a:xfrm>
            <a:off x="594360" y="4745736"/>
            <a:ext cx="3017519" cy="0"/>
          </a:xfrm>
          <a:prstGeom prst="line">
            <a:avLst/>
          </a:prstGeom>
          <a:ln w="12700">
            <a:solidFill>
              <a:srgbClr val="D5E2F3"/>
            </a:solidFill>
          </a:ln>
        </p:spPr>
      </p:cxnSp>
      <p:sp>
        <p:nvSpPr>
          <p:cNvPr id="24" name="TextBox 23"/>
          <p:cNvSpPr txBox="1"/>
          <p:nvPr/>
        </p:nvSpPr>
        <p:spPr>
          <a:xfrm>
            <a:off x="594360" y="4873751"/>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07</a:t>
            </a:r>
          </a:p>
        </p:txBody>
      </p:sp>
      <p:sp>
        <p:nvSpPr>
          <p:cNvPr id="25" name="TextBox 24"/>
          <p:cNvSpPr txBox="1"/>
          <p:nvPr/>
        </p:nvSpPr>
        <p:spPr>
          <a:xfrm>
            <a:off x="1051560" y="4855464"/>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Legal and operational foundations</a:t>
            </a:r>
          </a:p>
        </p:txBody>
      </p:sp>
      <p:cxnSp>
        <p:nvCxnSpPr>
          <p:cNvPr id="26" name="Connector 25"/>
          <p:cNvCxnSpPr/>
          <p:nvPr/>
        </p:nvCxnSpPr>
        <p:spPr>
          <a:xfrm>
            <a:off x="3840480" y="4745736"/>
            <a:ext cx="3017520" cy="0"/>
          </a:xfrm>
          <a:prstGeom prst="line">
            <a:avLst/>
          </a:prstGeom>
          <a:ln w="12700">
            <a:solidFill>
              <a:srgbClr val="D5E2F3"/>
            </a:solidFill>
          </a:ln>
        </p:spPr>
      </p:cxnSp>
      <p:sp>
        <p:nvSpPr>
          <p:cNvPr id="27" name="TextBox 26"/>
          <p:cNvSpPr txBox="1"/>
          <p:nvPr/>
        </p:nvSpPr>
        <p:spPr>
          <a:xfrm>
            <a:off x="3840480" y="4873751"/>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08</a:t>
            </a:r>
          </a:p>
        </p:txBody>
      </p:sp>
      <p:sp>
        <p:nvSpPr>
          <p:cNvPr id="28" name="TextBox 27"/>
          <p:cNvSpPr txBox="1"/>
          <p:nvPr/>
        </p:nvSpPr>
        <p:spPr>
          <a:xfrm>
            <a:off x="4297680" y="4855464"/>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Consumer-brand and retail development</a:t>
            </a:r>
          </a:p>
        </p:txBody>
      </p:sp>
      <p:sp>
        <p:nvSpPr>
          <p:cNvPr id="29" name="TextBox 28"/>
          <p:cNvSpPr txBox="1"/>
          <p:nvPr/>
        </p:nvSpPr>
        <p:spPr>
          <a:xfrm>
            <a:off x="594360" y="5715000"/>
            <a:ext cx="6309360" cy="548640"/>
          </a:xfrm>
          <a:prstGeom prst="rect">
            <a:avLst/>
          </a:prstGeom>
          <a:noFill/>
        </p:spPr>
        <p:txBody>
          <a:bodyPr wrap="square" lIns="0" rIns="0" tIns="0" bIns="0" anchor="t"/>
          <a:lstStyle/>
          <a:p>
            <a:pPr algn="l">
              <a:lnSpc>
                <a:spcPct val="125000"/>
              </a:lnSpc>
              <a:spcAft>
                <a:spcPts val="0"/>
              </a:spcAft>
            </a:pPr>
            <a:r>
              <a:rPr sz="1100" b="0" i="0">
                <a:solidFill>
                  <a:srgbClr val="61738A"/>
                </a:solidFill>
                <a:latin typeface="Inter"/>
              </a:rPr>
              <a:t>Themes are a starting point; sessions and depth will be shaped with founders and contributors during the pilot.</a:t>
            </a:r>
          </a:p>
        </p:txBody>
      </p:sp>
      <p:sp>
        <p:nvSpPr>
          <p:cNvPr id="30" name="Oval 29"/>
          <p:cNvSpPr/>
          <p:nvPr/>
        </p:nvSpPr>
        <p:spPr>
          <a:xfrm>
            <a:off x="7772400" y="2286000"/>
            <a:ext cx="3200400" cy="3200400"/>
          </a:xfrm>
          <a:prstGeom prst="ellipse">
            <a:avLst/>
          </a:prstGeom>
          <a:noFill/>
          <a:ln w="25400">
            <a:solidFill>
              <a:srgbClr val="B8CFEE"/>
            </a:solidFill>
          </a:ln>
          <a:effectLst/>
        </p:spPr>
        <p:txBody>
          <a:bodyPr rtlCol="0" anchor="ctr" lIns="73152" rIns="73152" tIns="36576" bIns="36576"/>
          <a:lstStyle/>
          <a:p>
            <a:pPr algn="ctr"/>
          </a:p>
        </p:txBody>
      </p:sp>
      <p:sp>
        <p:nvSpPr>
          <p:cNvPr id="31" name="Rounded Rectangle 30"/>
          <p:cNvSpPr/>
          <p:nvPr/>
        </p:nvSpPr>
        <p:spPr>
          <a:xfrm>
            <a:off x="8778240" y="20391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Learn</a:t>
            </a:r>
          </a:p>
        </p:txBody>
      </p:sp>
      <p:sp>
        <p:nvSpPr>
          <p:cNvPr id="32" name="Rounded Rectangle 31"/>
          <p:cNvSpPr/>
          <p:nvPr/>
        </p:nvSpPr>
        <p:spPr>
          <a:xfrm>
            <a:off x="10378440" y="36393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Apply</a:t>
            </a:r>
          </a:p>
        </p:txBody>
      </p:sp>
      <p:sp>
        <p:nvSpPr>
          <p:cNvPr id="33" name="Rounded Rectangle 32"/>
          <p:cNvSpPr/>
          <p:nvPr/>
        </p:nvSpPr>
        <p:spPr>
          <a:xfrm>
            <a:off x="8778240" y="52395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Feedback</a:t>
            </a:r>
          </a:p>
        </p:txBody>
      </p:sp>
      <p:sp>
        <p:nvSpPr>
          <p:cNvPr id="34" name="Rounded Rectangle 33"/>
          <p:cNvSpPr/>
          <p:nvPr/>
        </p:nvSpPr>
        <p:spPr>
          <a:xfrm>
            <a:off x="7178040" y="3639312"/>
            <a:ext cx="1188720" cy="493776"/>
          </a:xfrm>
          <a:prstGeom prst="roundRect">
            <a:avLst>
              <a:gd name="adj" fmla="val 50000"/>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Next action</a:t>
            </a:r>
          </a:p>
        </p:txBody>
      </p:sp>
      <p:sp>
        <p:nvSpPr>
          <p:cNvPr id="35" name="TextBox 34"/>
          <p:cNvSpPr txBox="1"/>
          <p:nvPr/>
        </p:nvSpPr>
        <p:spPr>
          <a:xfrm>
            <a:off x="8503920" y="3429000"/>
            <a:ext cx="1737360" cy="914400"/>
          </a:xfrm>
          <a:prstGeom prst="rect">
            <a:avLst/>
          </a:prstGeom>
          <a:noFill/>
        </p:spPr>
        <p:txBody>
          <a:bodyPr wrap="square" lIns="0" rIns="0" tIns="0" bIns="0" anchor="t"/>
          <a:lstStyle/>
          <a:p>
            <a:pPr algn="ctr">
              <a:lnSpc>
                <a:spcPct val="115000"/>
              </a:lnSpc>
              <a:spcAft>
                <a:spcPts val="0"/>
              </a:spcAft>
            </a:pPr>
            <a:r>
              <a:rPr sz="1200" b="1" i="0">
                <a:solidFill>
                  <a:srgbClr val="10213B"/>
                </a:solidFill>
                <a:latin typeface="Inter"/>
              </a:rPr>
              <a:t>Every session</a:t>
            </a:r>
          </a:p>
          <a:p>
            <a:pPr algn="ctr">
              <a:lnSpc>
                <a:spcPct val="115000"/>
              </a:lnSpc>
              <a:spcAft>
                <a:spcPts val="0"/>
              </a:spcAft>
            </a:pPr>
            <a:r>
              <a:rPr sz="1050" b="0" i="0">
                <a:solidFill>
                  <a:srgbClr val="253650"/>
                </a:solidFill>
                <a:latin typeface="Inter"/>
              </a:rPr>
              <a:t>ends with a task the founder applies to their own business</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FOUNDER ACADEMY · SAMPLE CURRICULUM</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Eight themes, each ending in a practical output.</a:t>
            </a:r>
          </a:p>
        </p:txBody>
      </p:sp>
      <p:sp>
        <p:nvSpPr>
          <p:cNvPr id="4" name="Rounded Rectangle 3"/>
          <p:cNvSpPr/>
          <p:nvPr/>
        </p:nvSpPr>
        <p:spPr>
          <a:xfrm>
            <a:off x="10113264" y="402336"/>
            <a:ext cx="14840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THEMES</a:t>
            </a:r>
          </a:p>
        </p:txBody>
      </p:sp>
      <p:graphicFrame>
        <p:nvGraphicFramePr>
          <p:cNvPr id="5" name="Table 4"/>
          <p:cNvGraphicFramePr>
            <a:graphicFrameLocks noGrp="1"/>
          </p:cNvGraphicFramePr>
          <p:nvPr/>
        </p:nvGraphicFramePr>
        <p:xfrm>
          <a:off x="594360" y="1920240"/>
          <a:ext cx="11000231" cy="4114800"/>
        </p:xfrm>
        <a:graphic>
          <a:graphicData uri="http://schemas.openxmlformats.org/drawingml/2006/table">
            <a:tbl>
              <a:tblPr firstRow="0" bandRow="0">
                <a:tableStyleId>{5C22544A-7EE6-4342-B048-85BDC9FD1C3A}</a:tableStyleId>
              </a:tblPr>
              <a:tblGrid>
                <a:gridCol w="3108960"/>
                <a:gridCol w="3977639"/>
                <a:gridCol w="3913632"/>
              </a:tblGrid>
              <a:tr h="457200">
                <a:tc>
                  <a:txBody>
                    <a:bodyPr wrap="square" anchor="t"/>
                    <a:lstStyle/>
                    <a:p>
                      <a:pPr algn="l">
                        <a:lnSpc>
                          <a:spcPct val="115000"/>
                        </a:lnSpc>
                        <a:spcAft>
                          <a:spcPts val="0"/>
                        </a:spcAft>
                      </a:pPr>
                      <a:r>
                        <a:rPr sz="950" b="1" i="0" spc="60">
                          <a:solidFill>
                            <a:srgbClr val="FFFFFF"/>
                          </a:solidFill>
                          <a:latin typeface="Inter"/>
                        </a:rPr>
                        <a:t>THEME</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EXAMPLE SESSION</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FOUNDER LEAVES WITH</a:t>
                      </a:r>
                    </a:p>
                  </a:txBody>
                  <a:tcPr marL="109728" marR="109728" marT="54864" marB="54864" anchor="ctr">
                    <a:solidFill>
                      <a:srgbClr val="10213B"/>
                    </a:solidFill>
                  </a:tcPr>
                </a:tc>
              </a:tr>
              <a:tr h="457200">
                <a:tc>
                  <a:txBody>
                    <a:bodyPr wrap="square" anchor="t"/>
                    <a:lstStyle/>
                    <a:p>
                      <a:pPr algn="l">
                        <a:lnSpc>
                          <a:spcPct val="115000"/>
                        </a:lnSpc>
                        <a:spcAft>
                          <a:spcPts val="0"/>
                        </a:spcAft>
                      </a:pPr>
                      <a:r>
                        <a:rPr sz="1100" b="1" i="0">
                          <a:solidFill>
                            <a:srgbClr val="10213B"/>
                          </a:solidFill>
                          <a:latin typeface="Inter"/>
                        </a:rPr>
                        <a:t>Idea validation</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Running customer interviews that reveal the truth</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An interview guide and a list of 10 people to call</a:t>
                      </a:r>
                    </a:p>
                  </a:txBody>
                  <a:tcPr marL="109728" marR="109728" marT="54864" marB="54864" anchor="ctr">
                    <a:solidFill>
                      <a:srgbClr val="FFFFFF"/>
                    </a:solidFill>
                  </a:tcPr>
                </a:tc>
              </a:tr>
              <a:tr h="457200">
                <a:tc>
                  <a:txBody>
                    <a:bodyPr wrap="square" anchor="t"/>
                    <a:lstStyle/>
                    <a:p>
                      <a:pPr algn="l">
                        <a:lnSpc>
                          <a:spcPct val="115000"/>
                        </a:lnSpc>
                        <a:spcAft>
                          <a:spcPts val="0"/>
                        </a:spcAft>
                      </a:pPr>
                      <a:r>
                        <a:rPr sz="1100" b="1" i="0">
                          <a:solidFill>
                            <a:srgbClr val="10213B"/>
                          </a:solidFill>
                          <a:latin typeface="Inter"/>
                        </a:rPr>
                        <a:t>Business models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How your business actually makes money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one-page business model</a:t>
                      </a:r>
                    </a:p>
                  </a:txBody>
                  <a:tcPr marL="109728" marR="109728" marT="54864" marB="54864" anchor="ctr">
                    <a:solidFill>
                      <a:srgbClr val="EDF4FE"/>
                    </a:solidFill>
                  </a:tcPr>
                </a:tc>
              </a:tr>
              <a:tr h="457200">
                <a:tc>
                  <a:txBody>
                    <a:bodyPr wrap="square" anchor="t"/>
                    <a:lstStyle/>
                    <a:p>
                      <a:pPr algn="l">
                        <a:lnSpc>
                          <a:spcPct val="115000"/>
                        </a:lnSpc>
                        <a:spcAft>
                          <a:spcPts val="0"/>
                        </a:spcAft>
                      </a:pPr>
                      <a:r>
                        <a:rPr sz="1100" b="1" i="0">
                          <a:solidFill>
                            <a:srgbClr val="10213B"/>
                          </a:solidFill>
                          <a:latin typeface="Inter"/>
                        </a:rPr>
                        <a:t>AI and automation</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Practical AI tools for a small team</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Three tasks automated or AI-assisted</a:t>
                      </a:r>
                    </a:p>
                  </a:txBody>
                  <a:tcPr marL="109728" marR="109728" marT="54864" marB="54864" anchor="ctr">
                    <a:solidFill>
                      <a:srgbClr val="FFFFFF"/>
                    </a:solidFill>
                  </a:tcPr>
                </a:tc>
              </a:tr>
              <a:tr h="457200">
                <a:tc>
                  <a:txBody>
                    <a:bodyPr wrap="square" anchor="t"/>
                    <a:lstStyle/>
                    <a:p>
                      <a:pPr algn="l">
                        <a:lnSpc>
                          <a:spcPct val="115000"/>
                        </a:lnSpc>
                        <a:spcAft>
                          <a:spcPts val="0"/>
                        </a:spcAft>
                      </a:pPr>
                      <a:r>
                        <a:rPr sz="1100" b="1" i="0">
                          <a:solidFill>
                            <a:srgbClr val="10213B"/>
                          </a:solidFill>
                          <a:latin typeface="Inter"/>
                        </a:rPr>
                        <a:t>GTM and customer acquisition</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Choosing your first channel</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30-day acquisition test plan</a:t>
                      </a:r>
                    </a:p>
                  </a:txBody>
                  <a:tcPr marL="109728" marR="109728" marT="54864" marB="54864" anchor="ctr">
                    <a:solidFill>
                      <a:srgbClr val="EDF4FE"/>
                    </a:solidFill>
                  </a:tcPr>
                </a:tc>
              </a:tr>
              <a:tr h="457200">
                <a:tc>
                  <a:txBody>
                    <a:bodyPr wrap="square" anchor="t"/>
                    <a:lstStyle/>
                    <a:p>
                      <a:pPr algn="l">
                        <a:lnSpc>
                          <a:spcPct val="115000"/>
                        </a:lnSpc>
                        <a:spcAft>
                          <a:spcPts val="0"/>
                        </a:spcAft>
                      </a:pPr>
                      <a:r>
                        <a:rPr sz="1100" b="1" i="0">
                          <a:solidFill>
                            <a:srgbClr val="10213B"/>
                          </a:solidFill>
                          <a:latin typeface="Inter"/>
                        </a:rPr>
                        <a:t>Pricing and unit economics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Pricing with confidence; knowing your margin</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 pricing sheet and unit-cost model</a:t>
                      </a:r>
                    </a:p>
                  </a:txBody>
                  <a:tcPr marL="109728" marR="109728" marT="54864" marB="54864" anchor="ctr">
                    <a:solidFill>
                      <a:srgbClr val="FFFFFF"/>
                    </a:solidFill>
                  </a:tcPr>
                </a:tc>
              </a:tr>
              <a:tr h="457200">
                <a:tc>
                  <a:txBody>
                    <a:bodyPr wrap="square" anchor="t"/>
                    <a:lstStyle/>
                    <a:p>
                      <a:pPr algn="l">
                        <a:lnSpc>
                          <a:spcPct val="115000"/>
                        </a:lnSpc>
                        <a:spcAft>
                          <a:spcPts val="0"/>
                        </a:spcAft>
                      </a:pPr>
                      <a:r>
                        <a:rPr sz="1100" b="1" i="0">
                          <a:solidFill>
                            <a:srgbClr val="10213B"/>
                          </a:solidFill>
                          <a:latin typeface="Inter"/>
                        </a:rPr>
                        <a:t>Pitch readiness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Telling the story investors and partners need</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10-slide outline and practice feedback</a:t>
                      </a:r>
                    </a:p>
                  </a:txBody>
                  <a:tcPr marL="109728" marR="109728" marT="54864" marB="54864" anchor="ctr">
                    <a:solidFill>
                      <a:srgbClr val="EDF4FE"/>
                    </a:solidFill>
                  </a:tcPr>
                </a:tc>
              </a:tr>
              <a:tr h="457200">
                <a:tc>
                  <a:txBody>
                    <a:bodyPr wrap="square" anchor="t"/>
                    <a:lstStyle/>
                    <a:p>
                      <a:pPr algn="l">
                        <a:lnSpc>
                          <a:spcPct val="115000"/>
                        </a:lnSpc>
                        <a:spcAft>
                          <a:spcPts val="0"/>
                        </a:spcAft>
                      </a:pPr>
                      <a:r>
                        <a:rPr sz="1100" b="1" i="0">
                          <a:solidFill>
                            <a:srgbClr val="10213B"/>
                          </a:solidFill>
                          <a:latin typeface="Inter"/>
                        </a:rPr>
                        <a:t>Legal and operational foundations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Setup routes, contracts and compliance basics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 setup checklist and key contract list</a:t>
                      </a:r>
                    </a:p>
                  </a:txBody>
                  <a:tcPr marL="109728" marR="109728" marT="54864" marB="54864" anchor="ctr">
                    <a:solidFill>
                      <a:srgbClr val="FFFFFF"/>
                    </a:solidFill>
                  </a:tcPr>
                </a:tc>
              </a:tr>
              <a:tr h="457200">
                <a:tc>
                  <a:txBody>
                    <a:bodyPr wrap="square" anchor="t"/>
                    <a:lstStyle/>
                    <a:p>
                      <a:pPr algn="l">
                        <a:lnSpc>
                          <a:spcPct val="115000"/>
                        </a:lnSpc>
                        <a:spcAft>
                          <a:spcPts val="0"/>
                        </a:spcAft>
                      </a:pPr>
                      <a:r>
                        <a:rPr sz="1100" b="1" i="0">
                          <a:solidFill>
                            <a:srgbClr val="10213B"/>
                          </a:solidFill>
                          <a:latin typeface="Inter"/>
                        </a:rPr>
                        <a:t>Consumer-brand and retail development</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From product to shelf or online store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channel plan and retailer pitch</a:t>
                      </a:r>
                    </a:p>
                  </a:txBody>
                  <a:tcPr marL="109728" marR="109728" marT="54864" marB="54864" anchor="ctr">
                    <a:solidFill>
                      <a:srgbClr val="EDF4FE"/>
                    </a:solidFill>
                  </a:tcPr>
                </a:tc>
              </a:tr>
            </a:tbl>
          </a:graphicData>
        </a:graphic>
      </p:graphicFrame>
      <p:sp>
        <p:nvSpPr>
          <p:cNvPr id="6" name="TextBox 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7" name="TextBox 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EXPERT SERVICES AND PARTNER TOOLS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The right specialist or tool, at the right moment.</a:t>
            </a:r>
          </a:p>
        </p:txBody>
      </p:sp>
      <p:sp>
        <p:nvSpPr>
          <p:cNvPr id="4" name="TextBox 3"/>
          <p:cNvSpPr txBox="1"/>
          <p:nvPr/>
        </p:nvSpPr>
        <p:spPr>
          <a:xfrm>
            <a:off x="594360" y="2011680"/>
            <a:ext cx="45720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POTENTIAL SERVICE CATEGORIES</a:t>
            </a:r>
          </a:p>
        </p:txBody>
      </p:sp>
      <p:sp>
        <p:nvSpPr>
          <p:cNvPr id="5" name="Rectangle 4"/>
          <p:cNvSpPr/>
          <p:nvPr/>
        </p:nvSpPr>
        <p:spPr>
          <a:xfrm>
            <a:off x="594360" y="2377440"/>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Legal</a:t>
            </a:r>
          </a:p>
        </p:txBody>
      </p:sp>
      <p:sp>
        <p:nvSpPr>
          <p:cNvPr id="6" name="Rectangle 5"/>
          <p:cNvSpPr/>
          <p:nvPr/>
        </p:nvSpPr>
        <p:spPr>
          <a:xfrm>
            <a:off x="2971800" y="2377440"/>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Accounting and finance</a:t>
            </a:r>
          </a:p>
        </p:txBody>
      </p:sp>
      <p:sp>
        <p:nvSpPr>
          <p:cNvPr id="7" name="Rectangle 6"/>
          <p:cNvSpPr/>
          <p:nvPr/>
        </p:nvSpPr>
        <p:spPr>
          <a:xfrm>
            <a:off x="594360" y="3127248"/>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Branding and design</a:t>
            </a:r>
          </a:p>
        </p:txBody>
      </p:sp>
      <p:sp>
        <p:nvSpPr>
          <p:cNvPr id="8" name="Rectangle 7"/>
          <p:cNvSpPr/>
          <p:nvPr/>
        </p:nvSpPr>
        <p:spPr>
          <a:xfrm>
            <a:off x="2971800" y="3127248"/>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Technology and automation</a:t>
            </a:r>
          </a:p>
        </p:txBody>
      </p:sp>
      <p:sp>
        <p:nvSpPr>
          <p:cNvPr id="9" name="Rectangle 8"/>
          <p:cNvSpPr/>
          <p:nvPr/>
        </p:nvSpPr>
        <p:spPr>
          <a:xfrm>
            <a:off x="594360" y="3877056"/>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Marketing and sales</a:t>
            </a:r>
          </a:p>
        </p:txBody>
      </p:sp>
      <p:sp>
        <p:nvSpPr>
          <p:cNvPr id="10" name="Rectangle 9"/>
          <p:cNvSpPr/>
          <p:nvPr/>
        </p:nvSpPr>
        <p:spPr>
          <a:xfrm>
            <a:off x="2971800" y="3877056"/>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Customer communication</a:t>
            </a:r>
          </a:p>
        </p:txBody>
      </p:sp>
      <p:sp>
        <p:nvSpPr>
          <p:cNvPr id="11" name="Rectangle 10"/>
          <p:cNvSpPr/>
          <p:nvPr/>
        </p:nvSpPr>
        <p:spPr>
          <a:xfrm>
            <a:off x="594360" y="4626864"/>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Business setup</a:t>
            </a:r>
          </a:p>
        </p:txBody>
      </p:sp>
      <p:sp>
        <p:nvSpPr>
          <p:cNvPr id="12" name="Rectangle 11"/>
          <p:cNvSpPr/>
          <p:nvPr/>
        </p:nvSpPr>
        <p:spPr>
          <a:xfrm>
            <a:off x="2971800" y="4626864"/>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Product and retail guidance</a:t>
            </a:r>
          </a:p>
        </p:txBody>
      </p:sp>
      <p:sp>
        <p:nvSpPr>
          <p:cNvPr id="13" name="TextBox 12"/>
          <p:cNvSpPr txBox="1"/>
          <p:nvPr/>
        </p:nvSpPr>
        <p:spPr>
          <a:xfrm>
            <a:off x="5760720" y="20116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THREE POSSIBLE DELIVERY ROUTES</a:t>
            </a:r>
          </a:p>
        </p:txBody>
      </p:sp>
      <p:sp>
        <p:nvSpPr>
          <p:cNvPr id="14" name="Rectangle 13"/>
          <p:cNvSpPr/>
          <p:nvPr/>
        </p:nvSpPr>
        <p:spPr>
          <a:xfrm>
            <a:off x="5760720" y="2377440"/>
            <a:ext cx="54864" cy="822960"/>
          </a:xfrm>
          <a:prstGeom prst="rect">
            <a:avLst/>
          </a:prstGeom>
          <a:solidFill>
            <a:srgbClr val="1765D1"/>
          </a:solidFill>
          <a:ln>
            <a:noFill/>
          </a:ln>
          <a:effectLst/>
        </p:spPr>
        <p:txBody>
          <a:bodyPr rtlCol="0" anchor="ctr" lIns="73152" rIns="73152" tIns="36576" bIns="36576"/>
          <a:lstStyle/>
          <a:p>
            <a:pPr algn="ctr"/>
          </a:p>
        </p:txBody>
      </p:sp>
      <p:sp>
        <p:nvSpPr>
          <p:cNvPr id="15" name="TextBox 14"/>
          <p:cNvSpPr txBox="1"/>
          <p:nvPr/>
        </p:nvSpPr>
        <p:spPr>
          <a:xfrm>
            <a:off x="5989320" y="239572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Expert sessions</a:t>
            </a:r>
          </a:p>
        </p:txBody>
      </p:sp>
      <p:sp>
        <p:nvSpPr>
          <p:cNvPr id="16" name="TextBox 15"/>
          <p:cNvSpPr txBox="1"/>
          <p:nvPr/>
        </p:nvSpPr>
        <p:spPr>
          <a:xfrm>
            <a:off x="5989320" y="276148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Short clinics and one-to-one sessions with experienced practitioners.</a:t>
            </a:r>
          </a:p>
        </p:txBody>
      </p:sp>
      <p:sp>
        <p:nvSpPr>
          <p:cNvPr id="17" name="Rectangle 16"/>
          <p:cNvSpPr/>
          <p:nvPr/>
        </p:nvSpPr>
        <p:spPr>
          <a:xfrm>
            <a:off x="5760720" y="3383280"/>
            <a:ext cx="54864" cy="822960"/>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5989320" y="340156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Partner-provided services</a:t>
            </a:r>
          </a:p>
        </p:txBody>
      </p:sp>
      <p:sp>
        <p:nvSpPr>
          <p:cNvPr id="19" name="TextBox 18"/>
          <p:cNvSpPr txBox="1"/>
          <p:nvPr/>
        </p:nvSpPr>
        <p:spPr>
          <a:xfrm>
            <a:off x="5989320" y="376732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Defined packages from vetted providers, with clear scope before work starts.</a:t>
            </a:r>
          </a:p>
        </p:txBody>
      </p:sp>
      <p:sp>
        <p:nvSpPr>
          <p:cNvPr id="20" name="Rectangle 19"/>
          <p:cNvSpPr/>
          <p:nvPr/>
        </p:nvSpPr>
        <p:spPr>
          <a:xfrm>
            <a:off x="5760720" y="4389120"/>
            <a:ext cx="54864" cy="822960"/>
          </a:xfrm>
          <a:prstGeom prst="rect">
            <a:avLst/>
          </a:prstGeom>
          <a:solidFill>
            <a:srgbClr val="10213B"/>
          </a:solidFill>
          <a:ln>
            <a:noFill/>
          </a:ln>
          <a:effectLst/>
        </p:spPr>
        <p:txBody>
          <a:bodyPr rtlCol="0" anchor="ctr" lIns="73152" rIns="73152" tIns="36576" bIns="36576"/>
          <a:lstStyle/>
          <a:p>
            <a:pPr algn="ctr"/>
          </a:p>
        </p:txBody>
      </p:sp>
      <p:sp>
        <p:nvSpPr>
          <p:cNvPr id="21" name="TextBox 20"/>
          <p:cNvSpPr txBox="1"/>
          <p:nvPr/>
        </p:nvSpPr>
        <p:spPr>
          <a:xfrm>
            <a:off x="5989320" y="440740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Integrated or white-label tools</a:t>
            </a:r>
          </a:p>
        </p:txBody>
      </p:sp>
      <p:sp>
        <p:nvSpPr>
          <p:cNvPr id="22" name="TextBox 21"/>
          <p:cNvSpPr txBox="1"/>
          <p:nvPr/>
        </p:nvSpPr>
        <p:spPr>
          <a:xfrm>
            <a:off x="5989320" y="477316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Useful software inside Founder OS, where commercial rights allow.</a:t>
            </a:r>
          </a:p>
        </p:txBody>
      </p:sp>
      <p:sp>
        <p:nvSpPr>
          <p:cNvPr id="23" name="Rectangle 22"/>
          <p:cNvSpPr/>
          <p:nvPr/>
        </p:nvSpPr>
        <p:spPr>
          <a:xfrm>
            <a:off x="5760720" y="5468112"/>
            <a:ext cx="5836615" cy="731520"/>
          </a:xfrm>
          <a:prstGeom prst="rect">
            <a:avLst/>
          </a:prstGeom>
          <a:solidFill>
            <a:srgbClr val="10213B"/>
          </a:solidFill>
          <a:ln>
            <a:noFill/>
          </a:ln>
          <a:effectLst/>
        </p:spPr>
        <p:txBody>
          <a:bodyPr rtlCol="0" anchor="ctr" lIns="73152" rIns="73152" tIns="36576" bIns="36576"/>
          <a:lstStyle/>
          <a:p>
            <a:pPr algn="ctr"/>
          </a:p>
        </p:txBody>
      </p:sp>
      <p:sp>
        <p:nvSpPr>
          <p:cNvPr id="24" name="TextBox 23"/>
          <p:cNvSpPr txBox="1"/>
          <p:nvPr/>
        </p:nvSpPr>
        <p:spPr>
          <a:xfrm>
            <a:off x="5989320" y="5559552"/>
            <a:ext cx="5379415" cy="594360"/>
          </a:xfrm>
          <a:prstGeom prst="rect">
            <a:avLst/>
          </a:prstGeom>
          <a:noFill/>
        </p:spPr>
        <p:txBody>
          <a:bodyPr wrap="square" lIns="0" rIns="0" tIns="0" bIns="0" anchor="ctr"/>
          <a:lstStyle/>
          <a:p>
            <a:pPr algn="l">
              <a:lnSpc>
                <a:spcPct val="120000"/>
              </a:lnSpc>
              <a:spcAft>
                <a:spcPts val="0"/>
              </a:spcAft>
            </a:pPr>
            <a:r>
              <a:rPr sz="1150" b="0" i="0">
                <a:solidFill>
                  <a:srgbClr val="FFFFFF"/>
                </a:solidFill>
                <a:latin typeface="Inter"/>
              </a:rPr>
              <a:t>Packages, providers, integrations and fulfilment will be validated during the pilot. No supplier is presented here as a confirmed partner.</a:t>
            </a:r>
          </a:p>
        </p:txBody>
      </p:sp>
      <p:sp>
        <p:nvSpPr>
          <p:cNvPr id="25" name="TextBox 24"/>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6" name="TextBox 25"/>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EXPERT SERVICES · WHAT FOUNDERS TYPICALLY NEED</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Common requests by category.</a:t>
            </a:r>
          </a:p>
        </p:txBody>
      </p:sp>
      <p:sp>
        <p:nvSpPr>
          <p:cNvPr id="4" name="Rounded Rectangle 3"/>
          <p:cNvSpPr/>
          <p:nvPr/>
        </p:nvSpPr>
        <p:spPr>
          <a:xfrm>
            <a:off x="9710013" y="402336"/>
            <a:ext cx="18873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POTENTIAL CATEGORIES</a:t>
            </a:r>
          </a:p>
        </p:txBody>
      </p:sp>
      <p:sp>
        <p:nvSpPr>
          <p:cNvPr id="5" name="Rectangle 4"/>
          <p:cNvSpPr/>
          <p:nvPr/>
        </p:nvSpPr>
        <p:spPr>
          <a:xfrm>
            <a:off x="594360" y="1965960"/>
            <a:ext cx="73152" cy="822960"/>
          </a:xfrm>
          <a:prstGeom prst="rect">
            <a:avLst/>
          </a:prstGeom>
          <a:solidFill>
            <a:srgbClr val="1765D1"/>
          </a:solidFill>
          <a:ln>
            <a:noFill/>
          </a:ln>
          <a:effectLst/>
        </p:spPr>
        <p:txBody>
          <a:bodyPr rtlCol="0" anchor="ctr" lIns="73152" rIns="73152" tIns="36576" bIns="36576"/>
          <a:lstStyle/>
          <a:p>
            <a:pPr algn="ctr"/>
          </a:p>
        </p:txBody>
      </p:sp>
      <p:sp>
        <p:nvSpPr>
          <p:cNvPr id="6" name="TextBox 5"/>
          <p:cNvSpPr txBox="1"/>
          <p:nvPr/>
        </p:nvSpPr>
        <p:spPr>
          <a:xfrm>
            <a:off x="868680" y="2002536"/>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Legal</a:t>
            </a:r>
          </a:p>
        </p:txBody>
      </p:sp>
      <p:sp>
        <p:nvSpPr>
          <p:cNvPr id="7" name="TextBox 6"/>
          <p:cNvSpPr txBox="1"/>
          <p:nvPr/>
        </p:nvSpPr>
        <p:spPr>
          <a:xfrm>
            <a:off x="868680" y="2350008"/>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Company setup documents, shareholder agreements, contracts, IP basics</a:t>
            </a:r>
          </a:p>
        </p:txBody>
      </p:sp>
      <p:sp>
        <p:nvSpPr>
          <p:cNvPr id="8" name="Rectangle 7"/>
          <p:cNvSpPr/>
          <p:nvPr/>
        </p:nvSpPr>
        <p:spPr>
          <a:xfrm>
            <a:off x="6233007" y="1965960"/>
            <a:ext cx="73152" cy="822960"/>
          </a:xfrm>
          <a:prstGeom prst="rect">
            <a:avLst/>
          </a:prstGeom>
          <a:solidFill>
            <a:srgbClr val="10213B"/>
          </a:solidFill>
          <a:ln>
            <a:noFill/>
          </a:ln>
          <a:effectLst/>
        </p:spPr>
        <p:txBody>
          <a:bodyPr rtlCol="0" anchor="ctr" lIns="73152" rIns="73152" tIns="36576" bIns="36576"/>
          <a:lstStyle/>
          <a:p>
            <a:pPr algn="ctr"/>
          </a:p>
        </p:txBody>
      </p:sp>
      <p:sp>
        <p:nvSpPr>
          <p:cNvPr id="9" name="TextBox 8"/>
          <p:cNvSpPr txBox="1"/>
          <p:nvPr/>
        </p:nvSpPr>
        <p:spPr>
          <a:xfrm>
            <a:off x="6507327" y="2002536"/>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Accounting and finance</a:t>
            </a:r>
          </a:p>
        </p:txBody>
      </p:sp>
      <p:sp>
        <p:nvSpPr>
          <p:cNvPr id="10" name="TextBox 9"/>
          <p:cNvSpPr txBox="1"/>
          <p:nvPr/>
        </p:nvSpPr>
        <p:spPr>
          <a:xfrm>
            <a:off x="6507327" y="2350008"/>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Bookkeeping, VAT registration, financial models, cash-flow planning</a:t>
            </a:r>
          </a:p>
        </p:txBody>
      </p:sp>
      <p:sp>
        <p:nvSpPr>
          <p:cNvPr id="11" name="Rectangle 10"/>
          <p:cNvSpPr/>
          <p:nvPr/>
        </p:nvSpPr>
        <p:spPr>
          <a:xfrm>
            <a:off x="594360" y="2953512"/>
            <a:ext cx="73152" cy="822960"/>
          </a:xfrm>
          <a:prstGeom prst="rect">
            <a:avLst/>
          </a:prstGeom>
          <a:solidFill>
            <a:srgbClr val="10213B"/>
          </a:solidFill>
          <a:ln>
            <a:noFill/>
          </a:ln>
          <a:effectLst/>
        </p:spPr>
        <p:txBody>
          <a:bodyPr rtlCol="0" anchor="ctr" lIns="73152" rIns="73152" tIns="36576" bIns="36576"/>
          <a:lstStyle/>
          <a:p>
            <a:pPr algn="ctr"/>
          </a:p>
        </p:txBody>
      </p:sp>
      <p:sp>
        <p:nvSpPr>
          <p:cNvPr id="12" name="TextBox 11"/>
          <p:cNvSpPr txBox="1"/>
          <p:nvPr/>
        </p:nvSpPr>
        <p:spPr>
          <a:xfrm>
            <a:off x="868680" y="2990088"/>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Branding and design</a:t>
            </a:r>
          </a:p>
        </p:txBody>
      </p:sp>
      <p:sp>
        <p:nvSpPr>
          <p:cNvPr id="13" name="TextBox 12"/>
          <p:cNvSpPr txBox="1"/>
          <p:nvPr/>
        </p:nvSpPr>
        <p:spPr>
          <a:xfrm>
            <a:off x="868680" y="3337560"/>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Name and identity, packaging, pitch design, website look and feel</a:t>
            </a:r>
          </a:p>
        </p:txBody>
      </p:sp>
      <p:sp>
        <p:nvSpPr>
          <p:cNvPr id="14" name="Rectangle 13"/>
          <p:cNvSpPr/>
          <p:nvPr/>
        </p:nvSpPr>
        <p:spPr>
          <a:xfrm>
            <a:off x="6233007" y="2953512"/>
            <a:ext cx="73152" cy="822960"/>
          </a:xfrm>
          <a:prstGeom prst="rect">
            <a:avLst/>
          </a:prstGeom>
          <a:solidFill>
            <a:srgbClr val="1765D1"/>
          </a:solidFill>
          <a:ln>
            <a:noFill/>
          </a:ln>
          <a:effectLst/>
        </p:spPr>
        <p:txBody>
          <a:bodyPr rtlCol="0" anchor="ctr" lIns="73152" rIns="73152" tIns="36576" bIns="36576"/>
          <a:lstStyle/>
          <a:p>
            <a:pPr algn="ctr"/>
          </a:p>
        </p:txBody>
      </p:sp>
      <p:sp>
        <p:nvSpPr>
          <p:cNvPr id="15" name="TextBox 14"/>
          <p:cNvSpPr txBox="1"/>
          <p:nvPr/>
        </p:nvSpPr>
        <p:spPr>
          <a:xfrm>
            <a:off x="6507327" y="2990088"/>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Technology and automation</a:t>
            </a:r>
          </a:p>
        </p:txBody>
      </p:sp>
      <p:sp>
        <p:nvSpPr>
          <p:cNvPr id="16" name="TextBox 15"/>
          <p:cNvSpPr txBox="1"/>
          <p:nvPr/>
        </p:nvSpPr>
        <p:spPr>
          <a:xfrm>
            <a:off x="6507327" y="3337560"/>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No-code builds, website and app scoping, workflow automation</a:t>
            </a:r>
          </a:p>
        </p:txBody>
      </p:sp>
      <p:sp>
        <p:nvSpPr>
          <p:cNvPr id="17" name="Rectangle 16"/>
          <p:cNvSpPr/>
          <p:nvPr/>
        </p:nvSpPr>
        <p:spPr>
          <a:xfrm>
            <a:off x="594360" y="3941064"/>
            <a:ext cx="73152" cy="822960"/>
          </a:xfrm>
          <a:prstGeom prst="rect">
            <a:avLst/>
          </a:prstGeom>
          <a:solidFill>
            <a:srgbClr val="1765D1"/>
          </a:solidFill>
          <a:ln>
            <a:noFill/>
          </a:ln>
          <a:effectLst/>
        </p:spPr>
        <p:txBody>
          <a:bodyPr rtlCol="0" anchor="ctr" lIns="73152" rIns="73152" tIns="36576" bIns="36576"/>
          <a:lstStyle/>
          <a:p>
            <a:pPr algn="ctr"/>
          </a:p>
        </p:txBody>
      </p:sp>
      <p:sp>
        <p:nvSpPr>
          <p:cNvPr id="18" name="TextBox 17"/>
          <p:cNvSpPr txBox="1"/>
          <p:nvPr/>
        </p:nvSpPr>
        <p:spPr>
          <a:xfrm>
            <a:off x="868680" y="3977640"/>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Marketing and sales</a:t>
            </a:r>
          </a:p>
        </p:txBody>
      </p:sp>
      <p:sp>
        <p:nvSpPr>
          <p:cNvPr id="19" name="TextBox 18"/>
          <p:cNvSpPr txBox="1"/>
          <p:nvPr/>
        </p:nvSpPr>
        <p:spPr>
          <a:xfrm>
            <a:off x="868680" y="4325112"/>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Positioning, social and paid campaigns, sales scripts and CRM</a:t>
            </a:r>
          </a:p>
        </p:txBody>
      </p:sp>
      <p:sp>
        <p:nvSpPr>
          <p:cNvPr id="20" name="Rectangle 19"/>
          <p:cNvSpPr/>
          <p:nvPr/>
        </p:nvSpPr>
        <p:spPr>
          <a:xfrm>
            <a:off x="6233007" y="3941064"/>
            <a:ext cx="73152" cy="822960"/>
          </a:xfrm>
          <a:prstGeom prst="rect">
            <a:avLst/>
          </a:prstGeom>
          <a:solidFill>
            <a:srgbClr val="10213B"/>
          </a:solidFill>
          <a:ln>
            <a:noFill/>
          </a:ln>
          <a:effectLst/>
        </p:spPr>
        <p:txBody>
          <a:bodyPr rtlCol="0" anchor="ctr" lIns="73152" rIns="73152" tIns="36576" bIns="36576"/>
          <a:lstStyle/>
          <a:p>
            <a:pPr algn="ctr"/>
          </a:p>
        </p:txBody>
      </p:sp>
      <p:sp>
        <p:nvSpPr>
          <p:cNvPr id="21" name="TextBox 20"/>
          <p:cNvSpPr txBox="1"/>
          <p:nvPr/>
        </p:nvSpPr>
        <p:spPr>
          <a:xfrm>
            <a:off x="6507327" y="3977640"/>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Customer communication</a:t>
            </a:r>
          </a:p>
        </p:txBody>
      </p:sp>
      <p:sp>
        <p:nvSpPr>
          <p:cNvPr id="22" name="TextBox 21"/>
          <p:cNvSpPr txBox="1"/>
          <p:nvPr/>
        </p:nvSpPr>
        <p:spPr>
          <a:xfrm>
            <a:off x="6507327" y="4325112"/>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WhatsApp and email journeys, support processes, reviews</a:t>
            </a:r>
          </a:p>
        </p:txBody>
      </p:sp>
      <p:sp>
        <p:nvSpPr>
          <p:cNvPr id="23" name="Rectangle 22"/>
          <p:cNvSpPr/>
          <p:nvPr/>
        </p:nvSpPr>
        <p:spPr>
          <a:xfrm>
            <a:off x="594360" y="4928616"/>
            <a:ext cx="73152" cy="822960"/>
          </a:xfrm>
          <a:prstGeom prst="rect">
            <a:avLst/>
          </a:prstGeom>
          <a:solidFill>
            <a:srgbClr val="10213B"/>
          </a:solidFill>
          <a:ln>
            <a:noFill/>
          </a:ln>
          <a:effectLst/>
        </p:spPr>
        <p:txBody>
          <a:bodyPr rtlCol="0" anchor="ctr" lIns="73152" rIns="73152" tIns="36576" bIns="36576"/>
          <a:lstStyle/>
          <a:p>
            <a:pPr algn="ctr"/>
          </a:p>
        </p:txBody>
      </p:sp>
      <p:sp>
        <p:nvSpPr>
          <p:cNvPr id="24" name="TextBox 23"/>
          <p:cNvSpPr txBox="1"/>
          <p:nvPr/>
        </p:nvSpPr>
        <p:spPr>
          <a:xfrm>
            <a:off x="868680" y="4965192"/>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Business setup</a:t>
            </a:r>
          </a:p>
        </p:txBody>
      </p:sp>
      <p:sp>
        <p:nvSpPr>
          <p:cNvPr id="25" name="TextBox 24"/>
          <p:cNvSpPr txBox="1"/>
          <p:nvPr/>
        </p:nvSpPr>
        <p:spPr>
          <a:xfrm>
            <a:off x="868680" y="5312664"/>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Licence route, free zone or mainland choice, banking and visas</a:t>
            </a:r>
          </a:p>
        </p:txBody>
      </p:sp>
      <p:sp>
        <p:nvSpPr>
          <p:cNvPr id="26" name="Rectangle 25"/>
          <p:cNvSpPr/>
          <p:nvPr/>
        </p:nvSpPr>
        <p:spPr>
          <a:xfrm>
            <a:off x="6233007" y="4928616"/>
            <a:ext cx="73152" cy="822960"/>
          </a:xfrm>
          <a:prstGeom prst="rect">
            <a:avLst/>
          </a:prstGeom>
          <a:solidFill>
            <a:srgbClr val="1765D1"/>
          </a:solidFill>
          <a:ln>
            <a:noFill/>
          </a:ln>
          <a:effectLst/>
        </p:spPr>
        <p:txBody>
          <a:bodyPr rtlCol="0" anchor="ctr" lIns="73152" rIns="73152" tIns="36576" bIns="36576"/>
          <a:lstStyle/>
          <a:p>
            <a:pPr algn="ctr"/>
          </a:p>
        </p:txBody>
      </p:sp>
      <p:sp>
        <p:nvSpPr>
          <p:cNvPr id="27" name="TextBox 26"/>
          <p:cNvSpPr txBox="1"/>
          <p:nvPr/>
        </p:nvSpPr>
        <p:spPr>
          <a:xfrm>
            <a:off x="6507327" y="4965192"/>
            <a:ext cx="4998567"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Product and retail guidance</a:t>
            </a:r>
          </a:p>
        </p:txBody>
      </p:sp>
      <p:sp>
        <p:nvSpPr>
          <p:cNvPr id="28" name="TextBox 27"/>
          <p:cNvSpPr txBox="1"/>
          <p:nvPr/>
        </p:nvSpPr>
        <p:spPr>
          <a:xfrm>
            <a:off x="6507327" y="5312664"/>
            <a:ext cx="4998567" cy="45720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Sourcing, manufacturing, listings, retail and marketplace entry</a:t>
            </a:r>
          </a:p>
        </p:txBody>
      </p:sp>
      <p:sp>
        <p:nvSpPr>
          <p:cNvPr id="29" name="TextBox 28"/>
          <p:cNvSpPr txBox="1"/>
          <p:nvPr/>
        </p:nvSpPr>
        <p:spPr>
          <a:xfrm>
            <a:off x="594360" y="5989320"/>
            <a:ext cx="11002975" cy="27432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Examples of founder needs. Providers, packages and prices will be validated in the pilot; no supplier is confirmed.</a:t>
            </a:r>
          </a:p>
        </p:txBody>
      </p:sp>
      <p:sp>
        <p:nvSpPr>
          <p:cNvPr id="30" name="TextBox 29"/>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1" name="TextBox 30"/>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STARTUP INSIGHTS, MEDIA AND OPPORTUNITIES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What matters to a founder this week — with context.</a:t>
            </a:r>
          </a:p>
        </p:txBody>
      </p:sp>
      <p:sp>
        <p:nvSpPr>
          <p:cNvPr id="4" name="Oval 3"/>
          <p:cNvSpPr/>
          <p:nvPr/>
        </p:nvSpPr>
        <p:spPr>
          <a:xfrm>
            <a:off x="1325879" y="2194560"/>
            <a:ext cx="3840480" cy="3840480"/>
          </a:xfrm>
          <a:prstGeom prst="ellipse">
            <a:avLst/>
          </a:prstGeom>
          <a:solidFill>
            <a:srgbClr val="EDF4FE"/>
          </a:solidFill>
          <a:ln>
            <a:noFill/>
          </a:ln>
          <a:effectLst/>
        </p:spPr>
        <p:txBody>
          <a:bodyPr rtlCol="0" anchor="ctr" lIns="73152" rIns="73152" tIns="36576" bIns="36576"/>
          <a:lstStyle/>
          <a:p>
            <a:pPr algn="ctr"/>
          </a:p>
        </p:txBody>
      </p:sp>
      <p:sp>
        <p:nvSpPr>
          <p:cNvPr id="5" name="Oval 4"/>
          <p:cNvSpPr/>
          <p:nvPr/>
        </p:nvSpPr>
        <p:spPr>
          <a:xfrm>
            <a:off x="1874519" y="2743200"/>
            <a:ext cx="2743200" cy="2743200"/>
          </a:xfrm>
          <a:prstGeom prst="ellipse">
            <a:avLst/>
          </a:prstGeom>
          <a:solidFill>
            <a:srgbClr val="DCE8FB"/>
          </a:solidFill>
          <a:ln>
            <a:noFill/>
          </a:ln>
          <a:effectLst/>
        </p:spPr>
        <p:txBody>
          <a:bodyPr rtlCol="0" anchor="ctr" lIns="73152" rIns="73152" tIns="36576" bIns="36576"/>
          <a:lstStyle/>
          <a:p>
            <a:pPr algn="ctr"/>
          </a:p>
        </p:txBody>
      </p:sp>
      <p:sp>
        <p:nvSpPr>
          <p:cNvPr id="6" name="Oval 5"/>
          <p:cNvSpPr/>
          <p:nvPr/>
        </p:nvSpPr>
        <p:spPr>
          <a:xfrm>
            <a:off x="2423160" y="3291840"/>
            <a:ext cx="1645920" cy="1645920"/>
          </a:xfrm>
          <a:prstGeom prst="ellipse">
            <a:avLst/>
          </a:prstGeom>
          <a:solidFill>
            <a:srgbClr val="C4D8F6"/>
          </a:solidFill>
          <a:ln>
            <a:noFill/>
          </a:ln>
          <a:effectLst/>
        </p:spPr>
        <p:txBody>
          <a:bodyPr rtlCol="0" anchor="ctr" lIns="73152" rIns="73152" tIns="36576" bIns="36576"/>
          <a:lstStyle/>
          <a:p>
            <a:pPr algn="ctr"/>
          </a:p>
        </p:txBody>
      </p:sp>
      <p:cxnSp>
        <p:nvCxnSpPr>
          <p:cNvPr id="7" name="Connector 6"/>
          <p:cNvCxnSpPr/>
          <p:nvPr/>
        </p:nvCxnSpPr>
        <p:spPr>
          <a:xfrm>
            <a:off x="1325879" y="4114800"/>
            <a:ext cx="3840481" cy="0"/>
          </a:xfrm>
          <a:prstGeom prst="line">
            <a:avLst/>
          </a:prstGeom>
          <a:ln w="9525">
            <a:solidFill>
              <a:srgbClr val="B8CFEE"/>
            </a:solidFill>
          </a:ln>
        </p:spPr>
      </p:cxnSp>
      <p:cxnSp>
        <p:nvCxnSpPr>
          <p:cNvPr id="8" name="Connector 7"/>
          <p:cNvCxnSpPr/>
          <p:nvPr/>
        </p:nvCxnSpPr>
        <p:spPr>
          <a:xfrm>
            <a:off x="3246120" y="2194560"/>
            <a:ext cx="0" cy="3840480"/>
          </a:xfrm>
          <a:prstGeom prst="line">
            <a:avLst/>
          </a:prstGeom>
          <a:ln w="9525">
            <a:solidFill>
              <a:srgbClr val="B8CFEE"/>
            </a:solidFill>
          </a:ln>
        </p:spPr>
      </p:cxnSp>
      <p:sp>
        <p:nvSpPr>
          <p:cNvPr id="9" name="Oval 8"/>
          <p:cNvSpPr/>
          <p:nvPr/>
        </p:nvSpPr>
        <p:spPr>
          <a:xfrm>
            <a:off x="2807208" y="3675887"/>
            <a:ext cx="877824" cy="877824"/>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Radar</a:t>
            </a:r>
          </a:p>
        </p:txBody>
      </p:sp>
      <p:sp>
        <p:nvSpPr>
          <p:cNvPr id="10" name="TextBox 9"/>
          <p:cNvSpPr txBox="1"/>
          <p:nvPr/>
        </p:nvSpPr>
        <p:spPr>
          <a:xfrm>
            <a:off x="1554479" y="269748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Startup updates</a:t>
            </a:r>
          </a:p>
        </p:txBody>
      </p:sp>
      <p:sp>
        <p:nvSpPr>
          <p:cNvPr id="11" name="TextBox 10"/>
          <p:cNvSpPr txBox="1"/>
          <p:nvPr/>
        </p:nvSpPr>
        <p:spPr>
          <a:xfrm>
            <a:off x="3474720" y="269748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Relevant events</a:t>
            </a:r>
          </a:p>
        </p:txBody>
      </p:sp>
      <p:sp>
        <p:nvSpPr>
          <p:cNvPr id="12" name="TextBox 11"/>
          <p:cNvSpPr txBox="1"/>
          <p:nvPr/>
        </p:nvSpPr>
        <p:spPr>
          <a:xfrm>
            <a:off x="1554479" y="480060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Funding and programme opportunities</a:t>
            </a:r>
          </a:p>
        </p:txBody>
      </p:sp>
      <p:sp>
        <p:nvSpPr>
          <p:cNvPr id="13" name="TextBox 12"/>
          <p:cNvSpPr txBox="1"/>
          <p:nvPr/>
        </p:nvSpPr>
        <p:spPr>
          <a:xfrm>
            <a:off x="3474720" y="480060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Founder interviews and media</a:t>
            </a:r>
          </a:p>
        </p:txBody>
      </p:sp>
      <p:sp>
        <p:nvSpPr>
          <p:cNvPr id="14" name="Oval 13"/>
          <p:cNvSpPr/>
          <p:nvPr/>
        </p:nvSpPr>
        <p:spPr>
          <a:xfrm>
            <a:off x="3182112" y="2953512"/>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5" name="Oval 14"/>
          <p:cNvSpPr/>
          <p:nvPr/>
        </p:nvSpPr>
        <p:spPr>
          <a:xfrm>
            <a:off x="4279392" y="4050791"/>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6" name="Oval 15"/>
          <p:cNvSpPr/>
          <p:nvPr/>
        </p:nvSpPr>
        <p:spPr>
          <a:xfrm>
            <a:off x="3182112" y="5148072"/>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7" name="Oval 16"/>
          <p:cNvSpPr/>
          <p:nvPr/>
        </p:nvSpPr>
        <p:spPr>
          <a:xfrm>
            <a:off x="2084831" y="4050791"/>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8" name="TextBox 17"/>
          <p:cNvSpPr txBox="1"/>
          <p:nvPr/>
        </p:nvSpPr>
        <p:spPr>
          <a:xfrm>
            <a:off x="5852160" y="2011680"/>
            <a:ext cx="5760720" cy="822960"/>
          </a:xfrm>
          <a:prstGeom prst="rect">
            <a:avLst/>
          </a:prstGeom>
          <a:noFill/>
        </p:spPr>
        <p:txBody>
          <a:bodyPr wrap="square" lIns="0" rIns="0" tIns="0" bIns="0" anchor="t"/>
          <a:lstStyle/>
          <a:p>
            <a:pPr algn="l">
              <a:lnSpc>
                <a:spcPct val="120000"/>
              </a:lnSpc>
              <a:spcAft>
                <a:spcPts val="0"/>
              </a:spcAft>
            </a:pPr>
            <a:r>
              <a:rPr sz="1600" b="1" i="0">
                <a:solidFill>
                  <a:srgbClr val="10213B"/>
                </a:solidFill>
                <a:latin typeface="Inter"/>
              </a:rPr>
              <a:t>Startup Roof Radar</a:t>
            </a:r>
          </a:p>
          <a:p>
            <a:pPr algn="l">
              <a:lnSpc>
                <a:spcPct val="120000"/>
              </a:lnSpc>
              <a:spcAft>
                <a:spcPts val="0"/>
              </a:spcAft>
            </a:pPr>
            <a:r>
              <a:rPr sz="1250" b="0" i="0">
                <a:solidFill>
                  <a:srgbClr val="253650"/>
                </a:solidFill>
                <a:latin typeface="Inter"/>
              </a:rPr>
              <a:t>A planned, curated view of updates, events and opportunities — starting with the UAE and widening over time.</a:t>
            </a:r>
          </a:p>
        </p:txBody>
      </p:sp>
      <p:cxnSp>
        <p:nvCxnSpPr>
          <p:cNvPr id="19" name="Connector 18"/>
          <p:cNvCxnSpPr/>
          <p:nvPr/>
        </p:nvCxnSpPr>
        <p:spPr>
          <a:xfrm>
            <a:off x="5852160" y="3063240"/>
            <a:ext cx="5745175" cy="0"/>
          </a:xfrm>
          <a:prstGeom prst="line">
            <a:avLst/>
          </a:prstGeom>
          <a:ln w="12700">
            <a:solidFill>
              <a:srgbClr val="D5E2F3"/>
            </a:solidFill>
          </a:ln>
        </p:spPr>
      </p:cxnSp>
      <p:sp>
        <p:nvSpPr>
          <p:cNvPr id="20" name="TextBox 19"/>
          <p:cNvSpPr txBox="1"/>
          <p:nvPr/>
        </p:nvSpPr>
        <p:spPr>
          <a:xfrm>
            <a:off x="5852160" y="3191256"/>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Relevance</a:t>
            </a:r>
          </a:p>
        </p:txBody>
      </p:sp>
      <p:sp>
        <p:nvSpPr>
          <p:cNvPr id="21" name="TextBox 20"/>
          <p:cNvSpPr txBox="1"/>
          <p:nvPr/>
        </p:nvSpPr>
        <p:spPr>
          <a:xfrm>
            <a:off x="7772400" y="3191256"/>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Filtered by a founder’s stage, sector and location.</a:t>
            </a:r>
          </a:p>
        </p:txBody>
      </p:sp>
      <p:cxnSp>
        <p:nvCxnSpPr>
          <p:cNvPr id="22" name="Connector 21"/>
          <p:cNvCxnSpPr/>
          <p:nvPr/>
        </p:nvCxnSpPr>
        <p:spPr>
          <a:xfrm>
            <a:off x="5852160" y="3721608"/>
            <a:ext cx="5745175" cy="0"/>
          </a:xfrm>
          <a:prstGeom prst="line">
            <a:avLst/>
          </a:prstGeom>
          <a:ln w="12700">
            <a:solidFill>
              <a:srgbClr val="D5E2F3"/>
            </a:solidFill>
          </a:ln>
        </p:spPr>
      </p:cxnSp>
      <p:sp>
        <p:nvSpPr>
          <p:cNvPr id="23" name="TextBox 22"/>
          <p:cNvSpPr txBox="1"/>
          <p:nvPr/>
        </p:nvSpPr>
        <p:spPr>
          <a:xfrm>
            <a:off x="5852160" y="3849624"/>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Attribution</a:t>
            </a:r>
          </a:p>
        </p:txBody>
      </p:sp>
      <p:sp>
        <p:nvSpPr>
          <p:cNvPr id="24" name="TextBox 23"/>
          <p:cNvSpPr txBox="1"/>
          <p:nvPr/>
        </p:nvSpPr>
        <p:spPr>
          <a:xfrm>
            <a:off x="7772400" y="3849624"/>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Every item credits and links to its original source.</a:t>
            </a:r>
          </a:p>
        </p:txBody>
      </p:sp>
      <p:cxnSp>
        <p:nvCxnSpPr>
          <p:cNvPr id="25" name="Connector 24"/>
          <p:cNvCxnSpPr/>
          <p:nvPr/>
        </p:nvCxnSpPr>
        <p:spPr>
          <a:xfrm>
            <a:off x="5852160" y="4379976"/>
            <a:ext cx="5745175" cy="0"/>
          </a:xfrm>
          <a:prstGeom prst="line">
            <a:avLst/>
          </a:prstGeom>
          <a:ln w="12700">
            <a:solidFill>
              <a:srgbClr val="D5E2F3"/>
            </a:solidFill>
          </a:ln>
        </p:spPr>
      </p:cxnSp>
      <p:sp>
        <p:nvSpPr>
          <p:cNvPr id="26" name="TextBox 25"/>
          <p:cNvSpPr txBox="1"/>
          <p:nvPr/>
        </p:nvSpPr>
        <p:spPr>
          <a:xfrm>
            <a:off x="5852160" y="4507992"/>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Freshness</a:t>
            </a:r>
          </a:p>
        </p:txBody>
      </p:sp>
      <p:sp>
        <p:nvSpPr>
          <p:cNvPr id="27" name="TextBox 26"/>
          <p:cNvSpPr txBox="1"/>
          <p:nvPr/>
        </p:nvSpPr>
        <p:spPr>
          <a:xfrm>
            <a:off x="7772400" y="4507992"/>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Dated, and removed when no longer current.</a:t>
            </a:r>
          </a:p>
        </p:txBody>
      </p:sp>
      <p:cxnSp>
        <p:nvCxnSpPr>
          <p:cNvPr id="28" name="Connector 27"/>
          <p:cNvCxnSpPr/>
          <p:nvPr/>
        </p:nvCxnSpPr>
        <p:spPr>
          <a:xfrm>
            <a:off x="5852160" y="5038344"/>
            <a:ext cx="5745175" cy="0"/>
          </a:xfrm>
          <a:prstGeom prst="line">
            <a:avLst/>
          </a:prstGeom>
          <a:ln w="12700">
            <a:solidFill>
              <a:srgbClr val="D5E2F3"/>
            </a:solidFill>
          </a:ln>
        </p:spPr>
      </p:cxnSp>
      <p:sp>
        <p:nvSpPr>
          <p:cNvPr id="29" name="TextBox 28"/>
          <p:cNvSpPr txBox="1"/>
          <p:nvPr/>
        </p:nvSpPr>
        <p:spPr>
          <a:xfrm>
            <a:off x="5852160" y="5166359"/>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Founder context</a:t>
            </a:r>
          </a:p>
        </p:txBody>
      </p:sp>
      <p:sp>
        <p:nvSpPr>
          <p:cNvPr id="30" name="TextBox 29"/>
          <p:cNvSpPr txBox="1"/>
          <p:nvPr/>
        </p:nvSpPr>
        <p:spPr>
          <a:xfrm>
            <a:off x="7772400" y="5166359"/>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A short note on why it matters and what to do next.</a:t>
            </a:r>
          </a:p>
        </p:txBody>
      </p:sp>
      <p:sp>
        <p:nvSpPr>
          <p:cNvPr id="31" name="TextBox 30"/>
          <p:cNvSpPr txBox="1"/>
          <p:nvPr/>
        </p:nvSpPr>
        <p:spPr>
          <a:xfrm>
            <a:off x="5852160" y="5760720"/>
            <a:ext cx="5760720" cy="45720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Coverage will be selective and grow step by step; it is not intended to be a complete news service.</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INCUBATION AND COMMERCIAL READINESS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Selective, structured support where it can make a difference.</a:t>
            </a:r>
          </a:p>
        </p:txBody>
      </p:sp>
      <p:sp>
        <p:nvSpPr>
          <p:cNvPr id="4" name="Oval 3"/>
          <p:cNvSpPr/>
          <p:nvPr/>
        </p:nvSpPr>
        <p:spPr>
          <a:xfrm>
            <a:off x="594360"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1</a:t>
            </a:r>
          </a:p>
        </p:txBody>
      </p:sp>
      <p:cxnSp>
        <p:nvCxnSpPr>
          <p:cNvPr id="5" name="Connector 4"/>
          <p:cNvCxnSpPr/>
          <p:nvPr/>
        </p:nvCxnSpPr>
        <p:spPr>
          <a:xfrm>
            <a:off x="1143000" y="2331720"/>
            <a:ext cx="1212037" cy="0"/>
          </a:xfrm>
          <a:prstGeom prst="line">
            <a:avLst/>
          </a:prstGeom>
          <a:ln w="15875">
            <a:solidFill>
              <a:srgbClr val="B8CFEE"/>
            </a:solidFill>
            <a:tailEnd type="triangle" w="med" len="med"/>
          </a:ln>
        </p:spPr>
      </p:cxnSp>
      <p:sp>
        <p:nvSpPr>
          <p:cNvPr id="6" name="TextBox 5"/>
          <p:cNvSpPr txBox="1"/>
          <p:nvPr/>
        </p:nvSpPr>
        <p:spPr>
          <a:xfrm>
            <a:off x="594360"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Understand the founder’s needs</a:t>
            </a:r>
          </a:p>
        </p:txBody>
      </p:sp>
      <p:sp>
        <p:nvSpPr>
          <p:cNvPr id="7" name="Oval 6"/>
          <p:cNvSpPr/>
          <p:nvPr/>
        </p:nvSpPr>
        <p:spPr>
          <a:xfrm>
            <a:off x="2428189" y="2103120"/>
            <a:ext cx="457200" cy="45720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2</a:t>
            </a:r>
          </a:p>
        </p:txBody>
      </p:sp>
      <p:cxnSp>
        <p:nvCxnSpPr>
          <p:cNvPr id="8" name="Connector 7"/>
          <p:cNvCxnSpPr/>
          <p:nvPr/>
        </p:nvCxnSpPr>
        <p:spPr>
          <a:xfrm>
            <a:off x="2976829" y="2331720"/>
            <a:ext cx="1212037" cy="0"/>
          </a:xfrm>
          <a:prstGeom prst="line">
            <a:avLst/>
          </a:prstGeom>
          <a:ln w="15875">
            <a:solidFill>
              <a:srgbClr val="B8CFEE"/>
            </a:solidFill>
            <a:tailEnd type="triangle" w="med" len="med"/>
          </a:ln>
        </p:spPr>
      </p:cxnSp>
      <p:sp>
        <p:nvSpPr>
          <p:cNvPr id="9" name="TextBox 8"/>
          <p:cNvSpPr txBox="1"/>
          <p:nvPr/>
        </p:nvSpPr>
        <p:spPr>
          <a:xfrm>
            <a:off x="2428189"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Assess suitability</a:t>
            </a:r>
          </a:p>
        </p:txBody>
      </p:sp>
      <p:sp>
        <p:nvSpPr>
          <p:cNvPr id="10" name="Oval 9"/>
          <p:cNvSpPr/>
          <p:nvPr/>
        </p:nvSpPr>
        <p:spPr>
          <a:xfrm>
            <a:off x="4262018"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3</a:t>
            </a:r>
          </a:p>
        </p:txBody>
      </p:sp>
      <p:cxnSp>
        <p:nvCxnSpPr>
          <p:cNvPr id="11" name="Connector 10"/>
          <p:cNvCxnSpPr/>
          <p:nvPr/>
        </p:nvCxnSpPr>
        <p:spPr>
          <a:xfrm>
            <a:off x="4810658" y="2331720"/>
            <a:ext cx="1212037" cy="0"/>
          </a:xfrm>
          <a:prstGeom prst="line">
            <a:avLst/>
          </a:prstGeom>
          <a:ln w="15875">
            <a:solidFill>
              <a:srgbClr val="B8CFEE"/>
            </a:solidFill>
            <a:tailEnd type="triangle" w="med" len="med"/>
          </a:ln>
        </p:spPr>
      </p:cxnSp>
      <p:sp>
        <p:nvSpPr>
          <p:cNvPr id="12" name="TextBox 11"/>
          <p:cNvSpPr txBox="1"/>
          <p:nvPr/>
        </p:nvSpPr>
        <p:spPr>
          <a:xfrm>
            <a:off x="4262018"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Define a practical support plan</a:t>
            </a:r>
          </a:p>
        </p:txBody>
      </p:sp>
      <p:sp>
        <p:nvSpPr>
          <p:cNvPr id="13" name="Oval 12"/>
          <p:cNvSpPr/>
          <p:nvPr/>
        </p:nvSpPr>
        <p:spPr>
          <a:xfrm>
            <a:off x="6095847"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4</a:t>
            </a:r>
          </a:p>
        </p:txBody>
      </p:sp>
      <p:cxnSp>
        <p:nvCxnSpPr>
          <p:cNvPr id="14" name="Connector 13"/>
          <p:cNvCxnSpPr/>
          <p:nvPr/>
        </p:nvCxnSpPr>
        <p:spPr>
          <a:xfrm>
            <a:off x="6644487" y="2331720"/>
            <a:ext cx="1212037" cy="0"/>
          </a:xfrm>
          <a:prstGeom prst="line">
            <a:avLst/>
          </a:prstGeom>
          <a:ln w="15875">
            <a:solidFill>
              <a:srgbClr val="B8CFEE"/>
            </a:solidFill>
            <a:tailEnd type="triangle" w="med" len="med"/>
          </a:ln>
        </p:spPr>
      </p:cxnSp>
      <p:sp>
        <p:nvSpPr>
          <p:cNvPr id="15" name="TextBox 14"/>
          <p:cNvSpPr txBox="1"/>
          <p:nvPr/>
        </p:nvSpPr>
        <p:spPr>
          <a:xfrm>
            <a:off x="6095847"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Match mentors and specialists</a:t>
            </a:r>
          </a:p>
        </p:txBody>
      </p:sp>
      <p:sp>
        <p:nvSpPr>
          <p:cNvPr id="16" name="Oval 15"/>
          <p:cNvSpPr/>
          <p:nvPr/>
        </p:nvSpPr>
        <p:spPr>
          <a:xfrm>
            <a:off x="7929676"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5</a:t>
            </a:r>
          </a:p>
        </p:txBody>
      </p:sp>
      <p:cxnSp>
        <p:nvCxnSpPr>
          <p:cNvPr id="17" name="Connector 16"/>
          <p:cNvCxnSpPr/>
          <p:nvPr/>
        </p:nvCxnSpPr>
        <p:spPr>
          <a:xfrm>
            <a:off x="8478316" y="2331720"/>
            <a:ext cx="1212038" cy="0"/>
          </a:xfrm>
          <a:prstGeom prst="line">
            <a:avLst/>
          </a:prstGeom>
          <a:ln w="15875">
            <a:solidFill>
              <a:srgbClr val="B8CFEE"/>
            </a:solidFill>
            <a:tailEnd type="triangle" w="med" len="med"/>
          </a:ln>
        </p:spPr>
      </p:cxnSp>
      <p:sp>
        <p:nvSpPr>
          <p:cNvPr id="18" name="TextBox 17"/>
          <p:cNvSpPr txBox="1"/>
          <p:nvPr/>
        </p:nvSpPr>
        <p:spPr>
          <a:xfrm>
            <a:off x="7929676"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Agree milestones</a:t>
            </a:r>
          </a:p>
        </p:txBody>
      </p:sp>
      <p:sp>
        <p:nvSpPr>
          <p:cNvPr id="19" name="Oval 18"/>
          <p:cNvSpPr/>
          <p:nvPr/>
        </p:nvSpPr>
        <p:spPr>
          <a:xfrm>
            <a:off x="9763506"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6</a:t>
            </a:r>
          </a:p>
        </p:txBody>
      </p:sp>
      <p:sp>
        <p:nvSpPr>
          <p:cNvPr id="20" name="TextBox 19"/>
          <p:cNvSpPr txBox="1"/>
          <p:nvPr/>
        </p:nvSpPr>
        <p:spPr>
          <a:xfrm>
            <a:off x="9763506"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Review progress</a:t>
            </a:r>
          </a:p>
        </p:txBody>
      </p:sp>
      <p:sp>
        <p:nvSpPr>
          <p:cNvPr id="21" name="Rounded Rectangle 20"/>
          <p:cNvSpPr/>
          <p:nvPr/>
        </p:nvSpPr>
        <p:spPr>
          <a:xfrm>
            <a:off x="2382469" y="3429000"/>
            <a:ext cx="1742389" cy="274320"/>
          </a:xfrm>
          <a:prstGeom prst="roundRect">
            <a:avLst>
              <a:gd name="adj" fmla="val 50000"/>
            </a:avLst>
          </a:prstGeom>
          <a:solidFill>
            <a:srgbClr val="EDF4FE"/>
          </a:solidFill>
          <a:ln>
            <a:noFill/>
          </a:ln>
          <a:effectLst/>
        </p:spPr>
        <p:txBody>
          <a:bodyPr rtlCol="0" anchor="ctr" lIns="73152" rIns="73152" tIns="27432" bIns="27432" wrap="square"/>
          <a:lstStyle/>
          <a:p>
            <a:pPr algn="ctr">
              <a:lnSpc>
                <a:spcPct val="110000"/>
              </a:lnSpc>
              <a:spcAft>
                <a:spcPts val="0"/>
              </a:spcAft>
            </a:pPr>
            <a:r>
              <a:rPr sz="900" b="1" i="0">
                <a:solidFill>
                  <a:srgbClr val="1765D1"/>
                </a:solidFill>
                <a:latin typeface="Inter"/>
              </a:rPr>
              <a:t>Selection point</a:t>
            </a:r>
          </a:p>
        </p:txBody>
      </p:sp>
      <p:sp>
        <p:nvSpPr>
          <p:cNvPr id="22" name="TextBox 21"/>
          <p:cNvSpPr txBox="1"/>
          <p:nvPr/>
        </p:nvSpPr>
        <p:spPr>
          <a:xfrm>
            <a:off x="594360" y="3886200"/>
            <a:ext cx="73152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EXAMPLE SUPPORT PLANS</a:t>
            </a:r>
          </a:p>
        </p:txBody>
      </p:sp>
      <p:graphicFrame>
        <p:nvGraphicFramePr>
          <p:cNvPr id="23" name="Table 22"/>
          <p:cNvGraphicFramePr>
            <a:graphicFrameLocks noGrp="1"/>
          </p:cNvGraphicFramePr>
          <p:nvPr/>
        </p:nvGraphicFramePr>
        <p:xfrm>
          <a:off x="594360" y="4206240"/>
          <a:ext cx="7589520" cy="1645920"/>
        </p:xfrm>
        <a:graphic>
          <a:graphicData uri="http://schemas.openxmlformats.org/drawingml/2006/table">
            <a:tbl>
              <a:tblPr firstRow="0" bandRow="0">
                <a:tableStyleId>{5C22544A-7EE6-4342-B048-85BDC9FD1C3A}</a:tableStyleId>
              </a:tblPr>
              <a:tblGrid>
                <a:gridCol w="1828800"/>
                <a:gridCol w="2880360"/>
                <a:gridCol w="2880360"/>
              </a:tblGrid>
              <a:tr h="411480">
                <a:tc>
                  <a:txBody>
                    <a:bodyPr wrap="square" anchor="t"/>
                    <a:lstStyle/>
                    <a:p>
                      <a:pPr algn="l">
                        <a:lnSpc>
                          <a:spcPct val="115000"/>
                        </a:lnSpc>
                        <a:spcAft>
                          <a:spcPts val="0"/>
                        </a:spcAft>
                      </a:pPr>
                      <a:r>
                        <a:rPr sz="1050" b="1" i="0" spc="60">
                          <a:solidFill>
                            <a:srgbClr val="FFFFFF"/>
                          </a:solidFill>
                          <a:latin typeface="Inter"/>
                        </a:rPr>
                        <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Technology startup</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Consumer or service business</a:t>
                      </a:r>
                    </a:p>
                  </a:txBody>
                  <a:tcPr marL="109728" marR="109728" marT="54864" marB="54864" anchor="ctr">
                    <a:solidFill>
                      <a:srgbClr val="10213B"/>
                    </a:solidFill>
                  </a:tcPr>
                </a:tc>
              </a:tr>
              <a:tr h="411480">
                <a:tc>
                  <a:txBody>
                    <a:bodyPr wrap="square" anchor="t"/>
                    <a:lstStyle/>
                    <a:p>
                      <a:pPr algn="l">
                        <a:lnSpc>
                          <a:spcPct val="115000"/>
                        </a:lnSpc>
                        <a:spcAft>
                          <a:spcPts val="0"/>
                        </a:spcAft>
                      </a:pPr>
                      <a:r>
                        <a:rPr sz="1100" b="1" i="0">
                          <a:solidFill>
                            <a:srgbClr val="10213B"/>
                          </a:solidFill>
                          <a:latin typeface="Inter"/>
                        </a:rPr>
                        <a:t>Typical focus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Product–market fit, early traction, technical choices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Unit economics, channels, supply and operations</a:t>
                      </a:r>
                    </a:p>
                  </a:txBody>
                  <a:tcPr marL="109728" marR="109728" marT="54864" marB="54864" anchor="ctr">
                    <a:solidFill>
                      <a:srgbClr val="FFFFFF"/>
                    </a:solidFill>
                  </a:tcPr>
                </a:tc>
              </a:tr>
              <a:tr h="411480">
                <a:tc>
                  <a:txBody>
                    <a:bodyPr wrap="square" anchor="t"/>
                    <a:lstStyle/>
                    <a:p>
                      <a:pPr algn="l">
                        <a:lnSpc>
                          <a:spcPct val="115000"/>
                        </a:lnSpc>
                        <a:spcAft>
                          <a:spcPts val="0"/>
                        </a:spcAft>
                      </a:pPr>
                      <a:r>
                        <a:rPr sz="1100" b="1" i="0">
                          <a:solidFill>
                            <a:srgbClr val="10213B"/>
                          </a:solidFill>
                          <a:latin typeface="Inter"/>
                        </a:rPr>
                        <a:t>Example milestone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First ten paying customers on a defined plan</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Margin-positive pilot with one retail or online channel</a:t>
                      </a:r>
                    </a:p>
                  </a:txBody>
                  <a:tcPr marL="109728" marR="109728" marT="54864" marB="54864" anchor="ctr">
                    <a:solidFill>
                      <a:srgbClr val="EDF4FE"/>
                    </a:solidFill>
                  </a:tcPr>
                </a:tc>
              </a:tr>
              <a:tr h="411480">
                <a:tc>
                  <a:txBody>
                    <a:bodyPr wrap="square" anchor="t"/>
                    <a:lstStyle/>
                    <a:p>
                      <a:pPr algn="l">
                        <a:lnSpc>
                          <a:spcPct val="115000"/>
                        </a:lnSpc>
                        <a:spcAft>
                          <a:spcPts val="0"/>
                        </a:spcAft>
                      </a:pPr>
                      <a:r>
                        <a:rPr sz="1100" b="1" i="0">
                          <a:solidFill>
                            <a:srgbClr val="10213B"/>
                          </a:solidFill>
                          <a:latin typeface="Inter"/>
                        </a:rPr>
                        <a:t>Typical specialists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Product, AI/automation, go-to-market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Brand, retail, sourcing, finance</a:t>
                      </a:r>
                    </a:p>
                  </a:txBody>
                  <a:tcPr marL="109728" marR="109728" marT="54864" marB="54864" anchor="ctr">
                    <a:solidFill>
                      <a:srgbClr val="FFFFFF"/>
                    </a:solidFill>
                  </a:tcPr>
                </a:tc>
              </a:tr>
            </a:tbl>
          </a:graphicData>
        </a:graphic>
      </p:graphicFrame>
      <p:sp>
        <p:nvSpPr>
          <p:cNvPr id="24" name="Rectangle 23"/>
          <p:cNvSpPr/>
          <p:nvPr/>
        </p:nvSpPr>
        <p:spPr>
          <a:xfrm>
            <a:off x="8503920" y="3886200"/>
            <a:ext cx="3093415" cy="2286000"/>
          </a:xfrm>
          <a:prstGeom prst="rect">
            <a:avLst/>
          </a:prstGeom>
          <a:solidFill>
            <a:srgbClr val="10213B"/>
          </a:solidFill>
          <a:ln>
            <a:noFill/>
          </a:ln>
          <a:effectLst/>
        </p:spPr>
        <p:txBody>
          <a:bodyPr rtlCol="0" anchor="ctr" lIns="73152" rIns="73152" tIns="36576" bIns="36576"/>
          <a:lstStyle/>
          <a:p>
            <a:pPr algn="ctr"/>
          </a:p>
        </p:txBody>
      </p:sp>
      <p:sp>
        <p:nvSpPr>
          <p:cNvPr id="25" name="TextBox 24"/>
          <p:cNvSpPr txBox="1"/>
          <p:nvPr/>
        </p:nvSpPr>
        <p:spPr>
          <a:xfrm>
            <a:off x="8732520" y="4069080"/>
            <a:ext cx="2926080" cy="2011680"/>
          </a:xfrm>
          <a:prstGeom prst="rect">
            <a:avLst/>
          </a:prstGeom>
          <a:noFill/>
        </p:spPr>
        <p:txBody>
          <a:bodyPr wrap="square" lIns="0" rIns="0" tIns="0" bIns="0" anchor="t"/>
          <a:lstStyle/>
          <a:p>
            <a:pPr algn="l">
              <a:lnSpc>
                <a:spcPct val="125000"/>
              </a:lnSpc>
              <a:spcAft>
                <a:spcPts val="0"/>
              </a:spcAft>
            </a:pPr>
            <a:r>
              <a:rPr sz="1400" b="1" i="0">
                <a:solidFill>
                  <a:srgbClr val="FFFFFF"/>
                </a:solidFill>
                <a:latin typeface="Inter"/>
              </a:rPr>
              <a:t>Intensive support is selective.</a:t>
            </a:r>
          </a:p>
          <a:p>
            <a:pPr algn="l">
              <a:lnSpc>
                <a:spcPct val="125000"/>
              </a:lnSpc>
              <a:spcBef>
                <a:spcPts val="600"/>
              </a:spcBef>
              <a:spcAft>
                <a:spcPts val="0"/>
              </a:spcAft>
            </a:pPr>
            <a:r>
              <a:rPr sz="1150" b="0" i="0">
                <a:solidFill>
                  <a:srgbClr val="C9D6E8"/>
                </a:solidFill>
                <a:latin typeface="Inter"/>
              </a:rPr>
              <a:t>Places depend on fit, the founder’s commitment and our delivery capacity. Terms are agreed separately with each business.</a:t>
            </a:r>
          </a:p>
        </p:txBody>
      </p:sp>
      <p:sp>
        <p:nvSpPr>
          <p:cNvPr id="26" name="TextBox 2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7" name="TextBox 2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INVESTOR READINESS CHECKLIST</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What founders should have in place before raising.</a:t>
            </a:r>
          </a:p>
        </p:txBody>
      </p:sp>
      <p:sp>
        <p:nvSpPr>
          <p:cNvPr id="4" name="Rectangle 3"/>
          <p:cNvSpPr/>
          <p:nvPr/>
        </p:nvSpPr>
        <p:spPr>
          <a:xfrm>
            <a:off x="594360" y="1965960"/>
            <a:ext cx="2090867" cy="457200"/>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594360" y="2057400"/>
            <a:ext cx="2090867" cy="274320"/>
          </a:xfrm>
          <a:prstGeom prst="rect">
            <a:avLst/>
          </a:prstGeom>
          <a:noFill/>
        </p:spPr>
        <p:txBody>
          <a:bodyPr wrap="square" lIns="0" rIns="0" tIns="0" bIns="0" anchor="t"/>
          <a:lstStyle/>
          <a:p>
            <a:pPr algn="ctr">
              <a:lnSpc>
                <a:spcPct val="115000"/>
              </a:lnSpc>
              <a:spcAft>
                <a:spcPts val="0"/>
              </a:spcAft>
            </a:pPr>
            <a:r>
              <a:rPr sz="1100" b="1" i="0" spc="140">
                <a:solidFill>
                  <a:srgbClr val="FFFFFF"/>
                </a:solidFill>
                <a:latin typeface="Inter"/>
              </a:rPr>
              <a:t>BUSINESS</a:t>
            </a:r>
          </a:p>
        </p:txBody>
      </p:sp>
      <p:sp>
        <p:nvSpPr>
          <p:cNvPr id="6" name="Rectangle 5"/>
          <p:cNvSpPr/>
          <p:nvPr/>
        </p:nvSpPr>
        <p:spPr>
          <a:xfrm>
            <a:off x="594360" y="2560320"/>
            <a:ext cx="2090867" cy="1051560"/>
          </a:xfrm>
          <a:prstGeom prst="rect">
            <a:avLst/>
          </a:prstGeom>
          <a:solidFill>
            <a:srgbClr val="EDF4FE"/>
          </a:solidFill>
          <a:ln>
            <a:noFill/>
          </a:ln>
          <a:effectLst/>
        </p:spPr>
        <p:txBody>
          <a:bodyPr rtlCol="0" anchor="ctr" lIns="73152" rIns="73152" tIns="36576" bIns="36576"/>
          <a:lstStyle/>
          <a:p>
            <a:pPr algn="ctr"/>
          </a:p>
        </p:txBody>
      </p:sp>
      <p:sp>
        <p:nvSpPr>
          <p:cNvPr id="7" name="Rectangle 6"/>
          <p:cNvSpPr/>
          <p:nvPr/>
        </p:nvSpPr>
        <p:spPr>
          <a:xfrm>
            <a:off x="777240" y="274320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8" name="TextBox 7"/>
          <p:cNvSpPr txBox="1"/>
          <p:nvPr/>
        </p:nvSpPr>
        <p:spPr>
          <a:xfrm>
            <a:off x="1097280" y="2697479"/>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A clear problem and target customer</a:t>
            </a:r>
          </a:p>
        </p:txBody>
      </p:sp>
      <p:sp>
        <p:nvSpPr>
          <p:cNvPr id="9" name="Rectangle 8"/>
          <p:cNvSpPr/>
          <p:nvPr/>
        </p:nvSpPr>
        <p:spPr>
          <a:xfrm>
            <a:off x="594360" y="3749039"/>
            <a:ext cx="2090867" cy="1051560"/>
          </a:xfrm>
          <a:prstGeom prst="rect">
            <a:avLst/>
          </a:prstGeom>
          <a:solidFill>
            <a:srgbClr val="EDF4FE"/>
          </a:solidFill>
          <a:ln>
            <a:noFill/>
          </a:ln>
          <a:effectLst/>
        </p:spPr>
        <p:txBody>
          <a:bodyPr rtlCol="0" anchor="ctr" lIns="73152" rIns="73152" tIns="36576" bIns="36576"/>
          <a:lstStyle/>
          <a:p>
            <a:pPr algn="ctr"/>
          </a:p>
        </p:txBody>
      </p:sp>
      <p:sp>
        <p:nvSpPr>
          <p:cNvPr id="10" name="Rectangle 9"/>
          <p:cNvSpPr/>
          <p:nvPr/>
        </p:nvSpPr>
        <p:spPr>
          <a:xfrm>
            <a:off x="777240" y="393192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11" name="TextBox 10"/>
          <p:cNvSpPr txBox="1"/>
          <p:nvPr/>
        </p:nvSpPr>
        <p:spPr>
          <a:xfrm>
            <a:off x="1097280" y="3886200"/>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Evidence of demand or traction</a:t>
            </a:r>
          </a:p>
        </p:txBody>
      </p:sp>
      <p:sp>
        <p:nvSpPr>
          <p:cNvPr id="12" name="Rectangle 11"/>
          <p:cNvSpPr/>
          <p:nvPr/>
        </p:nvSpPr>
        <p:spPr>
          <a:xfrm>
            <a:off x="2822387" y="1965960"/>
            <a:ext cx="2090867" cy="457200"/>
          </a:xfrm>
          <a:prstGeom prst="rect">
            <a:avLst/>
          </a:prstGeom>
          <a:solidFill>
            <a:srgbClr val="1A55AC"/>
          </a:solidFill>
          <a:ln>
            <a:noFill/>
          </a:ln>
          <a:effectLst/>
        </p:spPr>
        <p:txBody>
          <a:bodyPr rtlCol="0" anchor="ctr" lIns="73152" rIns="73152" tIns="36576" bIns="36576"/>
          <a:lstStyle/>
          <a:p>
            <a:pPr algn="ctr"/>
          </a:p>
        </p:txBody>
      </p:sp>
      <p:sp>
        <p:nvSpPr>
          <p:cNvPr id="13" name="TextBox 12"/>
          <p:cNvSpPr txBox="1"/>
          <p:nvPr/>
        </p:nvSpPr>
        <p:spPr>
          <a:xfrm>
            <a:off x="2822387" y="2057400"/>
            <a:ext cx="2090867" cy="274320"/>
          </a:xfrm>
          <a:prstGeom prst="rect">
            <a:avLst/>
          </a:prstGeom>
          <a:noFill/>
        </p:spPr>
        <p:txBody>
          <a:bodyPr wrap="square" lIns="0" rIns="0" tIns="0" bIns="0" anchor="t"/>
          <a:lstStyle/>
          <a:p>
            <a:pPr algn="ctr">
              <a:lnSpc>
                <a:spcPct val="115000"/>
              </a:lnSpc>
              <a:spcAft>
                <a:spcPts val="0"/>
              </a:spcAft>
            </a:pPr>
            <a:r>
              <a:rPr sz="1100" b="1" i="0" spc="140">
                <a:solidFill>
                  <a:srgbClr val="FFFFFF"/>
                </a:solidFill>
                <a:latin typeface="Inter"/>
              </a:rPr>
              <a:t>MODEL</a:t>
            </a:r>
          </a:p>
        </p:txBody>
      </p:sp>
      <p:sp>
        <p:nvSpPr>
          <p:cNvPr id="14" name="Rectangle 13"/>
          <p:cNvSpPr/>
          <p:nvPr/>
        </p:nvSpPr>
        <p:spPr>
          <a:xfrm>
            <a:off x="2822387" y="2560320"/>
            <a:ext cx="2090867" cy="1051560"/>
          </a:xfrm>
          <a:prstGeom prst="rect">
            <a:avLst/>
          </a:prstGeom>
          <a:solidFill>
            <a:srgbClr val="EDF4FE"/>
          </a:solidFill>
          <a:ln>
            <a:noFill/>
          </a:ln>
          <a:effectLst/>
        </p:spPr>
        <p:txBody>
          <a:bodyPr rtlCol="0" anchor="ctr" lIns="73152" rIns="73152" tIns="36576" bIns="36576"/>
          <a:lstStyle/>
          <a:p>
            <a:pPr algn="ctr"/>
          </a:p>
        </p:txBody>
      </p:sp>
      <p:sp>
        <p:nvSpPr>
          <p:cNvPr id="15" name="Rectangle 14"/>
          <p:cNvSpPr/>
          <p:nvPr/>
        </p:nvSpPr>
        <p:spPr>
          <a:xfrm>
            <a:off x="3005267" y="274320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16" name="TextBox 15"/>
          <p:cNvSpPr txBox="1"/>
          <p:nvPr/>
        </p:nvSpPr>
        <p:spPr>
          <a:xfrm>
            <a:off x="3325307" y="2697479"/>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Unit economics you understand</a:t>
            </a:r>
          </a:p>
        </p:txBody>
      </p:sp>
      <p:sp>
        <p:nvSpPr>
          <p:cNvPr id="17" name="Rectangle 16"/>
          <p:cNvSpPr/>
          <p:nvPr/>
        </p:nvSpPr>
        <p:spPr>
          <a:xfrm>
            <a:off x="2822387" y="3749039"/>
            <a:ext cx="2090867" cy="1051560"/>
          </a:xfrm>
          <a:prstGeom prst="rect">
            <a:avLst/>
          </a:prstGeom>
          <a:solidFill>
            <a:srgbClr val="EDF4FE"/>
          </a:solidFill>
          <a:ln>
            <a:noFill/>
          </a:ln>
          <a:effectLst/>
        </p:spPr>
        <p:txBody>
          <a:bodyPr rtlCol="0" anchor="ctr" lIns="73152" rIns="73152" tIns="36576" bIns="36576"/>
          <a:lstStyle/>
          <a:p>
            <a:pPr algn="ctr"/>
          </a:p>
        </p:txBody>
      </p:sp>
      <p:sp>
        <p:nvSpPr>
          <p:cNvPr id="18" name="Rectangle 17"/>
          <p:cNvSpPr/>
          <p:nvPr/>
        </p:nvSpPr>
        <p:spPr>
          <a:xfrm>
            <a:off x="3005267" y="393192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19" name="TextBox 18"/>
          <p:cNvSpPr txBox="1"/>
          <p:nvPr/>
        </p:nvSpPr>
        <p:spPr>
          <a:xfrm>
            <a:off x="3325307" y="3886200"/>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A credible plan for the funds</a:t>
            </a:r>
          </a:p>
        </p:txBody>
      </p:sp>
      <p:sp>
        <p:nvSpPr>
          <p:cNvPr id="20" name="Rectangle 19"/>
          <p:cNvSpPr/>
          <p:nvPr/>
        </p:nvSpPr>
        <p:spPr>
          <a:xfrm>
            <a:off x="5050414" y="1965960"/>
            <a:ext cx="2090867" cy="457200"/>
          </a:xfrm>
          <a:prstGeom prst="rect">
            <a:avLst/>
          </a:prstGeom>
          <a:solidFill>
            <a:srgbClr val="17407F"/>
          </a:solidFill>
          <a:ln>
            <a:noFill/>
          </a:ln>
          <a:effectLst/>
        </p:spPr>
        <p:txBody>
          <a:bodyPr rtlCol="0" anchor="ctr" lIns="73152" rIns="73152" tIns="36576" bIns="36576"/>
          <a:lstStyle/>
          <a:p>
            <a:pPr algn="ctr"/>
          </a:p>
        </p:txBody>
      </p:sp>
      <p:sp>
        <p:nvSpPr>
          <p:cNvPr id="21" name="TextBox 20"/>
          <p:cNvSpPr txBox="1"/>
          <p:nvPr/>
        </p:nvSpPr>
        <p:spPr>
          <a:xfrm>
            <a:off x="5050414" y="2057400"/>
            <a:ext cx="2090867" cy="274320"/>
          </a:xfrm>
          <a:prstGeom prst="rect">
            <a:avLst/>
          </a:prstGeom>
          <a:noFill/>
        </p:spPr>
        <p:txBody>
          <a:bodyPr wrap="square" lIns="0" rIns="0" tIns="0" bIns="0" anchor="t"/>
          <a:lstStyle/>
          <a:p>
            <a:pPr algn="ctr">
              <a:lnSpc>
                <a:spcPct val="115000"/>
              </a:lnSpc>
              <a:spcAft>
                <a:spcPts val="0"/>
              </a:spcAft>
            </a:pPr>
            <a:r>
              <a:rPr sz="1100" b="1" i="0" spc="140">
                <a:solidFill>
                  <a:srgbClr val="FFFFFF"/>
                </a:solidFill>
                <a:latin typeface="Inter"/>
              </a:rPr>
              <a:t>TEAM</a:t>
            </a:r>
          </a:p>
        </p:txBody>
      </p:sp>
      <p:sp>
        <p:nvSpPr>
          <p:cNvPr id="22" name="Rectangle 21"/>
          <p:cNvSpPr/>
          <p:nvPr/>
        </p:nvSpPr>
        <p:spPr>
          <a:xfrm>
            <a:off x="5050414" y="2560320"/>
            <a:ext cx="2090867" cy="1051560"/>
          </a:xfrm>
          <a:prstGeom prst="rect">
            <a:avLst/>
          </a:prstGeom>
          <a:solidFill>
            <a:srgbClr val="EDF4FE"/>
          </a:solidFill>
          <a:ln>
            <a:noFill/>
          </a:ln>
          <a:effectLst/>
        </p:spPr>
        <p:txBody>
          <a:bodyPr rtlCol="0" anchor="ctr" lIns="73152" rIns="73152" tIns="36576" bIns="36576"/>
          <a:lstStyle/>
          <a:p>
            <a:pPr algn="ctr"/>
          </a:p>
        </p:txBody>
      </p:sp>
      <p:sp>
        <p:nvSpPr>
          <p:cNvPr id="23" name="Rectangle 22"/>
          <p:cNvSpPr/>
          <p:nvPr/>
        </p:nvSpPr>
        <p:spPr>
          <a:xfrm>
            <a:off x="5233294" y="274320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24" name="TextBox 23"/>
          <p:cNvSpPr txBox="1"/>
          <p:nvPr/>
        </p:nvSpPr>
        <p:spPr>
          <a:xfrm>
            <a:off x="5553334" y="2697479"/>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The right founding team and gaps known</a:t>
            </a:r>
          </a:p>
        </p:txBody>
      </p:sp>
      <p:sp>
        <p:nvSpPr>
          <p:cNvPr id="25" name="Rectangle 24"/>
          <p:cNvSpPr/>
          <p:nvPr/>
        </p:nvSpPr>
        <p:spPr>
          <a:xfrm>
            <a:off x="5050414" y="3749039"/>
            <a:ext cx="2090867" cy="1051560"/>
          </a:xfrm>
          <a:prstGeom prst="rect">
            <a:avLst/>
          </a:prstGeom>
          <a:solidFill>
            <a:srgbClr val="EDF4FE"/>
          </a:solidFill>
          <a:ln>
            <a:noFill/>
          </a:ln>
          <a:effectLst/>
        </p:spPr>
        <p:txBody>
          <a:bodyPr rtlCol="0" anchor="ctr" lIns="73152" rIns="73152" tIns="36576" bIns="36576"/>
          <a:lstStyle/>
          <a:p>
            <a:pPr algn="ctr"/>
          </a:p>
        </p:txBody>
      </p:sp>
      <p:sp>
        <p:nvSpPr>
          <p:cNvPr id="26" name="Rectangle 25"/>
          <p:cNvSpPr/>
          <p:nvPr/>
        </p:nvSpPr>
        <p:spPr>
          <a:xfrm>
            <a:off x="5233294" y="393192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27" name="TextBox 26"/>
          <p:cNvSpPr txBox="1"/>
          <p:nvPr/>
        </p:nvSpPr>
        <p:spPr>
          <a:xfrm>
            <a:off x="5553334" y="3886200"/>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Advisers or mentors where useful</a:t>
            </a:r>
          </a:p>
        </p:txBody>
      </p:sp>
      <p:sp>
        <p:nvSpPr>
          <p:cNvPr id="28" name="Rectangle 27"/>
          <p:cNvSpPr/>
          <p:nvPr/>
        </p:nvSpPr>
        <p:spPr>
          <a:xfrm>
            <a:off x="7278441" y="1965960"/>
            <a:ext cx="2090867" cy="457200"/>
          </a:xfrm>
          <a:prstGeom prst="rect">
            <a:avLst/>
          </a:prstGeom>
          <a:solidFill>
            <a:srgbClr val="1A3358"/>
          </a:solidFill>
          <a:ln>
            <a:noFill/>
          </a:ln>
          <a:effectLst/>
        </p:spPr>
        <p:txBody>
          <a:bodyPr rtlCol="0" anchor="ctr" lIns="73152" rIns="73152" tIns="36576" bIns="36576"/>
          <a:lstStyle/>
          <a:p>
            <a:pPr algn="ctr"/>
          </a:p>
        </p:txBody>
      </p:sp>
      <p:sp>
        <p:nvSpPr>
          <p:cNvPr id="29" name="TextBox 28"/>
          <p:cNvSpPr txBox="1"/>
          <p:nvPr/>
        </p:nvSpPr>
        <p:spPr>
          <a:xfrm>
            <a:off x="7278441" y="2057400"/>
            <a:ext cx="2090867" cy="274320"/>
          </a:xfrm>
          <a:prstGeom prst="rect">
            <a:avLst/>
          </a:prstGeom>
          <a:noFill/>
        </p:spPr>
        <p:txBody>
          <a:bodyPr wrap="square" lIns="0" rIns="0" tIns="0" bIns="0" anchor="t"/>
          <a:lstStyle/>
          <a:p>
            <a:pPr algn="ctr">
              <a:lnSpc>
                <a:spcPct val="115000"/>
              </a:lnSpc>
              <a:spcAft>
                <a:spcPts val="0"/>
              </a:spcAft>
            </a:pPr>
            <a:r>
              <a:rPr sz="1100" b="1" i="0" spc="140">
                <a:solidFill>
                  <a:srgbClr val="FFFFFF"/>
                </a:solidFill>
                <a:latin typeface="Inter"/>
              </a:rPr>
              <a:t>FINANCE</a:t>
            </a:r>
          </a:p>
        </p:txBody>
      </p:sp>
      <p:sp>
        <p:nvSpPr>
          <p:cNvPr id="30" name="Rectangle 29"/>
          <p:cNvSpPr/>
          <p:nvPr/>
        </p:nvSpPr>
        <p:spPr>
          <a:xfrm>
            <a:off x="7278441" y="2560320"/>
            <a:ext cx="2090867" cy="1051560"/>
          </a:xfrm>
          <a:prstGeom prst="rect">
            <a:avLst/>
          </a:prstGeom>
          <a:solidFill>
            <a:srgbClr val="EDF4FE"/>
          </a:solidFill>
          <a:ln>
            <a:noFill/>
          </a:ln>
          <a:effectLst/>
        </p:spPr>
        <p:txBody>
          <a:bodyPr rtlCol="0" anchor="ctr" lIns="73152" rIns="73152" tIns="36576" bIns="36576"/>
          <a:lstStyle/>
          <a:p>
            <a:pPr algn="ctr"/>
          </a:p>
        </p:txBody>
      </p:sp>
      <p:sp>
        <p:nvSpPr>
          <p:cNvPr id="31" name="Rectangle 30"/>
          <p:cNvSpPr/>
          <p:nvPr/>
        </p:nvSpPr>
        <p:spPr>
          <a:xfrm>
            <a:off x="7461321" y="274320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32" name="TextBox 31"/>
          <p:cNvSpPr txBox="1"/>
          <p:nvPr/>
        </p:nvSpPr>
        <p:spPr>
          <a:xfrm>
            <a:off x="7781361" y="2697479"/>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Up-to-date accounts and runway</a:t>
            </a:r>
          </a:p>
        </p:txBody>
      </p:sp>
      <p:sp>
        <p:nvSpPr>
          <p:cNvPr id="33" name="Rectangle 32"/>
          <p:cNvSpPr/>
          <p:nvPr/>
        </p:nvSpPr>
        <p:spPr>
          <a:xfrm>
            <a:off x="7278441" y="3749039"/>
            <a:ext cx="2090867" cy="1051560"/>
          </a:xfrm>
          <a:prstGeom prst="rect">
            <a:avLst/>
          </a:prstGeom>
          <a:solidFill>
            <a:srgbClr val="EDF4FE"/>
          </a:solidFill>
          <a:ln>
            <a:noFill/>
          </a:ln>
          <a:effectLst/>
        </p:spPr>
        <p:txBody>
          <a:bodyPr rtlCol="0" anchor="ctr" lIns="73152" rIns="73152" tIns="36576" bIns="36576"/>
          <a:lstStyle/>
          <a:p>
            <a:pPr algn="ctr"/>
          </a:p>
        </p:txBody>
      </p:sp>
      <p:sp>
        <p:nvSpPr>
          <p:cNvPr id="34" name="Rectangle 33"/>
          <p:cNvSpPr/>
          <p:nvPr/>
        </p:nvSpPr>
        <p:spPr>
          <a:xfrm>
            <a:off x="7461321" y="393192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35" name="TextBox 34"/>
          <p:cNvSpPr txBox="1"/>
          <p:nvPr/>
        </p:nvSpPr>
        <p:spPr>
          <a:xfrm>
            <a:off x="7781361" y="3886200"/>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A simple financial model</a:t>
            </a:r>
          </a:p>
        </p:txBody>
      </p:sp>
      <p:sp>
        <p:nvSpPr>
          <p:cNvPr id="36" name="Rectangle 35"/>
          <p:cNvSpPr/>
          <p:nvPr/>
        </p:nvSpPr>
        <p:spPr>
          <a:xfrm>
            <a:off x="9506468" y="1965960"/>
            <a:ext cx="2090867" cy="457200"/>
          </a:xfrm>
          <a:prstGeom prst="rect">
            <a:avLst/>
          </a:prstGeom>
          <a:solidFill>
            <a:srgbClr val="10213B"/>
          </a:solidFill>
          <a:ln>
            <a:noFill/>
          </a:ln>
          <a:effectLst/>
        </p:spPr>
        <p:txBody>
          <a:bodyPr rtlCol="0" anchor="ctr" lIns="73152" rIns="73152" tIns="36576" bIns="36576"/>
          <a:lstStyle/>
          <a:p>
            <a:pPr algn="ctr"/>
          </a:p>
        </p:txBody>
      </p:sp>
      <p:sp>
        <p:nvSpPr>
          <p:cNvPr id="37" name="TextBox 36"/>
          <p:cNvSpPr txBox="1"/>
          <p:nvPr/>
        </p:nvSpPr>
        <p:spPr>
          <a:xfrm>
            <a:off x="9506468" y="2057400"/>
            <a:ext cx="2090867" cy="274320"/>
          </a:xfrm>
          <a:prstGeom prst="rect">
            <a:avLst/>
          </a:prstGeom>
          <a:noFill/>
        </p:spPr>
        <p:txBody>
          <a:bodyPr wrap="square" lIns="0" rIns="0" tIns="0" bIns="0" anchor="t"/>
          <a:lstStyle/>
          <a:p>
            <a:pPr algn="ctr">
              <a:lnSpc>
                <a:spcPct val="115000"/>
              </a:lnSpc>
              <a:spcAft>
                <a:spcPts val="0"/>
              </a:spcAft>
            </a:pPr>
            <a:r>
              <a:rPr sz="1100" b="1" i="0" spc="140">
                <a:solidFill>
                  <a:srgbClr val="FFFFFF"/>
                </a:solidFill>
                <a:latin typeface="Inter"/>
              </a:rPr>
              <a:t>LEGAL</a:t>
            </a:r>
          </a:p>
        </p:txBody>
      </p:sp>
      <p:sp>
        <p:nvSpPr>
          <p:cNvPr id="38" name="Rectangle 37"/>
          <p:cNvSpPr/>
          <p:nvPr/>
        </p:nvSpPr>
        <p:spPr>
          <a:xfrm>
            <a:off x="9506468" y="2560320"/>
            <a:ext cx="2090867" cy="1051560"/>
          </a:xfrm>
          <a:prstGeom prst="rect">
            <a:avLst/>
          </a:prstGeom>
          <a:solidFill>
            <a:srgbClr val="EDF4FE"/>
          </a:solidFill>
          <a:ln>
            <a:noFill/>
          </a:ln>
          <a:effectLst/>
        </p:spPr>
        <p:txBody>
          <a:bodyPr rtlCol="0" anchor="ctr" lIns="73152" rIns="73152" tIns="36576" bIns="36576"/>
          <a:lstStyle/>
          <a:p>
            <a:pPr algn="ctr"/>
          </a:p>
        </p:txBody>
      </p:sp>
      <p:sp>
        <p:nvSpPr>
          <p:cNvPr id="39" name="Rectangle 38"/>
          <p:cNvSpPr/>
          <p:nvPr/>
        </p:nvSpPr>
        <p:spPr>
          <a:xfrm>
            <a:off x="9689348" y="274320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40" name="TextBox 39"/>
          <p:cNvSpPr txBox="1"/>
          <p:nvPr/>
        </p:nvSpPr>
        <p:spPr>
          <a:xfrm>
            <a:off x="10009388" y="2697479"/>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Clean company and share structure</a:t>
            </a:r>
          </a:p>
        </p:txBody>
      </p:sp>
      <p:sp>
        <p:nvSpPr>
          <p:cNvPr id="41" name="Rectangle 40"/>
          <p:cNvSpPr/>
          <p:nvPr/>
        </p:nvSpPr>
        <p:spPr>
          <a:xfrm>
            <a:off x="9506468" y="3749039"/>
            <a:ext cx="2090867" cy="1051560"/>
          </a:xfrm>
          <a:prstGeom prst="rect">
            <a:avLst/>
          </a:prstGeom>
          <a:solidFill>
            <a:srgbClr val="EDF4FE"/>
          </a:solidFill>
          <a:ln>
            <a:noFill/>
          </a:ln>
          <a:effectLst/>
        </p:spPr>
        <p:txBody>
          <a:bodyPr rtlCol="0" anchor="ctr" lIns="73152" rIns="73152" tIns="36576" bIns="36576"/>
          <a:lstStyle/>
          <a:p>
            <a:pPr algn="ctr"/>
          </a:p>
        </p:txBody>
      </p:sp>
      <p:sp>
        <p:nvSpPr>
          <p:cNvPr id="42" name="Rectangle 41"/>
          <p:cNvSpPr/>
          <p:nvPr/>
        </p:nvSpPr>
        <p:spPr>
          <a:xfrm>
            <a:off x="9689348" y="3931920"/>
            <a:ext cx="201168" cy="201168"/>
          </a:xfrm>
          <a:prstGeom prst="rect">
            <a:avLst/>
          </a:prstGeom>
          <a:solidFill>
            <a:srgbClr val="FFFFFF"/>
          </a:solidFill>
          <a:ln w="19050">
            <a:solidFill>
              <a:srgbClr val="1765D1"/>
            </a:solidFill>
          </a:ln>
          <a:effectLst/>
        </p:spPr>
        <p:txBody>
          <a:bodyPr rtlCol="0" anchor="ctr" lIns="73152" rIns="73152" tIns="36576" bIns="36576"/>
          <a:lstStyle/>
          <a:p>
            <a:pPr algn="ctr"/>
          </a:p>
        </p:txBody>
      </p:sp>
      <p:sp>
        <p:nvSpPr>
          <p:cNvPr id="43" name="TextBox 42"/>
          <p:cNvSpPr txBox="1"/>
          <p:nvPr/>
        </p:nvSpPr>
        <p:spPr>
          <a:xfrm>
            <a:off x="10009388" y="3886200"/>
            <a:ext cx="1450787" cy="86868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IP and key contracts in order</a:t>
            </a:r>
          </a:p>
        </p:txBody>
      </p:sp>
      <p:sp>
        <p:nvSpPr>
          <p:cNvPr id="44" name="Rectangle 43"/>
          <p:cNvSpPr/>
          <p:nvPr/>
        </p:nvSpPr>
        <p:spPr>
          <a:xfrm>
            <a:off x="594360" y="5120640"/>
            <a:ext cx="11002975" cy="1051560"/>
          </a:xfrm>
          <a:prstGeom prst="rect">
            <a:avLst/>
          </a:prstGeom>
          <a:solidFill>
            <a:srgbClr val="10213B"/>
          </a:solidFill>
          <a:ln>
            <a:noFill/>
          </a:ln>
          <a:effectLst/>
        </p:spPr>
        <p:txBody>
          <a:bodyPr rtlCol="0" anchor="ctr" lIns="73152" rIns="73152" tIns="36576" bIns="36576"/>
          <a:lstStyle/>
          <a:p>
            <a:pPr algn="ctr"/>
          </a:p>
        </p:txBody>
      </p:sp>
      <p:sp>
        <p:nvSpPr>
          <p:cNvPr id="45" name="TextBox 44"/>
          <p:cNvSpPr txBox="1"/>
          <p:nvPr/>
        </p:nvSpPr>
        <p:spPr>
          <a:xfrm>
            <a:off x="868680" y="5230368"/>
            <a:ext cx="10454335" cy="868680"/>
          </a:xfrm>
          <a:prstGeom prst="rect">
            <a:avLst/>
          </a:prstGeom>
          <a:noFill/>
        </p:spPr>
        <p:txBody>
          <a:bodyPr wrap="square" lIns="0" rIns="0" tIns="0" bIns="0" anchor="ctr"/>
          <a:lstStyle/>
          <a:p>
            <a:pPr algn="l">
              <a:lnSpc>
                <a:spcPct val="130000"/>
              </a:lnSpc>
              <a:spcAft>
                <a:spcPts val="0"/>
              </a:spcAft>
            </a:pPr>
            <a:r>
              <a:rPr sz="1250" b="1" i="0">
                <a:solidFill>
                  <a:srgbClr val="FFFFFF"/>
                </a:solidFill>
                <a:latin typeface="Inter"/>
              </a:rPr>
              <a:t>How Startup Roof helps: </a:t>
            </a:r>
            <a:r>
              <a:rPr sz="1250" b="0" i="0">
                <a:solidFill>
                  <a:srgbClr val="C9D6E8"/>
                </a:solidFill>
                <a:latin typeface="Inter"/>
              </a:rPr>
              <a:t>readiness reviews, pitch feedback, data-room templates and — where relevant and with consent — introductions to investors who match the founder’s sector and stage.</a:t>
            </a:r>
          </a:p>
        </p:txBody>
      </p:sp>
      <p:sp>
        <p:nvSpPr>
          <p:cNvPr id="46" name="TextBox 4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7" name="TextBox 4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06</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Value for the ecosystem</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Investors, universities, corporates and service partners</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Investors</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Ecosystem partners</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Universities and incubators</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Corporates and service providers</a:t>
            </a:r>
          </a:p>
        </p:txBody>
      </p:sp>
      <p:sp>
        <p:nvSpPr>
          <p:cNvPr id="15" name="TextBox 14"/>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VALUE FOR INVESTORS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Better-prepared founders. More useful conversations.</a:t>
            </a:r>
          </a:p>
        </p:txBody>
      </p:sp>
      <p:sp>
        <p:nvSpPr>
          <p:cNvPr id="4" name="Rectangle 3"/>
          <p:cNvSpPr/>
          <p:nvPr/>
        </p:nvSpPr>
        <p:spPr>
          <a:xfrm>
            <a:off x="594360" y="2084832"/>
            <a:ext cx="109728" cy="109728"/>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868680" y="20116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Better founder preparation</a:t>
            </a:r>
          </a:p>
        </p:txBody>
      </p:sp>
      <p:sp>
        <p:nvSpPr>
          <p:cNvPr id="6" name="TextBox 5"/>
          <p:cNvSpPr txBox="1"/>
          <p:nvPr/>
        </p:nvSpPr>
        <p:spPr>
          <a:xfrm>
            <a:off x="868680" y="23134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Founders work through readiness before an introduction.</a:t>
            </a:r>
          </a:p>
        </p:txBody>
      </p:sp>
      <p:sp>
        <p:nvSpPr>
          <p:cNvPr id="7" name="Rectangle 6"/>
          <p:cNvSpPr/>
          <p:nvPr/>
        </p:nvSpPr>
        <p:spPr>
          <a:xfrm>
            <a:off x="594360" y="2770632"/>
            <a:ext cx="109728" cy="109728"/>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868680" y="26974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More structured information</a:t>
            </a:r>
          </a:p>
        </p:txBody>
      </p:sp>
      <p:sp>
        <p:nvSpPr>
          <p:cNvPr id="9" name="TextBox 8"/>
          <p:cNvSpPr txBox="1"/>
          <p:nvPr/>
        </p:nvSpPr>
        <p:spPr>
          <a:xfrm>
            <a:off x="868680" y="29992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Consistent profiles, stage and progress — shared with consent.</a:t>
            </a:r>
          </a:p>
        </p:txBody>
      </p:sp>
      <p:sp>
        <p:nvSpPr>
          <p:cNvPr id="10" name="Rectangle 9"/>
          <p:cNvSpPr/>
          <p:nvPr/>
        </p:nvSpPr>
        <p:spPr>
          <a:xfrm>
            <a:off x="594360" y="3456432"/>
            <a:ext cx="109728" cy="109728"/>
          </a:xfrm>
          <a:prstGeom prst="rect">
            <a:avLst/>
          </a:prstGeom>
          <a:solidFill>
            <a:srgbClr val="1765D1"/>
          </a:solidFill>
          <a:ln>
            <a:noFill/>
          </a:ln>
          <a:effectLst/>
        </p:spPr>
        <p:txBody>
          <a:bodyPr rtlCol="0" anchor="ctr" lIns="73152" rIns="73152" tIns="36576" bIns="36576"/>
          <a:lstStyle/>
          <a:p>
            <a:pPr algn="ctr"/>
          </a:p>
        </p:txBody>
      </p:sp>
      <p:sp>
        <p:nvSpPr>
          <p:cNvPr id="11" name="TextBox 10"/>
          <p:cNvSpPr txBox="1"/>
          <p:nvPr/>
        </p:nvSpPr>
        <p:spPr>
          <a:xfrm>
            <a:off x="868680" y="33832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Relevant discovery</a:t>
            </a:r>
          </a:p>
        </p:txBody>
      </p:sp>
      <p:sp>
        <p:nvSpPr>
          <p:cNvPr id="12" name="TextBox 11"/>
          <p:cNvSpPr txBox="1"/>
          <p:nvPr/>
        </p:nvSpPr>
        <p:spPr>
          <a:xfrm>
            <a:off x="868680" y="36850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Filter by sector, stage and geography.</a:t>
            </a:r>
          </a:p>
        </p:txBody>
      </p:sp>
      <p:sp>
        <p:nvSpPr>
          <p:cNvPr id="13" name="Rectangle 12"/>
          <p:cNvSpPr/>
          <p:nvPr/>
        </p:nvSpPr>
        <p:spPr>
          <a:xfrm>
            <a:off x="594360" y="4142232"/>
            <a:ext cx="109728" cy="109728"/>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868680" y="40690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Sector-specific engagement</a:t>
            </a:r>
          </a:p>
        </p:txBody>
      </p:sp>
      <p:sp>
        <p:nvSpPr>
          <p:cNvPr id="15" name="TextBox 14"/>
          <p:cNvSpPr txBox="1"/>
          <p:nvPr/>
        </p:nvSpPr>
        <p:spPr>
          <a:xfrm>
            <a:off x="868680" y="43708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Join sessions in areas you know well.</a:t>
            </a:r>
          </a:p>
        </p:txBody>
      </p:sp>
      <p:sp>
        <p:nvSpPr>
          <p:cNvPr id="16" name="Rectangle 15"/>
          <p:cNvSpPr/>
          <p:nvPr/>
        </p:nvSpPr>
        <p:spPr>
          <a:xfrm>
            <a:off x="594360" y="4828032"/>
            <a:ext cx="109728" cy="109728"/>
          </a:xfrm>
          <a:prstGeom prst="rect">
            <a:avLst/>
          </a:prstGeom>
          <a:solidFill>
            <a:srgbClr val="1765D1"/>
          </a:solidFill>
          <a:ln>
            <a:noFill/>
          </a:ln>
          <a:effectLst/>
        </p:spPr>
        <p:txBody>
          <a:bodyPr rtlCol="0" anchor="ctr" lIns="73152" rIns="73152" tIns="36576" bIns="36576"/>
          <a:lstStyle/>
          <a:p>
            <a:pPr algn="ctr"/>
          </a:p>
        </p:txBody>
      </p:sp>
      <p:sp>
        <p:nvSpPr>
          <p:cNvPr id="17" name="TextBox 16"/>
          <p:cNvSpPr txBox="1"/>
          <p:nvPr/>
        </p:nvSpPr>
        <p:spPr>
          <a:xfrm>
            <a:off x="868680" y="47548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More useful introductions</a:t>
            </a:r>
          </a:p>
        </p:txBody>
      </p:sp>
      <p:sp>
        <p:nvSpPr>
          <p:cNvPr id="18" name="TextBox 17"/>
          <p:cNvSpPr txBox="1"/>
          <p:nvPr/>
        </p:nvSpPr>
        <p:spPr>
          <a:xfrm>
            <a:off x="868680" y="50566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Fewer, better-matched conversations.</a:t>
            </a:r>
          </a:p>
        </p:txBody>
      </p:sp>
      <p:sp>
        <p:nvSpPr>
          <p:cNvPr id="19" name="Rectangle 18"/>
          <p:cNvSpPr/>
          <p:nvPr/>
        </p:nvSpPr>
        <p:spPr>
          <a:xfrm>
            <a:off x="594360" y="5513832"/>
            <a:ext cx="109728" cy="109728"/>
          </a:xfrm>
          <a:prstGeom prst="rect">
            <a:avLst/>
          </a:prstGeom>
          <a:solidFill>
            <a:srgbClr val="1765D1"/>
          </a:solidFill>
          <a:ln>
            <a:noFill/>
          </a:ln>
          <a:effectLst/>
        </p:spPr>
        <p:txBody>
          <a:bodyPr rtlCol="0" anchor="ctr" lIns="73152" rIns="73152" tIns="36576" bIns="36576"/>
          <a:lstStyle/>
          <a:p>
            <a:pPr algn="ctr"/>
          </a:p>
        </p:txBody>
      </p:sp>
      <p:sp>
        <p:nvSpPr>
          <p:cNvPr id="20" name="TextBox 19"/>
          <p:cNvSpPr txBox="1"/>
          <p:nvPr/>
        </p:nvSpPr>
        <p:spPr>
          <a:xfrm>
            <a:off x="868680" y="54406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Ongoing ecosystem relationships</a:t>
            </a:r>
          </a:p>
        </p:txBody>
      </p:sp>
      <p:sp>
        <p:nvSpPr>
          <p:cNvPr id="21" name="TextBox 20"/>
          <p:cNvSpPr txBox="1"/>
          <p:nvPr/>
        </p:nvSpPr>
        <p:spPr>
          <a:xfrm>
            <a:off x="868680" y="57424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Stay close to founders and mentors over time.</a:t>
            </a:r>
          </a:p>
        </p:txBody>
      </p:sp>
      <p:graphicFrame>
        <p:nvGraphicFramePr>
          <p:cNvPr id="22" name="Table 21"/>
          <p:cNvGraphicFramePr>
            <a:graphicFrameLocks noGrp="1"/>
          </p:cNvGraphicFramePr>
          <p:nvPr/>
        </p:nvGraphicFramePr>
        <p:xfrm>
          <a:off x="5989320" y="2011680"/>
          <a:ext cx="5605272" cy="3200400"/>
        </p:xfrm>
        <a:graphic>
          <a:graphicData uri="http://schemas.openxmlformats.org/drawingml/2006/table">
            <a:tbl>
              <a:tblPr firstRow="0" bandRow="0">
                <a:tableStyleId>{5C22544A-7EE6-4342-B048-85BDC9FD1C3A}</a:tableStyleId>
              </a:tblPr>
              <a:tblGrid>
                <a:gridCol w="2807208"/>
                <a:gridCol w="2798064"/>
              </a:tblGrid>
              <a:tr h="640080">
                <a:tc>
                  <a:txBody>
                    <a:bodyPr wrap="square" anchor="t"/>
                    <a:lstStyle/>
                    <a:p>
                      <a:pPr algn="l">
                        <a:lnSpc>
                          <a:spcPct val="115000"/>
                        </a:lnSpc>
                        <a:spcAft>
                          <a:spcPts val="0"/>
                        </a:spcAft>
                      </a:pPr>
                      <a:r>
                        <a:rPr sz="1050" b="1" i="0" spc="60">
                          <a:solidFill>
                            <a:srgbClr val="FFFFFF"/>
                          </a:solidFill>
                          <a:latin typeface="Inter"/>
                        </a:rPr>
                        <a:t>STARTUP ROOF AIMS TO</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STARTUP ROOF DOES NOT</a:t>
                      </a:r>
                    </a:p>
                  </a:txBody>
                  <a:tcPr marL="109728" marR="109728" marT="54864" marB="54864" anchor="ctr">
                    <a:solidFill>
                      <a:srgbClr val="10213B"/>
                    </a:solidFill>
                  </a:tcPr>
                </a:tc>
              </a:tr>
              <a:tr h="640080">
                <a:tc>
                  <a:txBody>
                    <a:bodyPr wrap="square" anchor="t"/>
                    <a:lstStyle/>
                    <a:p>
                      <a:pPr algn="l">
                        <a:lnSpc>
                          <a:spcPct val="115000"/>
                        </a:lnSpc>
                        <a:spcAft>
                          <a:spcPts val="0"/>
                        </a:spcAft>
                      </a:pPr>
                      <a:r>
                        <a:rPr sz="1200" b="0" i="0">
                          <a:solidFill>
                            <a:srgbClr val="253650"/>
                          </a:solidFill>
                          <a:latin typeface="Inter"/>
                        </a:rPr>
                        <a:t>Help founders become investor-ready</a:t>
                      </a:r>
                    </a:p>
                  </a:txBody>
                  <a:tcPr marL="109728" marR="109728" marT="54864" marB="54864" anchor="ctr">
                    <a:solidFill>
                      <a:srgbClr val="FFFFFF"/>
                    </a:solidFill>
                  </a:tcPr>
                </a:tc>
                <a:tc>
                  <a:txBody>
                    <a:bodyPr wrap="square" anchor="t"/>
                    <a:lstStyle/>
                    <a:p>
                      <a:pPr algn="l">
                        <a:lnSpc>
                          <a:spcPct val="115000"/>
                        </a:lnSpc>
                        <a:spcAft>
                          <a:spcPts val="0"/>
                        </a:spcAft>
                      </a:pPr>
                      <a:r>
                        <a:rPr sz="1200" b="0" i="0">
                          <a:solidFill>
                            <a:srgbClr val="253650"/>
                          </a:solidFill>
                          <a:latin typeface="Inter"/>
                        </a:rPr>
                        <a:t>Operate its own investment fund today</a:t>
                      </a:r>
                    </a:p>
                  </a:txBody>
                  <a:tcPr marL="109728" marR="109728" marT="54864" marB="54864" anchor="ctr">
                    <a:solidFill>
                      <a:srgbClr val="FFFFFF"/>
                    </a:solidFill>
                  </a:tcPr>
                </a:tc>
              </a:tr>
              <a:tr h="640080">
                <a:tc>
                  <a:txBody>
                    <a:bodyPr wrap="square" anchor="t"/>
                    <a:lstStyle/>
                    <a:p>
                      <a:pPr algn="l">
                        <a:lnSpc>
                          <a:spcPct val="115000"/>
                        </a:lnSpc>
                        <a:spcAft>
                          <a:spcPts val="0"/>
                        </a:spcAft>
                      </a:pPr>
                      <a:r>
                        <a:rPr sz="1200" b="0" i="0">
                          <a:solidFill>
                            <a:srgbClr val="253650"/>
                          </a:solidFill>
                          <a:latin typeface="Inter"/>
                        </a:rPr>
                        <a:t>Make relevant, consented introductions</a:t>
                      </a:r>
                    </a:p>
                  </a:txBody>
                  <a:tcPr marL="109728" marR="109728" marT="54864" marB="54864" anchor="ctr">
                    <a:solidFill>
                      <a:srgbClr val="EDF4FE"/>
                    </a:solidFill>
                  </a:tcPr>
                </a:tc>
                <a:tc>
                  <a:txBody>
                    <a:bodyPr wrap="square" anchor="t"/>
                    <a:lstStyle/>
                    <a:p>
                      <a:pPr algn="l">
                        <a:lnSpc>
                          <a:spcPct val="115000"/>
                        </a:lnSpc>
                        <a:spcAft>
                          <a:spcPts val="0"/>
                        </a:spcAft>
                      </a:pPr>
                      <a:r>
                        <a:rPr sz="1200" b="0" i="0">
                          <a:solidFill>
                            <a:srgbClr val="253650"/>
                          </a:solidFill>
                          <a:latin typeface="Inter"/>
                        </a:rPr>
                        <a:t>Promise deal flow, exclusivity or returns</a:t>
                      </a:r>
                    </a:p>
                  </a:txBody>
                  <a:tcPr marL="109728" marR="109728" marT="54864" marB="54864" anchor="ctr">
                    <a:solidFill>
                      <a:srgbClr val="EDF4FE"/>
                    </a:solidFill>
                  </a:tcPr>
                </a:tc>
              </a:tr>
              <a:tr h="640080">
                <a:tc>
                  <a:txBody>
                    <a:bodyPr wrap="square" anchor="t"/>
                    <a:lstStyle/>
                    <a:p>
                      <a:pPr algn="l">
                        <a:lnSpc>
                          <a:spcPct val="115000"/>
                        </a:lnSpc>
                        <a:spcAft>
                          <a:spcPts val="0"/>
                        </a:spcAft>
                      </a:pPr>
                      <a:r>
                        <a:rPr sz="1200" b="0" i="0">
                          <a:solidFill>
                            <a:srgbClr val="253650"/>
                          </a:solidFill>
                          <a:latin typeface="Inter"/>
                        </a:rPr>
                        <a:t>Share structured founder information</a:t>
                      </a:r>
                    </a:p>
                  </a:txBody>
                  <a:tcPr marL="109728" marR="109728" marT="54864" marB="54864" anchor="ctr">
                    <a:solidFill>
                      <a:srgbClr val="FFFFFF"/>
                    </a:solidFill>
                  </a:tcPr>
                </a:tc>
                <a:tc>
                  <a:txBody>
                    <a:bodyPr wrap="square" anchor="t"/>
                    <a:lstStyle/>
                    <a:p>
                      <a:pPr algn="l">
                        <a:lnSpc>
                          <a:spcPct val="115000"/>
                        </a:lnSpc>
                        <a:spcAft>
                          <a:spcPts val="0"/>
                        </a:spcAft>
                      </a:pPr>
                      <a:r>
                        <a:rPr sz="1200" b="0" i="0">
                          <a:solidFill>
                            <a:srgbClr val="253650"/>
                          </a:solidFill>
                          <a:latin typeface="Inter"/>
                        </a:rPr>
                        <a:t>Recommend or endorse specific investments</a:t>
                      </a:r>
                    </a:p>
                  </a:txBody>
                  <a:tcPr marL="109728" marR="109728" marT="54864" marB="54864" anchor="ctr">
                    <a:solidFill>
                      <a:srgbClr val="FFFFFF"/>
                    </a:solidFill>
                  </a:tcPr>
                </a:tc>
              </a:tr>
              <a:tr h="640080">
                <a:tc>
                  <a:txBody>
                    <a:bodyPr wrap="square" anchor="t"/>
                    <a:lstStyle/>
                    <a:p>
                      <a:pPr algn="l">
                        <a:lnSpc>
                          <a:spcPct val="115000"/>
                        </a:lnSpc>
                        <a:spcAft>
                          <a:spcPts val="0"/>
                        </a:spcAft>
                      </a:pPr>
                      <a:r>
                        <a:rPr sz="1200" b="0" i="0">
                          <a:solidFill>
                            <a:srgbClr val="253650"/>
                          </a:solidFill>
                          <a:latin typeface="Inter"/>
                        </a:rPr>
                        <a:t>Host sector sessions with investors</a:t>
                      </a:r>
                    </a:p>
                  </a:txBody>
                  <a:tcPr marL="109728" marR="109728" marT="54864" marB="54864" anchor="ctr">
                    <a:solidFill>
                      <a:srgbClr val="EDF4FE"/>
                    </a:solidFill>
                  </a:tcPr>
                </a:tc>
                <a:tc>
                  <a:txBody>
                    <a:bodyPr wrap="square" anchor="t"/>
                    <a:lstStyle/>
                    <a:p>
                      <a:pPr algn="l">
                        <a:lnSpc>
                          <a:spcPct val="115000"/>
                        </a:lnSpc>
                        <a:spcAft>
                          <a:spcPts val="0"/>
                        </a:spcAft>
                      </a:pPr>
                      <a:r>
                        <a:rPr sz="1200" b="0" i="0">
                          <a:solidFill>
                            <a:srgbClr val="253650"/>
                          </a:solidFill>
                          <a:latin typeface="Inter"/>
                        </a:rPr>
                        <a:t>Assume every founder should raise capital</a:t>
                      </a:r>
                    </a:p>
                  </a:txBody>
                  <a:tcPr marL="109728" marR="109728" marT="54864" marB="54864" anchor="ctr">
                    <a:solidFill>
                      <a:srgbClr val="EDF4FE"/>
                    </a:solidFill>
                  </a:tcPr>
                </a:tc>
              </a:tr>
            </a:tbl>
          </a:graphicData>
        </a:graphic>
      </p:graphicFrame>
      <p:sp>
        <p:nvSpPr>
          <p:cNvPr id="23" name="TextBox 22"/>
          <p:cNvSpPr txBox="1"/>
          <p:nvPr/>
        </p:nvSpPr>
        <p:spPr>
          <a:xfrm>
            <a:off x="5989320" y="5532120"/>
            <a:ext cx="5608015" cy="64008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Any future investment activity would require its own structure, approvals and terms.</a:t>
            </a:r>
          </a:p>
        </p:txBody>
      </p:sp>
      <p:sp>
        <p:nvSpPr>
          <p:cNvPr id="24" name="TextBox 2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5" name="TextBox 2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DF4FE"/>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VALUE FOR ECOSYSTEM PARTNERS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Collaborations that are useful to founders and to partners.</a:t>
            </a:r>
          </a:p>
        </p:txBody>
      </p:sp>
      <p:sp>
        <p:nvSpPr>
          <p:cNvPr id="4" name="TextBox 3"/>
          <p:cNvSpPr txBox="1"/>
          <p:nvPr/>
        </p:nvSpPr>
        <p:spPr>
          <a:xfrm>
            <a:off x="594360" y="201168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WHY PARTNERS MAY TAKE PART</a:t>
            </a:r>
          </a:p>
        </p:txBody>
      </p:sp>
      <p:sp>
        <p:nvSpPr>
          <p:cNvPr id="5" name="TextBox 4"/>
          <p:cNvSpPr txBox="1"/>
          <p:nvPr/>
        </p:nvSpPr>
        <p:spPr>
          <a:xfrm>
            <a:off x="594360" y="2395728"/>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01</a:t>
            </a:r>
          </a:p>
        </p:txBody>
      </p:sp>
      <p:sp>
        <p:nvSpPr>
          <p:cNvPr id="6" name="TextBox 5"/>
          <p:cNvSpPr txBox="1"/>
          <p:nvPr/>
        </p:nvSpPr>
        <p:spPr>
          <a:xfrm>
            <a:off x="1051560" y="2395728"/>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Reach relevant founders</a:t>
            </a:r>
          </a:p>
        </p:txBody>
      </p:sp>
      <p:sp>
        <p:nvSpPr>
          <p:cNvPr id="7" name="TextBox 6"/>
          <p:cNvSpPr txBox="1"/>
          <p:nvPr/>
        </p:nvSpPr>
        <p:spPr>
          <a:xfrm>
            <a:off x="594360" y="2971800"/>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02</a:t>
            </a:r>
          </a:p>
        </p:txBody>
      </p:sp>
      <p:sp>
        <p:nvSpPr>
          <p:cNvPr id="8" name="TextBox 7"/>
          <p:cNvSpPr txBox="1"/>
          <p:nvPr/>
        </p:nvSpPr>
        <p:spPr>
          <a:xfrm>
            <a:off x="1051560" y="2971800"/>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Deliver education or specialist support</a:t>
            </a:r>
          </a:p>
        </p:txBody>
      </p:sp>
      <p:sp>
        <p:nvSpPr>
          <p:cNvPr id="9" name="TextBox 8"/>
          <p:cNvSpPr txBox="1"/>
          <p:nvPr/>
        </p:nvSpPr>
        <p:spPr>
          <a:xfrm>
            <a:off x="594360" y="3547872"/>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03</a:t>
            </a:r>
          </a:p>
        </p:txBody>
      </p:sp>
      <p:sp>
        <p:nvSpPr>
          <p:cNvPr id="10" name="TextBox 9"/>
          <p:cNvSpPr txBox="1"/>
          <p:nvPr/>
        </p:nvSpPr>
        <p:spPr>
          <a:xfrm>
            <a:off x="1051560" y="3547872"/>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Test useful services</a:t>
            </a:r>
          </a:p>
        </p:txBody>
      </p:sp>
      <p:sp>
        <p:nvSpPr>
          <p:cNvPr id="11" name="TextBox 10"/>
          <p:cNvSpPr txBox="1"/>
          <p:nvPr/>
        </p:nvSpPr>
        <p:spPr>
          <a:xfrm>
            <a:off x="594360" y="4123944"/>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04</a:t>
            </a:r>
          </a:p>
        </p:txBody>
      </p:sp>
      <p:sp>
        <p:nvSpPr>
          <p:cNvPr id="12" name="TextBox 11"/>
          <p:cNvSpPr txBox="1"/>
          <p:nvPr/>
        </p:nvSpPr>
        <p:spPr>
          <a:xfrm>
            <a:off x="1051560" y="4123944"/>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Build long-term relationships</a:t>
            </a:r>
          </a:p>
        </p:txBody>
      </p:sp>
      <p:sp>
        <p:nvSpPr>
          <p:cNvPr id="13" name="TextBox 12"/>
          <p:cNvSpPr txBox="1"/>
          <p:nvPr/>
        </p:nvSpPr>
        <p:spPr>
          <a:xfrm>
            <a:off x="594360" y="4700016"/>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05</a:t>
            </a:r>
          </a:p>
        </p:txBody>
      </p:sp>
      <p:sp>
        <p:nvSpPr>
          <p:cNvPr id="14" name="TextBox 13"/>
          <p:cNvSpPr txBox="1"/>
          <p:nvPr/>
        </p:nvSpPr>
        <p:spPr>
          <a:xfrm>
            <a:off x="1051560" y="4700016"/>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Support entrepreneurship programmes</a:t>
            </a:r>
          </a:p>
        </p:txBody>
      </p:sp>
      <p:sp>
        <p:nvSpPr>
          <p:cNvPr id="15" name="TextBox 14"/>
          <p:cNvSpPr txBox="1"/>
          <p:nvPr/>
        </p:nvSpPr>
        <p:spPr>
          <a:xfrm>
            <a:off x="594360" y="5276088"/>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06</a:t>
            </a:r>
          </a:p>
        </p:txBody>
      </p:sp>
      <p:sp>
        <p:nvSpPr>
          <p:cNvPr id="16" name="TextBox 15"/>
          <p:cNvSpPr txBox="1"/>
          <p:nvPr/>
        </p:nvSpPr>
        <p:spPr>
          <a:xfrm>
            <a:off x="1051560" y="5276088"/>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Explore commercial distribution</a:t>
            </a:r>
          </a:p>
        </p:txBody>
      </p:sp>
      <p:graphicFrame>
        <p:nvGraphicFramePr>
          <p:cNvPr id="17" name="Table 16"/>
          <p:cNvGraphicFramePr>
            <a:graphicFrameLocks noGrp="1"/>
          </p:cNvGraphicFramePr>
          <p:nvPr/>
        </p:nvGraphicFramePr>
        <p:xfrm>
          <a:off x="4434840" y="2011680"/>
          <a:ext cx="7159752" cy="3840480"/>
        </p:xfrm>
        <a:graphic>
          <a:graphicData uri="http://schemas.openxmlformats.org/drawingml/2006/table">
            <a:tbl>
              <a:tblPr firstRow="0" bandRow="0">
                <a:tableStyleId>{5C22544A-7EE6-4342-B048-85BDC9FD1C3A}</a:tableStyleId>
              </a:tblPr>
              <a:tblGrid>
                <a:gridCol w="2057400"/>
                <a:gridCol w="2148840"/>
                <a:gridCol w="2953512"/>
              </a:tblGrid>
              <a:tr h="548640">
                <a:tc>
                  <a:txBody>
                    <a:bodyPr wrap="square" anchor="t"/>
                    <a:lstStyle/>
                    <a:p>
                      <a:pPr algn="l">
                        <a:lnSpc>
                          <a:spcPct val="115000"/>
                        </a:lnSpc>
                        <a:spcAft>
                          <a:spcPts val="0"/>
                        </a:spcAft>
                      </a:pPr>
                      <a:r>
                        <a:rPr sz="1000" b="1" i="0" spc="60">
                          <a:solidFill>
                            <a:srgbClr val="FFFFFF"/>
                          </a:solidFill>
                          <a:latin typeface="Inter"/>
                        </a:rPr>
                        <a:t>COLLABORATION FORMAT</a:t>
                      </a:r>
                    </a:p>
                  </a:txBody>
                  <a:tcPr marL="109728" marR="109728" marT="54864" marB="54864" anchor="ctr">
                    <a:solidFill>
                      <a:srgbClr val="10213B"/>
                    </a:solidFill>
                  </a:tcPr>
                </a:tc>
                <a:tc>
                  <a:txBody>
                    <a:bodyPr wrap="square" anchor="t"/>
                    <a:lstStyle/>
                    <a:p>
                      <a:pPr algn="l">
                        <a:lnSpc>
                          <a:spcPct val="115000"/>
                        </a:lnSpc>
                        <a:spcAft>
                          <a:spcPts val="0"/>
                        </a:spcAft>
                      </a:pPr>
                      <a:r>
                        <a:rPr sz="1000" b="1" i="0" spc="60">
                          <a:solidFill>
                            <a:srgbClr val="FFFFFF"/>
                          </a:solidFill>
                          <a:latin typeface="Inter"/>
                        </a:rPr>
                        <a:t>SUITS</a:t>
                      </a:r>
                    </a:p>
                  </a:txBody>
                  <a:tcPr marL="109728" marR="109728" marT="54864" marB="54864" anchor="ctr">
                    <a:solidFill>
                      <a:srgbClr val="10213B"/>
                    </a:solidFill>
                  </a:tcPr>
                </a:tc>
                <a:tc>
                  <a:txBody>
                    <a:bodyPr wrap="square" anchor="t"/>
                    <a:lstStyle/>
                    <a:p>
                      <a:pPr algn="l">
                        <a:lnSpc>
                          <a:spcPct val="115000"/>
                        </a:lnSpc>
                        <a:spcAft>
                          <a:spcPts val="0"/>
                        </a:spcAft>
                      </a:pPr>
                      <a:r>
                        <a:rPr sz="1000" b="1" i="0" spc="60">
                          <a:solidFill>
                            <a:srgbClr val="FFFFFF"/>
                          </a:solidFill>
                          <a:latin typeface="Inter"/>
                        </a:rPr>
                        <a:t>WHAT IT COULD LOOK LIKE</a:t>
                      </a:r>
                    </a:p>
                  </a:txBody>
                  <a:tcPr marL="109728" marR="109728" marT="54864" marB="54864" anchor="ctr">
                    <a:solidFill>
                      <a:srgbClr val="10213B"/>
                    </a:solidFill>
                  </a:tcPr>
                </a:tc>
              </a:tr>
              <a:tr h="548640">
                <a:tc>
                  <a:txBody>
                    <a:bodyPr wrap="square" anchor="t"/>
                    <a:lstStyle/>
                    <a:p>
                      <a:pPr algn="l">
                        <a:lnSpc>
                          <a:spcPct val="115000"/>
                        </a:lnSpc>
                        <a:spcAft>
                          <a:spcPts val="0"/>
                        </a:spcAft>
                      </a:pPr>
                      <a:r>
                        <a:rPr sz="1150" b="1" i="0">
                          <a:solidFill>
                            <a:srgbClr val="10213B"/>
                          </a:solidFill>
                          <a:latin typeface="Inter"/>
                        </a:rPr>
                        <a:t>Workshops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Specialists, firms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A practical 90-minute session on a founder topic</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Office hours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Mentors, advisers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Regular bookable slots with short follow-up</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University programmes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Universities, incubators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Support for student and alumni founders</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Tool or service pilots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Technology and service providers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A limited trial with feedback from founders</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Community activities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Corporates, venues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Hosting a meetup or a themed founder evening</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Content collaboration</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Media, experts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Guides, interviews or co-created resources</a:t>
                      </a:r>
                    </a:p>
                  </a:txBody>
                  <a:tcPr marL="109728" marR="109728" marT="54864" marB="54864" anchor="ctr">
                    <a:solidFill>
                      <a:srgbClr val="FFFFFF"/>
                    </a:solidFill>
                  </a:tcPr>
                </a:tc>
              </a:tr>
            </a:tbl>
          </a:graphicData>
        </a:graphic>
      </p:graphicFrame>
      <p:sp>
        <p:nvSpPr>
          <p:cNvPr id="18" name="TextBox 17"/>
          <p:cNvSpPr txBox="1"/>
          <p:nvPr/>
        </p:nvSpPr>
        <p:spPr>
          <a:xfrm>
            <a:off x="4434840" y="6035040"/>
            <a:ext cx="7132320" cy="27432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These are possible formats to explore together; no partnerships are presented here as signed.</a:t>
            </a:r>
          </a:p>
        </p:txBody>
      </p:sp>
      <p:sp>
        <p:nvSpPr>
          <p:cNvPr id="19" name="TextBox 1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0" name="TextBox 1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UNIVERSITIES AND INCUBATORS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Continuity for student and alumni founders.</a:t>
            </a:r>
          </a:p>
        </p:txBody>
      </p:sp>
      <p:sp>
        <p:nvSpPr>
          <p:cNvPr id="4" name="Pentagon 3"/>
          <p:cNvSpPr/>
          <p:nvPr/>
        </p:nvSpPr>
        <p:spPr>
          <a:xfrm>
            <a:off x="594360" y="2057400"/>
            <a:ext cx="2805607" cy="640080"/>
          </a:xfrm>
          <a:prstGeom prst="homePlat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300" b="1" i="0">
                <a:solidFill>
                  <a:srgbClr val="10213B"/>
                </a:solidFill>
                <a:latin typeface="Inter"/>
              </a:rPr>
              <a:t>Idea in class</a:t>
            </a:r>
          </a:p>
        </p:txBody>
      </p:sp>
      <p:sp>
        <p:nvSpPr>
          <p:cNvPr id="5" name="TextBox 4"/>
          <p:cNvSpPr txBox="1"/>
          <p:nvPr/>
        </p:nvSpPr>
        <p:spPr>
          <a:xfrm>
            <a:off x="822960" y="2834640"/>
            <a:ext cx="2293543"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Course project, club or competition</a:t>
            </a:r>
          </a:p>
        </p:txBody>
      </p:sp>
      <p:sp>
        <p:nvSpPr>
          <p:cNvPr id="6" name="Chevron 5"/>
          <p:cNvSpPr/>
          <p:nvPr/>
        </p:nvSpPr>
        <p:spPr>
          <a:xfrm>
            <a:off x="3345103" y="2057400"/>
            <a:ext cx="2805607" cy="64008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300" b="1" i="0">
                <a:solidFill>
                  <a:srgbClr val="10213B"/>
                </a:solidFill>
                <a:latin typeface="Inter"/>
              </a:rPr>
              <a:t>Programme</a:t>
            </a:r>
          </a:p>
        </p:txBody>
      </p:sp>
      <p:sp>
        <p:nvSpPr>
          <p:cNvPr id="7" name="TextBox 6"/>
          <p:cNvSpPr txBox="1"/>
          <p:nvPr/>
        </p:nvSpPr>
        <p:spPr>
          <a:xfrm>
            <a:off x="3573703" y="2834640"/>
            <a:ext cx="2293543"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University incubator or challenge</a:t>
            </a:r>
          </a:p>
        </p:txBody>
      </p:sp>
      <p:sp>
        <p:nvSpPr>
          <p:cNvPr id="8" name="Chevron 7"/>
          <p:cNvSpPr/>
          <p:nvPr/>
        </p:nvSpPr>
        <p:spPr>
          <a:xfrm>
            <a:off x="6095847" y="2057400"/>
            <a:ext cx="2805607" cy="640080"/>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Startup Roof</a:t>
            </a:r>
          </a:p>
        </p:txBody>
      </p:sp>
      <p:sp>
        <p:nvSpPr>
          <p:cNvPr id="9" name="TextBox 8"/>
          <p:cNvSpPr txBox="1"/>
          <p:nvPr/>
        </p:nvSpPr>
        <p:spPr>
          <a:xfrm>
            <a:off x="6324447" y="2834640"/>
            <a:ext cx="2293543"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Year-round guidance, mentors and tools</a:t>
            </a:r>
          </a:p>
        </p:txBody>
      </p:sp>
      <p:sp>
        <p:nvSpPr>
          <p:cNvPr id="10" name="Chevron 9"/>
          <p:cNvSpPr/>
          <p:nvPr/>
        </p:nvSpPr>
        <p:spPr>
          <a:xfrm>
            <a:off x="8846591" y="2057400"/>
            <a:ext cx="2805607" cy="640080"/>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Alumni founder</a:t>
            </a:r>
          </a:p>
        </p:txBody>
      </p:sp>
      <p:sp>
        <p:nvSpPr>
          <p:cNvPr id="11" name="TextBox 10"/>
          <p:cNvSpPr txBox="1"/>
          <p:nvPr/>
        </p:nvSpPr>
        <p:spPr>
          <a:xfrm>
            <a:off x="9075191" y="2834640"/>
            <a:ext cx="2293543"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Growth support and community</a:t>
            </a:r>
          </a:p>
        </p:txBody>
      </p:sp>
      <p:sp>
        <p:nvSpPr>
          <p:cNvPr id="12" name="TextBox 11"/>
          <p:cNvSpPr txBox="1"/>
          <p:nvPr/>
        </p:nvSpPr>
        <p:spPr>
          <a:xfrm>
            <a:off x="594360" y="3703320"/>
            <a:ext cx="539496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WHAT UNIVERSITIES COULD GAIN</a:t>
            </a:r>
          </a:p>
        </p:txBody>
      </p:sp>
      <p:cxnSp>
        <p:nvCxnSpPr>
          <p:cNvPr id="13" name="Connector 12"/>
          <p:cNvCxnSpPr/>
          <p:nvPr/>
        </p:nvCxnSpPr>
        <p:spPr>
          <a:xfrm>
            <a:off x="594360" y="4041648"/>
            <a:ext cx="5349240" cy="0"/>
          </a:xfrm>
          <a:prstGeom prst="line">
            <a:avLst/>
          </a:prstGeom>
          <a:ln w="12700">
            <a:solidFill>
              <a:srgbClr val="D5E2F3"/>
            </a:solidFill>
          </a:ln>
        </p:spPr>
      </p:cxnSp>
      <p:sp>
        <p:nvSpPr>
          <p:cNvPr id="14" name="TextBox 13"/>
          <p:cNvSpPr txBox="1"/>
          <p:nvPr/>
        </p:nvSpPr>
        <p:spPr>
          <a:xfrm>
            <a:off x="594360" y="4151376"/>
            <a:ext cx="534924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Support for founders after programmes end</a:t>
            </a:r>
          </a:p>
        </p:txBody>
      </p:sp>
      <p:cxnSp>
        <p:nvCxnSpPr>
          <p:cNvPr id="15" name="Connector 14"/>
          <p:cNvCxnSpPr/>
          <p:nvPr/>
        </p:nvCxnSpPr>
        <p:spPr>
          <a:xfrm>
            <a:off x="594360" y="4553712"/>
            <a:ext cx="5349240" cy="0"/>
          </a:xfrm>
          <a:prstGeom prst="line">
            <a:avLst/>
          </a:prstGeom>
          <a:ln w="12700">
            <a:solidFill>
              <a:srgbClr val="D5E2F3"/>
            </a:solidFill>
          </a:ln>
        </p:spPr>
      </p:cxnSp>
      <p:sp>
        <p:nvSpPr>
          <p:cNvPr id="16" name="TextBox 15"/>
          <p:cNvSpPr txBox="1"/>
          <p:nvPr/>
        </p:nvSpPr>
        <p:spPr>
          <a:xfrm>
            <a:off x="594360" y="4663440"/>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Practitioner mentors and specialists</a:t>
            </a:r>
          </a:p>
        </p:txBody>
      </p:sp>
      <p:cxnSp>
        <p:nvCxnSpPr>
          <p:cNvPr id="17" name="Connector 16"/>
          <p:cNvCxnSpPr/>
          <p:nvPr/>
        </p:nvCxnSpPr>
        <p:spPr>
          <a:xfrm>
            <a:off x="594360" y="5065776"/>
            <a:ext cx="5349240" cy="0"/>
          </a:xfrm>
          <a:prstGeom prst="line">
            <a:avLst/>
          </a:prstGeom>
          <a:ln w="12700">
            <a:solidFill>
              <a:srgbClr val="D5E2F3"/>
            </a:solidFill>
          </a:ln>
        </p:spPr>
      </p:cxnSp>
      <p:sp>
        <p:nvSpPr>
          <p:cNvPr id="18" name="TextBox 17"/>
          <p:cNvSpPr txBox="1"/>
          <p:nvPr/>
        </p:nvSpPr>
        <p:spPr>
          <a:xfrm>
            <a:off x="594360" y="5175504"/>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Visibility for student ventures</a:t>
            </a:r>
          </a:p>
        </p:txBody>
      </p:sp>
      <p:cxnSp>
        <p:nvCxnSpPr>
          <p:cNvPr id="19" name="Connector 18"/>
          <p:cNvCxnSpPr/>
          <p:nvPr/>
        </p:nvCxnSpPr>
        <p:spPr>
          <a:xfrm>
            <a:off x="594360" y="5577840"/>
            <a:ext cx="5349240" cy="0"/>
          </a:xfrm>
          <a:prstGeom prst="line">
            <a:avLst/>
          </a:prstGeom>
          <a:ln w="12700">
            <a:solidFill>
              <a:srgbClr val="D5E2F3"/>
            </a:solidFill>
          </a:ln>
        </p:spPr>
      </p:cxnSp>
      <p:sp>
        <p:nvSpPr>
          <p:cNvPr id="20" name="TextBox 19"/>
          <p:cNvSpPr txBox="1"/>
          <p:nvPr/>
        </p:nvSpPr>
        <p:spPr>
          <a:xfrm>
            <a:off x="594360" y="5687568"/>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Practical content for entrepreneurship courses</a:t>
            </a:r>
          </a:p>
        </p:txBody>
      </p:sp>
      <p:sp>
        <p:nvSpPr>
          <p:cNvPr id="21" name="TextBox 20"/>
          <p:cNvSpPr txBox="1"/>
          <p:nvPr/>
        </p:nvSpPr>
        <p:spPr>
          <a:xfrm>
            <a:off x="6172200" y="3703320"/>
            <a:ext cx="539496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POSSIBLE COLLABORATION FORMATS</a:t>
            </a:r>
          </a:p>
        </p:txBody>
      </p:sp>
      <p:cxnSp>
        <p:nvCxnSpPr>
          <p:cNvPr id="22" name="Connector 21"/>
          <p:cNvCxnSpPr/>
          <p:nvPr/>
        </p:nvCxnSpPr>
        <p:spPr>
          <a:xfrm>
            <a:off x="6172200" y="4041648"/>
            <a:ext cx="5349240" cy="0"/>
          </a:xfrm>
          <a:prstGeom prst="line">
            <a:avLst/>
          </a:prstGeom>
          <a:ln w="12700">
            <a:solidFill>
              <a:srgbClr val="D5E2F3"/>
            </a:solidFill>
          </a:ln>
        </p:spPr>
      </p:cxnSp>
      <p:sp>
        <p:nvSpPr>
          <p:cNvPr id="23" name="TextBox 22"/>
          <p:cNvSpPr txBox="1"/>
          <p:nvPr/>
        </p:nvSpPr>
        <p:spPr>
          <a:xfrm>
            <a:off x="6172200" y="4151376"/>
            <a:ext cx="5349240" cy="365760"/>
          </a:xfrm>
          <a:prstGeom prst="rect">
            <a:avLst/>
          </a:prstGeom>
          <a:noFill/>
        </p:spPr>
        <p:txBody>
          <a:bodyPr wrap="square" lIns="0" rIns="0" tIns="0" bIns="0" anchor="t"/>
          <a:lstStyle/>
          <a:p>
            <a:pPr algn="l">
              <a:lnSpc>
                <a:spcPct val="115000"/>
              </a:lnSpc>
              <a:spcAft>
                <a:spcPts val="0"/>
              </a:spcAft>
            </a:pPr>
            <a:r>
              <a:rPr sz="1250" b="1" i="0">
                <a:solidFill>
                  <a:srgbClr val="10213B"/>
                </a:solidFill>
                <a:latin typeface="Inter"/>
              </a:rPr>
              <a:t>Guest clinics and workshops</a:t>
            </a:r>
          </a:p>
        </p:txBody>
      </p:sp>
      <p:cxnSp>
        <p:nvCxnSpPr>
          <p:cNvPr id="24" name="Connector 23"/>
          <p:cNvCxnSpPr/>
          <p:nvPr/>
        </p:nvCxnSpPr>
        <p:spPr>
          <a:xfrm>
            <a:off x="6172200" y="4553712"/>
            <a:ext cx="5349240" cy="0"/>
          </a:xfrm>
          <a:prstGeom prst="line">
            <a:avLst/>
          </a:prstGeom>
          <a:ln w="12700">
            <a:solidFill>
              <a:srgbClr val="D5E2F3"/>
            </a:solidFill>
          </a:ln>
        </p:spPr>
      </p:cxnSp>
      <p:sp>
        <p:nvSpPr>
          <p:cNvPr id="25" name="TextBox 24"/>
          <p:cNvSpPr txBox="1"/>
          <p:nvPr/>
        </p:nvSpPr>
        <p:spPr>
          <a:xfrm>
            <a:off x="6172200" y="4663440"/>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Joint founder challenges</a:t>
            </a:r>
          </a:p>
        </p:txBody>
      </p:sp>
      <p:cxnSp>
        <p:nvCxnSpPr>
          <p:cNvPr id="26" name="Connector 25"/>
          <p:cNvCxnSpPr/>
          <p:nvPr/>
        </p:nvCxnSpPr>
        <p:spPr>
          <a:xfrm>
            <a:off x="6172200" y="5065776"/>
            <a:ext cx="5349240" cy="0"/>
          </a:xfrm>
          <a:prstGeom prst="line">
            <a:avLst/>
          </a:prstGeom>
          <a:ln w="12700">
            <a:solidFill>
              <a:srgbClr val="D5E2F3"/>
            </a:solidFill>
          </a:ln>
        </p:spPr>
      </p:cxnSp>
      <p:sp>
        <p:nvSpPr>
          <p:cNvPr id="27" name="TextBox 26"/>
          <p:cNvSpPr txBox="1"/>
          <p:nvPr/>
        </p:nvSpPr>
        <p:spPr>
          <a:xfrm>
            <a:off x="6172200" y="5175504"/>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Mentor office hours on campus</a:t>
            </a:r>
          </a:p>
        </p:txBody>
      </p:sp>
      <p:cxnSp>
        <p:nvCxnSpPr>
          <p:cNvPr id="28" name="Connector 27"/>
          <p:cNvCxnSpPr/>
          <p:nvPr/>
        </p:nvCxnSpPr>
        <p:spPr>
          <a:xfrm>
            <a:off x="6172200" y="5577840"/>
            <a:ext cx="5349240" cy="0"/>
          </a:xfrm>
          <a:prstGeom prst="line">
            <a:avLst/>
          </a:prstGeom>
          <a:ln w="12700">
            <a:solidFill>
              <a:srgbClr val="D5E2F3"/>
            </a:solidFill>
          </a:ln>
        </p:spPr>
      </p:cxnSp>
      <p:sp>
        <p:nvSpPr>
          <p:cNvPr id="29" name="TextBox 28"/>
          <p:cNvSpPr txBox="1"/>
          <p:nvPr/>
        </p:nvSpPr>
        <p:spPr>
          <a:xfrm>
            <a:off x="6172200" y="5687568"/>
            <a:ext cx="5349240" cy="365760"/>
          </a:xfrm>
          <a:prstGeom prst="rect">
            <a:avLst/>
          </a:prstGeom>
          <a:noFill/>
        </p:spPr>
        <p:txBody>
          <a:bodyPr wrap="square" lIns="0" rIns="0" tIns="0" bIns="0" anchor="t"/>
          <a:lstStyle/>
          <a:p>
            <a:pPr algn="l">
              <a:lnSpc>
                <a:spcPct val="115000"/>
              </a:lnSpc>
              <a:spcAft>
                <a:spcPts val="0"/>
              </a:spcAft>
            </a:pPr>
            <a:r>
              <a:rPr sz="1250" b="0" i="0">
                <a:solidFill>
                  <a:srgbClr val="10213B"/>
                </a:solidFill>
                <a:latin typeface="Inter"/>
              </a:rPr>
              <a:t>Access to Founder OS for student founders</a:t>
            </a:r>
          </a:p>
        </p:txBody>
      </p:sp>
      <p:sp>
        <p:nvSpPr>
          <p:cNvPr id="30" name="TextBox 29"/>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1" name="TextBox 30"/>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CORPORATES AND SERVICE PROVIDERS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Practical ways to work with early-stage founders.</a:t>
            </a:r>
          </a:p>
        </p:txBody>
      </p:sp>
      <p:graphicFrame>
        <p:nvGraphicFramePr>
          <p:cNvPr id="4" name="Table 3"/>
          <p:cNvGraphicFramePr>
            <a:graphicFrameLocks noGrp="1"/>
          </p:cNvGraphicFramePr>
          <p:nvPr/>
        </p:nvGraphicFramePr>
        <p:xfrm>
          <a:off x="594360" y="1920240"/>
          <a:ext cx="11000232" cy="3840480"/>
        </p:xfrm>
        <a:graphic>
          <a:graphicData uri="http://schemas.openxmlformats.org/drawingml/2006/table">
            <a:tbl>
              <a:tblPr firstRow="0" bandRow="0">
                <a:tableStyleId>{5C22544A-7EE6-4342-B048-85BDC9FD1C3A}</a:tableStyleId>
              </a:tblPr>
              <a:tblGrid>
                <a:gridCol w="2651760"/>
                <a:gridCol w="2834640"/>
                <a:gridCol w="2926080"/>
                <a:gridCol w="2587752"/>
              </a:tblGrid>
              <a:tr h="548640">
                <a:tc>
                  <a:txBody>
                    <a:bodyPr wrap="square" anchor="t"/>
                    <a:lstStyle/>
                    <a:p>
                      <a:pPr algn="l">
                        <a:lnSpc>
                          <a:spcPct val="115000"/>
                        </a:lnSpc>
                        <a:spcAft>
                          <a:spcPts val="0"/>
                        </a:spcAft>
                      </a:pPr>
                      <a:r>
                        <a:rPr sz="950" b="1" i="0" spc="60">
                          <a:solidFill>
                            <a:srgbClr val="FFFFFF"/>
                          </a:solidFill>
                          <a:latin typeface="Inter"/>
                        </a:rPr>
                        <a:t>PARTNER TYPE</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WHAT THEY CAN OFFER</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WHAT THEY CAN GAIN</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STARTING FORMAT</a:t>
                      </a:r>
                    </a:p>
                  </a:txBody>
                  <a:tcPr marL="109728" marR="109728" marT="54864" marB="54864" anchor="ctr">
                    <a:solidFill>
                      <a:srgbClr val="10213B"/>
                    </a:solidFill>
                  </a:tcPr>
                </a:tc>
              </a:tr>
              <a:tr h="548640">
                <a:tc>
                  <a:txBody>
                    <a:bodyPr wrap="square" anchor="t"/>
                    <a:lstStyle/>
                    <a:p>
                      <a:pPr algn="l">
                        <a:lnSpc>
                          <a:spcPct val="115000"/>
                        </a:lnSpc>
                        <a:spcAft>
                          <a:spcPts val="0"/>
                        </a:spcAft>
                      </a:pPr>
                      <a:r>
                        <a:rPr sz="1100" b="1" i="0">
                          <a:solidFill>
                            <a:srgbClr val="10213B"/>
                          </a:solidFill>
                          <a:latin typeface="Inter"/>
                        </a:rPr>
                        <a:t>Corporate innovation teams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Challenges, pilots, expertise, mentors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Early access to new solutions and talent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 themed founder challenge</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00" b="1" i="0">
                          <a:solidFill>
                            <a:srgbClr val="10213B"/>
                          </a:solidFill>
                          <a:latin typeface="Inter"/>
                        </a:rPr>
                        <a:t>Professional firms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Legal, finance, tax and setup advice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Relationships with future clients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Monthly office hours</a:t>
                      </a:r>
                    </a:p>
                  </a:txBody>
                  <a:tcPr marL="109728" marR="109728" marT="54864" marB="54864" anchor="ctr">
                    <a:solidFill>
                      <a:srgbClr val="EDF4FE"/>
                    </a:solidFill>
                  </a:tcPr>
                </a:tc>
              </a:tr>
              <a:tr h="548640">
                <a:tc>
                  <a:txBody>
                    <a:bodyPr wrap="square" anchor="t"/>
                    <a:lstStyle/>
                    <a:p>
                      <a:pPr algn="l">
                        <a:lnSpc>
                          <a:spcPct val="115000"/>
                        </a:lnSpc>
                        <a:spcAft>
                          <a:spcPts val="0"/>
                        </a:spcAft>
                      </a:pPr>
                      <a:r>
                        <a:rPr sz="1100" b="1" i="0">
                          <a:solidFill>
                            <a:srgbClr val="10213B"/>
                          </a:solidFill>
                          <a:latin typeface="Inter"/>
                        </a:rPr>
                        <a:t>Technology providers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Tools, credits, technical guidance</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Adoption by relevant founders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A limited tool pilot</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00" b="1" i="0">
                          <a:solidFill>
                            <a:srgbClr val="10213B"/>
                          </a:solidFill>
                          <a:latin typeface="Inter"/>
                        </a:rPr>
                        <a:t>Banks and financial institutions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SME banking, finance education</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Better-prepared SME customers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founder finance clinic</a:t>
                      </a:r>
                    </a:p>
                  </a:txBody>
                  <a:tcPr marL="109728" marR="109728" marT="54864" marB="54864" anchor="ctr">
                    <a:solidFill>
                      <a:srgbClr val="EDF4FE"/>
                    </a:solidFill>
                  </a:tcPr>
                </a:tc>
              </a:tr>
              <a:tr h="548640">
                <a:tc>
                  <a:txBody>
                    <a:bodyPr wrap="square" anchor="t"/>
                    <a:lstStyle/>
                    <a:p>
                      <a:pPr algn="l">
                        <a:lnSpc>
                          <a:spcPct val="115000"/>
                        </a:lnSpc>
                        <a:spcAft>
                          <a:spcPts val="0"/>
                        </a:spcAft>
                      </a:pPr>
                      <a:r>
                        <a:rPr sz="1100" b="1" i="0">
                          <a:solidFill>
                            <a:srgbClr val="10213B"/>
                          </a:solidFill>
                          <a:latin typeface="Inter"/>
                        </a:rPr>
                        <a:t>Venues and co-working spaces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Space for sessions and gatherings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Community activity and visibility</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Hosting a founder evening</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00" b="1" i="0">
                          <a:solidFill>
                            <a:srgbClr val="10213B"/>
                          </a:solidFill>
                          <a:latin typeface="Inter"/>
                        </a:rPr>
                        <a:t>Media and content partners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Reach, interviews, editorial expertise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Founder stories and insights</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A co-created guide or series</a:t>
                      </a:r>
                    </a:p>
                  </a:txBody>
                  <a:tcPr marL="109728" marR="109728" marT="54864" marB="54864" anchor="ctr">
                    <a:solidFill>
                      <a:srgbClr val="EDF4FE"/>
                    </a:solidFill>
                  </a:tcPr>
                </a:tc>
              </a:tr>
            </a:tbl>
          </a:graphicData>
        </a:graphic>
      </p:graphicFrame>
      <p:sp>
        <p:nvSpPr>
          <p:cNvPr id="5" name="TextBox 4"/>
          <p:cNvSpPr txBox="1"/>
          <p:nvPr/>
        </p:nvSpPr>
        <p:spPr>
          <a:xfrm>
            <a:off x="594360" y="5989320"/>
            <a:ext cx="11002975" cy="27432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Illustrative formats for discussion. No partnerships are signed or implied.</a:t>
            </a:r>
          </a:p>
        </p:txBody>
      </p:sp>
      <p:sp>
        <p:nvSpPr>
          <p:cNvPr id="6" name="TextBox 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7" name="TextBox 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07</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Model, pilot and roadmap</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Commercial hypotheses, pilot design, measurement, milestones and risks</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Commercial model</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Revenue hypotheses by phase</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Service economics</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Pilot design and measurement</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Roadmap and milestones</a:t>
            </a:r>
          </a:p>
        </p:txBody>
      </p:sp>
      <p:cxnSp>
        <p:nvCxnSpPr>
          <p:cNvPr id="17" name="Connector 16"/>
          <p:cNvCxnSpPr/>
          <p:nvPr/>
        </p:nvCxnSpPr>
        <p:spPr>
          <a:xfrm>
            <a:off x="8092440" y="4617720"/>
            <a:ext cx="3502152" cy="0"/>
          </a:xfrm>
          <a:prstGeom prst="line">
            <a:avLst/>
          </a:prstGeom>
          <a:ln w="12700">
            <a:solidFill>
              <a:srgbClr val="2E4A72"/>
            </a:solidFill>
          </a:ln>
        </p:spPr>
      </p:cxnSp>
      <p:sp>
        <p:nvSpPr>
          <p:cNvPr id="18" name="TextBox 17"/>
          <p:cNvSpPr txBox="1"/>
          <p:nvPr/>
        </p:nvSpPr>
        <p:spPr>
          <a:xfrm>
            <a:off x="8092440" y="470916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Risks</a:t>
            </a:r>
          </a:p>
        </p:txBody>
      </p:sp>
      <p:sp>
        <p:nvSpPr>
          <p:cNvPr id="19" name="TextBox 18"/>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A SUSTAINABLE COMMERCIAL MODEL</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Free access can create reach.
Useful services must create sustainable value.</a:t>
            </a:r>
          </a:p>
        </p:txBody>
      </p:sp>
      <p:sp>
        <p:nvSpPr>
          <p:cNvPr id="4" name="Rectangle 3"/>
          <p:cNvSpPr/>
          <p:nvPr/>
        </p:nvSpPr>
        <p:spPr>
          <a:xfrm>
            <a:off x="594360" y="2148840"/>
            <a:ext cx="2613583" cy="1508760"/>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777240"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Free access</a:t>
            </a:r>
          </a:p>
        </p:txBody>
      </p:sp>
      <p:sp>
        <p:nvSpPr>
          <p:cNvPr id="6" name="TextBox 5"/>
          <p:cNvSpPr txBox="1"/>
          <p:nvPr/>
        </p:nvSpPr>
        <p:spPr>
          <a:xfrm>
            <a:off x="777240"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Community, resources and discovery build reach and trust.</a:t>
            </a:r>
          </a:p>
        </p:txBody>
      </p:sp>
      <p:sp>
        <p:nvSpPr>
          <p:cNvPr id="7" name="Rectangle 6"/>
          <p:cNvSpPr/>
          <p:nvPr/>
        </p:nvSpPr>
        <p:spPr>
          <a:xfrm>
            <a:off x="3390823" y="2148840"/>
            <a:ext cx="2613583" cy="1508760"/>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3573703"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Optional paid value</a:t>
            </a:r>
          </a:p>
        </p:txBody>
      </p:sp>
      <p:sp>
        <p:nvSpPr>
          <p:cNvPr id="9" name="TextBox 8"/>
          <p:cNvSpPr txBox="1"/>
          <p:nvPr/>
        </p:nvSpPr>
        <p:spPr>
          <a:xfrm>
            <a:off x="3573703"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FFFFFF"/>
                </a:solidFill>
                <a:latin typeface="Inter"/>
              </a:rPr>
              <a:t>Founders and partners pay only for what is clearly useful.</a:t>
            </a:r>
          </a:p>
        </p:txBody>
      </p:sp>
      <p:sp>
        <p:nvSpPr>
          <p:cNvPr id="10" name="Rectangle 9"/>
          <p:cNvSpPr/>
          <p:nvPr/>
        </p:nvSpPr>
        <p:spPr>
          <a:xfrm>
            <a:off x="6187287" y="2148840"/>
            <a:ext cx="2613583" cy="1508760"/>
          </a:xfrm>
          <a:prstGeom prst="rect">
            <a:avLst/>
          </a:prstGeom>
          <a:solidFill>
            <a:srgbClr val="DCE8FB"/>
          </a:solidFill>
          <a:ln>
            <a:noFill/>
          </a:ln>
          <a:effectLst/>
        </p:spPr>
        <p:txBody>
          <a:bodyPr rtlCol="0" anchor="ctr" lIns="73152" rIns="73152" tIns="36576" bIns="36576"/>
          <a:lstStyle/>
          <a:p>
            <a:pPr algn="ctr"/>
          </a:p>
        </p:txBody>
      </p:sp>
      <p:sp>
        <p:nvSpPr>
          <p:cNvPr id="11" name="TextBox 10"/>
          <p:cNvSpPr txBox="1"/>
          <p:nvPr/>
        </p:nvSpPr>
        <p:spPr>
          <a:xfrm>
            <a:off x="6370167"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Delivery costs</a:t>
            </a:r>
          </a:p>
        </p:txBody>
      </p:sp>
      <p:sp>
        <p:nvSpPr>
          <p:cNvPr id="12" name="TextBox 11"/>
          <p:cNvSpPr txBox="1"/>
          <p:nvPr/>
        </p:nvSpPr>
        <p:spPr>
          <a:xfrm>
            <a:off x="6370167"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Expert time, platform, events and support all have real costs.</a:t>
            </a:r>
          </a:p>
        </p:txBody>
      </p:sp>
      <p:sp>
        <p:nvSpPr>
          <p:cNvPr id="13" name="Rectangle 12"/>
          <p:cNvSpPr/>
          <p:nvPr/>
        </p:nvSpPr>
        <p:spPr>
          <a:xfrm>
            <a:off x="8983751" y="2148840"/>
            <a:ext cx="2613583" cy="1508760"/>
          </a:xfrm>
          <a:prstGeom prst="rect">
            <a:avLst/>
          </a:prstGeom>
          <a:solidFill>
            <a:srgbClr val="10213B"/>
          </a:solidFill>
          <a:ln>
            <a:noFill/>
          </a:ln>
          <a:effectLst/>
        </p:spPr>
        <p:txBody>
          <a:bodyPr rtlCol="0" anchor="ctr" lIns="73152" rIns="73152" tIns="36576" bIns="36576"/>
          <a:lstStyle/>
          <a:p>
            <a:pPr algn="ctr"/>
          </a:p>
        </p:txBody>
      </p:sp>
      <p:sp>
        <p:nvSpPr>
          <p:cNvPr id="14" name="TextBox 13"/>
          <p:cNvSpPr txBox="1"/>
          <p:nvPr/>
        </p:nvSpPr>
        <p:spPr>
          <a:xfrm>
            <a:off x="9166631"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Unit economics</a:t>
            </a:r>
          </a:p>
        </p:txBody>
      </p:sp>
      <p:sp>
        <p:nvSpPr>
          <p:cNvPr id="15" name="TextBox 14"/>
          <p:cNvSpPr txBox="1"/>
          <p:nvPr/>
        </p:nvSpPr>
        <p:spPr>
          <a:xfrm>
            <a:off x="9166631"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DCE6F5"/>
                </a:solidFill>
                <a:latin typeface="Inter"/>
              </a:rPr>
              <a:t>To validate: each service must cover its costs and contribute to the whole.</a:t>
            </a:r>
          </a:p>
        </p:txBody>
      </p:sp>
      <p:sp>
        <p:nvSpPr>
          <p:cNvPr id="16" name="TextBox 15"/>
          <p:cNvSpPr txBox="1"/>
          <p:nvPr/>
        </p:nvSpPr>
        <p:spPr>
          <a:xfrm>
            <a:off x="594360" y="3977639"/>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REVENUE HYPOTHESES TO TEST</a:t>
            </a:r>
          </a:p>
        </p:txBody>
      </p:sp>
      <p:sp>
        <p:nvSpPr>
          <p:cNvPr id="17" name="Rectangle 16"/>
          <p:cNvSpPr/>
          <p:nvPr/>
        </p:nvSpPr>
        <p:spPr>
          <a:xfrm>
            <a:off x="594360" y="4407407"/>
            <a:ext cx="91440" cy="91440"/>
          </a:xfrm>
          <a:prstGeom prst="rect">
            <a:avLst/>
          </a:prstGeom>
          <a:solidFill>
            <a:srgbClr val="1765D1"/>
          </a:solidFill>
          <a:ln>
            <a:noFill/>
          </a:ln>
          <a:effectLst/>
        </p:spPr>
        <p:txBody>
          <a:bodyPr rtlCol="0" anchor="ctr" lIns="73152" rIns="73152" tIns="36576" bIns="36576"/>
          <a:lstStyle/>
          <a:p>
            <a:pPr algn="ctr"/>
          </a:p>
        </p:txBody>
      </p:sp>
      <p:sp>
        <p:nvSpPr>
          <p:cNvPr id="18" name="TextBox 17"/>
          <p:cNvSpPr txBox="1"/>
          <p:nvPr/>
        </p:nvSpPr>
        <p:spPr>
          <a:xfrm>
            <a:off x="822960" y="43159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Paid memberships or tools</a:t>
            </a:r>
          </a:p>
        </p:txBody>
      </p:sp>
      <p:sp>
        <p:nvSpPr>
          <p:cNvPr id="19" name="Rectangle 18"/>
          <p:cNvSpPr/>
          <p:nvPr/>
        </p:nvSpPr>
        <p:spPr>
          <a:xfrm>
            <a:off x="594360" y="4864607"/>
            <a:ext cx="91440" cy="91440"/>
          </a:xfrm>
          <a:prstGeom prst="rect">
            <a:avLst/>
          </a:prstGeom>
          <a:solidFill>
            <a:srgbClr val="1765D1"/>
          </a:solidFill>
          <a:ln>
            <a:noFill/>
          </a:ln>
          <a:effectLst/>
        </p:spPr>
        <p:txBody>
          <a:bodyPr rtlCol="0" anchor="ctr" lIns="73152" rIns="73152" tIns="36576" bIns="36576"/>
          <a:lstStyle/>
          <a:p>
            <a:pPr algn="ctr"/>
          </a:p>
        </p:txBody>
      </p:sp>
      <p:sp>
        <p:nvSpPr>
          <p:cNvPr id="20" name="TextBox 19"/>
          <p:cNvSpPr txBox="1"/>
          <p:nvPr/>
        </p:nvSpPr>
        <p:spPr>
          <a:xfrm>
            <a:off x="822960" y="47731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Specialist support packages</a:t>
            </a:r>
          </a:p>
        </p:txBody>
      </p:sp>
      <p:sp>
        <p:nvSpPr>
          <p:cNvPr id="21" name="Rectangle 20"/>
          <p:cNvSpPr/>
          <p:nvPr/>
        </p:nvSpPr>
        <p:spPr>
          <a:xfrm>
            <a:off x="594360" y="5321807"/>
            <a:ext cx="91440" cy="91440"/>
          </a:xfrm>
          <a:prstGeom prst="rect">
            <a:avLst/>
          </a:prstGeom>
          <a:solidFill>
            <a:srgbClr val="1765D1"/>
          </a:solidFill>
          <a:ln>
            <a:noFill/>
          </a:ln>
          <a:effectLst/>
        </p:spPr>
        <p:txBody>
          <a:bodyPr rtlCol="0" anchor="ctr" lIns="73152" rIns="73152" tIns="36576" bIns="36576"/>
          <a:lstStyle/>
          <a:p>
            <a:pPr algn="ctr"/>
          </a:p>
        </p:txBody>
      </p:sp>
      <p:sp>
        <p:nvSpPr>
          <p:cNvPr id="22" name="TextBox 21"/>
          <p:cNvSpPr txBox="1"/>
          <p:nvPr/>
        </p:nvSpPr>
        <p:spPr>
          <a:xfrm>
            <a:off x="822960" y="52303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Structured programmes</a:t>
            </a:r>
          </a:p>
        </p:txBody>
      </p:sp>
      <p:sp>
        <p:nvSpPr>
          <p:cNvPr id="23" name="Rectangle 22"/>
          <p:cNvSpPr/>
          <p:nvPr/>
        </p:nvSpPr>
        <p:spPr>
          <a:xfrm>
            <a:off x="594360" y="5779007"/>
            <a:ext cx="91440" cy="91440"/>
          </a:xfrm>
          <a:prstGeom prst="rect">
            <a:avLst/>
          </a:prstGeom>
          <a:solidFill>
            <a:srgbClr val="1765D1"/>
          </a:solidFill>
          <a:ln>
            <a:noFill/>
          </a:ln>
          <a:effectLst/>
        </p:spPr>
        <p:txBody>
          <a:bodyPr rtlCol="0" anchor="ctr" lIns="73152" rIns="73152" tIns="36576" bIns="36576"/>
          <a:lstStyle/>
          <a:p>
            <a:pPr algn="ctr"/>
          </a:p>
        </p:txBody>
      </p:sp>
      <p:sp>
        <p:nvSpPr>
          <p:cNvPr id="24" name="TextBox 23"/>
          <p:cNvSpPr txBox="1"/>
          <p:nvPr/>
        </p:nvSpPr>
        <p:spPr>
          <a:xfrm>
            <a:off x="822960" y="56875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Partner and service revenue arrangements</a:t>
            </a:r>
          </a:p>
        </p:txBody>
      </p:sp>
      <p:sp>
        <p:nvSpPr>
          <p:cNvPr id="25" name="Rectangle 24"/>
          <p:cNvSpPr/>
          <p:nvPr/>
        </p:nvSpPr>
        <p:spPr>
          <a:xfrm>
            <a:off x="6172200" y="4407407"/>
            <a:ext cx="91440" cy="91440"/>
          </a:xfrm>
          <a:prstGeom prst="rect">
            <a:avLst/>
          </a:prstGeom>
          <a:solidFill>
            <a:srgbClr val="1765D1"/>
          </a:solidFill>
          <a:ln>
            <a:noFill/>
          </a:ln>
          <a:effectLst/>
        </p:spPr>
        <p:txBody>
          <a:bodyPr rtlCol="0" anchor="ctr" lIns="73152" rIns="73152" tIns="36576" bIns="36576"/>
          <a:lstStyle/>
          <a:p>
            <a:pPr algn="ctr"/>
          </a:p>
        </p:txBody>
      </p:sp>
      <p:sp>
        <p:nvSpPr>
          <p:cNvPr id="26" name="TextBox 25"/>
          <p:cNvSpPr txBox="1"/>
          <p:nvPr/>
        </p:nvSpPr>
        <p:spPr>
          <a:xfrm>
            <a:off x="6400800" y="43159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Corporate or university programmes</a:t>
            </a:r>
          </a:p>
        </p:txBody>
      </p:sp>
      <p:sp>
        <p:nvSpPr>
          <p:cNvPr id="27" name="Rectangle 26"/>
          <p:cNvSpPr/>
          <p:nvPr/>
        </p:nvSpPr>
        <p:spPr>
          <a:xfrm>
            <a:off x="6172200" y="4864607"/>
            <a:ext cx="91440" cy="91440"/>
          </a:xfrm>
          <a:prstGeom prst="rect">
            <a:avLst/>
          </a:prstGeom>
          <a:solidFill>
            <a:srgbClr val="1765D1"/>
          </a:solidFill>
          <a:ln>
            <a:noFill/>
          </a:ln>
          <a:effectLst/>
        </p:spPr>
        <p:txBody>
          <a:bodyPr rtlCol="0" anchor="ctr" lIns="73152" rIns="73152" tIns="36576" bIns="36576"/>
          <a:lstStyle/>
          <a:p>
            <a:pPr algn="ctr"/>
          </a:p>
        </p:txBody>
      </p:sp>
      <p:sp>
        <p:nvSpPr>
          <p:cNvPr id="28" name="TextBox 27"/>
          <p:cNvSpPr txBox="1"/>
          <p:nvPr/>
        </p:nvSpPr>
        <p:spPr>
          <a:xfrm>
            <a:off x="6400800" y="47731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Sponsorship of suitable activities</a:t>
            </a:r>
          </a:p>
        </p:txBody>
      </p:sp>
      <p:sp>
        <p:nvSpPr>
          <p:cNvPr id="29" name="Rectangle 28"/>
          <p:cNvSpPr/>
          <p:nvPr/>
        </p:nvSpPr>
        <p:spPr>
          <a:xfrm>
            <a:off x="6172200" y="5321807"/>
            <a:ext cx="91440" cy="91440"/>
          </a:xfrm>
          <a:prstGeom prst="rect">
            <a:avLst/>
          </a:prstGeom>
          <a:solidFill>
            <a:srgbClr val="1765D1"/>
          </a:solidFill>
          <a:ln>
            <a:noFill/>
          </a:ln>
          <a:effectLst/>
        </p:spPr>
        <p:txBody>
          <a:bodyPr rtlCol="0" anchor="ctr" lIns="73152" rIns="73152" tIns="36576" bIns="36576"/>
          <a:lstStyle/>
          <a:p>
            <a:pPr algn="ctr"/>
          </a:p>
        </p:txBody>
      </p:sp>
      <p:sp>
        <p:nvSpPr>
          <p:cNvPr id="30" name="TextBox 29"/>
          <p:cNvSpPr txBox="1"/>
          <p:nvPr/>
        </p:nvSpPr>
        <p:spPr>
          <a:xfrm>
            <a:off x="6400800" y="52303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Selective incubation arrangements, where separately agreed</a:t>
            </a:r>
          </a:p>
        </p:txBody>
      </p:sp>
      <p:sp>
        <p:nvSpPr>
          <p:cNvPr id="31" name="TextBox 30"/>
          <p:cNvSpPr txBox="1"/>
          <p:nvPr/>
        </p:nvSpPr>
        <p:spPr>
          <a:xfrm>
            <a:off x="6172200" y="5715000"/>
            <a:ext cx="5486400" cy="54864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No financial forecast is presented. Pricing and margins will be tested in the pilot before any are published.</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REVENUE HYPOTHESES BY PHASE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What we expect to explore, test and scale — and when.</a:t>
            </a:r>
          </a:p>
        </p:txBody>
      </p:sp>
      <p:sp>
        <p:nvSpPr>
          <p:cNvPr id="4" name="Rounded Rectangle 3"/>
          <p:cNvSpPr/>
          <p:nvPr/>
        </p:nvSpPr>
        <p:spPr>
          <a:xfrm>
            <a:off x="10516514" y="402336"/>
            <a:ext cx="1080820"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HYPOTHESES</a:t>
            </a:r>
          </a:p>
        </p:txBody>
      </p:sp>
      <p:sp>
        <p:nvSpPr>
          <p:cNvPr id="5" name="TextBox 4"/>
          <p:cNvSpPr txBox="1"/>
          <p:nvPr/>
        </p:nvSpPr>
        <p:spPr>
          <a:xfrm>
            <a:off x="4617720" y="1965960"/>
            <a:ext cx="2240280" cy="274320"/>
          </a:xfrm>
          <a:prstGeom prst="rect">
            <a:avLst/>
          </a:prstGeom>
          <a:noFill/>
        </p:spPr>
        <p:txBody>
          <a:bodyPr wrap="square" lIns="0" rIns="0" tIns="0" bIns="0" anchor="t"/>
          <a:lstStyle/>
          <a:p>
            <a:pPr algn="ctr">
              <a:lnSpc>
                <a:spcPct val="115000"/>
              </a:lnSpc>
              <a:spcAft>
                <a:spcPts val="0"/>
              </a:spcAft>
            </a:pPr>
            <a:r>
              <a:rPr sz="950" b="1" i="0" spc="110">
                <a:solidFill>
                  <a:srgbClr val="1765D1"/>
                </a:solidFill>
                <a:latin typeface="Inter"/>
              </a:rPr>
              <a:t>NOW · SHAPE</a:t>
            </a:r>
          </a:p>
        </p:txBody>
      </p:sp>
      <p:sp>
        <p:nvSpPr>
          <p:cNvPr id="6" name="TextBox 5"/>
          <p:cNvSpPr txBox="1"/>
          <p:nvPr/>
        </p:nvSpPr>
        <p:spPr>
          <a:xfrm>
            <a:off x="6931152" y="1965960"/>
            <a:ext cx="2240280" cy="274320"/>
          </a:xfrm>
          <a:prstGeom prst="rect">
            <a:avLst/>
          </a:prstGeom>
          <a:noFill/>
        </p:spPr>
        <p:txBody>
          <a:bodyPr wrap="square" lIns="0" rIns="0" tIns="0" bIns="0" anchor="t"/>
          <a:lstStyle/>
          <a:p>
            <a:pPr algn="ctr">
              <a:lnSpc>
                <a:spcPct val="115000"/>
              </a:lnSpc>
              <a:spcAft>
                <a:spcPts val="0"/>
              </a:spcAft>
            </a:pPr>
            <a:r>
              <a:rPr sz="950" b="1" i="0" spc="110">
                <a:solidFill>
                  <a:srgbClr val="1765D1"/>
                </a:solidFill>
                <a:latin typeface="Inter"/>
              </a:rPr>
              <a:t>NEXT · PILOT</a:t>
            </a:r>
          </a:p>
        </p:txBody>
      </p:sp>
      <p:sp>
        <p:nvSpPr>
          <p:cNvPr id="7" name="TextBox 6"/>
          <p:cNvSpPr txBox="1"/>
          <p:nvPr/>
        </p:nvSpPr>
        <p:spPr>
          <a:xfrm>
            <a:off x="9244584" y="1965960"/>
            <a:ext cx="2240280" cy="274320"/>
          </a:xfrm>
          <a:prstGeom prst="rect">
            <a:avLst/>
          </a:prstGeom>
          <a:noFill/>
        </p:spPr>
        <p:txBody>
          <a:bodyPr wrap="square" lIns="0" rIns="0" tIns="0" bIns="0" anchor="t"/>
          <a:lstStyle/>
          <a:p>
            <a:pPr algn="ctr">
              <a:lnSpc>
                <a:spcPct val="115000"/>
              </a:lnSpc>
              <a:spcAft>
                <a:spcPts val="0"/>
              </a:spcAft>
            </a:pPr>
            <a:r>
              <a:rPr sz="950" b="1" i="0" spc="110">
                <a:solidFill>
                  <a:srgbClr val="1765D1"/>
                </a:solidFill>
                <a:latin typeface="Inter"/>
              </a:rPr>
              <a:t>THEN · EXPAND</a:t>
            </a:r>
          </a:p>
        </p:txBody>
      </p:sp>
      <p:sp>
        <p:nvSpPr>
          <p:cNvPr id="8" name="TextBox 7"/>
          <p:cNvSpPr txBox="1"/>
          <p:nvPr/>
        </p:nvSpPr>
        <p:spPr>
          <a:xfrm>
            <a:off x="594360" y="2331720"/>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Paid memberships or tools</a:t>
            </a:r>
          </a:p>
        </p:txBody>
      </p:sp>
      <p:sp>
        <p:nvSpPr>
          <p:cNvPr id="9" name="Rectangle 8"/>
          <p:cNvSpPr/>
          <p:nvPr/>
        </p:nvSpPr>
        <p:spPr>
          <a:xfrm>
            <a:off x="4617720" y="2331720"/>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10" name="Rectangle 9"/>
          <p:cNvSpPr/>
          <p:nvPr/>
        </p:nvSpPr>
        <p:spPr>
          <a:xfrm>
            <a:off x="6931152" y="2331720"/>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11" name="Rectangle 10"/>
          <p:cNvSpPr/>
          <p:nvPr/>
        </p:nvSpPr>
        <p:spPr>
          <a:xfrm>
            <a:off x="9244584" y="2331720"/>
            <a:ext cx="2240280" cy="457200"/>
          </a:xfrm>
          <a:prstGeom prst="rect">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00" b="1" i="0">
                <a:solidFill>
                  <a:srgbClr val="FFFFFF"/>
                </a:solidFill>
                <a:latin typeface="Inter"/>
              </a:rPr>
              <a:t>Scale</a:t>
            </a:r>
          </a:p>
        </p:txBody>
      </p:sp>
      <p:sp>
        <p:nvSpPr>
          <p:cNvPr id="12" name="TextBox 11"/>
          <p:cNvSpPr txBox="1"/>
          <p:nvPr/>
        </p:nvSpPr>
        <p:spPr>
          <a:xfrm>
            <a:off x="594360" y="2843784"/>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Specialist support packages</a:t>
            </a:r>
          </a:p>
        </p:txBody>
      </p:sp>
      <p:sp>
        <p:nvSpPr>
          <p:cNvPr id="13" name="Rectangle 12"/>
          <p:cNvSpPr/>
          <p:nvPr/>
        </p:nvSpPr>
        <p:spPr>
          <a:xfrm>
            <a:off x="4617720" y="2843784"/>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14" name="Rectangle 13"/>
          <p:cNvSpPr/>
          <p:nvPr/>
        </p:nvSpPr>
        <p:spPr>
          <a:xfrm>
            <a:off x="6931152" y="2843784"/>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15" name="Rectangle 14"/>
          <p:cNvSpPr/>
          <p:nvPr/>
        </p:nvSpPr>
        <p:spPr>
          <a:xfrm>
            <a:off x="9244584" y="2843784"/>
            <a:ext cx="2240280" cy="457200"/>
          </a:xfrm>
          <a:prstGeom prst="rect">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00" b="1" i="0">
                <a:solidFill>
                  <a:srgbClr val="FFFFFF"/>
                </a:solidFill>
                <a:latin typeface="Inter"/>
              </a:rPr>
              <a:t>Scale</a:t>
            </a:r>
          </a:p>
        </p:txBody>
      </p:sp>
      <p:sp>
        <p:nvSpPr>
          <p:cNvPr id="16" name="TextBox 15"/>
          <p:cNvSpPr txBox="1"/>
          <p:nvPr/>
        </p:nvSpPr>
        <p:spPr>
          <a:xfrm>
            <a:off x="594360" y="3355848"/>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Structured programmes</a:t>
            </a:r>
          </a:p>
        </p:txBody>
      </p:sp>
      <p:sp>
        <p:nvSpPr>
          <p:cNvPr id="17" name="Rectangle 16"/>
          <p:cNvSpPr/>
          <p:nvPr/>
        </p:nvSpPr>
        <p:spPr>
          <a:xfrm>
            <a:off x="4617720" y="3355848"/>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18" name="Rectangle 17"/>
          <p:cNvSpPr/>
          <p:nvPr/>
        </p:nvSpPr>
        <p:spPr>
          <a:xfrm>
            <a:off x="6931152" y="3355848"/>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19" name="Rectangle 18"/>
          <p:cNvSpPr/>
          <p:nvPr/>
        </p:nvSpPr>
        <p:spPr>
          <a:xfrm>
            <a:off x="9244584" y="3355848"/>
            <a:ext cx="2240280" cy="457200"/>
          </a:xfrm>
          <a:prstGeom prst="rect">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00" b="1" i="0">
                <a:solidFill>
                  <a:srgbClr val="FFFFFF"/>
                </a:solidFill>
                <a:latin typeface="Inter"/>
              </a:rPr>
              <a:t>Scale</a:t>
            </a:r>
          </a:p>
        </p:txBody>
      </p:sp>
      <p:sp>
        <p:nvSpPr>
          <p:cNvPr id="20" name="TextBox 19"/>
          <p:cNvSpPr txBox="1"/>
          <p:nvPr/>
        </p:nvSpPr>
        <p:spPr>
          <a:xfrm>
            <a:off x="594360" y="3867912"/>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Partner and service revenue arrangements</a:t>
            </a:r>
          </a:p>
        </p:txBody>
      </p:sp>
      <p:sp>
        <p:nvSpPr>
          <p:cNvPr id="21" name="Rectangle 20"/>
          <p:cNvSpPr/>
          <p:nvPr/>
        </p:nvSpPr>
        <p:spPr>
          <a:xfrm>
            <a:off x="4617720" y="3867912"/>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22" name="Rectangle 21"/>
          <p:cNvSpPr/>
          <p:nvPr/>
        </p:nvSpPr>
        <p:spPr>
          <a:xfrm>
            <a:off x="6931152" y="3867912"/>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23" name="Rectangle 22"/>
          <p:cNvSpPr/>
          <p:nvPr/>
        </p:nvSpPr>
        <p:spPr>
          <a:xfrm>
            <a:off x="9244584" y="3867912"/>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24" name="TextBox 23"/>
          <p:cNvSpPr txBox="1"/>
          <p:nvPr/>
        </p:nvSpPr>
        <p:spPr>
          <a:xfrm>
            <a:off x="594360" y="4379976"/>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Corporate or university programmes</a:t>
            </a:r>
          </a:p>
        </p:txBody>
      </p:sp>
      <p:sp>
        <p:nvSpPr>
          <p:cNvPr id="25" name="Rectangle 24"/>
          <p:cNvSpPr/>
          <p:nvPr/>
        </p:nvSpPr>
        <p:spPr>
          <a:xfrm>
            <a:off x="4617720" y="4379976"/>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26" name="Rectangle 25"/>
          <p:cNvSpPr/>
          <p:nvPr/>
        </p:nvSpPr>
        <p:spPr>
          <a:xfrm>
            <a:off x="6931152" y="4379976"/>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27" name="Rectangle 26"/>
          <p:cNvSpPr/>
          <p:nvPr/>
        </p:nvSpPr>
        <p:spPr>
          <a:xfrm>
            <a:off x="9244584" y="4379976"/>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28" name="TextBox 27"/>
          <p:cNvSpPr txBox="1"/>
          <p:nvPr/>
        </p:nvSpPr>
        <p:spPr>
          <a:xfrm>
            <a:off x="594360" y="4892040"/>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Sponsorship of suitable activities</a:t>
            </a:r>
          </a:p>
        </p:txBody>
      </p:sp>
      <p:sp>
        <p:nvSpPr>
          <p:cNvPr id="29" name="Rectangle 28"/>
          <p:cNvSpPr/>
          <p:nvPr/>
        </p:nvSpPr>
        <p:spPr>
          <a:xfrm>
            <a:off x="4617720" y="4892040"/>
            <a:ext cx="2240280" cy="457200"/>
          </a:xfrm>
          <a:prstGeom prst="rect">
            <a:avLst/>
          </a:prstGeom>
          <a:solidFill>
            <a:srgbClr val="FFFFFF"/>
          </a:solidFill>
          <a:ln w="9525">
            <a:solidFill>
              <a:srgbClr val="D5E2F3"/>
            </a:solidFill>
          </a:ln>
          <a:effectLst/>
        </p:spPr>
        <p:txBody>
          <a:bodyPr rtlCol="0" anchor="ctr" lIns="73152" rIns="73152" tIns="27432" bIns="27432" wrap="square"/>
          <a:lstStyle/>
          <a:p>
            <a:pPr algn="ctr">
              <a:lnSpc>
                <a:spcPct val="110000"/>
              </a:lnSpc>
              <a:spcAft>
                <a:spcPts val="0"/>
              </a:spcAft>
            </a:pPr>
            <a:r>
              <a:rPr sz="1100" b="1" i="0">
                <a:solidFill>
                  <a:srgbClr val="61738A"/>
                </a:solidFill>
                <a:latin typeface="Inter"/>
              </a:rPr>
              <a:t>—</a:t>
            </a:r>
          </a:p>
        </p:txBody>
      </p:sp>
      <p:sp>
        <p:nvSpPr>
          <p:cNvPr id="30" name="Rectangle 29"/>
          <p:cNvSpPr/>
          <p:nvPr/>
        </p:nvSpPr>
        <p:spPr>
          <a:xfrm>
            <a:off x="6931152" y="4892040"/>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31" name="Rectangle 30"/>
          <p:cNvSpPr/>
          <p:nvPr/>
        </p:nvSpPr>
        <p:spPr>
          <a:xfrm>
            <a:off x="9244584" y="4892040"/>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32" name="TextBox 31"/>
          <p:cNvSpPr txBox="1"/>
          <p:nvPr/>
        </p:nvSpPr>
        <p:spPr>
          <a:xfrm>
            <a:off x="594360" y="5404104"/>
            <a:ext cx="3931920" cy="457200"/>
          </a:xfrm>
          <a:prstGeom prst="rect">
            <a:avLst/>
          </a:prstGeom>
          <a:noFill/>
        </p:spPr>
        <p:txBody>
          <a:bodyPr wrap="square" lIns="0" rIns="0" tIns="0" bIns="0" anchor="ctr"/>
          <a:lstStyle/>
          <a:p>
            <a:pPr algn="l">
              <a:lnSpc>
                <a:spcPct val="115000"/>
              </a:lnSpc>
              <a:spcAft>
                <a:spcPts val="0"/>
              </a:spcAft>
            </a:pPr>
            <a:r>
              <a:rPr sz="1200" b="1" i="0">
                <a:solidFill>
                  <a:srgbClr val="10213B"/>
                </a:solidFill>
                <a:latin typeface="Inter"/>
              </a:rPr>
              <a:t>Selective incubation arrangements</a:t>
            </a:r>
          </a:p>
        </p:txBody>
      </p:sp>
      <p:sp>
        <p:nvSpPr>
          <p:cNvPr id="33" name="Rectangle 32"/>
          <p:cNvSpPr/>
          <p:nvPr/>
        </p:nvSpPr>
        <p:spPr>
          <a:xfrm>
            <a:off x="4617720" y="5404104"/>
            <a:ext cx="2240280" cy="457200"/>
          </a:xfrm>
          <a:prstGeom prst="rect">
            <a:avLst/>
          </a:prstGeom>
          <a:solidFill>
            <a:srgbClr val="FFFFFF"/>
          </a:solidFill>
          <a:ln w="9525">
            <a:solidFill>
              <a:srgbClr val="D5E2F3"/>
            </a:solidFill>
          </a:ln>
          <a:effectLst/>
        </p:spPr>
        <p:txBody>
          <a:bodyPr rtlCol="0" anchor="ctr" lIns="73152" rIns="73152" tIns="27432" bIns="27432" wrap="square"/>
          <a:lstStyle/>
          <a:p>
            <a:pPr algn="ctr">
              <a:lnSpc>
                <a:spcPct val="110000"/>
              </a:lnSpc>
              <a:spcAft>
                <a:spcPts val="0"/>
              </a:spcAft>
            </a:pPr>
            <a:r>
              <a:rPr sz="1100" b="1" i="0">
                <a:solidFill>
                  <a:srgbClr val="61738A"/>
                </a:solidFill>
                <a:latin typeface="Inter"/>
              </a:rPr>
              <a:t>—</a:t>
            </a:r>
          </a:p>
        </p:txBody>
      </p:sp>
      <p:sp>
        <p:nvSpPr>
          <p:cNvPr id="34" name="Rectangle 33"/>
          <p:cNvSpPr/>
          <p:nvPr/>
        </p:nvSpPr>
        <p:spPr>
          <a:xfrm>
            <a:off x="6931152" y="5404104"/>
            <a:ext cx="2240280" cy="457200"/>
          </a:xfrm>
          <a:prstGeom prst="rect">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Explore</a:t>
            </a:r>
          </a:p>
        </p:txBody>
      </p:sp>
      <p:sp>
        <p:nvSpPr>
          <p:cNvPr id="35" name="Rectangle 34"/>
          <p:cNvSpPr/>
          <p:nvPr/>
        </p:nvSpPr>
        <p:spPr>
          <a:xfrm>
            <a:off x="9244584" y="5404104"/>
            <a:ext cx="2240280" cy="457200"/>
          </a:xfrm>
          <a:prstGeom prst="rect">
            <a:avLst/>
          </a:prstGeom>
          <a:solidFill>
            <a:srgbClr val="8DB4EA"/>
          </a:solidFill>
          <a:ln>
            <a:noFill/>
          </a:ln>
          <a:effectLst/>
        </p:spPr>
        <p:txBody>
          <a:bodyPr rtlCol="0" anchor="ctr" lIns="73152" rIns="73152" tIns="27432" bIns="27432" wrap="square"/>
          <a:lstStyle/>
          <a:p>
            <a:pPr algn="ctr">
              <a:lnSpc>
                <a:spcPct val="110000"/>
              </a:lnSpc>
              <a:spcAft>
                <a:spcPts val="0"/>
              </a:spcAft>
            </a:pPr>
            <a:r>
              <a:rPr sz="1100" b="1" i="0">
                <a:solidFill>
                  <a:srgbClr val="10213B"/>
                </a:solidFill>
                <a:latin typeface="Inter"/>
              </a:rPr>
              <a:t>Test</a:t>
            </a:r>
          </a:p>
        </p:txBody>
      </p:sp>
      <p:sp>
        <p:nvSpPr>
          <p:cNvPr id="36" name="TextBox 35"/>
          <p:cNvSpPr txBox="1"/>
          <p:nvPr/>
        </p:nvSpPr>
        <p:spPr>
          <a:xfrm>
            <a:off x="594360" y="6035040"/>
            <a:ext cx="11002975" cy="27432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Sequencing is a working hypothesis and will change with pilot evidence. “Scale” means only after unit economics are proven.</a:t>
            </a:r>
          </a:p>
        </p:txBody>
      </p:sp>
      <p:sp>
        <p:nvSpPr>
          <p:cNvPr id="37" name="TextBox 3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8" name="TextBox 3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HOW EACH SERVICE MUST PAY ITS WAY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simple test for every paid offer.</a:t>
            </a:r>
          </a:p>
        </p:txBody>
      </p:sp>
      <p:sp>
        <p:nvSpPr>
          <p:cNvPr id="4" name="Rectangle 3"/>
          <p:cNvSpPr/>
          <p:nvPr/>
        </p:nvSpPr>
        <p:spPr>
          <a:xfrm>
            <a:off x="594360" y="2103120"/>
            <a:ext cx="2194560" cy="1234440"/>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777240" y="2240280"/>
            <a:ext cx="1828800"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Price paid</a:t>
            </a:r>
          </a:p>
        </p:txBody>
      </p:sp>
      <p:sp>
        <p:nvSpPr>
          <p:cNvPr id="6" name="TextBox 5"/>
          <p:cNvSpPr txBox="1"/>
          <p:nvPr/>
        </p:nvSpPr>
        <p:spPr>
          <a:xfrm>
            <a:off x="777240" y="2651760"/>
            <a:ext cx="1828800" cy="640080"/>
          </a:xfrm>
          <a:prstGeom prst="rect">
            <a:avLst/>
          </a:prstGeom>
          <a:noFill/>
        </p:spPr>
        <p:txBody>
          <a:bodyPr wrap="square" lIns="0" rIns="0" tIns="0" bIns="0" anchor="t"/>
          <a:lstStyle/>
          <a:p>
            <a:pPr algn="l">
              <a:lnSpc>
                <a:spcPct val="115000"/>
              </a:lnSpc>
              <a:spcAft>
                <a:spcPts val="0"/>
              </a:spcAft>
            </a:pPr>
            <a:r>
              <a:rPr sz="1100" b="0" i="0">
                <a:solidFill>
                  <a:srgbClr val="10213B"/>
                </a:solidFill>
                <a:latin typeface="Inter"/>
              </a:rPr>
              <a:t>by founder or partner</a:t>
            </a:r>
          </a:p>
        </p:txBody>
      </p:sp>
      <p:sp>
        <p:nvSpPr>
          <p:cNvPr id="7" name="TextBox 6"/>
          <p:cNvSpPr txBox="1"/>
          <p:nvPr/>
        </p:nvSpPr>
        <p:spPr>
          <a:xfrm>
            <a:off x="2843784" y="2331720"/>
            <a:ext cx="457200" cy="731520"/>
          </a:xfrm>
          <a:prstGeom prst="rect">
            <a:avLst/>
          </a:prstGeom>
          <a:noFill/>
        </p:spPr>
        <p:txBody>
          <a:bodyPr wrap="square" lIns="0" rIns="0" tIns="0" bIns="0" anchor="t"/>
          <a:lstStyle/>
          <a:p>
            <a:pPr algn="ctr">
              <a:lnSpc>
                <a:spcPct val="115000"/>
              </a:lnSpc>
              <a:spcAft>
                <a:spcPts val="0"/>
              </a:spcAft>
            </a:pPr>
            <a:r>
              <a:rPr sz="3400" b="1" i="0">
                <a:solidFill>
                  <a:srgbClr val="1765D1"/>
                </a:solidFill>
                <a:latin typeface="Inter"/>
              </a:rPr>
              <a:t>−</a:t>
            </a:r>
          </a:p>
        </p:txBody>
      </p:sp>
      <p:sp>
        <p:nvSpPr>
          <p:cNvPr id="8" name="Rectangle 7"/>
          <p:cNvSpPr/>
          <p:nvPr/>
        </p:nvSpPr>
        <p:spPr>
          <a:xfrm>
            <a:off x="3300984" y="2103120"/>
            <a:ext cx="2194560" cy="1234440"/>
          </a:xfrm>
          <a:prstGeom prst="rect">
            <a:avLst/>
          </a:prstGeom>
          <a:solidFill>
            <a:srgbClr val="DCE8FB"/>
          </a:solidFill>
          <a:ln>
            <a:noFill/>
          </a:ln>
          <a:effectLst/>
        </p:spPr>
        <p:txBody>
          <a:bodyPr rtlCol="0" anchor="ctr" lIns="73152" rIns="73152" tIns="36576" bIns="36576"/>
          <a:lstStyle/>
          <a:p>
            <a:pPr algn="ctr"/>
          </a:p>
        </p:txBody>
      </p:sp>
      <p:sp>
        <p:nvSpPr>
          <p:cNvPr id="9" name="TextBox 8"/>
          <p:cNvSpPr txBox="1"/>
          <p:nvPr/>
        </p:nvSpPr>
        <p:spPr>
          <a:xfrm>
            <a:off x="3483864" y="2240280"/>
            <a:ext cx="1828800"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Delivery cost</a:t>
            </a:r>
          </a:p>
        </p:txBody>
      </p:sp>
      <p:sp>
        <p:nvSpPr>
          <p:cNvPr id="10" name="TextBox 9"/>
          <p:cNvSpPr txBox="1"/>
          <p:nvPr/>
        </p:nvSpPr>
        <p:spPr>
          <a:xfrm>
            <a:off x="3483864" y="2651760"/>
            <a:ext cx="1828800" cy="640080"/>
          </a:xfrm>
          <a:prstGeom prst="rect">
            <a:avLst/>
          </a:prstGeom>
          <a:noFill/>
        </p:spPr>
        <p:txBody>
          <a:bodyPr wrap="square" lIns="0" rIns="0" tIns="0" bIns="0" anchor="t"/>
          <a:lstStyle/>
          <a:p>
            <a:pPr algn="l">
              <a:lnSpc>
                <a:spcPct val="115000"/>
              </a:lnSpc>
              <a:spcAft>
                <a:spcPts val="0"/>
              </a:spcAft>
            </a:pPr>
            <a:r>
              <a:rPr sz="1100" b="0" i="0">
                <a:solidFill>
                  <a:srgbClr val="10213B"/>
                </a:solidFill>
                <a:latin typeface="Inter"/>
              </a:rPr>
              <a:t>expert time, materials, venue</a:t>
            </a:r>
          </a:p>
        </p:txBody>
      </p:sp>
      <p:sp>
        <p:nvSpPr>
          <p:cNvPr id="11" name="TextBox 10"/>
          <p:cNvSpPr txBox="1"/>
          <p:nvPr/>
        </p:nvSpPr>
        <p:spPr>
          <a:xfrm>
            <a:off x="5550408" y="2331720"/>
            <a:ext cx="457200" cy="731520"/>
          </a:xfrm>
          <a:prstGeom prst="rect">
            <a:avLst/>
          </a:prstGeom>
          <a:noFill/>
        </p:spPr>
        <p:txBody>
          <a:bodyPr wrap="square" lIns="0" rIns="0" tIns="0" bIns="0" anchor="t"/>
          <a:lstStyle/>
          <a:p>
            <a:pPr algn="ctr">
              <a:lnSpc>
                <a:spcPct val="115000"/>
              </a:lnSpc>
              <a:spcAft>
                <a:spcPts val="0"/>
              </a:spcAft>
            </a:pPr>
            <a:r>
              <a:rPr sz="3400" b="1" i="0">
                <a:solidFill>
                  <a:srgbClr val="1765D1"/>
                </a:solidFill>
                <a:latin typeface="Inter"/>
              </a:rPr>
              <a:t>−</a:t>
            </a:r>
          </a:p>
        </p:txBody>
      </p:sp>
      <p:sp>
        <p:nvSpPr>
          <p:cNvPr id="12" name="Rectangle 11"/>
          <p:cNvSpPr/>
          <p:nvPr/>
        </p:nvSpPr>
        <p:spPr>
          <a:xfrm>
            <a:off x="6007608" y="2103120"/>
            <a:ext cx="2194560" cy="1234440"/>
          </a:xfrm>
          <a:prstGeom prst="rect">
            <a:avLst/>
          </a:prstGeom>
          <a:solidFill>
            <a:srgbClr val="B8CFEE"/>
          </a:solidFill>
          <a:ln>
            <a:noFill/>
          </a:ln>
          <a:effectLst/>
        </p:spPr>
        <p:txBody>
          <a:bodyPr rtlCol="0" anchor="ctr" lIns="73152" rIns="73152" tIns="36576" bIns="36576"/>
          <a:lstStyle/>
          <a:p>
            <a:pPr algn="ctr"/>
          </a:p>
        </p:txBody>
      </p:sp>
      <p:sp>
        <p:nvSpPr>
          <p:cNvPr id="13" name="TextBox 12"/>
          <p:cNvSpPr txBox="1"/>
          <p:nvPr/>
        </p:nvSpPr>
        <p:spPr>
          <a:xfrm>
            <a:off x="6190488" y="2240280"/>
            <a:ext cx="1828800" cy="36576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Platform cost</a:t>
            </a:r>
          </a:p>
        </p:txBody>
      </p:sp>
      <p:sp>
        <p:nvSpPr>
          <p:cNvPr id="14" name="TextBox 13"/>
          <p:cNvSpPr txBox="1"/>
          <p:nvPr/>
        </p:nvSpPr>
        <p:spPr>
          <a:xfrm>
            <a:off x="6190488" y="2651760"/>
            <a:ext cx="1828800" cy="640080"/>
          </a:xfrm>
          <a:prstGeom prst="rect">
            <a:avLst/>
          </a:prstGeom>
          <a:noFill/>
        </p:spPr>
        <p:txBody>
          <a:bodyPr wrap="square" lIns="0" rIns="0" tIns="0" bIns="0" anchor="t"/>
          <a:lstStyle/>
          <a:p>
            <a:pPr algn="l">
              <a:lnSpc>
                <a:spcPct val="115000"/>
              </a:lnSpc>
              <a:spcAft>
                <a:spcPts val="0"/>
              </a:spcAft>
            </a:pPr>
            <a:r>
              <a:rPr sz="1100" b="0" i="0">
                <a:solidFill>
                  <a:srgbClr val="10213B"/>
                </a:solidFill>
                <a:latin typeface="Inter"/>
              </a:rPr>
              <a:t>share of tools, support, admin</a:t>
            </a:r>
          </a:p>
        </p:txBody>
      </p:sp>
      <p:sp>
        <p:nvSpPr>
          <p:cNvPr id="15" name="TextBox 14"/>
          <p:cNvSpPr txBox="1"/>
          <p:nvPr/>
        </p:nvSpPr>
        <p:spPr>
          <a:xfrm>
            <a:off x="8257032" y="2331720"/>
            <a:ext cx="457200" cy="731520"/>
          </a:xfrm>
          <a:prstGeom prst="rect">
            <a:avLst/>
          </a:prstGeom>
          <a:noFill/>
        </p:spPr>
        <p:txBody>
          <a:bodyPr wrap="square" lIns="0" rIns="0" tIns="0" bIns="0" anchor="t"/>
          <a:lstStyle/>
          <a:p>
            <a:pPr algn="ctr">
              <a:lnSpc>
                <a:spcPct val="115000"/>
              </a:lnSpc>
              <a:spcAft>
                <a:spcPts val="0"/>
              </a:spcAft>
            </a:pPr>
            <a:r>
              <a:rPr sz="3400" b="1" i="0">
                <a:solidFill>
                  <a:srgbClr val="1765D1"/>
                </a:solidFill>
                <a:latin typeface="Inter"/>
              </a:rPr>
              <a:t>=</a:t>
            </a:r>
          </a:p>
        </p:txBody>
      </p:sp>
      <p:sp>
        <p:nvSpPr>
          <p:cNvPr id="16" name="Rectangle 15"/>
          <p:cNvSpPr/>
          <p:nvPr/>
        </p:nvSpPr>
        <p:spPr>
          <a:xfrm>
            <a:off x="8714232" y="2103120"/>
            <a:ext cx="2194560" cy="1234440"/>
          </a:xfrm>
          <a:prstGeom prst="rect">
            <a:avLst/>
          </a:prstGeom>
          <a:solidFill>
            <a:srgbClr val="10213B"/>
          </a:solidFill>
          <a:ln>
            <a:noFill/>
          </a:ln>
          <a:effectLst/>
        </p:spPr>
        <p:txBody>
          <a:bodyPr rtlCol="0" anchor="ctr" lIns="73152" rIns="73152" tIns="36576" bIns="36576"/>
          <a:lstStyle/>
          <a:p>
            <a:pPr algn="ctr"/>
          </a:p>
        </p:txBody>
      </p:sp>
      <p:sp>
        <p:nvSpPr>
          <p:cNvPr id="17" name="TextBox 16"/>
          <p:cNvSpPr txBox="1"/>
          <p:nvPr/>
        </p:nvSpPr>
        <p:spPr>
          <a:xfrm>
            <a:off x="8897112" y="2240280"/>
            <a:ext cx="1828800" cy="36576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Contribution</a:t>
            </a:r>
          </a:p>
        </p:txBody>
      </p:sp>
      <p:sp>
        <p:nvSpPr>
          <p:cNvPr id="18" name="TextBox 17"/>
          <p:cNvSpPr txBox="1"/>
          <p:nvPr/>
        </p:nvSpPr>
        <p:spPr>
          <a:xfrm>
            <a:off x="8897112" y="2651760"/>
            <a:ext cx="1828800" cy="640080"/>
          </a:xfrm>
          <a:prstGeom prst="rect">
            <a:avLst/>
          </a:prstGeom>
          <a:noFill/>
        </p:spPr>
        <p:txBody>
          <a:bodyPr wrap="square" lIns="0" rIns="0" tIns="0" bIns="0" anchor="t"/>
          <a:lstStyle/>
          <a:p>
            <a:pPr algn="l">
              <a:lnSpc>
                <a:spcPct val="115000"/>
              </a:lnSpc>
              <a:spcAft>
                <a:spcPts val="0"/>
              </a:spcAft>
            </a:pPr>
            <a:r>
              <a:rPr sz="1100" b="0" i="0">
                <a:solidFill>
                  <a:srgbClr val="C9D6E8"/>
                </a:solidFill>
                <a:latin typeface="Inter"/>
              </a:rPr>
              <a:t>what is left to sustain the ecosystem</a:t>
            </a:r>
          </a:p>
        </p:txBody>
      </p:sp>
      <p:sp>
        <p:nvSpPr>
          <p:cNvPr id="19" name="TextBox 18"/>
          <p:cNvSpPr txBox="1"/>
          <p:nvPr/>
        </p:nvSpPr>
        <p:spPr>
          <a:xfrm>
            <a:off x="594360" y="370332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QUESTIONS THE PILOT MUST ANSWER</a:t>
            </a:r>
          </a:p>
        </p:txBody>
      </p:sp>
      <p:sp>
        <p:nvSpPr>
          <p:cNvPr id="20" name="Rectangle 19"/>
          <p:cNvSpPr/>
          <p:nvPr/>
        </p:nvSpPr>
        <p:spPr>
          <a:xfrm>
            <a:off x="594360" y="4160520"/>
            <a:ext cx="91440" cy="91440"/>
          </a:xfrm>
          <a:prstGeom prst="rect">
            <a:avLst/>
          </a:prstGeom>
          <a:solidFill>
            <a:srgbClr val="1765D1"/>
          </a:solidFill>
          <a:ln>
            <a:noFill/>
          </a:ln>
          <a:effectLst/>
        </p:spPr>
        <p:txBody>
          <a:bodyPr rtlCol="0" anchor="ctr" lIns="73152" rIns="73152" tIns="36576" bIns="36576"/>
          <a:lstStyle/>
          <a:p>
            <a:pPr algn="ctr"/>
          </a:p>
        </p:txBody>
      </p:sp>
      <p:sp>
        <p:nvSpPr>
          <p:cNvPr id="21" name="TextBox 20"/>
          <p:cNvSpPr txBox="1"/>
          <p:nvPr/>
        </p:nvSpPr>
        <p:spPr>
          <a:xfrm>
            <a:off x="850392" y="406908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What will founders pay for, and how much?</a:t>
            </a:r>
          </a:p>
        </p:txBody>
      </p:sp>
      <p:sp>
        <p:nvSpPr>
          <p:cNvPr id="22" name="Rectangle 21"/>
          <p:cNvSpPr/>
          <p:nvPr/>
        </p:nvSpPr>
        <p:spPr>
          <a:xfrm>
            <a:off x="6172200" y="4160520"/>
            <a:ext cx="91440" cy="91440"/>
          </a:xfrm>
          <a:prstGeom prst="rect">
            <a:avLst/>
          </a:prstGeom>
          <a:solidFill>
            <a:srgbClr val="1765D1"/>
          </a:solidFill>
          <a:ln>
            <a:noFill/>
          </a:ln>
          <a:effectLst/>
        </p:spPr>
        <p:txBody>
          <a:bodyPr rtlCol="0" anchor="ctr" lIns="73152" rIns="73152" tIns="36576" bIns="36576"/>
          <a:lstStyle/>
          <a:p>
            <a:pPr algn="ctr"/>
          </a:p>
        </p:txBody>
      </p:sp>
      <p:sp>
        <p:nvSpPr>
          <p:cNvPr id="23" name="TextBox 22"/>
          <p:cNvSpPr txBox="1"/>
          <p:nvPr/>
        </p:nvSpPr>
        <p:spPr>
          <a:xfrm>
            <a:off x="6428232" y="406908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How much expert time does each outcome really take?</a:t>
            </a:r>
          </a:p>
        </p:txBody>
      </p:sp>
      <p:sp>
        <p:nvSpPr>
          <p:cNvPr id="24" name="Rectangle 23"/>
          <p:cNvSpPr/>
          <p:nvPr/>
        </p:nvSpPr>
        <p:spPr>
          <a:xfrm>
            <a:off x="594360" y="4800600"/>
            <a:ext cx="91440" cy="91440"/>
          </a:xfrm>
          <a:prstGeom prst="rect">
            <a:avLst/>
          </a:prstGeom>
          <a:solidFill>
            <a:srgbClr val="1765D1"/>
          </a:solidFill>
          <a:ln>
            <a:noFill/>
          </a:ln>
          <a:effectLst/>
        </p:spPr>
        <p:txBody>
          <a:bodyPr rtlCol="0" anchor="ctr" lIns="73152" rIns="73152" tIns="36576" bIns="36576"/>
          <a:lstStyle/>
          <a:p>
            <a:pPr algn="ctr"/>
          </a:p>
        </p:txBody>
      </p:sp>
      <p:sp>
        <p:nvSpPr>
          <p:cNvPr id="25" name="TextBox 24"/>
          <p:cNvSpPr txBox="1"/>
          <p:nvPr/>
        </p:nvSpPr>
        <p:spPr>
          <a:xfrm>
            <a:off x="850392" y="470916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Which services can be delivered in groups to lower cost?</a:t>
            </a:r>
          </a:p>
        </p:txBody>
      </p:sp>
      <p:sp>
        <p:nvSpPr>
          <p:cNvPr id="26" name="Rectangle 25"/>
          <p:cNvSpPr/>
          <p:nvPr/>
        </p:nvSpPr>
        <p:spPr>
          <a:xfrm>
            <a:off x="6172200" y="4800600"/>
            <a:ext cx="91440" cy="91440"/>
          </a:xfrm>
          <a:prstGeom prst="rect">
            <a:avLst/>
          </a:prstGeom>
          <a:solidFill>
            <a:srgbClr val="1765D1"/>
          </a:solidFill>
          <a:ln>
            <a:noFill/>
          </a:ln>
          <a:effectLst/>
        </p:spPr>
        <p:txBody>
          <a:bodyPr rtlCol="0" anchor="ctr" lIns="73152" rIns="73152" tIns="36576" bIns="36576"/>
          <a:lstStyle/>
          <a:p>
            <a:pPr algn="ctr"/>
          </a:p>
        </p:txBody>
      </p:sp>
      <p:sp>
        <p:nvSpPr>
          <p:cNvPr id="27" name="TextBox 26"/>
          <p:cNvSpPr txBox="1"/>
          <p:nvPr/>
        </p:nvSpPr>
        <p:spPr>
          <a:xfrm>
            <a:off x="6428232" y="470916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Where do partners fund value for founders?</a:t>
            </a:r>
          </a:p>
        </p:txBody>
      </p:sp>
      <p:sp>
        <p:nvSpPr>
          <p:cNvPr id="28" name="Rectangle 27"/>
          <p:cNvSpPr/>
          <p:nvPr/>
        </p:nvSpPr>
        <p:spPr>
          <a:xfrm>
            <a:off x="594360" y="5440679"/>
            <a:ext cx="91440" cy="91440"/>
          </a:xfrm>
          <a:prstGeom prst="rect">
            <a:avLst/>
          </a:prstGeom>
          <a:solidFill>
            <a:srgbClr val="1765D1"/>
          </a:solidFill>
          <a:ln>
            <a:noFill/>
          </a:ln>
          <a:effectLst/>
        </p:spPr>
        <p:txBody>
          <a:bodyPr rtlCol="0" anchor="ctr" lIns="73152" rIns="73152" tIns="36576" bIns="36576"/>
          <a:lstStyle/>
          <a:p>
            <a:pPr algn="ctr"/>
          </a:p>
        </p:txBody>
      </p:sp>
      <p:sp>
        <p:nvSpPr>
          <p:cNvPr id="29" name="TextBox 28"/>
          <p:cNvSpPr txBox="1"/>
          <p:nvPr/>
        </p:nvSpPr>
        <p:spPr>
          <a:xfrm>
            <a:off x="850392" y="534924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What does free access cost per active founder?</a:t>
            </a:r>
          </a:p>
        </p:txBody>
      </p:sp>
      <p:sp>
        <p:nvSpPr>
          <p:cNvPr id="30" name="Rectangle 29"/>
          <p:cNvSpPr/>
          <p:nvPr/>
        </p:nvSpPr>
        <p:spPr>
          <a:xfrm>
            <a:off x="6172200" y="5440679"/>
            <a:ext cx="91440" cy="91440"/>
          </a:xfrm>
          <a:prstGeom prst="rect">
            <a:avLst/>
          </a:prstGeom>
          <a:solidFill>
            <a:srgbClr val="1765D1"/>
          </a:solidFill>
          <a:ln>
            <a:noFill/>
          </a:ln>
          <a:effectLst/>
        </p:spPr>
        <p:txBody>
          <a:bodyPr rtlCol="0" anchor="ctr" lIns="73152" rIns="73152" tIns="36576" bIns="36576"/>
          <a:lstStyle/>
          <a:p>
            <a:pPr algn="ctr"/>
          </a:p>
        </p:txBody>
      </p:sp>
      <p:sp>
        <p:nvSpPr>
          <p:cNvPr id="31" name="TextBox 30"/>
          <p:cNvSpPr txBox="1"/>
          <p:nvPr/>
        </p:nvSpPr>
        <p:spPr>
          <a:xfrm>
            <a:off x="6428232" y="5349240"/>
            <a:ext cx="5212080" cy="5486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Which offers lead to repeat use?</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PILOT DESIGN</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A small, measured test of the founder experience.</a:t>
            </a:r>
          </a:p>
        </p:txBody>
      </p:sp>
      <p:sp>
        <p:nvSpPr>
          <p:cNvPr id="4" name="Rounded Rectangle 3"/>
          <p:cNvSpPr/>
          <p:nvPr/>
        </p:nvSpPr>
        <p:spPr>
          <a:xfrm>
            <a:off x="10677814" y="402336"/>
            <a:ext cx="919520"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a:t>
            </a:r>
          </a:p>
        </p:txBody>
      </p:sp>
      <p:sp>
        <p:nvSpPr>
          <p:cNvPr id="5" name="Rectangle 4"/>
          <p:cNvSpPr/>
          <p:nvPr/>
        </p:nvSpPr>
        <p:spPr>
          <a:xfrm>
            <a:off x="594360" y="1965960"/>
            <a:ext cx="1737360" cy="676656"/>
          </a:xfrm>
          <a:prstGeom prst="rect">
            <a:avLst/>
          </a:prstGeom>
          <a:solidFill>
            <a:srgbClr val="10213B"/>
          </a:solidFill>
          <a:ln>
            <a:noFill/>
          </a:ln>
          <a:effectLst/>
        </p:spPr>
        <p:txBody>
          <a:bodyPr rtlCol="0" anchor="ctr" lIns="73152" rIns="73152" tIns="36576" bIns="36576"/>
          <a:lstStyle/>
          <a:p>
            <a:pPr algn="ctr"/>
          </a:p>
        </p:txBody>
      </p:sp>
      <p:sp>
        <p:nvSpPr>
          <p:cNvPr id="6" name="TextBox 5"/>
          <p:cNvSpPr txBox="1"/>
          <p:nvPr/>
        </p:nvSpPr>
        <p:spPr>
          <a:xfrm>
            <a:off x="594360" y="1965960"/>
            <a:ext cx="1737360" cy="676656"/>
          </a:xfrm>
          <a:prstGeom prst="rect">
            <a:avLst/>
          </a:prstGeom>
          <a:noFill/>
        </p:spPr>
        <p:txBody>
          <a:bodyPr wrap="square" lIns="0" rIns="0" tIns="0" bIns="0" anchor="ctr"/>
          <a:lstStyle/>
          <a:p>
            <a:pPr algn="ctr">
              <a:lnSpc>
                <a:spcPct val="115000"/>
              </a:lnSpc>
              <a:spcAft>
                <a:spcPts val="0"/>
              </a:spcAft>
            </a:pPr>
            <a:r>
              <a:rPr sz="1300" b="1" i="0">
                <a:solidFill>
                  <a:srgbClr val="FFFFFF"/>
                </a:solidFill>
                <a:latin typeface="Inter"/>
              </a:rPr>
              <a:t>Who</a:t>
            </a:r>
          </a:p>
        </p:txBody>
      </p:sp>
      <p:sp>
        <p:nvSpPr>
          <p:cNvPr id="7" name="Rectangle 6"/>
          <p:cNvSpPr/>
          <p:nvPr/>
        </p:nvSpPr>
        <p:spPr>
          <a:xfrm>
            <a:off x="2377440" y="1965960"/>
            <a:ext cx="5120640" cy="676656"/>
          </a:xfrm>
          <a:prstGeom prst="rect">
            <a:avLst/>
          </a:prstGeom>
          <a:solidFill>
            <a:srgbClr val="EDF4FE"/>
          </a:solidFill>
          <a:ln>
            <a:noFill/>
          </a:ln>
          <a:effectLst/>
        </p:spPr>
        <p:txBody>
          <a:bodyPr rtlCol="0" anchor="ctr" lIns="73152" rIns="73152" tIns="36576" bIns="36576"/>
          <a:lstStyle/>
          <a:p>
            <a:pPr algn="ctr"/>
          </a:p>
        </p:txBody>
      </p:sp>
      <p:sp>
        <p:nvSpPr>
          <p:cNvPr id="8" name="TextBox 7"/>
          <p:cNvSpPr txBox="1"/>
          <p:nvPr/>
        </p:nvSpPr>
        <p:spPr>
          <a:xfrm>
            <a:off x="2560320" y="1965960"/>
            <a:ext cx="4846320" cy="676656"/>
          </a:xfrm>
          <a:prstGeom prst="rect">
            <a:avLst/>
          </a:prstGeom>
          <a:noFill/>
        </p:spPr>
        <p:txBody>
          <a:bodyPr wrap="square" lIns="0" rIns="0" tIns="0" bIns="0" anchor="ctr"/>
          <a:lstStyle/>
          <a:p>
            <a:pPr algn="l">
              <a:lnSpc>
                <a:spcPct val="115000"/>
              </a:lnSpc>
              <a:spcAft>
                <a:spcPts val="0"/>
              </a:spcAft>
            </a:pPr>
            <a:r>
              <a:rPr sz="1150" b="0" i="0">
                <a:solidFill>
                  <a:srgbClr val="253650"/>
                </a:solidFill>
                <a:latin typeface="Inter"/>
              </a:rPr>
              <a:t>A small group of founders across stages and sectors, including non-tech businesses.</a:t>
            </a:r>
          </a:p>
        </p:txBody>
      </p:sp>
      <p:sp>
        <p:nvSpPr>
          <p:cNvPr id="9" name="Rectangle 8"/>
          <p:cNvSpPr/>
          <p:nvPr/>
        </p:nvSpPr>
        <p:spPr>
          <a:xfrm>
            <a:off x="594360" y="2752344"/>
            <a:ext cx="1737360" cy="676656"/>
          </a:xfrm>
          <a:prstGeom prst="rect">
            <a:avLst/>
          </a:prstGeom>
          <a:solidFill>
            <a:srgbClr val="1765D1"/>
          </a:solidFill>
          <a:ln>
            <a:noFill/>
          </a:ln>
          <a:effectLst/>
        </p:spPr>
        <p:txBody>
          <a:bodyPr rtlCol="0" anchor="ctr" lIns="73152" rIns="73152" tIns="36576" bIns="36576"/>
          <a:lstStyle/>
          <a:p>
            <a:pPr algn="ctr"/>
          </a:p>
        </p:txBody>
      </p:sp>
      <p:sp>
        <p:nvSpPr>
          <p:cNvPr id="10" name="TextBox 9"/>
          <p:cNvSpPr txBox="1"/>
          <p:nvPr/>
        </p:nvSpPr>
        <p:spPr>
          <a:xfrm>
            <a:off x="594360" y="2752344"/>
            <a:ext cx="1737360" cy="676656"/>
          </a:xfrm>
          <a:prstGeom prst="rect">
            <a:avLst/>
          </a:prstGeom>
          <a:noFill/>
        </p:spPr>
        <p:txBody>
          <a:bodyPr wrap="square" lIns="0" rIns="0" tIns="0" bIns="0" anchor="ctr"/>
          <a:lstStyle/>
          <a:p>
            <a:pPr algn="ctr">
              <a:lnSpc>
                <a:spcPct val="115000"/>
              </a:lnSpc>
              <a:spcAft>
                <a:spcPts val="0"/>
              </a:spcAft>
            </a:pPr>
            <a:r>
              <a:rPr sz="1300" b="1" i="0">
                <a:solidFill>
                  <a:srgbClr val="FFFFFF"/>
                </a:solidFill>
                <a:latin typeface="Inter"/>
              </a:rPr>
              <a:t>What</a:t>
            </a:r>
          </a:p>
        </p:txBody>
      </p:sp>
      <p:sp>
        <p:nvSpPr>
          <p:cNvPr id="11" name="Rectangle 10"/>
          <p:cNvSpPr/>
          <p:nvPr/>
        </p:nvSpPr>
        <p:spPr>
          <a:xfrm>
            <a:off x="2377440" y="2752344"/>
            <a:ext cx="5120640" cy="676656"/>
          </a:xfrm>
          <a:prstGeom prst="rect">
            <a:avLst/>
          </a:prstGeom>
          <a:solidFill>
            <a:srgbClr val="EDF4FE"/>
          </a:solidFill>
          <a:ln>
            <a:noFill/>
          </a:ln>
          <a:effectLst/>
        </p:spPr>
        <p:txBody>
          <a:bodyPr rtlCol="0" anchor="ctr" lIns="73152" rIns="73152" tIns="36576" bIns="36576"/>
          <a:lstStyle/>
          <a:p>
            <a:pPr algn="ctr"/>
          </a:p>
        </p:txBody>
      </p:sp>
      <p:sp>
        <p:nvSpPr>
          <p:cNvPr id="12" name="TextBox 11"/>
          <p:cNvSpPr txBox="1"/>
          <p:nvPr/>
        </p:nvSpPr>
        <p:spPr>
          <a:xfrm>
            <a:off x="2560320" y="2752344"/>
            <a:ext cx="4846320" cy="676656"/>
          </a:xfrm>
          <a:prstGeom prst="rect">
            <a:avLst/>
          </a:prstGeom>
          <a:noFill/>
        </p:spPr>
        <p:txBody>
          <a:bodyPr wrap="square" lIns="0" rIns="0" tIns="0" bIns="0" anchor="ctr"/>
          <a:lstStyle/>
          <a:p>
            <a:pPr algn="l">
              <a:lnSpc>
                <a:spcPct val="115000"/>
              </a:lnSpc>
              <a:spcAft>
                <a:spcPts val="0"/>
              </a:spcAft>
            </a:pPr>
            <a:r>
              <a:rPr sz="1150" b="0" i="0">
                <a:solidFill>
                  <a:srgbClr val="253650"/>
                </a:solidFill>
                <a:latin typeface="Inter"/>
              </a:rPr>
              <a:t>Onboarding, a validation or growth track, clinics, mentor sessions and follow-up.</a:t>
            </a:r>
          </a:p>
        </p:txBody>
      </p:sp>
      <p:sp>
        <p:nvSpPr>
          <p:cNvPr id="13" name="Rectangle 12"/>
          <p:cNvSpPr/>
          <p:nvPr/>
        </p:nvSpPr>
        <p:spPr>
          <a:xfrm>
            <a:off x="594360" y="3538728"/>
            <a:ext cx="1737360" cy="676656"/>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594360" y="3538728"/>
            <a:ext cx="1737360" cy="676656"/>
          </a:xfrm>
          <a:prstGeom prst="rect">
            <a:avLst/>
          </a:prstGeom>
          <a:noFill/>
        </p:spPr>
        <p:txBody>
          <a:bodyPr wrap="square" lIns="0" rIns="0" tIns="0" bIns="0" anchor="ctr"/>
          <a:lstStyle/>
          <a:p>
            <a:pPr algn="ctr">
              <a:lnSpc>
                <a:spcPct val="115000"/>
              </a:lnSpc>
              <a:spcAft>
                <a:spcPts val="0"/>
              </a:spcAft>
            </a:pPr>
            <a:r>
              <a:rPr sz="1300" b="1" i="0">
                <a:solidFill>
                  <a:srgbClr val="FFFFFF"/>
                </a:solidFill>
                <a:latin typeface="Inter"/>
              </a:rPr>
              <a:t>How</a:t>
            </a:r>
          </a:p>
        </p:txBody>
      </p:sp>
      <p:sp>
        <p:nvSpPr>
          <p:cNvPr id="15" name="Rectangle 14"/>
          <p:cNvSpPr/>
          <p:nvPr/>
        </p:nvSpPr>
        <p:spPr>
          <a:xfrm>
            <a:off x="2377440" y="3538728"/>
            <a:ext cx="5120640" cy="676656"/>
          </a:xfrm>
          <a:prstGeom prst="rect">
            <a:avLst/>
          </a:prstGeom>
          <a:solidFill>
            <a:srgbClr val="EDF4FE"/>
          </a:solidFill>
          <a:ln>
            <a:noFill/>
          </a:ln>
          <a:effectLst/>
        </p:spPr>
        <p:txBody>
          <a:bodyPr rtlCol="0" anchor="ctr" lIns="73152" rIns="73152" tIns="36576" bIns="36576"/>
          <a:lstStyle/>
          <a:p>
            <a:pPr algn="ctr"/>
          </a:p>
        </p:txBody>
      </p:sp>
      <p:sp>
        <p:nvSpPr>
          <p:cNvPr id="16" name="TextBox 15"/>
          <p:cNvSpPr txBox="1"/>
          <p:nvPr/>
        </p:nvSpPr>
        <p:spPr>
          <a:xfrm>
            <a:off x="2560320" y="3538728"/>
            <a:ext cx="4846320" cy="676656"/>
          </a:xfrm>
          <a:prstGeom prst="rect">
            <a:avLst/>
          </a:prstGeom>
          <a:noFill/>
        </p:spPr>
        <p:txBody>
          <a:bodyPr wrap="square" lIns="0" rIns="0" tIns="0" bIns="0" anchor="ctr"/>
          <a:lstStyle/>
          <a:p>
            <a:pPr algn="l">
              <a:lnSpc>
                <a:spcPct val="115000"/>
              </a:lnSpc>
              <a:spcAft>
                <a:spcPts val="0"/>
              </a:spcAft>
            </a:pPr>
            <a:r>
              <a:rPr sz="1150" b="0" i="0">
                <a:solidFill>
                  <a:srgbClr val="253650"/>
                </a:solidFill>
                <a:latin typeface="Inter"/>
              </a:rPr>
              <a:t>Simple tools first; Founder OS features introduced as they are ready.</a:t>
            </a:r>
          </a:p>
        </p:txBody>
      </p:sp>
      <p:sp>
        <p:nvSpPr>
          <p:cNvPr id="17" name="Rectangle 16"/>
          <p:cNvSpPr/>
          <p:nvPr/>
        </p:nvSpPr>
        <p:spPr>
          <a:xfrm>
            <a:off x="594360" y="4325112"/>
            <a:ext cx="1737360" cy="676656"/>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594360" y="4325112"/>
            <a:ext cx="1737360" cy="676656"/>
          </a:xfrm>
          <a:prstGeom prst="rect">
            <a:avLst/>
          </a:prstGeom>
          <a:noFill/>
        </p:spPr>
        <p:txBody>
          <a:bodyPr wrap="square" lIns="0" rIns="0" tIns="0" bIns="0" anchor="ctr"/>
          <a:lstStyle/>
          <a:p>
            <a:pPr algn="ctr">
              <a:lnSpc>
                <a:spcPct val="115000"/>
              </a:lnSpc>
              <a:spcAft>
                <a:spcPts val="0"/>
              </a:spcAft>
            </a:pPr>
            <a:r>
              <a:rPr sz="1300" b="1" i="0">
                <a:solidFill>
                  <a:srgbClr val="FFFFFF"/>
                </a:solidFill>
                <a:latin typeface="Inter"/>
              </a:rPr>
              <a:t>Contributors</a:t>
            </a:r>
          </a:p>
        </p:txBody>
      </p:sp>
      <p:sp>
        <p:nvSpPr>
          <p:cNvPr id="19" name="Rectangle 18"/>
          <p:cNvSpPr/>
          <p:nvPr/>
        </p:nvSpPr>
        <p:spPr>
          <a:xfrm>
            <a:off x="2377440" y="4325112"/>
            <a:ext cx="5120640" cy="676656"/>
          </a:xfrm>
          <a:prstGeom prst="rect">
            <a:avLst/>
          </a:prstGeom>
          <a:solidFill>
            <a:srgbClr val="EDF4FE"/>
          </a:solidFill>
          <a:ln>
            <a:noFill/>
          </a:ln>
          <a:effectLst/>
        </p:spPr>
        <p:txBody>
          <a:bodyPr rtlCol="0" anchor="ctr" lIns="73152" rIns="73152" tIns="36576" bIns="36576"/>
          <a:lstStyle/>
          <a:p>
            <a:pPr algn="ctr"/>
          </a:p>
        </p:txBody>
      </p:sp>
      <p:sp>
        <p:nvSpPr>
          <p:cNvPr id="20" name="TextBox 19"/>
          <p:cNvSpPr txBox="1"/>
          <p:nvPr/>
        </p:nvSpPr>
        <p:spPr>
          <a:xfrm>
            <a:off x="2560320" y="4325112"/>
            <a:ext cx="4846320" cy="676656"/>
          </a:xfrm>
          <a:prstGeom prst="rect">
            <a:avLst/>
          </a:prstGeom>
          <a:noFill/>
        </p:spPr>
        <p:txBody>
          <a:bodyPr wrap="square" lIns="0" rIns="0" tIns="0" bIns="0" anchor="ctr"/>
          <a:lstStyle/>
          <a:p>
            <a:pPr algn="l">
              <a:lnSpc>
                <a:spcPct val="115000"/>
              </a:lnSpc>
              <a:spcAft>
                <a:spcPts val="0"/>
              </a:spcAft>
            </a:pPr>
            <a:r>
              <a:rPr sz="1150" b="0" i="0">
                <a:solidFill>
                  <a:srgbClr val="253650"/>
                </a:solidFill>
                <a:latin typeface="Inter"/>
              </a:rPr>
              <a:t>Participants deliver sessions and support in roles that suit their time and skills.</a:t>
            </a:r>
          </a:p>
        </p:txBody>
      </p:sp>
      <p:sp>
        <p:nvSpPr>
          <p:cNvPr id="21" name="Rectangle 20"/>
          <p:cNvSpPr/>
          <p:nvPr/>
        </p:nvSpPr>
        <p:spPr>
          <a:xfrm>
            <a:off x="594360" y="5111496"/>
            <a:ext cx="1737360" cy="676656"/>
          </a:xfrm>
          <a:prstGeom prst="rect">
            <a:avLst/>
          </a:prstGeom>
          <a:solidFill>
            <a:srgbClr val="1A55AC"/>
          </a:solidFill>
          <a:ln>
            <a:noFill/>
          </a:ln>
          <a:effectLst/>
        </p:spPr>
        <p:txBody>
          <a:bodyPr rtlCol="0" anchor="ctr" lIns="73152" rIns="73152" tIns="36576" bIns="36576"/>
          <a:lstStyle/>
          <a:p>
            <a:pPr algn="ctr"/>
          </a:p>
        </p:txBody>
      </p:sp>
      <p:sp>
        <p:nvSpPr>
          <p:cNvPr id="22" name="TextBox 21"/>
          <p:cNvSpPr txBox="1"/>
          <p:nvPr/>
        </p:nvSpPr>
        <p:spPr>
          <a:xfrm>
            <a:off x="594360" y="5111496"/>
            <a:ext cx="1737360" cy="676656"/>
          </a:xfrm>
          <a:prstGeom prst="rect">
            <a:avLst/>
          </a:prstGeom>
          <a:noFill/>
        </p:spPr>
        <p:txBody>
          <a:bodyPr wrap="square" lIns="0" rIns="0" tIns="0" bIns="0" anchor="ctr"/>
          <a:lstStyle/>
          <a:p>
            <a:pPr algn="ctr">
              <a:lnSpc>
                <a:spcPct val="115000"/>
              </a:lnSpc>
              <a:spcAft>
                <a:spcPts val="0"/>
              </a:spcAft>
            </a:pPr>
            <a:r>
              <a:rPr sz="1300" b="1" i="0">
                <a:solidFill>
                  <a:srgbClr val="FFFFFF"/>
                </a:solidFill>
                <a:latin typeface="Inter"/>
              </a:rPr>
              <a:t>Learning</a:t>
            </a:r>
          </a:p>
        </p:txBody>
      </p:sp>
      <p:sp>
        <p:nvSpPr>
          <p:cNvPr id="23" name="Rectangle 22"/>
          <p:cNvSpPr/>
          <p:nvPr/>
        </p:nvSpPr>
        <p:spPr>
          <a:xfrm>
            <a:off x="2377440" y="5111496"/>
            <a:ext cx="5120640" cy="676656"/>
          </a:xfrm>
          <a:prstGeom prst="rect">
            <a:avLst/>
          </a:prstGeom>
          <a:solidFill>
            <a:srgbClr val="EDF4FE"/>
          </a:solidFill>
          <a:ln>
            <a:noFill/>
          </a:ln>
          <a:effectLst/>
        </p:spPr>
        <p:txBody>
          <a:bodyPr rtlCol="0" anchor="ctr" lIns="73152" rIns="73152" tIns="36576" bIns="36576"/>
          <a:lstStyle/>
          <a:p>
            <a:pPr algn="ctr"/>
          </a:p>
        </p:txBody>
      </p:sp>
      <p:sp>
        <p:nvSpPr>
          <p:cNvPr id="24" name="TextBox 23"/>
          <p:cNvSpPr txBox="1"/>
          <p:nvPr/>
        </p:nvSpPr>
        <p:spPr>
          <a:xfrm>
            <a:off x="2560320" y="5111496"/>
            <a:ext cx="4846320" cy="676656"/>
          </a:xfrm>
          <a:prstGeom prst="rect">
            <a:avLst/>
          </a:prstGeom>
          <a:noFill/>
        </p:spPr>
        <p:txBody>
          <a:bodyPr wrap="square" lIns="0" rIns="0" tIns="0" bIns="0" anchor="ctr"/>
          <a:lstStyle/>
          <a:p>
            <a:pPr algn="l">
              <a:lnSpc>
                <a:spcPct val="115000"/>
              </a:lnSpc>
              <a:spcAft>
                <a:spcPts val="0"/>
              </a:spcAft>
            </a:pPr>
            <a:r>
              <a:rPr sz="1150" b="0" i="0">
                <a:solidFill>
                  <a:srgbClr val="253650"/>
                </a:solidFill>
                <a:latin typeface="Inter"/>
              </a:rPr>
              <a:t>Founder interviews, feedback after every session, delivery cost tracked throughout.</a:t>
            </a:r>
          </a:p>
        </p:txBody>
      </p:sp>
      <p:sp>
        <p:nvSpPr>
          <p:cNvPr id="25" name="Rectangle 24"/>
          <p:cNvSpPr/>
          <p:nvPr/>
        </p:nvSpPr>
        <p:spPr>
          <a:xfrm>
            <a:off x="7909560" y="1965960"/>
            <a:ext cx="3687775" cy="3822191"/>
          </a:xfrm>
          <a:prstGeom prst="rect">
            <a:avLst/>
          </a:prstGeom>
          <a:solidFill>
            <a:srgbClr val="10213B"/>
          </a:solidFill>
          <a:ln>
            <a:noFill/>
          </a:ln>
          <a:effectLst/>
        </p:spPr>
        <p:txBody>
          <a:bodyPr rtlCol="0" anchor="ctr" lIns="73152" rIns="73152" tIns="36576" bIns="36576"/>
          <a:lstStyle/>
          <a:p>
            <a:pPr algn="ctr"/>
          </a:p>
        </p:txBody>
      </p:sp>
      <p:sp>
        <p:nvSpPr>
          <p:cNvPr id="26" name="TextBox 25"/>
          <p:cNvSpPr txBox="1"/>
          <p:nvPr/>
        </p:nvSpPr>
        <p:spPr>
          <a:xfrm>
            <a:off x="8183880" y="2176272"/>
            <a:ext cx="320040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THE PILOT SUCCEEDS IF</a:t>
            </a:r>
          </a:p>
        </p:txBody>
      </p:sp>
      <p:sp>
        <p:nvSpPr>
          <p:cNvPr id="27" name="Oval 26"/>
          <p:cNvSpPr/>
          <p:nvPr/>
        </p:nvSpPr>
        <p:spPr>
          <a:xfrm>
            <a:off x="8183880" y="2633472"/>
            <a:ext cx="182880" cy="182880"/>
          </a:xfrm>
          <a:prstGeom prst="ellipse">
            <a:avLst/>
          </a:prstGeom>
          <a:solidFill>
            <a:srgbClr val="1765D1"/>
          </a:solidFill>
          <a:ln>
            <a:noFill/>
          </a:ln>
          <a:effectLst/>
        </p:spPr>
        <p:txBody>
          <a:bodyPr rtlCol="0" anchor="ctr" lIns="73152" rIns="73152" tIns="36576" bIns="36576"/>
          <a:lstStyle/>
          <a:p>
            <a:pPr algn="ctr"/>
          </a:p>
        </p:txBody>
      </p:sp>
      <p:sp>
        <p:nvSpPr>
          <p:cNvPr id="28" name="TextBox 27"/>
          <p:cNvSpPr txBox="1"/>
          <p:nvPr/>
        </p:nvSpPr>
        <p:spPr>
          <a:xfrm>
            <a:off x="8503920" y="2560320"/>
            <a:ext cx="2926080" cy="5486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Founders complete useful next steps</a:t>
            </a:r>
          </a:p>
        </p:txBody>
      </p:sp>
      <p:sp>
        <p:nvSpPr>
          <p:cNvPr id="29" name="Oval 28"/>
          <p:cNvSpPr/>
          <p:nvPr/>
        </p:nvSpPr>
        <p:spPr>
          <a:xfrm>
            <a:off x="8183880" y="3255264"/>
            <a:ext cx="182880" cy="182880"/>
          </a:xfrm>
          <a:prstGeom prst="ellipse">
            <a:avLst/>
          </a:prstGeom>
          <a:solidFill>
            <a:srgbClr val="1765D1"/>
          </a:solidFill>
          <a:ln>
            <a:noFill/>
          </a:ln>
          <a:effectLst/>
        </p:spPr>
        <p:txBody>
          <a:bodyPr rtlCol="0" anchor="ctr" lIns="73152" rIns="73152" tIns="36576" bIns="36576"/>
          <a:lstStyle/>
          <a:p>
            <a:pPr algn="ctr"/>
          </a:p>
        </p:txBody>
      </p:sp>
      <p:sp>
        <p:nvSpPr>
          <p:cNvPr id="30" name="TextBox 29"/>
          <p:cNvSpPr txBox="1"/>
          <p:nvPr/>
        </p:nvSpPr>
        <p:spPr>
          <a:xfrm>
            <a:off x="8503920" y="3182112"/>
            <a:ext cx="2926080" cy="5486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They come back without being chased</a:t>
            </a:r>
          </a:p>
        </p:txBody>
      </p:sp>
      <p:sp>
        <p:nvSpPr>
          <p:cNvPr id="31" name="Oval 30"/>
          <p:cNvSpPr/>
          <p:nvPr/>
        </p:nvSpPr>
        <p:spPr>
          <a:xfrm>
            <a:off x="8183880" y="3877056"/>
            <a:ext cx="182880" cy="182880"/>
          </a:xfrm>
          <a:prstGeom prst="ellipse">
            <a:avLst/>
          </a:prstGeom>
          <a:solidFill>
            <a:srgbClr val="1765D1"/>
          </a:solidFill>
          <a:ln>
            <a:noFill/>
          </a:ln>
          <a:effectLst/>
        </p:spPr>
        <p:txBody>
          <a:bodyPr rtlCol="0" anchor="ctr" lIns="73152" rIns="73152" tIns="36576" bIns="36576"/>
          <a:lstStyle/>
          <a:p>
            <a:pPr algn="ctr"/>
          </a:p>
        </p:txBody>
      </p:sp>
      <p:sp>
        <p:nvSpPr>
          <p:cNvPr id="32" name="TextBox 31"/>
          <p:cNvSpPr txBox="1"/>
          <p:nvPr/>
        </p:nvSpPr>
        <p:spPr>
          <a:xfrm>
            <a:off x="8503920" y="3803904"/>
            <a:ext cx="2926080" cy="5486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Sessions are rated as practical</a:t>
            </a:r>
          </a:p>
        </p:txBody>
      </p:sp>
      <p:sp>
        <p:nvSpPr>
          <p:cNvPr id="33" name="Oval 32"/>
          <p:cNvSpPr/>
          <p:nvPr/>
        </p:nvSpPr>
        <p:spPr>
          <a:xfrm>
            <a:off x="8183880" y="4498848"/>
            <a:ext cx="182880" cy="182880"/>
          </a:xfrm>
          <a:prstGeom prst="ellipse">
            <a:avLst/>
          </a:prstGeom>
          <a:solidFill>
            <a:srgbClr val="1765D1"/>
          </a:solidFill>
          <a:ln>
            <a:noFill/>
          </a:ln>
          <a:effectLst/>
        </p:spPr>
        <p:txBody>
          <a:bodyPr rtlCol="0" anchor="ctr" lIns="73152" rIns="73152" tIns="36576" bIns="36576"/>
          <a:lstStyle/>
          <a:p>
            <a:pPr algn="ctr"/>
          </a:p>
        </p:txBody>
      </p:sp>
      <p:sp>
        <p:nvSpPr>
          <p:cNvPr id="34" name="TextBox 33"/>
          <p:cNvSpPr txBox="1"/>
          <p:nvPr/>
        </p:nvSpPr>
        <p:spPr>
          <a:xfrm>
            <a:off x="8503920" y="4425696"/>
            <a:ext cx="2926080" cy="5486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Contributors can deliver reliably</a:t>
            </a:r>
          </a:p>
        </p:txBody>
      </p:sp>
      <p:sp>
        <p:nvSpPr>
          <p:cNvPr id="35" name="Oval 34"/>
          <p:cNvSpPr/>
          <p:nvPr/>
        </p:nvSpPr>
        <p:spPr>
          <a:xfrm>
            <a:off x="8183880" y="5120640"/>
            <a:ext cx="182880" cy="182880"/>
          </a:xfrm>
          <a:prstGeom prst="ellipse">
            <a:avLst/>
          </a:prstGeom>
          <a:solidFill>
            <a:srgbClr val="1765D1"/>
          </a:solidFill>
          <a:ln>
            <a:noFill/>
          </a:ln>
          <a:effectLst/>
        </p:spPr>
        <p:txBody>
          <a:bodyPr rtlCol="0" anchor="ctr" lIns="73152" rIns="73152" tIns="36576" bIns="36576"/>
          <a:lstStyle/>
          <a:p>
            <a:pPr algn="ctr"/>
          </a:p>
        </p:txBody>
      </p:sp>
      <p:sp>
        <p:nvSpPr>
          <p:cNvPr id="36" name="TextBox 35"/>
          <p:cNvSpPr txBox="1"/>
          <p:nvPr/>
        </p:nvSpPr>
        <p:spPr>
          <a:xfrm>
            <a:off x="8503920" y="5047488"/>
            <a:ext cx="2926080" cy="548640"/>
          </a:xfrm>
          <a:prstGeom prst="rect">
            <a:avLst/>
          </a:prstGeom>
          <a:noFill/>
        </p:spPr>
        <p:txBody>
          <a:bodyPr wrap="square" lIns="0" rIns="0" tIns="0" bIns="0" anchor="t"/>
          <a:lstStyle/>
          <a:p>
            <a:pPr algn="l">
              <a:lnSpc>
                <a:spcPct val="115000"/>
              </a:lnSpc>
              <a:spcAft>
                <a:spcPts val="0"/>
              </a:spcAft>
            </a:pPr>
            <a:r>
              <a:rPr sz="1250" b="1" i="0">
                <a:solidFill>
                  <a:srgbClr val="FFFFFF"/>
                </a:solidFill>
                <a:latin typeface="Inter"/>
              </a:rPr>
              <a:t>We know the real cost to serve</a:t>
            </a:r>
          </a:p>
        </p:txBody>
      </p:sp>
      <p:sp>
        <p:nvSpPr>
          <p:cNvPr id="37" name="TextBox 3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8" name="TextBox 3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HOW WE WILL MEASURE PROGRESS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One north-star measure, supported by a few honest indicators.</a:t>
            </a:r>
          </a:p>
        </p:txBody>
      </p:sp>
      <p:sp>
        <p:nvSpPr>
          <p:cNvPr id="4" name="Rectangle 3"/>
          <p:cNvSpPr/>
          <p:nvPr/>
        </p:nvSpPr>
        <p:spPr>
          <a:xfrm>
            <a:off x="594360" y="1965960"/>
            <a:ext cx="3840480" cy="420624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914400" y="2194560"/>
            <a:ext cx="320040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NORTH-STAR MEASURE</a:t>
            </a:r>
          </a:p>
        </p:txBody>
      </p:sp>
      <p:sp>
        <p:nvSpPr>
          <p:cNvPr id="6" name="TextBox 5"/>
          <p:cNvSpPr txBox="1"/>
          <p:nvPr/>
        </p:nvSpPr>
        <p:spPr>
          <a:xfrm>
            <a:off x="914400" y="2606040"/>
            <a:ext cx="3200400" cy="1463040"/>
          </a:xfrm>
          <a:prstGeom prst="rect">
            <a:avLst/>
          </a:prstGeom>
          <a:noFill/>
        </p:spPr>
        <p:txBody>
          <a:bodyPr wrap="square" lIns="0" rIns="0" tIns="0" bIns="0" anchor="t"/>
          <a:lstStyle/>
          <a:p>
            <a:pPr algn="l">
              <a:lnSpc>
                <a:spcPct val="110000"/>
              </a:lnSpc>
              <a:spcAft>
                <a:spcPts val="0"/>
              </a:spcAft>
            </a:pPr>
            <a:r>
              <a:rPr sz="2400" b="1" i="0">
                <a:solidFill>
                  <a:srgbClr val="FFFFFF"/>
                </a:solidFill>
                <a:latin typeface="Inter"/>
              </a:rPr>
              <a:t>Completed founder next steps</a:t>
            </a:r>
          </a:p>
        </p:txBody>
      </p:sp>
      <p:sp>
        <p:nvSpPr>
          <p:cNvPr id="7" name="TextBox 6"/>
          <p:cNvSpPr txBox="1"/>
          <p:nvPr/>
        </p:nvSpPr>
        <p:spPr>
          <a:xfrm>
            <a:off x="914400" y="4160520"/>
            <a:ext cx="3200400" cy="1828800"/>
          </a:xfrm>
          <a:prstGeom prst="rect">
            <a:avLst/>
          </a:prstGeom>
          <a:noFill/>
        </p:spPr>
        <p:txBody>
          <a:bodyPr wrap="square" lIns="0" rIns="0" tIns="0" bIns="0" anchor="t"/>
          <a:lstStyle/>
          <a:p>
            <a:pPr algn="l">
              <a:lnSpc>
                <a:spcPct val="130000"/>
              </a:lnSpc>
              <a:spcAft>
                <a:spcPts val="0"/>
              </a:spcAft>
            </a:pPr>
            <a:r>
              <a:rPr sz="1200" b="0" i="0">
                <a:solidFill>
                  <a:srgbClr val="C9D6E8"/>
                </a:solidFill>
                <a:latin typeface="Inter"/>
              </a:rPr>
              <a:t>A next step counts when the founder confirms it is done — a test run, a decision made, a customer won. It measures usefulness, not activity.</a:t>
            </a:r>
          </a:p>
        </p:txBody>
      </p:sp>
      <p:cxnSp>
        <p:nvCxnSpPr>
          <p:cNvPr id="8" name="Connector 7"/>
          <p:cNvCxnSpPr/>
          <p:nvPr/>
        </p:nvCxnSpPr>
        <p:spPr>
          <a:xfrm>
            <a:off x="4709160" y="1965960"/>
            <a:ext cx="3352647" cy="0"/>
          </a:xfrm>
          <a:prstGeom prst="line">
            <a:avLst/>
          </a:prstGeom>
          <a:ln w="12700">
            <a:solidFill>
              <a:srgbClr val="10213B"/>
            </a:solidFill>
          </a:ln>
        </p:spPr>
      </p:cxnSp>
      <p:sp>
        <p:nvSpPr>
          <p:cNvPr id="9" name="TextBox 8"/>
          <p:cNvSpPr txBox="1"/>
          <p:nvPr/>
        </p:nvSpPr>
        <p:spPr>
          <a:xfrm>
            <a:off x="4709160" y="207568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Activation</a:t>
            </a:r>
          </a:p>
        </p:txBody>
      </p:sp>
      <p:sp>
        <p:nvSpPr>
          <p:cNvPr id="10" name="TextBox 9"/>
          <p:cNvSpPr txBox="1"/>
          <p:nvPr/>
        </p:nvSpPr>
        <p:spPr>
          <a:xfrm>
            <a:off x="4709160" y="240487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New founders who complete a profile and a first step</a:t>
            </a:r>
          </a:p>
        </p:txBody>
      </p:sp>
      <p:cxnSp>
        <p:nvCxnSpPr>
          <p:cNvPr id="11" name="Connector 10"/>
          <p:cNvCxnSpPr/>
          <p:nvPr/>
        </p:nvCxnSpPr>
        <p:spPr>
          <a:xfrm>
            <a:off x="8244687" y="1965960"/>
            <a:ext cx="3352648" cy="0"/>
          </a:xfrm>
          <a:prstGeom prst="line">
            <a:avLst/>
          </a:prstGeom>
          <a:ln w="12700">
            <a:solidFill>
              <a:srgbClr val="10213B"/>
            </a:solidFill>
          </a:ln>
        </p:spPr>
      </p:cxnSp>
      <p:sp>
        <p:nvSpPr>
          <p:cNvPr id="12" name="TextBox 11"/>
          <p:cNvSpPr txBox="1"/>
          <p:nvPr/>
        </p:nvSpPr>
        <p:spPr>
          <a:xfrm>
            <a:off x="8244687" y="207568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Follow-through</a:t>
            </a:r>
          </a:p>
        </p:txBody>
      </p:sp>
      <p:sp>
        <p:nvSpPr>
          <p:cNvPr id="13" name="TextBox 12"/>
          <p:cNvSpPr txBox="1"/>
          <p:nvPr/>
        </p:nvSpPr>
        <p:spPr>
          <a:xfrm>
            <a:off x="8244687" y="240487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Agreed actions completed after sessions</a:t>
            </a:r>
          </a:p>
        </p:txBody>
      </p:sp>
      <p:cxnSp>
        <p:nvCxnSpPr>
          <p:cNvPr id="14" name="Connector 13"/>
          <p:cNvCxnSpPr/>
          <p:nvPr/>
        </p:nvCxnSpPr>
        <p:spPr>
          <a:xfrm>
            <a:off x="4709160" y="3017520"/>
            <a:ext cx="3352647" cy="0"/>
          </a:xfrm>
          <a:prstGeom prst="line">
            <a:avLst/>
          </a:prstGeom>
          <a:ln w="12700">
            <a:solidFill>
              <a:srgbClr val="D5E2F3"/>
            </a:solidFill>
          </a:ln>
        </p:spPr>
      </p:cxnSp>
      <p:sp>
        <p:nvSpPr>
          <p:cNvPr id="15" name="TextBox 14"/>
          <p:cNvSpPr txBox="1"/>
          <p:nvPr/>
        </p:nvSpPr>
        <p:spPr>
          <a:xfrm>
            <a:off x="4709160" y="312724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Return rate</a:t>
            </a:r>
          </a:p>
        </p:txBody>
      </p:sp>
      <p:sp>
        <p:nvSpPr>
          <p:cNvPr id="16" name="TextBox 15"/>
          <p:cNvSpPr txBox="1"/>
          <p:nvPr/>
        </p:nvSpPr>
        <p:spPr>
          <a:xfrm>
            <a:off x="4709160" y="345643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Founders active again within 30 days</a:t>
            </a:r>
          </a:p>
        </p:txBody>
      </p:sp>
      <p:cxnSp>
        <p:nvCxnSpPr>
          <p:cNvPr id="17" name="Connector 16"/>
          <p:cNvCxnSpPr/>
          <p:nvPr/>
        </p:nvCxnSpPr>
        <p:spPr>
          <a:xfrm>
            <a:off x="8244687" y="3017520"/>
            <a:ext cx="3352648" cy="0"/>
          </a:xfrm>
          <a:prstGeom prst="line">
            <a:avLst/>
          </a:prstGeom>
          <a:ln w="12700">
            <a:solidFill>
              <a:srgbClr val="D5E2F3"/>
            </a:solidFill>
          </a:ln>
        </p:spPr>
      </p:cxnSp>
      <p:sp>
        <p:nvSpPr>
          <p:cNvPr id="18" name="TextBox 17"/>
          <p:cNvSpPr txBox="1"/>
          <p:nvPr/>
        </p:nvSpPr>
        <p:spPr>
          <a:xfrm>
            <a:off x="8244687" y="312724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Useful introductions</a:t>
            </a:r>
          </a:p>
        </p:txBody>
      </p:sp>
      <p:sp>
        <p:nvSpPr>
          <p:cNvPr id="19" name="TextBox 18"/>
          <p:cNvSpPr txBox="1"/>
          <p:nvPr/>
        </p:nvSpPr>
        <p:spPr>
          <a:xfrm>
            <a:off x="8244687" y="345643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Introductions leading to a real conversation</a:t>
            </a:r>
          </a:p>
        </p:txBody>
      </p:sp>
      <p:cxnSp>
        <p:nvCxnSpPr>
          <p:cNvPr id="20" name="Connector 19"/>
          <p:cNvCxnSpPr/>
          <p:nvPr/>
        </p:nvCxnSpPr>
        <p:spPr>
          <a:xfrm>
            <a:off x="4709160" y="4069079"/>
            <a:ext cx="3352647" cy="0"/>
          </a:xfrm>
          <a:prstGeom prst="line">
            <a:avLst/>
          </a:prstGeom>
          <a:ln w="12700">
            <a:solidFill>
              <a:srgbClr val="D5E2F3"/>
            </a:solidFill>
          </a:ln>
        </p:spPr>
      </p:cxnSp>
      <p:sp>
        <p:nvSpPr>
          <p:cNvPr id="21" name="TextBox 20"/>
          <p:cNvSpPr txBox="1"/>
          <p:nvPr/>
        </p:nvSpPr>
        <p:spPr>
          <a:xfrm>
            <a:off x="4709160" y="4178807"/>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Session quality</a:t>
            </a:r>
          </a:p>
        </p:txBody>
      </p:sp>
      <p:sp>
        <p:nvSpPr>
          <p:cNvPr id="22" name="TextBox 21"/>
          <p:cNvSpPr txBox="1"/>
          <p:nvPr/>
        </p:nvSpPr>
        <p:spPr>
          <a:xfrm>
            <a:off x="4709160" y="450799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Founder rating of practical value</a:t>
            </a:r>
          </a:p>
        </p:txBody>
      </p:sp>
      <p:cxnSp>
        <p:nvCxnSpPr>
          <p:cNvPr id="23" name="Connector 22"/>
          <p:cNvCxnSpPr/>
          <p:nvPr/>
        </p:nvCxnSpPr>
        <p:spPr>
          <a:xfrm>
            <a:off x="8244687" y="4069079"/>
            <a:ext cx="3352648" cy="0"/>
          </a:xfrm>
          <a:prstGeom prst="line">
            <a:avLst/>
          </a:prstGeom>
          <a:ln w="12700">
            <a:solidFill>
              <a:srgbClr val="D5E2F3"/>
            </a:solidFill>
          </a:ln>
        </p:spPr>
      </p:cxnSp>
      <p:sp>
        <p:nvSpPr>
          <p:cNvPr id="24" name="TextBox 23"/>
          <p:cNvSpPr txBox="1"/>
          <p:nvPr/>
        </p:nvSpPr>
        <p:spPr>
          <a:xfrm>
            <a:off x="8244687" y="4178807"/>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Cost to serve</a:t>
            </a:r>
          </a:p>
        </p:txBody>
      </p:sp>
      <p:sp>
        <p:nvSpPr>
          <p:cNvPr id="25" name="TextBox 24"/>
          <p:cNvSpPr txBox="1"/>
          <p:nvPr/>
        </p:nvSpPr>
        <p:spPr>
          <a:xfrm>
            <a:off x="8244687" y="450799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Delivery cost per active founder</a:t>
            </a:r>
          </a:p>
        </p:txBody>
      </p:sp>
      <p:cxnSp>
        <p:nvCxnSpPr>
          <p:cNvPr id="26" name="Connector 25"/>
          <p:cNvCxnSpPr/>
          <p:nvPr/>
        </p:nvCxnSpPr>
        <p:spPr>
          <a:xfrm>
            <a:off x="4709160" y="5120640"/>
            <a:ext cx="3352647" cy="0"/>
          </a:xfrm>
          <a:prstGeom prst="line">
            <a:avLst/>
          </a:prstGeom>
          <a:ln w="12700">
            <a:solidFill>
              <a:srgbClr val="D5E2F3"/>
            </a:solidFill>
          </a:ln>
        </p:spPr>
      </p:cxnSp>
      <p:sp>
        <p:nvSpPr>
          <p:cNvPr id="27" name="TextBox 26"/>
          <p:cNvSpPr txBox="1"/>
          <p:nvPr/>
        </p:nvSpPr>
        <p:spPr>
          <a:xfrm>
            <a:off x="4709160" y="523036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Paid conversion</a:t>
            </a:r>
          </a:p>
        </p:txBody>
      </p:sp>
      <p:sp>
        <p:nvSpPr>
          <p:cNvPr id="28" name="TextBox 27"/>
          <p:cNvSpPr txBox="1"/>
          <p:nvPr/>
        </p:nvSpPr>
        <p:spPr>
          <a:xfrm>
            <a:off x="4709160" y="555955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Founders choosing an optional paid service</a:t>
            </a:r>
          </a:p>
        </p:txBody>
      </p:sp>
      <p:cxnSp>
        <p:nvCxnSpPr>
          <p:cNvPr id="29" name="Connector 28"/>
          <p:cNvCxnSpPr/>
          <p:nvPr/>
        </p:nvCxnSpPr>
        <p:spPr>
          <a:xfrm>
            <a:off x="8244687" y="5120640"/>
            <a:ext cx="3352648" cy="0"/>
          </a:xfrm>
          <a:prstGeom prst="line">
            <a:avLst/>
          </a:prstGeom>
          <a:ln w="12700">
            <a:solidFill>
              <a:srgbClr val="D5E2F3"/>
            </a:solidFill>
          </a:ln>
        </p:spPr>
      </p:cxnSp>
      <p:sp>
        <p:nvSpPr>
          <p:cNvPr id="30" name="TextBox 29"/>
          <p:cNvSpPr txBox="1"/>
          <p:nvPr/>
        </p:nvSpPr>
        <p:spPr>
          <a:xfrm>
            <a:off x="8244687" y="5230368"/>
            <a:ext cx="3352647" cy="32004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Contributor reliability</a:t>
            </a:r>
          </a:p>
        </p:txBody>
      </p:sp>
      <p:sp>
        <p:nvSpPr>
          <p:cNvPr id="31" name="TextBox 30"/>
          <p:cNvSpPr txBox="1"/>
          <p:nvPr/>
        </p:nvSpPr>
        <p:spPr>
          <a:xfrm>
            <a:off x="8244687" y="5559552"/>
            <a:ext cx="3352647"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Sessions delivered as committed</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TRIAL, VALIDATION AND ROADMAP</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Shape, test, then expand what works.</a:t>
            </a:r>
          </a:p>
        </p:txBody>
      </p:sp>
      <p:sp>
        <p:nvSpPr>
          <p:cNvPr id="4" name="Pentagon 3"/>
          <p:cNvSpPr/>
          <p:nvPr/>
        </p:nvSpPr>
        <p:spPr>
          <a:xfrm>
            <a:off x="594360" y="2011680"/>
            <a:ext cx="3682898" cy="502920"/>
          </a:xfrm>
          <a:prstGeom prst="homePlate">
            <a:avLst/>
          </a:prstGeom>
          <a:solidFill>
            <a:srgbClr val="1765D1"/>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NOW</a:t>
            </a:r>
            <a:r>
              <a:rPr sz="1300" b="0" i="0">
                <a:solidFill>
                  <a:srgbClr val="FFFFFF"/>
                </a:solidFill>
                <a:latin typeface="Inter"/>
              </a:rPr>
              <a:t>   Shape and test</a:t>
            </a:r>
          </a:p>
        </p:txBody>
      </p:sp>
      <p:sp>
        <p:nvSpPr>
          <p:cNvPr id="5" name="Rectangle 4"/>
          <p:cNvSpPr/>
          <p:nvPr/>
        </p:nvSpPr>
        <p:spPr>
          <a:xfrm>
            <a:off x="640080" y="2816352"/>
            <a:ext cx="82296" cy="82296"/>
          </a:xfrm>
          <a:prstGeom prst="rect">
            <a:avLst/>
          </a:prstGeom>
          <a:solidFill>
            <a:srgbClr val="1765D1"/>
          </a:solidFill>
          <a:ln>
            <a:noFill/>
          </a:ln>
          <a:effectLst/>
        </p:spPr>
        <p:txBody>
          <a:bodyPr rtlCol="0" anchor="ctr" lIns="73152" rIns="73152" tIns="36576" bIns="36576"/>
          <a:lstStyle/>
          <a:p>
            <a:pPr algn="ctr"/>
          </a:p>
        </p:txBody>
      </p:sp>
      <p:sp>
        <p:nvSpPr>
          <p:cNvPr id="6" name="TextBox 5"/>
          <p:cNvSpPr txBox="1"/>
          <p:nvPr/>
        </p:nvSpPr>
        <p:spPr>
          <a:xfrm>
            <a:off x="850392"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Founder interviews</a:t>
            </a:r>
          </a:p>
        </p:txBody>
      </p:sp>
      <p:sp>
        <p:nvSpPr>
          <p:cNvPr id="7" name="Rectangle 6"/>
          <p:cNvSpPr/>
          <p:nvPr/>
        </p:nvSpPr>
        <p:spPr>
          <a:xfrm>
            <a:off x="640080" y="3200400"/>
            <a:ext cx="82296" cy="82296"/>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850392"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Participant contributions</a:t>
            </a:r>
          </a:p>
        </p:txBody>
      </p:sp>
      <p:sp>
        <p:nvSpPr>
          <p:cNvPr id="9" name="Rectangle 8"/>
          <p:cNvSpPr/>
          <p:nvPr/>
        </p:nvSpPr>
        <p:spPr>
          <a:xfrm>
            <a:off x="640080" y="3584448"/>
            <a:ext cx="82296" cy="82296"/>
          </a:xfrm>
          <a:prstGeom prst="rect">
            <a:avLst/>
          </a:prstGeom>
          <a:solidFill>
            <a:srgbClr val="1765D1"/>
          </a:solidFill>
          <a:ln>
            <a:noFill/>
          </a:ln>
          <a:effectLst/>
        </p:spPr>
        <p:txBody>
          <a:bodyPr rtlCol="0" anchor="ctr" lIns="73152" rIns="73152" tIns="36576" bIns="36576"/>
          <a:lstStyle/>
          <a:p>
            <a:pPr algn="ctr"/>
          </a:p>
        </p:txBody>
      </p:sp>
      <p:sp>
        <p:nvSpPr>
          <p:cNvPr id="10" name="TextBox 9"/>
          <p:cNvSpPr txBox="1"/>
          <p:nvPr/>
        </p:nvSpPr>
        <p:spPr>
          <a:xfrm>
            <a:off x="850392"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Service selection</a:t>
            </a:r>
          </a:p>
        </p:txBody>
      </p:sp>
      <p:sp>
        <p:nvSpPr>
          <p:cNvPr id="11" name="Rectangle 10"/>
          <p:cNvSpPr/>
          <p:nvPr/>
        </p:nvSpPr>
        <p:spPr>
          <a:xfrm>
            <a:off x="640080" y="3968496"/>
            <a:ext cx="82296" cy="82296"/>
          </a:xfrm>
          <a:prstGeom prst="rect">
            <a:avLst/>
          </a:prstGeom>
          <a:solidFill>
            <a:srgbClr val="1765D1"/>
          </a:solidFill>
          <a:ln>
            <a:noFill/>
          </a:ln>
          <a:effectLst/>
        </p:spPr>
        <p:txBody>
          <a:bodyPr rtlCol="0" anchor="ctr" lIns="73152" rIns="73152" tIns="36576" bIns="36576"/>
          <a:lstStyle/>
          <a:p>
            <a:pPr algn="ctr"/>
          </a:p>
        </p:txBody>
      </p:sp>
      <p:sp>
        <p:nvSpPr>
          <p:cNvPr id="12" name="TextBox 11"/>
          <p:cNvSpPr txBox="1"/>
          <p:nvPr/>
        </p:nvSpPr>
        <p:spPr>
          <a:xfrm>
            <a:off x="850392"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Platform requirements</a:t>
            </a:r>
          </a:p>
        </p:txBody>
      </p:sp>
      <p:sp>
        <p:nvSpPr>
          <p:cNvPr id="13" name="Chevron 12"/>
          <p:cNvSpPr/>
          <p:nvPr/>
        </p:nvSpPr>
        <p:spPr>
          <a:xfrm>
            <a:off x="4322978" y="2011680"/>
            <a:ext cx="3682898" cy="502920"/>
          </a:xfrm>
          <a:prstGeom prst="chevron">
            <a:avLst/>
          </a:prstGeom>
          <a:solidFill>
            <a:srgbClr val="1A55AC"/>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NEXT</a:t>
            </a:r>
            <a:r>
              <a:rPr sz="1300" b="0" i="0">
                <a:solidFill>
                  <a:srgbClr val="FFFFFF"/>
                </a:solidFill>
                <a:latin typeface="Inter"/>
              </a:rPr>
              <a:t>   Deliver a small pilot</a:t>
            </a:r>
          </a:p>
        </p:txBody>
      </p:sp>
      <p:sp>
        <p:nvSpPr>
          <p:cNvPr id="14" name="Rectangle 13"/>
          <p:cNvSpPr/>
          <p:nvPr/>
        </p:nvSpPr>
        <p:spPr>
          <a:xfrm>
            <a:off x="4368698" y="2816352"/>
            <a:ext cx="82296" cy="82296"/>
          </a:xfrm>
          <a:prstGeom prst="rect">
            <a:avLst/>
          </a:prstGeom>
          <a:solidFill>
            <a:srgbClr val="1A55AC"/>
          </a:solidFill>
          <a:ln>
            <a:noFill/>
          </a:ln>
          <a:effectLst/>
        </p:spPr>
        <p:txBody>
          <a:bodyPr rtlCol="0" anchor="ctr" lIns="73152" rIns="73152" tIns="36576" bIns="36576"/>
          <a:lstStyle/>
          <a:p>
            <a:pPr algn="ctr"/>
          </a:p>
        </p:txBody>
      </p:sp>
      <p:sp>
        <p:nvSpPr>
          <p:cNvPr id="15" name="TextBox 14"/>
          <p:cNvSpPr txBox="1"/>
          <p:nvPr/>
        </p:nvSpPr>
        <p:spPr>
          <a:xfrm>
            <a:off x="4579010"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Useful sessions</a:t>
            </a:r>
          </a:p>
        </p:txBody>
      </p:sp>
      <p:sp>
        <p:nvSpPr>
          <p:cNvPr id="16" name="Rectangle 15"/>
          <p:cNvSpPr/>
          <p:nvPr/>
        </p:nvSpPr>
        <p:spPr>
          <a:xfrm>
            <a:off x="4368698" y="3200400"/>
            <a:ext cx="82296" cy="82296"/>
          </a:xfrm>
          <a:prstGeom prst="rect">
            <a:avLst/>
          </a:prstGeom>
          <a:solidFill>
            <a:srgbClr val="1A55AC"/>
          </a:solidFill>
          <a:ln>
            <a:noFill/>
          </a:ln>
          <a:effectLst/>
        </p:spPr>
        <p:txBody>
          <a:bodyPr rtlCol="0" anchor="ctr" lIns="73152" rIns="73152" tIns="36576" bIns="36576"/>
          <a:lstStyle/>
          <a:p>
            <a:pPr algn="ctr"/>
          </a:p>
        </p:txBody>
      </p:sp>
      <p:sp>
        <p:nvSpPr>
          <p:cNvPr id="17" name="TextBox 16"/>
          <p:cNvSpPr txBox="1"/>
          <p:nvPr/>
        </p:nvSpPr>
        <p:spPr>
          <a:xfrm>
            <a:off x="4579010"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Onboarding and follow-up</a:t>
            </a:r>
          </a:p>
        </p:txBody>
      </p:sp>
      <p:sp>
        <p:nvSpPr>
          <p:cNvPr id="18" name="Rectangle 17"/>
          <p:cNvSpPr/>
          <p:nvPr/>
        </p:nvSpPr>
        <p:spPr>
          <a:xfrm>
            <a:off x="4368698" y="3584448"/>
            <a:ext cx="82296" cy="82296"/>
          </a:xfrm>
          <a:prstGeom prst="rect">
            <a:avLst/>
          </a:prstGeom>
          <a:solidFill>
            <a:srgbClr val="1A55AC"/>
          </a:solidFill>
          <a:ln>
            <a:noFill/>
          </a:ln>
          <a:effectLst/>
        </p:spPr>
        <p:txBody>
          <a:bodyPr rtlCol="0" anchor="ctr" lIns="73152" rIns="73152" tIns="36576" bIns="36576"/>
          <a:lstStyle/>
          <a:p>
            <a:pPr algn="ctr"/>
          </a:p>
        </p:txBody>
      </p:sp>
      <p:sp>
        <p:nvSpPr>
          <p:cNvPr id="19" name="TextBox 18"/>
          <p:cNvSpPr txBox="1"/>
          <p:nvPr/>
        </p:nvSpPr>
        <p:spPr>
          <a:xfrm>
            <a:off x="4579010"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Growth experiments</a:t>
            </a:r>
          </a:p>
        </p:txBody>
      </p:sp>
      <p:sp>
        <p:nvSpPr>
          <p:cNvPr id="20" name="Rectangle 19"/>
          <p:cNvSpPr/>
          <p:nvPr/>
        </p:nvSpPr>
        <p:spPr>
          <a:xfrm>
            <a:off x="4368698" y="3968496"/>
            <a:ext cx="82296" cy="82296"/>
          </a:xfrm>
          <a:prstGeom prst="rect">
            <a:avLst/>
          </a:prstGeom>
          <a:solidFill>
            <a:srgbClr val="1A55AC"/>
          </a:solidFill>
          <a:ln>
            <a:noFill/>
          </a:ln>
          <a:effectLst/>
        </p:spPr>
        <p:txBody>
          <a:bodyPr rtlCol="0" anchor="ctr" lIns="73152" rIns="73152" tIns="36576" bIns="36576"/>
          <a:lstStyle/>
          <a:p>
            <a:pPr algn="ctr"/>
          </a:p>
        </p:txBody>
      </p:sp>
      <p:sp>
        <p:nvSpPr>
          <p:cNvPr id="21" name="TextBox 20"/>
          <p:cNvSpPr txBox="1"/>
          <p:nvPr/>
        </p:nvSpPr>
        <p:spPr>
          <a:xfrm>
            <a:off x="4579010"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Measure delivery costs</a:t>
            </a:r>
          </a:p>
        </p:txBody>
      </p:sp>
      <p:sp>
        <p:nvSpPr>
          <p:cNvPr id="22" name="Chevron 21"/>
          <p:cNvSpPr/>
          <p:nvPr/>
        </p:nvSpPr>
        <p:spPr>
          <a:xfrm>
            <a:off x="8051596" y="2011680"/>
            <a:ext cx="3545738" cy="502920"/>
          </a:xfrm>
          <a:prstGeom prst="chevron">
            <a:avLst/>
          </a:prstGeom>
          <a:solidFill>
            <a:srgbClr val="10213B"/>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THEN</a:t>
            </a:r>
            <a:r>
              <a:rPr sz="1300" b="0" i="0">
                <a:solidFill>
                  <a:srgbClr val="FFFFFF"/>
                </a:solidFill>
                <a:latin typeface="Inter"/>
              </a:rPr>
              <a:t>   Expand what works</a:t>
            </a:r>
          </a:p>
        </p:txBody>
      </p:sp>
      <p:sp>
        <p:nvSpPr>
          <p:cNvPr id="23" name="Rectangle 22"/>
          <p:cNvSpPr/>
          <p:nvPr/>
        </p:nvSpPr>
        <p:spPr>
          <a:xfrm>
            <a:off x="8097316" y="2816352"/>
            <a:ext cx="82296" cy="82296"/>
          </a:xfrm>
          <a:prstGeom prst="rect">
            <a:avLst/>
          </a:prstGeom>
          <a:solidFill>
            <a:srgbClr val="10213B"/>
          </a:solidFill>
          <a:ln>
            <a:noFill/>
          </a:ln>
          <a:effectLst/>
        </p:spPr>
        <p:txBody>
          <a:bodyPr rtlCol="0" anchor="ctr" lIns="73152" rIns="73152" tIns="36576" bIns="36576"/>
          <a:lstStyle/>
          <a:p>
            <a:pPr algn="ctr"/>
          </a:p>
        </p:txBody>
      </p:sp>
      <p:sp>
        <p:nvSpPr>
          <p:cNvPr id="24" name="TextBox 23"/>
          <p:cNvSpPr txBox="1"/>
          <p:nvPr/>
        </p:nvSpPr>
        <p:spPr>
          <a:xfrm>
            <a:off x="8307628"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Repeat strong services</a:t>
            </a:r>
          </a:p>
        </p:txBody>
      </p:sp>
      <p:sp>
        <p:nvSpPr>
          <p:cNvPr id="25" name="Rectangle 24"/>
          <p:cNvSpPr/>
          <p:nvPr/>
        </p:nvSpPr>
        <p:spPr>
          <a:xfrm>
            <a:off x="8097316" y="3200400"/>
            <a:ext cx="82296" cy="82296"/>
          </a:xfrm>
          <a:prstGeom prst="rect">
            <a:avLst/>
          </a:prstGeom>
          <a:solidFill>
            <a:srgbClr val="10213B"/>
          </a:solidFill>
          <a:ln>
            <a:noFill/>
          </a:ln>
          <a:effectLst/>
        </p:spPr>
        <p:txBody>
          <a:bodyPr rtlCol="0" anchor="ctr" lIns="73152" rIns="73152" tIns="36576" bIns="36576"/>
          <a:lstStyle/>
          <a:p>
            <a:pPr algn="ctr"/>
          </a:p>
        </p:txBody>
      </p:sp>
      <p:sp>
        <p:nvSpPr>
          <p:cNvPr id="26" name="TextBox 25"/>
          <p:cNvSpPr txBox="1"/>
          <p:nvPr/>
        </p:nvSpPr>
        <p:spPr>
          <a:xfrm>
            <a:off x="8307628"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Improve the platform</a:t>
            </a:r>
          </a:p>
        </p:txBody>
      </p:sp>
      <p:sp>
        <p:nvSpPr>
          <p:cNvPr id="27" name="Rectangle 26"/>
          <p:cNvSpPr/>
          <p:nvPr/>
        </p:nvSpPr>
        <p:spPr>
          <a:xfrm>
            <a:off x="8097316" y="3584448"/>
            <a:ext cx="82296" cy="82296"/>
          </a:xfrm>
          <a:prstGeom prst="rect">
            <a:avLst/>
          </a:prstGeom>
          <a:solidFill>
            <a:srgbClr val="10213B"/>
          </a:solidFill>
          <a:ln>
            <a:noFill/>
          </a:ln>
          <a:effectLst/>
        </p:spPr>
        <p:txBody>
          <a:bodyPr rtlCol="0" anchor="ctr" lIns="73152" rIns="73152" tIns="36576" bIns="36576"/>
          <a:lstStyle/>
          <a:p>
            <a:pPr algn="ctr"/>
          </a:p>
        </p:txBody>
      </p:sp>
      <p:sp>
        <p:nvSpPr>
          <p:cNvPr id="28" name="TextBox 27"/>
          <p:cNvSpPr txBox="1"/>
          <p:nvPr/>
        </p:nvSpPr>
        <p:spPr>
          <a:xfrm>
            <a:off x="8307628"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Formalise responsibilities</a:t>
            </a:r>
          </a:p>
        </p:txBody>
      </p:sp>
      <p:sp>
        <p:nvSpPr>
          <p:cNvPr id="29" name="Rectangle 28"/>
          <p:cNvSpPr/>
          <p:nvPr/>
        </p:nvSpPr>
        <p:spPr>
          <a:xfrm>
            <a:off x="8097316" y="3968496"/>
            <a:ext cx="82296" cy="82296"/>
          </a:xfrm>
          <a:prstGeom prst="rect">
            <a:avLst/>
          </a:prstGeom>
          <a:solidFill>
            <a:srgbClr val="10213B"/>
          </a:solidFill>
          <a:ln>
            <a:noFill/>
          </a:ln>
          <a:effectLst/>
        </p:spPr>
        <p:txBody>
          <a:bodyPr rtlCol="0" anchor="ctr" lIns="73152" rIns="73152" tIns="36576" bIns="36576"/>
          <a:lstStyle/>
          <a:p>
            <a:pPr algn="ctr"/>
          </a:p>
        </p:txBody>
      </p:sp>
      <p:sp>
        <p:nvSpPr>
          <p:cNvPr id="30" name="TextBox 29"/>
          <p:cNvSpPr txBox="1"/>
          <p:nvPr/>
        </p:nvSpPr>
        <p:spPr>
          <a:xfrm>
            <a:off x="8307628"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Build partnerships</a:t>
            </a:r>
          </a:p>
        </p:txBody>
      </p:sp>
      <p:sp>
        <p:nvSpPr>
          <p:cNvPr id="31" name="Rectangle 30"/>
          <p:cNvSpPr/>
          <p:nvPr/>
        </p:nvSpPr>
        <p:spPr>
          <a:xfrm>
            <a:off x="594360" y="4389120"/>
            <a:ext cx="11002975" cy="1828800"/>
          </a:xfrm>
          <a:prstGeom prst="rect">
            <a:avLst/>
          </a:prstGeom>
          <a:solidFill>
            <a:srgbClr val="EDF4FE"/>
          </a:solidFill>
          <a:ln>
            <a:noFill/>
          </a:ln>
          <a:effectLst/>
        </p:spPr>
        <p:txBody>
          <a:bodyPr rtlCol="0" anchor="ctr" lIns="73152" rIns="73152" tIns="36576" bIns="36576"/>
          <a:lstStyle/>
          <a:p>
            <a:pPr algn="ctr"/>
          </a:p>
        </p:txBody>
      </p:sp>
      <p:sp>
        <p:nvSpPr>
          <p:cNvPr id="32" name="TextBox 31"/>
          <p:cNvSpPr txBox="1"/>
          <p:nvPr/>
        </p:nvSpPr>
        <p:spPr>
          <a:xfrm>
            <a:off x="868680" y="457200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MILESTONES WE ARE WORKING TOWARDS</a:t>
            </a:r>
          </a:p>
        </p:txBody>
      </p:sp>
      <p:sp>
        <p:nvSpPr>
          <p:cNvPr id="33" name="TextBox 32"/>
          <p:cNvSpPr txBox="1"/>
          <p:nvPr/>
        </p:nvSpPr>
        <p:spPr>
          <a:xfrm>
            <a:off x="868680"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10,000</a:t>
            </a:r>
            <a:r>
              <a:rPr sz="1200" b="0" i="0">
                <a:solidFill>
                  <a:srgbClr val="61738A"/>
                </a:solidFill>
                <a:latin typeface="Inter"/>
              </a:rPr>
              <a:t>  free users</a:t>
            </a:r>
          </a:p>
        </p:txBody>
      </p:sp>
      <p:sp>
        <p:nvSpPr>
          <p:cNvPr id="34" name="TextBox 33"/>
          <p:cNvSpPr txBox="1"/>
          <p:nvPr/>
        </p:nvSpPr>
        <p:spPr>
          <a:xfrm>
            <a:off x="868680"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Threshold for a public launch event</a:t>
            </a:r>
          </a:p>
        </p:txBody>
      </p:sp>
      <p:sp>
        <p:nvSpPr>
          <p:cNvPr id="35" name="TextBox 34"/>
          <p:cNvSpPr txBox="1"/>
          <p:nvPr/>
        </p:nvSpPr>
        <p:spPr>
          <a:xfrm>
            <a:off x="4353458"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March 2027</a:t>
            </a:r>
            <a:r>
              <a:rPr sz="1200" b="0" i="0">
                <a:solidFill>
                  <a:srgbClr val="61738A"/>
                </a:solidFill>
                <a:latin typeface="Inter"/>
              </a:rPr>
              <a:t>  tentative</a:t>
            </a:r>
          </a:p>
        </p:txBody>
      </p:sp>
      <p:sp>
        <p:nvSpPr>
          <p:cNvPr id="36" name="TextBox 35"/>
          <p:cNvSpPr txBox="1"/>
          <p:nvPr/>
        </p:nvSpPr>
        <p:spPr>
          <a:xfrm>
            <a:off x="4353458"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Target timing, subject to readiness</a:t>
            </a:r>
          </a:p>
        </p:txBody>
      </p:sp>
      <p:sp>
        <p:nvSpPr>
          <p:cNvPr id="37" name="TextBox 36"/>
          <p:cNvSpPr txBox="1"/>
          <p:nvPr/>
        </p:nvSpPr>
        <p:spPr>
          <a:xfrm>
            <a:off x="7838236"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100,000</a:t>
            </a:r>
            <a:r>
              <a:rPr sz="1200" b="0" i="0">
                <a:solidFill>
                  <a:srgbClr val="61738A"/>
                </a:solidFill>
                <a:latin typeface="Inter"/>
              </a:rPr>
              <a:t>  free users</a:t>
            </a:r>
          </a:p>
        </p:txBody>
      </p:sp>
      <p:sp>
        <p:nvSpPr>
          <p:cNvPr id="38" name="TextBox 37"/>
          <p:cNvSpPr txBox="1"/>
          <p:nvPr/>
        </p:nvSpPr>
        <p:spPr>
          <a:xfrm>
            <a:off x="7838236"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Wider, longer-term ambition</a:t>
            </a:r>
          </a:p>
        </p:txBody>
      </p:sp>
      <p:sp>
        <p:nvSpPr>
          <p:cNvPr id="39" name="TextBox 38"/>
          <p:cNvSpPr txBox="1"/>
          <p:nvPr/>
        </p:nvSpPr>
        <p:spPr>
          <a:xfrm>
            <a:off x="868680" y="5870448"/>
            <a:ext cx="10515600" cy="274320"/>
          </a:xfrm>
          <a:prstGeom prst="rect">
            <a:avLst/>
          </a:prstGeom>
          <a:noFill/>
        </p:spPr>
        <p:txBody>
          <a:bodyPr wrap="square" lIns="0" rIns="0" tIns="0" bIns="0" anchor="t"/>
          <a:lstStyle/>
          <a:p>
            <a:pPr algn="l">
              <a:lnSpc>
                <a:spcPct val="115000"/>
              </a:lnSpc>
              <a:spcAft>
                <a:spcPts val="0"/>
              </a:spcAft>
            </a:pPr>
            <a:r>
              <a:rPr sz="1100" b="1" i="0">
                <a:solidFill>
                  <a:srgbClr val="10213B"/>
                </a:solidFill>
                <a:latin typeface="Inter"/>
              </a:rPr>
              <a:t>Targets and timing will be refined through the pilot. </a:t>
            </a:r>
            <a:r>
              <a:rPr sz="1100" b="0" i="0">
                <a:solidFill>
                  <a:srgbClr val="61738A"/>
                </a:solidFill>
                <a:latin typeface="Inter"/>
              </a:rPr>
              <a:t>These are ambitions, not current traction.</a:t>
            </a:r>
          </a:p>
        </p:txBody>
      </p:sp>
      <p:sp>
        <p:nvSpPr>
          <p:cNvPr id="40" name="TextBox 39"/>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1" name="TextBox 40"/>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THE PATH TO OUR MILESTONES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Each step must be earned by the one before it.</a:t>
            </a:r>
          </a:p>
        </p:txBody>
      </p:sp>
      <p:sp>
        <p:nvSpPr>
          <p:cNvPr id="4" name="Rounded Rectangle 3"/>
          <p:cNvSpPr/>
          <p:nvPr/>
        </p:nvSpPr>
        <p:spPr>
          <a:xfrm>
            <a:off x="9629363" y="402336"/>
            <a:ext cx="19679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TARGETS, NOT TRACTION</a:t>
            </a:r>
          </a:p>
        </p:txBody>
      </p:sp>
      <p:sp>
        <p:nvSpPr>
          <p:cNvPr id="5" name="Rectangle 4"/>
          <p:cNvSpPr/>
          <p:nvPr/>
        </p:nvSpPr>
        <p:spPr>
          <a:xfrm>
            <a:off x="594360" y="4343400"/>
            <a:ext cx="2164019" cy="1417320"/>
          </a:xfrm>
          <a:prstGeom prst="rect">
            <a:avLst/>
          </a:prstGeom>
          <a:solidFill>
            <a:srgbClr val="EDF4FE"/>
          </a:solidFill>
          <a:ln>
            <a:noFill/>
          </a:ln>
          <a:effectLst/>
        </p:spPr>
        <p:txBody>
          <a:bodyPr rtlCol="0" anchor="ctr" lIns="73152" rIns="73152" tIns="36576" bIns="36576"/>
          <a:lstStyle/>
          <a:p>
            <a:pPr algn="ctr"/>
          </a:p>
        </p:txBody>
      </p:sp>
      <p:sp>
        <p:nvSpPr>
          <p:cNvPr id="6" name="TextBox 5"/>
          <p:cNvSpPr txBox="1"/>
          <p:nvPr/>
        </p:nvSpPr>
        <p:spPr>
          <a:xfrm>
            <a:off x="758952" y="4480560"/>
            <a:ext cx="1834835" cy="457200"/>
          </a:xfrm>
          <a:prstGeom prst="rect">
            <a:avLst/>
          </a:prstGeom>
          <a:noFill/>
        </p:spPr>
        <p:txBody>
          <a:bodyPr wrap="square" lIns="0" rIns="0" tIns="0" bIns="0" anchor="t"/>
          <a:lstStyle/>
          <a:p>
            <a:pPr algn="l">
              <a:lnSpc>
                <a:spcPct val="115000"/>
              </a:lnSpc>
              <a:spcAft>
                <a:spcPts val="0"/>
              </a:spcAft>
            </a:pPr>
            <a:r>
              <a:rPr sz="1700" b="1" i="0">
                <a:solidFill>
                  <a:srgbClr val="10213B"/>
                </a:solidFill>
                <a:latin typeface="Inter"/>
              </a:rPr>
              <a:t>Shape</a:t>
            </a:r>
          </a:p>
        </p:txBody>
      </p:sp>
      <p:sp>
        <p:nvSpPr>
          <p:cNvPr id="7" name="TextBox 6"/>
          <p:cNvSpPr txBox="1"/>
          <p:nvPr/>
        </p:nvSpPr>
        <p:spPr>
          <a:xfrm>
            <a:off x="758952" y="4910328"/>
            <a:ext cx="1834835"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TODAY</a:t>
            </a:r>
          </a:p>
        </p:txBody>
      </p:sp>
      <p:sp>
        <p:nvSpPr>
          <p:cNvPr id="8" name="TextBox 7"/>
          <p:cNvSpPr txBox="1"/>
          <p:nvPr/>
        </p:nvSpPr>
        <p:spPr>
          <a:xfrm>
            <a:off x="758952" y="5184648"/>
            <a:ext cx="1834835" cy="10972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Concept, contributors and founder interviews</a:t>
            </a:r>
          </a:p>
        </p:txBody>
      </p:sp>
      <p:sp>
        <p:nvSpPr>
          <p:cNvPr id="9" name="Rectangle 8"/>
          <p:cNvSpPr/>
          <p:nvPr/>
        </p:nvSpPr>
        <p:spPr>
          <a:xfrm>
            <a:off x="2804099" y="3840479"/>
            <a:ext cx="2164019" cy="1920240"/>
          </a:xfrm>
          <a:prstGeom prst="rect">
            <a:avLst/>
          </a:prstGeom>
          <a:solidFill>
            <a:srgbClr val="DCE8FB"/>
          </a:solidFill>
          <a:ln>
            <a:noFill/>
          </a:ln>
          <a:effectLst/>
        </p:spPr>
        <p:txBody>
          <a:bodyPr rtlCol="0" anchor="ctr" lIns="73152" rIns="73152" tIns="36576" bIns="36576"/>
          <a:lstStyle/>
          <a:p>
            <a:pPr algn="ctr"/>
          </a:p>
        </p:txBody>
      </p:sp>
      <p:sp>
        <p:nvSpPr>
          <p:cNvPr id="10" name="TextBox 9"/>
          <p:cNvSpPr txBox="1"/>
          <p:nvPr/>
        </p:nvSpPr>
        <p:spPr>
          <a:xfrm>
            <a:off x="2968691" y="3977639"/>
            <a:ext cx="1834835" cy="457200"/>
          </a:xfrm>
          <a:prstGeom prst="rect">
            <a:avLst/>
          </a:prstGeom>
          <a:noFill/>
        </p:spPr>
        <p:txBody>
          <a:bodyPr wrap="square" lIns="0" rIns="0" tIns="0" bIns="0" anchor="t"/>
          <a:lstStyle/>
          <a:p>
            <a:pPr algn="l">
              <a:lnSpc>
                <a:spcPct val="115000"/>
              </a:lnSpc>
              <a:spcAft>
                <a:spcPts val="0"/>
              </a:spcAft>
            </a:pPr>
            <a:r>
              <a:rPr sz="1700" b="1" i="0">
                <a:solidFill>
                  <a:srgbClr val="10213B"/>
                </a:solidFill>
                <a:latin typeface="Inter"/>
              </a:rPr>
              <a:t>Pilot</a:t>
            </a:r>
          </a:p>
        </p:txBody>
      </p:sp>
      <p:sp>
        <p:nvSpPr>
          <p:cNvPr id="11" name="TextBox 10"/>
          <p:cNvSpPr txBox="1"/>
          <p:nvPr/>
        </p:nvSpPr>
        <p:spPr>
          <a:xfrm>
            <a:off x="2968691" y="4407407"/>
            <a:ext cx="1834835" cy="274320"/>
          </a:xfrm>
          <a:prstGeom prst="rect">
            <a:avLst/>
          </a:prstGeom>
          <a:noFill/>
        </p:spPr>
        <p:txBody>
          <a:bodyPr wrap="square" lIns="0" rIns="0" tIns="0" bIns="0" anchor="t"/>
          <a:lstStyle/>
          <a:p>
            <a:pPr algn="l">
              <a:lnSpc>
                <a:spcPct val="115000"/>
              </a:lnSpc>
              <a:spcAft>
                <a:spcPts val="0"/>
              </a:spcAft>
            </a:pPr>
            <a:r>
              <a:rPr sz="850" b="1" i="0" spc="100">
                <a:solidFill>
                  <a:srgbClr val="1765D1"/>
                </a:solidFill>
                <a:latin typeface="Inter"/>
              </a:rPr>
              <a:t>NEXT</a:t>
            </a:r>
          </a:p>
        </p:txBody>
      </p:sp>
      <p:sp>
        <p:nvSpPr>
          <p:cNvPr id="12" name="TextBox 11"/>
          <p:cNvSpPr txBox="1"/>
          <p:nvPr/>
        </p:nvSpPr>
        <p:spPr>
          <a:xfrm>
            <a:off x="2968691" y="4681727"/>
            <a:ext cx="1834835" cy="10972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Small cohort; prove usefulness and cost to serve</a:t>
            </a:r>
          </a:p>
        </p:txBody>
      </p:sp>
      <p:sp>
        <p:nvSpPr>
          <p:cNvPr id="13" name="Rectangle 12"/>
          <p:cNvSpPr/>
          <p:nvPr/>
        </p:nvSpPr>
        <p:spPr>
          <a:xfrm>
            <a:off x="5013838" y="3337559"/>
            <a:ext cx="2164019" cy="2423160"/>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5178430" y="3474719"/>
            <a:ext cx="1834835" cy="457200"/>
          </a:xfrm>
          <a:prstGeom prst="rect">
            <a:avLst/>
          </a:prstGeom>
          <a:noFill/>
        </p:spPr>
        <p:txBody>
          <a:bodyPr wrap="square" lIns="0" rIns="0" tIns="0" bIns="0" anchor="t"/>
          <a:lstStyle/>
          <a:p>
            <a:pPr algn="l">
              <a:lnSpc>
                <a:spcPct val="115000"/>
              </a:lnSpc>
              <a:spcAft>
                <a:spcPts val="0"/>
              </a:spcAft>
            </a:pPr>
            <a:r>
              <a:rPr sz="2000" b="1" i="0">
                <a:solidFill>
                  <a:srgbClr val="FFFFFF"/>
                </a:solidFill>
                <a:latin typeface="Inter"/>
              </a:rPr>
              <a:t>10,000</a:t>
            </a:r>
          </a:p>
        </p:txBody>
      </p:sp>
      <p:sp>
        <p:nvSpPr>
          <p:cNvPr id="15" name="TextBox 14"/>
          <p:cNvSpPr txBox="1"/>
          <p:nvPr/>
        </p:nvSpPr>
        <p:spPr>
          <a:xfrm>
            <a:off x="5178430" y="3904487"/>
            <a:ext cx="1834835" cy="274320"/>
          </a:xfrm>
          <a:prstGeom prst="rect">
            <a:avLst/>
          </a:prstGeom>
          <a:noFill/>
        </p:spPr>
        <p:txBody>
          <a:bodyPr wrap="square" lIns="0" rIns="0" tIns="0" bIns="0" anchor="t"/>
          <a:lstStyle/>
          <a:p>
            <a:pPr algn="l">
              <a:lnSpc>
                <a:spcPct val="115000"/>
              </a:lnSpc>
              <a:spcAft>
                <a:spcPts val="0"/>
              </a:spcAft>
            </a:pPr>
            <a:r>
              <a:rPr sz="850" b="1" i="0" spc="100">
                <a:solidFill>
                  <a:srgbClr val="DCE6F5"/>
                </a:solidFill>
                <a:latin typeface="Inter"/>
              </a:rPr>
              <a:t>LAUNCH THRESHOLD</a:t>
            </a:r>
          </a:p>
        </p:txBody>
      </p:sp>
      <p:sp>
        <p:nvSpPr>
          <p:cNvPr id="16" name="TextBox 15"/>
          <p:cNvSpPr txBox="1"/>
          <p:nvPr/>
        </p:nvSpPr>
        <p:spPr>
          <a:xfrm>
            <a:off x="5178430" y="4178807"/>
            <a:ext cx="1834835" cy="1097280"/>
          </a:xfrm>
          <a:prstGeom prst="rect">
            <a:avLst/>
          </a:prstGeom>
          <a:noFill/>
        </p:spPr>
        <p:txBody>
          <a:bodyPr wrap="square" lIns="0" rIns="0" tIns="0" bIns="0" anchor="t"/>
          <a:lstStyle/>
          <a:p>
            <a:pPr algn="l">
              <a:lnSpc>
                <a:spcPct val="118000"/>
              </a:lnSpc>
              <a:spcAft>
                <a:spcPts val="0"/>
              </a:spcAft>
            </a:pPr>
            <a:r>
              <a:rPr sz="1050" b="0" i="0">
                <a:solidFill>
                  <a:srgbClr val="E3ECF8"/>
                </a:solidFill>
                <a:latin typeface="Inter"/>
              </a:rPr>
              <a:t>Free users — the threshold for a public launch event</a:t>
            </a:r>
          </a:p>
        </p:txBody>
      </p:sp>
      <p:sp>
        <p:nvSpPr>
          <p:cNvPr id="17" name="Rectangle 16"/>
          <p:cNvSpPr/>
          <p:nvPr/>
        </p:nvSpPr>
        <p:spPr>
          <a:xfrm>
            <a:off x="7223577" y="2834639"/>
            <a:ext cx="2164019" cy="2926080"/>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7388169" y="2971799"/>
            <a:ext cx="1834835" cy="457200"/>
          </a:xfrm>
          <a:prstGeom prst="rect">
            <a:avLst/>
          </a:prstGeom>
          <a:noFill/>
        </p:spPr>
        <p:txBody>
          <a:bodyPr wrap="square" lIns="0" rIns="0" tIns="0" bIns="0" anchor="t"/>
          <a:lstStyle/>
          <a:p>
            <a:pPr algn="l">
              <a:lnSpc>
                <a:spcPct val="115000"/>
              </a:lnSpc>
              <a:spcAft>
                <a:spcPts val="0"/>
              </a:spcAft>
            </a:pPr>
            <a:r>
              <a:rPr sz="2000" b="1" i="0">
                <a:solidFill>
                  <a:srgbClr val="FFFFFF"/>
                </a:solidFill>
                <a:latin typeface="Inter"/>
              </a:rPr>
              <a:t>March 2027</a:t>
            </a:r>
          </a:p>
        </p:txBody>
      </p:sp>
      <p:sp>
        <p:nvSpPr>
          <p:cNvPr id="19" name="TextBox 18"/>
          <p:cNvSpPr txBox="1"/>
          <p:nvPr/>
        </p:nvSpPr>
        <p:spPr>
          <a:xfrm>
            <a:off x="7388169" y="3401568"/>
            <a:ext cx="1834835" cy="274320"/>
          </a:xfrm>
          <a:prstGeom prst="rect">
            <a:avLst/>
          </a:prstGeom>
          <a:noFill/>
        </p:spPr>
        <p:txBody>
          <a:bodyPr wrap="square" lIns="0" rIns="0" tIns="0" bIns="0" anchor="t"/>
          <a:lstStyle/>
          <a:p>
            <a:pPr algn="l">
              <a:lnSpc>
                <a:spcPct val="115000"/>
              </a:lnSpc>
              <a:spcAft>
                <a:spcPts val="0"/>
              </a:spcAft>
            </a:pPr>
            <a:r>
              <a:rPr sz="850" b="1" i="0" spc="100">
                <a:solidFill>
                  <a:srgbClr val="DCE6F5"/>
                </a:solidFill>
                <a:latin typeface="Inter"/>
              </a:rPr>
              <a:t>TENTATIVE TARGET</a:t>
            </a:r>
          </a:p>
        </p:txBody>
      </p:sp>
      <p:sp>
        <p:nvSpPr>
          <p:cNvPr id="20" name="TextBox 19"/>
          <p:cNvSpPr txBox="1"/>
          <p:nvPr/>
        </p:nvSpPr>
        <p:spPr>
          <a:xfrm>
            <a:off x="7388169" y="3675887"/>
            <a:ext cx="1834835" cy="1097280"/>
          </a:xfrm>
          <a:prstGeom prst="rect">
            <a:avLst/>
          </a:prstGeom>
          <a:noFill/>
        </p:spPr>
        <p:txBody>
          <a:bodyPr wrap="square" lIns="0" rIns="0" tIns="0" bIns="0" anchor="t"/>
          <a:lstStyle/>
          <a:p>
            <a:pPr algn="l">
              <a:lnSpc>
                <a:spcPct val="118000"/>
              </a:lnSpc>
              <a:spcAft>
                <a:spcPts val="0"/>
              </a:spcAft>
            </a:pPr>
            <a:r>
              <a:rPr sz="1050" b="0" i="0">
                <a:solidFill>
                  <a:srgbClr val="E3ECF8"/>
                </a:solidFill>
                <a:latin typeface="Inter"/>
              </a:rPr>
              <a:t>Target timing for launch, subject to readiness</a:t>
            </a:r>
          </a:p>
        </p:txBody>
      </p:sp>
      <p:sp>
        <p:nvSpPr>
          <p:cNvPr id="21" name="Rectangle 20"/>
          <p:cNvSpPr/>
          <p:nvPr/>
        </p:nvSpPr>
        <p:spPr>
          <a:xfrm>
            <a:off x="9433316" y="2331720"/>
            <a:ext cx="2164019" cy="3429000"/>
          </a:xfrm>
          <a:prstGeom prst="rect">
            <a:avLst/>
          </a:prstGeom>
          <a:solidFill>
            <a:srgbClr val="10213B"/>
          </a:solidFill>
          <a:ln>
            <a:noFill/>
          </a:ln>
          <a:effectLst/>
        </p:spPr>
        <p:txBody>
          <a:bodyPr rtlCol="0" anchor="ctr" lIns="73152" rIns="73152" tIns="36576" bIns="36576"/>
          <a:lstStyle/>
          <a:p>
            <a:pPr algn="ctr"/>
          </a:p>
        </p:txBody>
      </p:sp>
      <p:sp>
        <p:nvSpPr>
          <p:cNvPr id="22" name="TextBox 21"/>
          <p:cNvSpPr txBox="1"/>
          <p:nvPr/>
        </p:nvSpPr>
        <p:spPr>
          <a:xfrm>
            <a:off x="9597908" y="2468879"/>
            <a:ext cx="1834835" cy="457200"/>
          </a:xfrm>
          <a:prstGeom prst="rect">
            <a:avLst/>
          </a:prstGeom>
          <a:noFill/>
        </p:spPr>
        <p:txBody>
          <a:bodyPr wrap="square" lIns="0" rIns="0" tIns="0" bIns="0" anchor="t"/>
          <a:lstStyle/>
          <a:p>
            <a:pPr algn="l">
              <a:lnSpc>
                <a:spcPct val="115000"/>
              </a:lnSpc>
              <a:spcAft>
                <a:spcPts val="0"/>
              </a:spcAft>
            </a:pPr>
            <a:r>
              <a:rPr sz="2000" b="1" i="0">
                <a:solidFill>
                  <a:srgbClr val="FFFFFF"/>
                </a:solidFill>
                <a:latin typeface="Inter"/>
              </a:rPr>
              <a:t>100,000</a:t>
            </a:r>
          </a:p>
        </p:txBody>
      </p:sp>
      <p:sp>
        <p:nvSpPr>
          <p:cNvPr id="23" name="TextBox 22"/>
          <p:cNvSpPr txBox="1"/>
          <p:nvPr/>
        </p:nvSpPr>
        <p:spPr>
          <a:xfrm>
            <a:off x="9597908" y="2898648"/>
            <a:ext cx="1834835" cy="274320"/>
          </a:xfrm>
          <a:prstGeom prst="rect">
            <a:avLst/>
          </a:prstGeom>
          <a:noFill/>
        </p:spPr>
        <p:txBody>
          <a:bodyPr wrap="square" lIns="0" rIns="0" tIns="0" bIns="0" anchor="t"/>
          <a:lstStyle/>
          <a:p>
            <a:pPr algn="l">
              <a:lnSpc>
                <a:spcPct val="115000"/>
              </a:lnSpc>
              <a:spcAft>
                <a:spcPts val="0"/>
              </a:spcAft>
            </a:pPr>
            <a:r>
              <a:rPr sz="850" b="1" i="0" spc="100">
                <a:solidFill>
                  <a:srgbClr val="DCE6F5"/>
                </a:solidFill>
                <a:latin typeface="Inter"/>
              </a:rPr>
              <a:t>WIDER AMBITION</a:t>
            </a:r>
          </a:p>
        </p:txBody>
      </p:sp>
      <p:sp>
        <p:nvSpPr>
          <p:cNvPr id="24" name="TextBox 23"/>
          <p:cNvSpPr txBox="1"/>
          <p:nvPr/>
        </p:nvSpPr>
        <p:spPr>
          <a:xfrm>
            <a:off x="9597908" y="3172968"/>
            <a:ext cx="1834835" cy="1097280"/>
          </a:xfrm>
          <a:prstGeom prst="rect">
            <a:avLst/>
          </a:prstGeom>
          <a:noFill/>
        </p:spPr>
        <p:txBody>
          <a:bodyPr wrap="square" lIns="0" rIns="0" tIns="0" bIns="0" anchor="t"/>
          <a:lstStyle/>
          <a:p>
            <a:pPr algn="l">
              <a:lnSpc>
                <a:spcPct val="118000"/>
              </a:lnSpc>
              <a:spcAft>
                <a:spcPts val="0"/>
              </a:spcAft>
            </a:pPr>
            <a:r>
              <a:rPr sz="1050" b="0" i="0">
                <a:solidFill>
                  <a:srgbClr val="E3ECF8"/>
                </a:solidFill>
                <a:latin typeface="Inter"/>
              </a:rPr>
              <a:t>Free users across the UAE and beyond</a:t>
            </a:r>
          </a:p>
        </p:txBody>
      </p:sp>
      <p:sp>
        <p:nvSpPr>
          <p:cNvPr id="25" name="TextBox 24"/>
          <p:cNvSpPr txBox="1"/>
          <p:nvPr/>
        </p:nvSpPr>
        <p:spPr>
          <a:xfrm>
            <a:off x="594360" y="5897880"/>
            <a:ext cx="11002975" cy="320040"/>
          </a:xfrm>
          <a:prstGeom prst="rect">
            <a:avLst/>
          </a:prstGeom>
          <a:noFill/>
        </p:spPr>
        <p:txBody>
          <a:bodyPr wrap="square" lIns="0" rIns="0" tIns="0" bIns="0" anchor="t"/>
          <a:lstStyle/>
          <a:p>
            <a:pPr algn="l">
              <a:lnSpc>
                <a:spcPct val="115000"/>
              </a:lnSpc>
              <a:spcAft>
                <a:spcPts val="0"/>
              </a:spcAft>
            </a:pPr>
            <a:r>
              <a:rPr sz="1050" b="0" i="0">
                <a:solidFill>
                  <a:srgbClr val="61738A"/>
                </a:solidFill>
                <a:latin typeface="Inter"/>
              </a:rPr>
              <a:t>All figures are targets to be refined through the pilot. None represents current users or traction.</a:t>
            </a:r>
          </a:p>
        </p:txBody>
      </p:sp>
      <p:sp>
        <p:nvSpPr>
          <p:cNvPr id="26" name="TextBox 2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7" name="TextBox 2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RISKS AND HOW WE ADDRESS THEM</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Being honest about what could go wrong.</a:t>
            </a:r>
          </a:p>
        </p:txBody>
      </p:sp>
      <p:graphicFrame>
        <p:nvGraphicFramePr>
          <p:cNvPr id="4" name="Table 3"/>
          <p:cNvGraphicFramePr>
            <a:graphicFrameLocks noGrp="1"/>
          </p:cNvGraphicFramePr>
          <p:nvPr/>
        </p:nvGraphicFramePr>
        <p:xfrm>
          <a:off x="594360" y="1920240"/>
          <a:ext cx="11000232" cy="4096512"/>
        </p:xfrm>
        <a:graphic>
          <a:graphicData uri="http://schemas.openxmlformats.org/drawingml/2006/table">
            <a:tbl>
              <a:tblPr firstRow="0" bandRow="0">
                <a:tableStyleId>{5C22544A-7EE6-4342-B048-85BDC9FD1C3A}</a:tableStyleId>
              </a:tblPr>
              <a:tblGrid>
                <a:gridCol w="2926080"/>
                <a:gridCol w="3520440"/>
                <a:gridCol w="4553712"/>
              </a:tblGrid>
              <a:tr h="512064">
                <a:tc>
                  <a:txBody>
                    <a:bodyPr wrap="square" anchor="t"/>
                    <a:lstStyle/>
                    <a:p>
                      <a:pPr algn="l">
                        <a:lnSpc>
                          <a:spcPct val="115000"/>
                        </a:lnSpc>
                        <a:spcAft>
                          <a:spcPts val="0"/>
                        </a:spcAft>
                      </a:pPr>
                      <a:r>
                        <a:rPr sz="950" b="1" i="0" spc="60">
                          <a:solidFill>
                            <a:srgbClr val="FFFFFF"/>
                          </a:solidFill>
                          <a:latin typeface="Inter"/>
                        </a:rPr>
                        <a:t>RISK</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WHY IT MATTERS</a:t>
                      </a:r>
                    </a:p>
                  </a:txBody>
                  <a:tcPr marL="109728" marR="109728" marT="54864" marB="54864" anchor="ctr">
                    <a:solidFill>
                      <a:srgbClr val="10213B"/>
                    </a:solidFill>
                  </a:tcPr>
                </a:tc>
                <a:tc>
                  <a:txBody>
                    <a:bodyPr wrap="square" anchor="t"/>
                    <a:lstStyle/>
                    <a:p>
                      <a:pPr algn="l">
                        <a:lnSpc>
                          <a:spcPct val="115000"/>
                        </a:lnSpc>
                        <a:spcAft>
                          <a:spcPts val="0"/>
                        </a:spcAft>
                      </a:pPr>
                      <a:r>
                        <a:rPr sz="950" b="1" i="0" spc="60">
                          <a:solidFill>
                            <a:srgbClr val="FFFFFF"/>
                          </a:solidFill>
                          <a:latin typeface="Inter"/>
                        </a:rPr>
                        <a:t>HOW WE ADDRESS IT</a:t>
                      </a:r>
                    </a:p>
                  </a:txBody>
                  <a:tcPr marL="109728" marR="109728" marT="54864" marB="54864" anchor="ctr">
                    <a:solidFill>
                      <a:srgbClr val="10213B"/>
                    </a:solidFill>
                  </a:tcPr>
                </a:tc>
              </a:tr>
              <a:tr h="512064">
                <a:tc>
                  <a:txBody>
                    <a:bodyPr wrap="square" anchor="t"/>
                    <a:lstStyle/>
                    <a:p>
                      <a:pPr algn="l">
                        <a:lnSpc>
                          <a:spcPct val="115000"/>
                        </a:lnSpc>
                        <a:spcAft>
                          <a:spcPts val="0"/>
                        </a:spcAft>
                      </a:pPr>
                      <a:r>
                        <a:rPr sz="1100" b="1" i="0">
                          <a:solidFill>
                            <a:srgbClr val="10213B"/>
                          </a:solidFill>
                          <a:latin typeface="Inter"/>
                        </a:rPr>
                        <a:t>Low founder engagement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Without use, there is no ecosystem</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Small pilot, practical formats, measure return rate</a:t>
                      </a:r>
                    </a:p>
                  </a:txBody>
                  <a:tcPr marL="109728" marR="109728" marT="54864" marB="54864" anchor="ctr">
                    <a:solidFill>
                      <a:srgbClr val="FFFFFF"/>
                    </a:solidFill>
                  </a:tcPr>
                </a:tc>
              </a:tr>
              <a:tr h="512064">
                <a:tc>
                  <a:txBody>
                    <a:bodyPr wrap="square" anchor="t"/>
                    <a:lstStyle/>
                    <a:p>
                      <a:pPr algn="l">
                        <a:lnSpc>
                          <a:spcPct val="115000"/>
                        </a:lnSpc>
                        <a:spcAft>
                          <a:spcPts val="0"/>
                        </a:spcAft>
                      </a:pPr>
                      <a:r>
                        <a:rPr sz="1100" b="1" i="0">
                          <a:solidFill>
                            <a:srgbClr val="10213B"/>
                          </a:solidFill>
                          <a:latin typeface="Inter"/>
                        </a:rPr>
                        <a:t>Inconsistent delivery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Volunteer time can be unreliable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Clear commitments; roles based on reliable delivery</a:t>
                      </a:r>
                    </a:p>
                  </a:txBody>
                  <a:tcPr marL="109728" marR="109728" marT="54864" marB="54864" anchor="ctr">
                    <a:solidFill>
                      <a:srgbClr val="EDF4FE"/>
                    </a:solidFill>
                  </a:tcPr>
                </a:tc>
              </a:tr>
              <a:tr h="512064">
                <a:tc>
                  <a:txBody>
                    <a:bodyPr wrap="square" anchor="t"/>
                    <a:lstStyle/>
                    <a:p>
                      <a:pPr algn="l">
                        <a:lnSpc>
                          <a:spcPct val="115000"/>
                        </a:lnSpc>
                        <a:spcAft>
                          <a:spcPts val="0"/>
                        </a:spcAft>
                      </a:pPr>
                      <a:r>
                        <a:rPr sz="1100" b="1" i="0">
                          <a:solidFill>
                            <a:srgbClr val="10213B"/>
                          </a:solidFill>
                          <a:latin typeface="Inter"/>
                        </a:rPr>
                        <a:t>Quality of advice</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Poor advice harms founders and trust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Vetted contributors, founder ratings, human escalation</a:t>
                      </a:r>
                    </a:p>
                  </a:txBody>
                  <a:tcPr marL="109728" marR="109728" marT="54864" marB="54864" anchor="ctr">
                    <a:solidFill>
                      <a:srgbClr val="FFFFFF"/>
                    </a:solidFill>
                  </a:tcPr>
                </a:tc>
              </a:tr>
              <a:tr h="512064">
                <a:tc>
                  <a:txBody>
                    <a:bodyPr wrap="square" anchor="t"/>
                    <a:lstStyle/>
                    <a:p>
                      <a:pPr algn="l">
                        <a:lnSpc>
                          <a:spcPct val="115000"/>
                        </a:lnSpc>
                        <a:spcAft>
                          <a:spcPts val="0"/>
                        </a:spcAft>
                      </a:pPr>
                      <a:r>
                        <a:rPr sz="1100" b="1" i="0">
                          <a:solidFill>
                            <a:srgbClr val="10213B"/>
                          </a:solidFill>
                          <a:latin typeface="Inter"/>
                        </a:rPr>
                        <a:t>Cost to serve too high</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Free access must be sustainable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Group formats, unit-economics test for every service</a:t>
                      </a:r>
                    </a:p>
                  </a:txBody>
                  <a:tcPr marL="109728" marR="109728" marT="54864" marB="54864" anchor="ctr">
                    <a:solidFill>
                      <a:srgbClr val="EDF4FE"/>
                    </a:solidFill>
                  </a:tcPr>
                </a:tc>
              </a:tr>
              <a:tr h="512064">
                <a:tc>
                  <a:txBody>
                    <a:bodyPr wrap="square" anchor="t"/>
                    <a:lstStyle/>
                    <a:p>
                      <a:pPr algn="l">
                        <a:lnSpc>
                          <a:spcPct val="115000"/>
                        </a:lnSpc>
                        <a:spcAft>
                          <a:spcPts val="0"/>
                        </a:spcAft>
                      </a:pPr>
                      <a:r>
                        <a:rPr sz="1100" b="1" i="0">
                          <a:solidFill>
                            <a:srgbClr val="10213B"/>
                          </a:solidFill>
                          <a:latin typeface="Inter"/>
                        </a:rPr>
                        <a:t>Platform built too early</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Wasted effort on unused features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Simple tools first; build what the pilot proves</a:t>
                      </a:r>
                    </a:p>
                  </a:txBody>
                  <a:tcPr marL="109728" marR="109728" marT="54864" marB="54864" anchor="ctr">
                    <a:solidFill>
                      <a:srgbClr val="FFFFFF"/>
                    </a:solidFill>
                  </a:tcPr>
                </a:tc>
              </a:tr>
              <a:tr h="512064">
                <a:tc>
                  <a:txBody>
                    <a:bodyPr wrap="square" anchor="t"/>
                    <a:lstStyle/>
                    <a:p>
                      <a:pPr algn="l">
                        <a:lnSpc>
                          <a:spcPct val="115000"/>
                        </a:lnSpc>
                        <a:spcAft>
                          <a:spcPts val="0"/>
                        </a:spcAft>
                      </a:pPr>
                      <a:r>
                        <a:rPr sz="1100" b="1" i="0">
                          <a:solidFill>
                            <a:srgbClr val="10213B"/>
                          </a:solidFill>
                          <a:latin typeface="Inter"/>
                        </a:rPr>
                        <a:t>Data and privacy</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Founder trust is essential</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Consent-first design; UAE data-protection law review</a:t>
                      </a:r>
                    </a:p>
                  </a:txBody>
                  <a:tcPr marL="109728" marR="109728" marT="54864" marB="54864" anchor="ctr">
                    <a:solidFill>
                      <a:srgbClr val="EDF4FE"/>
                    </a:solidFill>
                  </a:tcPr>
                </a:tc>
              </a:tr>
              <a:tr h="512064">
                <a:tc>
                  <a:txBody>
                    <a:bodyPr wrap="square" anchor="t"/>
                    <a:lstStyle/>
                    <a:p>
                      <a:pPr algn="l">
                        <a:lnSpc>
                          <a:spcPct val="115000"/>
                        </a:lnSpc>
                        <a:spcAft>
                          <a:spcPts val="0"/>
                        </a:spcAft>
                      </a:pPr>
                      <a:r>
                        <a:rPr sz="1100" b="1" i="0">
                          <a:solidFill>
                            <a:srgbClr val="10213B"/>
                          </a:solidFill>
                          <a:latin typeface="Inter"/>
                        </a:rPr>
                        <a:t>Over-promising</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Credibility with founders and partners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Clear stage labels; no claims beyond evidence</a:t>
                      </a:r>
                    </a:p>
                  </a:txBody>
                  <a:tcPr marL="109728" marR="109728" marT="54864" marB="54864" anchor="ctr">
                    <a:solidFill>
                      <a:srgbClr val="FFFFFF"/>
                    </a:solidFill>
                  </a:tcPr>
                </a:tc>
              </a:tr>
            </a:tbl>
          </a:graphicData>
        </a:graphic>
      </p:graphicFrame>
      <p:sp>
        <p:nvSpPr>
          <p:cNvPr id="5" name="TextBox 4"/>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6" name="TextBox 5"/>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1097280"/>
            <a:ext cx="3657600" cy="1280160"/>
          </a:xfrm>
          <a:prstGeom prst="rect">
            <a:avLst/>
          </a:prstGeom>
          <a:noFill/>
        </p:spPr>
        <p:txBody>
          <a:bodyPr wrap="square" lIns="0" rIns="0" tIns="0" bIns="0" anchor="t"/>
          <a:lstStyle/>
          <a:p>
            <a:pPr algn="l">
              <a:lnSpc>
                <a:spcPct val="115000"/>
              </a:lnSpc>
              <a:spcAft>
                <a:spcPts val="0"/>
              </a:spcAft>
            </a:pPr>
            <a:r>
              <a:rPr sz="7200" b="1" i="0">
                <a:solidFill>
                  <a:srgbClr val="1765D1"/>
                </a:solidFill>
                <a:latin typeface="Inter"/>
              </a:rPr>
              <a:t>08</a:t>
            </a:r>
          </a:p>
        </p:txBody>
      </p:sp>
      <p:sp>
        <p:nvSpPr>
          <p:cNvPr id="4" name="TextBox 3"/>
          <p:cNvSpPr txBox="1"/>
          <p:nvPr/>
        </p:nvSpPr>
        <p:spPr>
          <a:xfrm>
            <a:off x="685800" y="2514600"/>
            <a:ext cx="6949440" cy="1463040"/>
          </a:xfrm>
          <a:prstGeom prst="rect">
            <a:avLst/>
          </a:prstGeom>
          <a:noFill/>
        </p:spPr>
        <p:txBody>
          <a:bodyPr wrap="square" lIns="0" rIns="0" tIns="0" bIns="0" anchor="t"/>
          <a:lstStyle/>
          <a:p>
            <a:pPr algn="l">
              <a:lnSpc>
                <a:spcPct val="100000"/>
              </a:lnSpc>
              <a:spcAft>
                <a:spcPts val="0"/>
              </a:spcAft>
            </a:pPr>
            <a:r>
              <a:rPr sz="4000" b="1" i="0">
                <a:solidFill>
                  <a:srgbClr val="FFFFFF"/>
                </a:solidFill>
                <a:latin typeface="Inter"/>
              </a:rPr>
              <a:t>People and participation</a:t>
            </a:r>
          </a:p>
        </p:txBody>
      </p:sp>
      <p:sp>
        <p:nvSpPr>
          <p:cNvPr id="5" name="TextBox 4"/>
          <p:cNvSpPr txBox="1"/>
          <p:nvPr/>
        </p:nvSpPr>
        <p:spPr>
          <a:xfrm>
            <a:off x="685800" y="4069080"/>
            <a:ext cx="6400800" cy="1280160"/>
          </a:xfrm>
          <a:prstGeom prst="rect">
            <a:avLst/>
          </a:prstGeom>
          <a:noFill/>
        </p:spPr>
        <p:txBody>
          <a:bodyPr wrap="square" lIns="0" rIns="0" tIns="0" bIns="0" anchor="t"/>
          <a:lstStyle/>
          <a:p>
            <a:pPr algn="l">
              <a:lnSpc>
                <a:spcPct val="130000"/>
              </a:lnSpc>
              <a:spcAft>
                <a:spcPts val="0"/>
              </a:spcAft>
            </a:pPr>
            <a:r>
              <a:rPr sz="1600" b="0" i="0">
                <a:solidFill>
                  <a:srgbClr val="C9D6E8"/>
                </a:solidFill>
                <a:latin typeface="Inter"/>
              </a:rPr>
              <a:t>Capabilities, contribution, FAQ, glossary and invitation</a:t>
            </a:r>
          </a:p>
        </p:txBody>
      </p:sp>
      <p:sp>
        <p:nvSpPr>
          <p:cNvPr id="6" name="TextBox 5"/>
          <p:cNvSpPr txBox="1"/>
          <p:nvPr/>
        </p:nvSpPr>
        <p:spPr>
          <a:xfrm>
            <a:off x="8092440" y="1828800"/>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IN THIS CHAPTER</a:t>
            </a:r>
          </a:p>
        </p:txBody>
      </p:sp>
      <p:cxnSp>
        <p:nvCxnSpPr>
          <p:cNvPr id="7" name="Connector 6"/>
          <p:cNvCxnSpPr/>
          <p:nvPr/>
        </p:nvCxnSpPr>
        <p:spPr>
          <a:xfrm>
            <a:off x="8092440" y="2240280"/>
            <a:ext cx="3502152" cy="0"/>
          </a:xfrm>
          <a:prstGeom prst="line">
            <a:avLst/>
          </a:prstGeom>
          <a:ln w="12700">
            <a:solidFill>
              <a:srgbClr val="2E4A72"/>
            </a:solidFill>
          </a:ln>
        </p:spPr>
      </p:cxnSp>
      <p:sp>
        <p:nvSpPr>
          <p:cNvPr id="8" name="TextBox 7"/>
          <p:cNvSpPr txBox="1"/>
          <p:nvPr/>
        </p:nvSpPr>
        <p:spPr>
          <a:xfrm>
            <a:off x="8092440" y="2331720"/>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Capabilities</a:t>
            </a:r>
          </a:p>
        </p:txBody>
      </p:sp>
      <p:cxnSp>
        <p:nvCxnSpPr>
          <p:cNvPr id="9" name="Connector 8"/>
          <p:cNvCxnSpPr/>
          <p:nvPr/>
        </p:nvCxnSpPr>
        <p:spPr>
          <a:xfrm>
            <a:off x="8092440" y="2715768"/>
            <a:ext cx="3502152" cy="0"/>
          </a:xfrm>
          <a:prstGeom prst="line">
            <a:avLst/>
          </a:prstGeom>
          <a:ln w="12700">
            <a:solidFill>
              <a:srgbClr val="2E4A72"/>
            </a:solidFill>
          </a:ln>
        </p:spPr>
      </p:cxnSp>
      <p:sp>
        <p:nvSpPr>
          <p:cNvPr id="10" name="TextBox 9"/>
          <p:cNvSpPr txBox="1"/>
          <p:nvPr/>
        </p:nvSpPr>
        <p:spPr>
          <a:xfrm>
            <a:off x="8092440" y="2807208"/>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Ways to contribute</a:t>
            </a:r>
          </a:p>
        </p:txBody>
      </p:sp>
      <p:cxnSp>
        <p:nvCxnSpPr>
          <p:cNvPr id="11" name="Connector 10"/>
          <p:cNvCxnSpPr/>
          <p:nvPr/>
        </p:nvCxnSpPr>
        <p:spPr>
          <a:xfrm>
            <a:off x="8092440" y="3191256"/>
            <a:ext cx="3502152" cy="0"/>
          </a:xfrm>
          <a:prstGeom prst="line">
            <a:avLst/>
          </a:prstGeom>
          <a:ln w="12700">
            <a:solidFill>
              <a:srgbClr val="2E4A72"/>
            </a:solidFill>
          </a:ln>
        </p:spPr>
      </p:cxnSp>
      <p:sp>
        <p:nvSpPr>
          <p:cNvPr id="12" name="TextBox 11"/>
          <p:cNvSpPr txBox="1"/>
          <p:nvPr/>
        </p:nvSpPr>
        <p:spPr>
          <a:xfrm>
            <a:off x="8092440" y="3282696"/>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FAQ and glossary</a:t>
            </a:r>
          </a:p>
        </p:txBody>
      </p:sp>
      <p:cxnSp>
        <p:nvCxnSpPr>
          <p:cNvPr id="13" name="Connector 12"/>
          <p:cNvCxnSpPr/>
          <p:nvPr/>
        </p:nvCxnSpPr>
        <p:spPr>
          <a:xfrm>
            <a:off x="8092440" y="3666744"/>
            <a:ext cx="3502152" cy="0"/>
          </a:xfrm>
          <a:prstGeom prst="line">
            <a:avLst/>
          </a:prstGeom>
          <a:ln w="12700">
            <a:solidFill>
              <a:srgbClr val="2E4A72"/>
            </a:solidFill>
          </a:ln>
        </p:spPr>
      </p:cxnSp>
      <p:sp>
        <p:nvSpPr>
          <p:cNvPr id="14" name="TextBox 13"/>
          <p:cNvSpPr txBox="1"/>
          <p:nvPr/>
        </p:nvSpPr>
        <p:spPr>
          <a:xfrm>
            <a:off x="8092440" y="3758183"/>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Sources</a:t>
            </a:r>
          </a:p>
        </p:txBody>
      </p:sp>
      <p:cxnSp>
        <p:nvCxnSpPr>
          <p:cNvPr id="15" name="Connector 14"/>
          <p:cNvCxnSpPr/>
          <p:nvPr/>
        </p:nvCxnSpPr>
        <p:spPr>
          <a:xfrm>
            <a:off x="8092440" y="4142232"/>
            <a:ext cx="3502152" cy="0"/>
          </a:xfrm>
          <a:prstGeom prst="line">
            <a:avLst/>
          </a:prstGeom>
          <a:ln w="12700">
            <a:solidFill>
              <a:srgbClr val="2E4A72"/>
            </a:solidFill>
          </a:ln>
        </p:spPr>
      </p:cxnSp>
      <p:sp>
        <p:nvSpPr>
          <p:cNvPr id="16" name="TextBox 15"/>
          <p:cNvSpPr txBox="1"/>
          <p:nvPr/>
        </p:nvSpPr>
        <p:spPr>
          <a:xfrm>
            <a:off x="8092440" y="4233672"/>
            <a:ext cx="3474720" cy="365760"/>
          </a:xfrm>
          <a:prstGeom prst="rect">
            <a:avLst/>
          </a:prstGeom>
          <a:noFill/>
        </p:spPr>
        <p:txBody>
          <a:bodyPr wrap="square" lIns="0" rIns="0" tIns="0" bIns="0" anchor="t"/>
          <a:lstStyle/>
          <a:p>
            <a:pPr algn="l">
              <a:lnSpc>
                <a:spcPct val="115000"/>
              </a:lnSpc>
              <a:spcAft>
                <a:spcPts val="0"/>
              </a:spcAft>
            </a:pPr>
            <a:r>
              <a:rPr sz="1250" b="0" i="0">
                <a:solidFill>
                  <a:srgbClr val="FFFFFF"/>
                </a:solidFill>
                <a:latin typeface="Inter"/>
              </a:rPr>
              <a:t>Invitation to participate</a:t>
            </a:r>
          </a:p>
        </p:txBody>
      </p:sp>
      <p:sp>
        <p:nvSpPr>
          <p:cNvPr id="17" name="TextBox 16"/>
          <p:cNvSpPr txBox="1"/>
          <p:nvPr/>
        </p:nvSpPr>
        <p:spPr>
          <a:xfrm>
            <a:off x="685800" y="6263640"/>
            <a:ext cx="2743200" cy="168909"/>
          </a:xfrm>
          <a:prstGeom prst="rect">
            <a:avLst/>
          </a:prstGeom>
          <a:noFill/>
        </p:spPr>
        <p:txBody>
          <a:bodyPr wrap="square" lIns="0" rIns="0" tIns="0" bIns="0" anchor="t"/>
          <a:lstStyle/>
          <a:p>
            <a:pPr algn="l">
              <a:lnSpc>
                <a:spcPct val="115000"/>
              </a:lnSpc>
              <a:spcAft>
                <a:spcPts val="0"/>
              </a:spcAft>
            </a:pPr>
            <a:r>
              <a:rPr sz="950" b="1" i="0" spc="113">
                <a:solidFill>
                  <a:srgbClr val="FFFFFF"/>
                </a:solidFill>
                <a:latin typeface="Inter"/>
              </a:rPr>
              <a:t>STARTUP</a:t>
            </a:r>
            <a:r>
              <a:rPr sz="950" b="1" i="0" spc="113">
                <a:solidFill>
                  <a:srgbClr val="4F8BE0"/>
                </a:solidFill>
                <a:latin typeface="Inter"/>
              </a:rPr>
              <a:t> ROOF</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PEOPLE AND COLLABORATION</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Bringing complementary experience together.</a:t>
            </a:r>
          </a:p>
        </p:txBody>
      </p:sp>
      <p:sp>
        <p:nvSpPr>
          <p:cNvPr id="4" name="Rectangle 3"/>
          <p:cNvSpPr/>
          <p:nvPr/>
        </p:nvSpPr>
        <p:spPr>
          <a:xfrm>
            <a:off x="594360" y="2011680"/>
            <a:ext cx="3383280" cy="2011680"/>
          </a:xfrm>
          <a:prstGeom prst="rect">
            <a:avLst/>
          </a:prstGeom>
          <a:solidFill>
            <a:srgbClr val="EDF4FE"/>
          </a:solidFill>
          <a:ln>
            <a:noFill/>
          </a:ln>
          <a:effectLst/>
        </p:spPr>
        <p:txBody>
          <a:bodyPr rtlCol="0" anchor="ctr" lIns="73152" rIns="73152" tIns="36576" bIns="36576"/>
          <a:lstStyle/>
          <a:p>
            <a:pPr algn="ctr"/>
          </a:p>
        </p:txBody>
      </p:sp>
      <p:sp>
        <p:nvSpPr>
          <p:cNvPr id="5" name="Rectangle 4"/>
          <p:cNvSpPr/>
          <p:nvPr/>
        </p:nvSpPr>
        <p:spPr>
          <a:xfrm>
            <a:off x="594360" y="2011680"/>
            <a:ext cx="3383280" cy="64008"/>
          </a:xfrm>
          <a:prstGeom prst="rect">
            <a:avLst/>
          </a:prstGeom>
          <a:solidFill>
            <a:srgbClr val="10213B"/>
          </a:solidFill>
          <a:ln>
            <a:noFill/>
          </a:ln>
          <a:effectLst/>
        </p:spPr>
        <p:txBody>
          <a:bodyPr rtlCol="0" anchor="ctr" lIns="73152" rIns="73152" tIns="36576" bIns="36576"/>
          <a:lstStyle/>
          <a:p>
            <a:pPr algn="ctr"/>
          </a:p>
        </p:txBody>
      </p:sp>
      <p:sp>
        <p:nvSpPr>
          <p:cNvPr id="6" name="TextBox 5"/>
          <p:cNvSpPr txBox="1"/>
          <p:nvPr/>
        </p:nvSpPr>
        <p:spPr>
          <a:xfrm>
            <a:off x="795528" y="221284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0213B"/>
                </a:solidFill>
                <a:latin typeface="Inter"/>
              </a:rPr>
              <a:t>STRATEGY AND COMMERCIAL</a:t>
            </a:r>
          </a:p>
        </p:txBody>
      </p:sp>
      <p:sp>
        <p:nvSpPr>
          <p:cNvPr id="7" name="Rounded Rectangle 6"/>
          <p:cNvSpPr/>
          <p:nvPr/>
        </p:nvSpPr>
        <p:spPr>
          <a:xfrm>
            <a:off x="795528" y="25786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Commercial leadership</a:t>
            </a:r>
          </a:p>
        </p:txBody>
      </p:sp>
      <p:sp>
        <p:nvSpPr>
          <p:cNvPr id="8" name="Rounded Rectangle 7"/>
          <p:cNvSpPr/>
          <p:nvPr/>
        </p:nvSpPr>
        <p:spPr>
          <a:xfrm>
            <a:off x="795528" y="30358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GTM and customer lifecycle</a:t>
            </a:r>
          </a:p>
        </p:txBody>
      </p:sp>
      <p:sp>
        <p:nvSpPr>
          <p:cNvPr id="9" name="Rounded Rectangle 8"/>
          <p:cNvSpPr/>
          <p:nvPr/>
        </p:nvSpPr>
        <p:spPr>
          <a:xfrm>
            <a:off x="795528" y="34930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Legal and governance</a:t>
            </a:r>
          </a:p>
        </p:txBody>
      </p:sp>
      <p:sp>
        <p:nvSpPr>
          <p:cNvPr id="10" name="Rectangle 9"/>
          <p:cNvSpPr/>
          <p:nvPr/>
        </p:nvSpPr>
        <p:spPr>
          <a:xfrm>
            <a:off x="4114800" y="2011680"/>
            <a:ext cx="3383280" cy="2011680"/>
          </a:xfrm>
          <a:prstGeom prst="rect">
            <a:avLst/>
          </a:prstGeom>
          <a:solidFill>
            <a:srgbClr val="EDF4FE"/>
          </a:solidFill>
          <a:ln>
            <a:noFill/>
          </a:ln>
          <a:effectLst/>
        </p:spPr>
        <p:txBody>
          <a:bodyPr rtlCol="0" anchor="ctr" lIns="73152" rIns="73152" tIns="36576" bIns="36576"/>
          <a:lstStyle/>
          <a:p>
            <a:pPr algn="ctr"/>
          </a:p>
        </p:txBody>
      </p:sp>
      <p:sp>
        <p:nvSpPr>
          <p:cNvPr id="11" name="Rectangle 10"/>
          <p:cNvSpPr/>
          <p:nvPr/>
        </p:nvSpPr>
        <p:spPr>
          <a:xfrm>
            <a:off x="4114800" y="2011680"/>
            <a:ext cx="3383280" cy="64008"/>
          </a:xfrm>
          <a:prstGeom prst="rect">
            <a:avLst/>
          </a:prstGeom>
          <a:solidFill>
            <a:srgbClr val="1765D1"/>
          </a:solidFill>
          <a:ln>
            <a:noFill/>
          </a:ln>
          <a:effectLst/>
        </p:spPr>
        <p:txBody>
          <a:bodyPr rtlCol="0" anchor="ctr" lIns="73152" rIns="73152" tIns="36576" bIns="36576"/>
          <a:lstStyle/>
          <a:p>
            <a:pPr algn="ctr"/>
          </a:p>
        </p:txBody>
      </p:sp>
      <p:sp>
        <p:nvSpPr>
          <p:cNvPr id="12" name="TextBox 11"/>
          <p:cNvSpPr txBox="1"/>
          <p:nvPr/>
        </p:nvSpPr>
        <p:spPr>
          <a:xfrm>
            <a:off x="4315968" y="221284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765D1"/>
                </a:solidFill>
                <a:latin typeface="Inter"/>
              </a:rPr>
              <a:t>FOUNDER SUPPORT</a:t>
            </a:r>
          </a:p>
        </p:txBody>
      </p:sp>
      <p:sp>
        <p:nvSpPr>
          <p:cNvPr id="13" name="Rounded Rectangle 12"/>
          <p:cNvSpPr/>
          <p:nvPr/>
        </p:nvSpPr>
        <p:spPr>
          <a:xfrm>
            <a:off x="4315968" y="25786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Startup and incubation experience</a:t>
            </a:r>
          </a:p>
        </p:txBody>
      </p:sp>
      <p:sp>
        <p:nvSpPr>
          <p:cNvPr id="14" name="Rounded Rectangle 13"/>
          <p:cNvSpPr/>
          <p:nvPr/>
        </p:nvSpPr>
        <p:spPr>
          <a:xfrm>
            <a:off x="4315968" y="30358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Consumer-business mentoring</a:t>
            </a:r>
          </a:p>
        </p:txBody>
      </p:sp>
      <p:sp>
        <p:nvSpPr>
          <p:cNvPr id="15" name="Rounded Rectangle 14"/>
          <p:cNvSpPr/>
          <p:nvPr/>
        </p:nvSpPr>
        <p:spPr>
          <a:xfrm>
            <a:off x="4315968" y="34930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Education and university outreach</a:t>
            </a:r>
          </a:p>
        </p:txBody>
      </p:sp>
      <p:sp>
        <p:nvSpPr>
          <p:cNvPr id="16" name="Rectangle 15"/>
          <p:cNvSpPr/>
          <p:nvPr/>
        </p:nvSpPr>
        <p:spPr>
          <a:xfrm>
            <a:off x="594360" y="4160520"/>
            <a:ext cx="3383280" cy="2011680"/>
          </a:xfrm>
          <a:prstGeom prst="rect">
            <a:avLst/>
          </a:prstGeom>
          <a:solidFill>
            <a:srgbClr val="EDF4FE"/>
          </a:solidFill>
          <a:ln>
            <a:noFill/>
          </a:ln>
          <a:effectLst/>
        </p:spPr>
        <p:txBody>
          <a:bodyPr rtlCol="0" anchor="ctr" lIns="73152" rIns="73152" tIns="36576" bIns="36576"/>
          <a:lstStyle/>
          <a:p>
            <a:pPr algn="ctr"/>
          </a:p>
        </p:txBody>
      </p:sp>
      <p:sp>
        <p:nvSpPr>
          <p:cNvPr id="17" name="Rectangle 16"/>
          <p:cNvSpPr/>
          <p:nvPr/>
        </p:nvSpPr>
        <p:spPr>
          <a:xfrm>
            <a:off x="594360" y="4160520"/>
            <a:ext cx="3383280" cy="64008"/>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795528" y="436168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A55AC"/>
                </a:solidFill>
                <a:latin typeface="Inter"/>
              </a:rPr>
              <a:t>PLATFORM AND GROWTH</a:t>
            </a:r>
          </a:p>
        </p:txBody>
      </p:sp>
      <p:sp>
        <p:nvSpPr>
          <p:cNvPr id="19" name="Rounded Rectangle 18"/>
          <p:cNvSpPr/>
          <p:nvPr/>
        </p:nvSpPr>
        <p:spPr>
          <a:xfrm>
            <a:off x="795528" y="47274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AI and business systems</a:t>
            </a:r>
          </a:p>
        </p:txBody>
      </p:sp>
      <p:sp>
        <p:nvSpPr>
          <p:cNvPr id="20" name="Rounded Rectangle 19"/>
          <p:cNvSpPr/>
          <p:nvPr/>
        </p:nvSpPr>
        <p:spPr>
          <a:xfrm>
            <a:off x="795528" y="51846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Branding and growth</a:t>
            </a:r>
          </a:p>
        </p:txBody>
      </p:sp>
      <p:sp>
        <p:nvSpPr>
          <p:cNvPr id="21" name="Rectangle 20"/>
          <p:cNvSpPr/>
          <p:nvPr/>
        </p:nvSpPr>
        <p:spPr>
          <a:xfrm>
            <a:off x="4114800" y="4160520"/>
            <a:ext cx="3383280" cy="2011680"/>
          </a:xfrm>
          <a:prstGeom prst="rect">
            <a:avLst/>
          </a:prstGeom>
          <a:solidFill>
            <a:srgbClr val="EDF4FE"/>
          </a:solidFill>
          <a:ln>
            <a:noFill/>
          </a:ln>
          <a:effectLst/>
        </p:spPr>
        <p:txBody>
          <a:bodyPr rtlCol="0" anchor="ctr" lIns="73152" rIns="73152" tIns="36576" bIns="36576"/>
          <a:lstStyle/>
          <a:p>
            <a:pPr algn="ctr"/>
          </a:p>
        </p:txBody>
      </p:sp>
      <p:sp>
        <p:nvSpPr>
          <p:cNvPr id="22" name="Rectangle 21"/>
          <p:cNvSpPr/>
          <p:nvPr/>
        </p:nvSpPr>
        <p:spPr>
          <a:xfrm>
            <a:off x="4114800" y="4160520"/>
            <a:ext cx="3383280" cy="64008"/>
          </a:xfrm>
          <a:prstGeom prst="rect">
            <a:avLst/>
          </a:prstGeom>
          <a:solidFill>
            <a:srgbClr val="17407F"/>
          </a:solidFill>
          <a:ln>
            <a:noFill/>
          </a:ln>
          <a:effectLst/>
        </p:spPr>
        <p:txBody>
          <a:bodyPr rtlCol="0" anchor="ctr" lIns="73152" rIns="73152" tIns="36576" bIns="36576"/>
          <a:lstStyle/>
          <a:p>
            <a:pPr algn="ctr"/>
          </a:p>
        </p:txBody>
      </p:sp>
      <p:sp>
        <p:nvSpPr>
          <p:cNvPr id="23" name="TextBox 22"/>
          <p:cNvSpPr txBox="1"/>
          <p:nvPr/>
        </p:nvSpPr>
        <p:spPr>
          <a:xfrm>
            <a:off x="4315968" y="436168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7407F"/>
                </a:solidFill>
                <a:latin typeface="Inter"/>
              </a:rPr>
              <a:t>COMMUNITY AND DELIVERY</a:t>
            </a:r>
          </a:p>
        </p:txBody>
      </p:sp>
      <p:sp>
        <p:nvSpPr>
          <p:cNvPr id="24" name="Rounded Rectangle 23"/>
          <p:cNvSpPr/>
          <p:nvPr/>
        </p:nvSpPr>
        <p:spPr>
          <a:xfrm>
            <a:off x="4315968" y="47274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Operations and community</a:t>
            </a:r>
          </a:p>
        </p:txBody>
      </p:sp>
      <p:sp>
        <p:nvSpPr>
          <p:cNvPr id="25" name="Rounded Rectangle 24"/>
          <p:cNvSpPr/>
          <p:nvPr/>
        </p:nvSpPr>
        <p:spPr>
          <a:xfrm>
            <a:off x="4315968" y="51846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Events and experiences</a:t>
            </a:r>
          </a:p>
        </p:txBody>
      </p:sp>
      <p:sp>
        <p:nvSpPr>
          <p:cNvPr id="26" name="TextBox 25"/>
          <p:cNvSpPr txBox="1"/>
          <p:nvPr/>
        </p:nvSpPr>
        <p:spPr>
          <a:xfrm>
            <a:off x="7772400" y="2011680"/>
            <a:ext cx="3822191" cy="1463040"/>
          </a:xfrm>
          <a:prstGeom prst="rect">
            <a:avLst/>
          </a:prstGeom>
          <a:noFill/>
        </p:spPr>
        <p:txBody>
          <a:bodyPr wrap="square" lIns="0" rIns="0" tIns="0" bIns="0" anchor="t"/>
          <a:lstStyle/>
          <a:p>
            <a:pPr algn="l">
              <a:lnSpc>
                <a:spcPct val="125000"/>
              </a:lnSpc>
              <a:spcAft>
                <a:spcPts val="0"/>
              </a:spcAft>
            </a:pPr>
            <a:r>
              <a:rPr sz="1500" b="1" i="0">
                <a:solidFill>
                  <a:srgbClr val="10213B"/>
                </a:solidFill>
                <a:latin typeface="Inter"/>
              </a:rPr>
              <a:t>We are exploring how like-minded contributors can participate through their experience, resources and available time.</a:t>
            </a:r>
          </a:p>
        </p:txBody>
      </p:sp>
      <p:sp>
        <p:nvSpPr>
          <p:cNvPr id="27" name="TextBox 26"/>
          <p:cNvSpPr txBox="1"/>
          <p:nvPr/>
        </p:nvSpPr>
        <p:spPr>
          <a:xfrm>
            <a:off x="7772400" y="3429000"/>
            <a:ext cx="41148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HOW ROLES WILL TAKE SHAPE</a:t>
            </a:r>
          </a:p>
        </p:txBody>
      </p:sp>
      <p:sp>
        <p:nvSpPr>
          <p:cNvPr id="28" name="TextBox 27"/>
          <p:cNvSpPr txBox="1"/>
          <p:nvPr/>
        </p:nvSpPr>
        <p:spPr>
          <a:xfrm>
            <a:off x="7772400" y="3749039"/>
            <a:ext cx="3822191" cy="1280160"/>
          </a:xfrm>
          <a:prstGeom prst="rect">
            <a:avLst/>
          </a:prstGeom>
          <a:noFill/>
        </p:spPr>
        <p:txBody>
          <a:bodyPr wrap="square" lIns="0" rIns="0" tIns="0" bIns="0" anchor="t"/>
          <a:lstStyle/>
          <a:p>
            <a:pPr algn="l">
              <a:lnSpc>
                <a:spcPct val="130000"/>
              </a:lnSpc>
              <a:spcAft>
                <a:spcPts val="0"/>
              </a:spcAft>
            </a:pPr>
            <a:r>
              <a:rPr sz="1200" b="0" i="0">
                <a:solidFill>
                  <a:srgbClr val="253650"/>
                </a:solidFill>
                <a:latin typeface="Inter"/>
              </a:rPr>
              <a:t>Longer-term roles and responsibilities will be considered as the project develops, based on contribution, time commitment, responsibility taken, reliable delivery and value created.</a:t>
            </a:r>
          </a:p>
        </p:txBody>
      </p:sp>
      <p:cxnSp>
        <p:nvCxnSpPr>
          <p:cNvPr id="29" name="Connector 28"/>
          <p:cNvCxnSpPr/>
          <p:nvPr/>
        </p:nvCxnSpPr>
        <p:spPr>
          <a:xfrm>
            <a:off x="7772400" y="5166360"/>
            <a:ext cx="3824935" cy="0"/>
          </a:xfrm>
          <a:prstGeom prst="line">
            <a:avLst/>
          </a:prstGeom>
          <a:ln w="12700">
            <a:solidFill>
              <a:srgbClr val="D5E2F3"/>
            </a:solidFill>
          </a:ln>
        </p:spPr>
      </p:cxnSp>
      <p:sp>
        <p:nvSpPr>
          <p:cNvPr id="30" name="TextBox 29"/>
          <p:cNvSpPr txBox="1"/>
          <p:nvPr/>
        </p:nvSpPr>
        <p:spPr>
          <a:xfrm>
            <a:off x="7772400" y="5303520"/>
            <a:ext cx="4114800" cy="640080"/>
          </a:xfrm>
          <a:prstGeom prst="rect">
            <a:avLst/>
          </a:prstGeom>
          <a:noFill/>
        </p:spPr>
        <p:txBody>
          <a:bodyPr wrap="square" lIns="0" rIns="0" tIns="0" bIns="0" anchor="t"/>
          <a:lstStyle/>
          <a:p>
            <a:pPr algn="l">
              <a:lnSpc>
                <a:spcPct val="120000"/>
              </a:lnSpc>
              <a:spcAft>
                <a:spcPts val="0"/>
              </a:spcAft>
            </a:pPr>
            <a:r>
              <a:rPr sz="1400" b="1" i="0">
                <a:solidFill>
                  <a:srgbClr val="10213B"/>
                </a:solidFill>
                <a:latin typeface="Inter"/>
              </a:rPr>
              <a:t>Ritesh Kumar</a:t>
            </a:r>
          </a:p>
          <a:p>
            <a:pPr algn="l">
              <a:lnSpc>
                <a:spcPct val="120000"/>
              </a:lnSpc>
              <a:spcAft>
                <a:spcPts val="0"/>
              </a:spcAft>
            </a:pPr>
            <a:r>
              <a:rPr sz="1200" b="0" i="0">
                <a:solidFill>
                  <a:srgbClr val="61738A"/>
                </a:solidFill>
                <a:latin typeface="Inter"/>
              </a:rPr>
              <a:t>Project Initiator</a:t>
            </a:r>
          </a:p>
        </p:txBody>
      </p:sp>
      <p:sp>
        <p:nvSpPr>
          <p:cNvPr id="31" name="TextBox 3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2" name="TextBox 3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WAYS TO CONTRIBUTE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Many roles, matched to experience and available time.</a:t>
            </a:r>
          </a:p>
        </p:txBody>
      </p:sp>
      <p:sp>
        <p:nvSpPr>
          <p:cNvPr id="4" name="Rectangle 3"/>
          <p:cNvSpPr/>
          <p:nvPr/>
        </p:nvSpPr>
        <p:spPr>
          <a:xfrm>
            <a:off x="594360" y="1965960"/>
            <a:ext cx="3545738" cy="1097280"/>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822960" y="213055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Session lead</a:t>
            </a:r>
          </a:p>
        </p:txBody>
      </p:sp>
      <p:sp>
        <p:nvSpPr>
          <p:cNvPr id="6" name="TextBox 5"/>
          <p:cNvSpPr txBox="1"/>
          <p:nvPr/>
        </p:nvSpPr>
        <p:spPr>
          <a:xfrm>
            <a:off x="822960" y="247802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Run a clinic, workshop or Academy session</a:t>
            </a:r>
          </a:p>
        </p:txBody>
      </p:sp>
      <p:sp>
        <p:nvSpPr>
          <p:cNvPr id="7" name="Rectangle 6"/>
          <p:cNvSpPr/>
          <p:nvPr/>
        </p:nvSpPr>
        <p:spPr>
          <a:xfrm>
            <a:off x="4322978" y="1965960"/>
            <a:ext cx="3545738" cy="1097280"/>
          </a:xfrm>
          <a:prstGeom prst="rect">
            <a:avLst/>
          </a:prstGeom>
          <a:solidFill>
            <a:srgbClr val="EDF4FE"/>
          </a:solidFill>
          <a:ln>
            <a:noFill/>
          </a:ln>
          <a:effectLst/>
        </p:spPr>
        <p:txBody>
          <a:bodyPr rtlCol="0" anchor="ctr" lIns="73152" rIns="73152" tIns="36576" bIns="36576"/>
          <a:lstStyle/>
          <a:p>
            <a:pPr algn="ctr"/>
          </a:p>
        </p:txBody>
      </p:sp>
      <p:sp>
        <p:nvSpPr>
          <p:cNvPr id="8" name="TextBox 7"/>
          <p:cNvSpPr txBox="1"/>
          <p:nvPr/>
        </p:nvSpPr>
        <p:spPr>
          <a:xfrm>
            <a:off x="4551578" y="213055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Mentor</a:t>
            </a:r>
          </a:p>
        </p:txBody>
      </p:sp>
      <p:sp>
        <p:nvSpPr>
          <p:cNvPr id="9" name="TextBox 8"/>
          <p:cNvSpPr txBox="1"/>
          <p:nvPr/>
        </p:nvSpPr>
        <p:spPr>
          <a:xfrm>
            <a:off x="4551578" y="247802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Give focused time to founders in your field</a:t>
            </a:r>
          </a:p>
        </p:txBody>
      </p:sp>
      <p:sp>
        <p:nvSpPr>
          <p:cNvPr id="10" name="Rectangle 9"/>
          <p:cNvSpPr/>
          <p:nvPr/>
        </p:nvSpPr>
        <p:spPr>
          <a:xfrm>
            <a:off x="8051596" y="1965960"/>
            <a:ext cx="3545738" cy="1097280"/>
          </a:xfrm>
          <a:prstGeom prst="rect">
            <a:avLst/>
          </a:prstGeom>
          <a:solidFill>
            <a:srgbClr val="EDF4FE"/>
          </a:solidFill>
          <a:ln>
            <a:noFill/>
          </a:ln>
          <a:effectLst/>
        </p:spPr>
        <p:txBody>
          <a:bodyPr rtlCol="0" anchor="ctr" lIns="73152" rIns="73152" tIns="36576" bIns="36576"/>
          <a:lstStyle/>
          <a:p>
            <a:pPr algn="ctr"/>
          </a:p>
        </p:txBody>
      </p:sp>
      <p:sp>
        <p:nvSpPr>
          <p:cNvPr id="11" name="TextBox 10"/>
          <p:cNvSpPr txBox="1"/>
          <p:nvPr/>
        </p:nvSpPr>
        <p:spPr>
          <a:xfrm>
            <a:off x="8280196" y="213055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Workstream contributor</a:t>
            </a:r>
          </a:p>
        </p:txBody>
      </p:sp>
      <p:sp>
        <p:nvSpPr>
          <p:cNvPr id="12" name="TextBox 11"/>
          <p:cNvSpPr txBox="1"/>
          <p:nvPr/>
        </p:nvSpPr>
        <p:spPr>
          <a:xfrm>
            <a:off x="8280196" y="247802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Help build part of the project — platform, content, partnerships</a:t>
            </a:r>
          </a:p>
        </p:txBody>
      </p:sp>
      <p:sp>
        <p:nvSpPr>
          <p:cNvPr id="13" name="Rectangle 12"/>
          <p:cNvSpPr/>
          <p:nvPr/>
        </p:nvSpPr>
        <p:spPr>
          <a:xfrm>
            <a:off x="594360" y="3200400"/>
            <a:ext cx="3545738" cy="1097280"/>
          </a:xfrm>
          <a:prstGeom prst="rect">
            <a:avLst/>
          </a:prstGeom>
          <a:solidFill>
            <a:srgbClr val="EDF4FE"/>
          </a:solidFill>
          <a:ln>
            <a:noFill/>
          </a:ln>
          <a:effectLst/>
        </p:spPr>
        <p:txBody>
          <a:bodyPr rtlCol="0" anchor="ctr" lIns="73152" rIns="73152" tIns="36576" bIns="36576"/>
          <a:lstStyle/>
          <a:p>
            <a:pPr algn="ctr"/>
          </a:p>
        </p:txBody>
      </p:sp>
      <p:sp>
        <p:nvSpPr>
          <p:cNvPr id="14" name="TextBox 13"/>
          <p:cNvSpPr txBox="1"/>
          <p:nvPr/>
        </p:nvSpPr>
        <p:spPr>
          <a:xfrm>
            <a:off x="822960" y="336499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Specialist</a:t>
            </a:r>
          </a:p>
        </p:txBody>
      </p:sp>
      <p:sp>
        <p:nvSpPr>
          <p:cNvPr id="15" name="TextBox 14"/>
          <p:cNvSpPr txBox="1"/>
          <p:nvPr/>
        </p:nvSpPr>
        <p:spPr>
          <a:xfrm>
            <a:off x="822960" y="371246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Offer defined professional services</a:t>
            </a:r>
          </a:p>
        </p:txBody>
      </p:sp>
      <p:sp>
        <p:nvSpPr>
          <p:cNvPr id="16" name="Rectangle 15"/>
          <p:cNvSpPr/>
          <p:nvPr/>
        </p:nvSpPr>
        <p:spPr>
          <a:xfrm>
            <a:off x="4322978" y="3200400"/>
            <a:ext cx="3545738" cy="1097280"/>
          </a:xfrm>
          <a:prstGeom prst="rect">
            <a:avLst/>
          </a:prstGeom>
          <a:solidFill>
            <a:srgbClr val="EDF4FE"/>
          </a:solidFill>
          <a:ln>
            <a:noFill/>
          </a:ln>
          <a:effectLst/>
        </p:spPr>
        <p:txBody>
          <a:bodyPr rtlCol="0" anchor="ctr" lIns="73152" rIns="73152" tIns="36576" bIns="36576"/>
          <a:lstStyle/>
          <a:p>
            <a:pPr algn="ctr"/>
          </a:p>
        </p:txBody>
      </p:sp>
      <p:sp>
        <p:nvSpPr>
          <p:cNvPr id="17" name="TextBox 16"/>
          <p:cNvSpPr txBox="1"/>
          <p:nvPr/>
        </p:nvSpPr>
        <p:spPr>
          <a:xfrm>
            <a:off x="4551578" y="336499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Connector</a:t>
            </a:r>
          </a:p>
        </p:txBody>
      </p:sp>
      <p:sp>
        <p:nvSpPr>
          <p:cNvPr id="18" name="TextBox 17"/>
          <p:cNvSpPr txBox="1"/>
          <p:nvPr/>
        </p:nvSpPr>
        <p:spPr>
          <a:xfrm>
            <a:off x="4551578" y="371246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Introduce relevant organisations and people</a:t>
            </a:r>
          </a:p>
        </p:txBody>
      </p:sp>
      <p:sp>
        <p:nvSpPr>
          <p:cNvPr id="19" name="Rectangle 18"/>
          <p:cNvSpPr/>
          <p:nvPr/>
        </p:nvSpPr>
        <p:spPr>
          <a:xfrm>
            <a:off x="8051596" y="3200400"/>
            <a:ext cx="3545738" cy="1097280"/>
          </a:xfrm>
          <a:prstGeom prst="rect">
            <a:avLst/>
          </a:prstGeom>
          <a:solidFill>
            <a:srgbClr val="EDF4FE"/>
          </a:solidFill>
          <a:ln>
            <a:noFill/>
          </a:ln>
          <a:effectLst/>
        </p:spPr>
        <p:txBody>
          <a:bodyPr rtlCol="0" anchor="ctr" lIns="73152" rIns="73152" tIns="36576" bIns="36576"/>
          <a:lstStyle/>
          <a:p>
            <a:pPr algn="ctr"/>
          </a:p>
        </p:txBody>
      </p:sp>
      <p:sp>
        <p:nvSpPr>
          <p:cNvPr id="20" name="TextBox 19"/>
          <p:cNvSpPr txBox="1"/>
          <p:nvPr/>
        </p:nvSpPr>
        <p:spPr>
          <a:xfrm>
            <a:off x="8280196" y="3364992"/>
            <a:ext cx="3088538" cy="32004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Content contributor</a:t>
            </a:r>
          </a:p>
        </p:txBody>
      </p:sp>
      <p:sp>
        <p:nvSpPr>
          <p:cNvPr id="21" name="TextBox 20"/>
          <p:cNvSpPr txBox="1"/>
          <p:nvPr/>
        </p:nvSpPr>
        <p:spPr>
          <a:xfrm>
            <a:off x="8280196" y="3712464"/>
            <a:ext cx="3088538" cy="548640"/>
          </a:xfrm>
          <a:prstGeom prst="rect">
            <a:avLst/>
          </a:prstGeom>
          <a:noFill/>
        </p:spPr>
        <p:txBody>
          <a:bodyPr wrap="square" lIns="0" rIns="0" tIns="0" bIns="0" anchor="t"/>
          <a:lstStyle/>
          <a:p>
            <a:pPr algn="l">
              <a:lnSpc>
                <a:spcPct val="115000"/>
              </a:lnSpc>
              <a:spcAft>
                <a:spcPts val="0"/>
              </a:spcAft>
            </a:pPr>
            <a:r>
              <a:rPr sz="1150" b="0" i="0">
                <a:solidFill>
                  <a:srgbClr val="253650"/>
                </a:solidFill>
                <a:latin typeface="Inter"/>
              </a:rPr>
              <a:t>Write guides, record interviews, share lessons</a:t>
            </a:r>
          </a:p>
        </p:txBody>
      </p:sp>
      <p:sp>
        <p:nvSpPr>
          <p:cNvPr id="22" name="Rectangle 21"/>
          <p:cNvSpPr/>
          <p:nvPr/>
        </p:nvSpPr>
        <p:spPr>
          <a:xfrm>
            <a:off x="594360" y="4572000"/>
            <a:ext cx="11002975" cy="1600200"/>
          </a:xfrm>
          <a:prstGeom prst="rect">
            <a:avLst/>
          </a:prstGeom>
          <a:solidFill>
            <a:srgbClr val="10213B"/>
          </a:solidFill>
          <a:ln>
            <a:noFill/>
          </a:ln>
          <a:effectLst/>
        </p:spPr>
        <p:txBody>
          <a:bodyPr rtlCol="0" anchor="ctr" lIns="73152" rIns="73152" tIns="36576" bIns="36576"/>
          <a:lstStyle/>
          <a:p>
            <a:pPr algn="ctr"/>
          </a:p>
        </p:txBody>
      </p:sp>
      <p:sp>
        <p:nvSpPr>
          <p:cNvPr id="23" name="TextBox 22"/>
          <p:cNvSpPr txBox="1"/>
          <p:nvPr/>
        </p:nvSpPr>
        <p:spPr>
          <a:xfrm>
            <a:off x="868680" y="4736592"/>
            <a:ext cx="457200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HOW LONGER-TERM ROLES WILL BE CONSIDERED</a:t>
            </a:r>
          </a:p>
        </p:txBody>
      </p:sp>
      <p:sp>
        <p:nvSpPr>
          <p:cNvPr id="24" name="TextBox 23"/>
          <p:cNvSpPr txBox="1"/>
          <p:nvPr/>
        </p:nvSpPr>
        <p:spPr>
          <a:xfrm>
            <a:off x="868680" y="5120640"/>
            <a:ext cx="1999427" cy="365760"/>
          </a:xfrm>
          <a:prstGeom prst="rect">
            <a:avLst/>
          </a:prstGeom>
          <a:noFill/>
        </p:spPr>
        <p:txBody>
          <a:bodyPr wrap="square" lIns="0" rIns="0" tIns="0" bIns="0" anchor="t"/>
          <a:lstStyle/>
          <a:p>
            <a:pPr algn="l">
              <a:lnSpc>
                <a:spcPct val="115000"/>
              </a:lnSpc>
              <a:spcAft>
                <a:spcPts val="0"/>
              </a:spcAft>
            </a:pPr>
            <a:r>
              <a:rPr sz="1300" b="1" i="0">
                <a:solidFill>
                  <a:srgbClr val="4F8BE0"/>
                </a:solidFill>
                <a:latin typeface="Inter"/>
              </a:rPr>
              <a:t>01</a:t>
            </a:r>
          </a:p>
        </p:txBody>
      </p:sp>
      <p:sp>
        <p:nvSpPr>
          <p:cNvPr id="25" name="TextBox 24"/>
          <p:cNvSpPr txBox="1"/>
          <p:nvPr/>
        </p:nvSpPr>
        <p:spPr>
          <a:xfrm>
            <a:off x="868680" y="5440680"/>
            <a:ext cx="1953707" cy="548640"/>
          </a:xfrm>
          <a:prstGeom prst="rect">
            <a:avLst/>
          </a:prstGeom>
          <a:noFill/>
        </p:spPr>
        <p:txBody>
          <a:bodyPr wrap="square" lIns="0" rIns="0" tIns="0" bIns="0" anchor="t"/>
          <a:lstStyle/>
          <a:p>
            <a:pPr algn="l">
              <a:lnSpc>
                <a:spcPct val="110000"/>
              </a:lnSpc>
              <a:spcAft>
                <a:spcPts val="0"/>
              </a:spcAft>
            </a:pPr>
            <a:r>
              <a:rPr sz="1300" b="1" i="0">
                <a:solidFill>
                  <a:srgbClr val="FFFFFF"/>
                </a:solidFill>
                <a:latin typeface="Inter"/>
              </a:rPr>
              <a:t>Actual contribution</a:t>
            </a:r>
          </a:p>
        </p:txBody>
      </p:sp>
      <p:sp>
        <p:nvSpPr>
          <p:cNvPr id="26" name="TextBox 25"/>
          <p:cNvSpPr txBox="1"/>
          <p:nvPr/>
        </p:nvSpPr>
        <p:spPr>
          <a:xfrm>
            <a:off x="2959547" y="5120640"/>
            <a:ext cx="1999427" cy="365760"/>
          </a:xfrm>
          <a:prstGeom prst="rect">
            <a:avLst/>
          </a:prstGeom>
          <a:noFill/>
        </p:spPr>
        <p:txBody>
          <a:bodyPr wrap="square" lIns="0" rIns="0" tIns="0" bIns="0" anchor="t"/>
          <a:lstStyle/>
          <a:p>
            <a:pPr algn="l">
              <a:lnSpc>
                <a:spcPct val="115000"/>
              </a:lnSpc>
              <a:spcAft>
                <a:spcPts val="0"/>
              </a:spcAft>
            </a:pPr>
            <a:r>
              <a:rPr sz="1300" b="1" i="0">
                <a:solidFill>
                  <a:srgbClr val="4F8BE0"/>
                </a:solidFill>
                <a:latin typeface="Inter"/>
              </a:rPr>
              <a:t>02</a:t>
            </a:r>
          </a:p>
        </p:txBody>
      </p:sp>
      <p:sp>
        <p:nvSpPr>
          <p:cNvPr id="27" name="TextBox 26"/>
          <p:cNvSpPr txBox="1"/>
          <p:nvPr/>
        </p:nvSpPr>
        <p:spPr>
          <a:xfrm>
            <a:off x="2959547" y="5440680"/>
            <a:ext cx="1953707" cy="548640"/>
          </a:xfrm>
          <a:prstGeom prst="rect">
            <a:avLst/>
          </a:prstGeom>
          <a:noFill/>
        </p:spPr>
        <p:txBody>
          <a:bodyPr wrap="square" lIns="0" rIns="0" tIns="0" bIns="0" anchor="t"/>
          <a:lstStyle/>
          <a:p>
            <a:pPr algn="l">
              <a:lnSpc>
                <a:spcPct val="110000"/>
              </a:lnSpc>
              <a:spcAft>
                <a:spcPts val="0"/>
              </a:spcAft>
            </a:pPr>
            <a:r>
              <a:rPr sz="1300" b="1" i="0">
                <a:solidFill>
                  <a:srgbClr val="FFFFFF"/>
                </a:solidFill>
                <a:latin typeface="Inter"/>
              </a:rPr>
              <a:t>Time commitment</a:t>
            </a:r>
          </a:p>
        </p:txBody>
      </p:sp>
      <p:sp>
        <p:nvSpPr>
          <p:cNvPr id="28" name="TextBox 27"/>
          <p:cNvSpPr txBox="1"/>
          <p:nvPr/>
        </p:nvSpPr>
        <p:spPr>
          <a:xfrm>
            <a:off x="5050414" y="5120640"/>
            <a:ext cx="1999427" cy="365760"/>
          </a:xfrm>
          <a:prstGeom prst="rect">
            <a:avLst/>
          </a:prstGeom>
          <a:noFill/>
        </p:spPr>
        <p:txBody>
          <a:bodyPr wrap="square" lIns="0" rIns="0" tIns="0" bIns="0" anchor="t"/>
          <a:lstStyle/>
          <a:p>
            <a:pPr algn="l">
              <a:lnSpc>
                <a:spcPct val="115000"/>
              </a:lnSpc>
              <a:spcAft>
                <a:spcPts val="0"/>
              </a:spcAft>
            </a:pPr>
            <a:r>
              <a:rPr sz="1300" b="1" i="0">
                <a:solidFill>
                  <a:srgbClr val="4F8BE0"/>
                </a:solidFill>
                <a:latin typeface="Inter"/>
              </a:rPr>
              <a:t>03</a:t>
            </a:r>
          </a:p>
        </p:txBody>
      </p:sp>
      <p:sp>
        <p:nvSpPr>
          <p:cNvPr id="29" name="TextBox 28"/>
          <p:cNvSpPr txBox="1"/>
          <p:nvPr/>
        </p:nvSpPr>
        <p:spPr>
          <a:xfrm>
            <a:off x="5050414" y="5440680"/>
            <a:ext cx="1953707" cy="548640"/>
          </a:xfrm>
          <a:prstGeom prst="rect">
            <a:avLst/>
          </a:prstGeom>
          <a:noFill/>
        </p:spPr>
        <p:txBody>
          <a:bodyPr wrap="square" lIns="0" rIns="0" tIns="0" bIns="0" anchor="t"/>
          <a:lstStyle/>
          <a:p>
            <a:pPr algn="l">
              <a:lnSpc>
                <a:spcPct val="110000"/>
              </a:lnSpc>
              <a:spcAft>
                <a:spcPts val="0"/>
              </a:spcAft>
            </a:pPr>
            <a:r>
              <a:rPr sz="1300" b="1" i="0">
                <a:solidFill>
                  <a:srgbClr val="FFFFFF"/>
                </a:solidFill>
                <a:latin typeface="Inter"/>
              </a:rPr>
              <a:t>Responsibility taken</a:t>
            </a:r>
          </a:p>
        </p:txBody>
      </p:sp>
      <p:sp>
        <p:nvSpPr>
          <p:cNvPr id="30" name="TextBox 29"/>
          <p:cNvSpPr txBox="1"/>
          <p:nvPr/>
        </p:nvSpPr>
        <p:spPr>
          <a:xfrm>
            <a:off x="7141281" y="5120640"/>
            <a:ext cx="1999427" cy="365760"/>
          </a:xfrm>
          <a:prstGeom prst="rect">
            <a:avLst/>
          </a:prstGeom>
          <a:noFill/>
        </p:spPr>
        <p:txBody>
          <a:bodyPr wrap="square" lIns="0" rIns="0" tIns="0" bIns="0" anchor="t"/>
          <a:lstStyle/>
          <a:p>
            <a:pPr algn="l">
              <a:lnSpc>
                <a:spcPct val="115000"/>
              </a:lnSpc>
              <a:spcAft>
                <a:spcPts val="0"/>
              </a:spcAft>
            </a:pPr>
            <a:r>
              <a:rPr sz="1300" b="1" i="0">
                <a:solidFill>
                  <a:srgbClr val="4F8BE0"/>
                </a:solidFill>
                <a:latin typeface="Inter"/>
              </a:rPr>
              <a:t>04</a:t>
            </a:r>
          </a:p>
        </p:txBody>
      </p:sp>
      <p:sp>
        <p:nvSpPr>
          <p:cNvPr id="31" name="TextBox 30"/>
          <p:cNvSpPr txBox="1"/>
          <p:nvPr/>
        </p:nvSpPr>
        <p:spPr>
          <a:xfrm>
            <a:off x="7141281" y="5440680"/>
            <a:ext cx="1953707" cy="548640"/>
          </a:xfrm>
          <a:prstGeom prst="rect">
            <a:avLst/>
          </a:prstGeom>
          <a:noFill/>
        </p:spPr>
        <p:txBody>
          <a:bodyPr wrap="square" lIns="0" rIns="0" tIns="0" bIns="0" anchor="t"/>
          <a:lstStyle/>
          <a:p>
            <a:pPr algn="l">
              <a:lnSpc>
                <a:spcPct val="110000"/>
              </a:lnSpc>
              <a:spcAft>
                <a:spcPts val="0"/>
              </a:spcAft>
            </a:pPr>
            <a:r>
              <a:rPr sz="1300" b="1" i="0">
                <a:solidFill>
                  <a:srgbClr val="FFFFFF"/>
                </a:solidFill>
                <a:latin typeface="Inter"/>
              </a:rPr>
              <a:t>Reliable delivery</a:t>
            </a:r>
          </a:p>
        </p:txBody>
      </p:sp>
      <p:sp>
        <p:nvSpPr>
          <p:cNvPr id="32" name="TextBox 31"/>
          <p:cNvSpPr txBox="1"/>
          <p:nvPr/>
        </p:nvSpPr>
        <p:spPr>
          <a:xfrm>
            <a:off x="9232148" y="5120640"/>
            <a:ext cx="1999427" cy="365760"/>
          </a:xfrm>
          <a:prstGeom prst="rect">
            <a:avLst/>
          </a:prstGeom>
          <a:noFill/>
        </p:spPr>
        <p:txBody>
          <a:bodyPr wrap="square" lIns="0" rIns="0" tIns="0" bIns="0" anchor="t"/>
          <a:lstStyle/>
          <a:p>
            <a:pPr algn="l">
              <a:lnSpc>
                <a:spcPct val="115000"/>
              </a:lnSpc>
              <a:spcAft>
                <a:spcPts val="0"/>
              </a:spcAft>
            </a:pPr>
            <a:r>
              <a:rPr sz="1300" b="1" i="0">
                <a:solidFill>
                  <a:srgbClr val="4F8BE0"/>
                </a:solidFill>
                <a:latin typeface="Inter"/>
              </a:rPr>
              <a:t>05</a:t>
            </a:r>
          </a:p>
        </p:txBody>
      </p:sp>
      <p:sp>
        <p:nvSpPr>
          <p:cNvPr id="33" name="TextBox 32"/>
          <p:cNvSpPr txBox="1"/>
          <p:nvPr/>
        </p:nvSpPr>
        <p:spPr>
          <a:xfrm>
            <a:off x="9232148" y="5440680"/>
            <a:ext cx="1953707" cy="548640"/>
          </a:xfrm>
          <a:prstGeom prst="rect">
            <a:avLst/>
          </a:prstGeom>
          <a:noFill/>
        </p:spPr>
        <p:txBody>
          <a:bodyPr wrap="square" lIns="0" rIns="0" tIns="0" bIns="0" anchor="t"/>
          <a:lstStyle/>
          <a:p>
            <a:pPr algn="l">
              <a:lnSpc>
                <a:spcPct val="110000"/>
              </a:lnSpc>
              <a:spcAft>
                <a:spcPts val="0"/>
              </a:spcAft>
            </a:pPr>
            <a:r>
              <a:rPr sz="1300" b="1" i="0">
                <a:solidFill>
                  <a:srgbClr val="FFFFFF"/>
                </a:solidFill>
                <a:latin typeface="Inter"/>
              </a:rPr>
              <a:t>Value created</a:t>
            </a:r>
          </a:p>
        </p:txBody>
      </p:sp>
      <p:sp>
        <p:nvSpPr>
          <p:cNvPr id="34" name="TextBox 3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5" name="TextBox 3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FREQUENTLY ASKED QUESTIONS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Short answers to common questions.</a:t>
            </a:r>
          </a:p>
        </p:txBody>
      </p:sp>
      <p:cxnSp>
        <p:nvCxnSpPr>
          <p:cNvPr id="4" name="Connector 3"/>
          <p:cNvCxnSpPr/>
          <p:nvPr/>
        </p:nvCxnSpPr>
        <p:spPr>
          <a:xfrm>
            <a:off x="594360" y="1920240"/>
            <a:ext cx="5318607" cy="0"/>
          </a:xfrm>
          <a:prstGeom prst="line">
            <a:avLst/>
          </a:prstGeom>
          <a:ln w="12700">
            <a:solidFill>
              <a:srgbClr val="10213B"/>
            </a:solidFill>
          </a:ln>
        </p:spPr>
      </p:cxnSp>
      <p:sp>
        <p:nvSpPr>
          <p:cNvPr id="5" name="TextBox 4"/>
          <p:cNvSpPr txBox="1"/>
          <p:nvPr/>
        </p:nvSpPr>
        <p:spPr>
          <a:xfrm>
            <a:off x="594360" y="201168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Is Startup Roof an accelerator or a fund?</a:t>
            </a:r>
          </a:p>
        </p:txBody>
      </p:sp>
      <p:sp>
        <p:nvSpPr>
          <p:cNvPr id="6" name="TextBox 5"/>
          <p:cNvSpPr txBox="1"/>
          <p:nvPr/>
        </p:nvSpPr>
        <p:spPr>
          <a:xfrm>
            <a:off x="594360" y="233172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Neither today. It is a founder ecosystem with a planned digital workspace. Any investment activity would need its own structure.</a:t>
            </a:r>
          </a:p>
        </p:txBody>
      </p:sp>
      <p:cxnSp>
        <p:nvCxnSpPr>
          <p:cNvPr id="7" name="Connector 6"/>
          <p:cNvCxnSpPr/>
          <p:nvPr/>
        </p:nvCxnSpPr>
        <p:spPr>
          <a:xfrm>
            <a:off x="6278727" y="1920240"/>
            <a:ext cx="5318608" cy="0"/>
          </a:xfrm>
          <a:prstGeom prst="line">
            <a:avLst/>
          </a:prstGeom>
          <a:ln w="12700">
            <a:solidFill>
              <a:srgbClr val="10213B"/>
            </a:solidFill>
          </a:ln>
        </p:spPr>
      </p:cxnSp>
      <p:sp>
        <p:nvSpPr>
          <p:cNvPr id="8" name="TextBox 7"/>
          <p:cNvSpPr txBox="1"/>
          <p:nvPr/>
        </p:nvSpPr>
        <p:spPr>
          <a:xfrm>
            <a:off x="6278727" y="201168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Is Founder OS live?</a:t>
            </a:r>
          </a:p>
        </p:txBody>
      </p:sp>
      <p:sp>
        <p:nvSpPr>
          <p:cNvPr id="9" name="TextBox 8"/>
          <p:cNvSpPr txBox="1"/>
          <p:nvPr/>
        </p:nvSpPr>
        <p:spPr>
          <a:xfrm>
            <a:off x="6278727" y="233172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Not yet. It is planned and will be introduced step by step, starting in the pilot.</a:t>
            </a:r>
          </a:p>
        </p:txBody>
      </p:sp>
      <p:cxnSp>
        <p:nvCxnSpPr>
          <p:cNvPr id="10" name="Connector 9"/>
          <p:cNvCxnSpPr/>
          <p:nvPr/>
        </p:nvCxnSpPr>
        <p:spPr>
          <a:xfrm>
            <a:off x="594360" y="2971800"/>
            <a:ext cx="5318607" cy="0"/>
          </a:xfrm>
          <a:prstGeom prst="line">
            <a:avLst/>
          </a:prstGeom>
          <a:ln w="12700">
            <a:solidFill>
              <a:srgbClr val="D5E2F3"/>
            </a:solidFill>
          </a:ln>
        </p:spPr>
      </p:cxnSp>
      <p:sp>
        <p:nvSpPr>
          <p:cNvPr id="11" name="TextBox 10"/>
          <p:cNvSpPr txBox="1"/>
          <p:nvPr/>
        </p:nvSpPr>
        <p:spPr>
          <a:xfrm>
            <a:off x="594360" y="306324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Do I need a tech startup to join?</a:t>
            </a:r>
          </a:p>
        </p:txBody>
      </p:sp>
      <p:sp>
        <p:nvSpPr>
          <p:cNvPr id="12" name="TextBox 11"/>
          <p:cNvSpPr txBox="1"/>
          <p:nvPr/>
        </p:nvSpPr>
        <p:spPr>
          <a:xfrm>
            <a:off x="594360" y="338328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No. Consumer, wellness, retail and service businesses are equally welcome.</a:t>
            </a:r>
          </a:p>
        </p:txBody>
      </p:sp>
      <p:cxnSp>
        <p:nvCxnSpPr>
          <p:cNvPr id="13" name="Connector 12"/>
          <p:cNvCxnSpPr/>
          <p:nvPr/>
        </p:nvCxnSpPr>
        <p:spPr>
          <a:xfrm>
            <a:off x="6278727" y="2971800"/>
            <a:ext cx="5318608" cy="0"/>
          </a:xfrm>
          <a:prstGeom prst="line">
            <a:avLst/>
          </a:prstGeom>
          <a:ln w="12700">
            <a:solidFill>
              <a:srgbClr val="D5E2F3"/>
            </a:solidFill>
          </a:ln>
        </p:spPr>
      </p:cxnSp>
      <p:sp>
        <p:nvSpPr>
          <p:cNvPr id="14" name="TextBox 13"/>
          <p:cNvSpPr txBox="1"/>
          <p:nvPr/>
        </p:nvSpPr>
        <p:spPr>
          <a:xfrm>
            <a:off x="6278727" y="306324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Will it cost money?</a:t>
            </a:r>
          </a:p>
        </p:txBody>
      </p:sp>
      <p:sp>
        <p:nvSpPr>
          <p:cNvPr id="15" name="TextBox 14"/>
          <p:cNvSpPr txBox="1"/>
          <p:nvPr/>
        </p:nvSpPr>
        <p:spPr>
          <a:xfrm>
            <a:off x="6278727" y="338328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Founder access starts free. Optional paid tools and services will be tested in the pilot.</a:t>
            </a:r>
          </a:p>
        </p:txBody>
      </p:sp>
      <p:cxnSp>
        <p:nvCxnSpPr>
          <p:cNvPr id="16" name="Connector 15"/>
          <p:cNvCxnSpPr/>
          <p:nvPr/>
        </p:nvCxnSpPr>
        <p:spPr>
          <a:xfrm>
            <a:off x="594360" y="4023360"/>
            <a:ext cx="5318607" cy="0"/>
          </a:xfrm>
          <a:prstGeom prst="line">
            <a:avLst/>
          </a:prstGeom>
          <a:ln w="12700">
            <a:solidFill>
              <a:srgbClr val="D5E2F3"/>
            </a:solidFill>
          </a:ln>
        </p:spPr>
      </p:cxnSp>
      <p:sp>
        <p:nvSpPr>
          <p:cNvPr id="17" name="TextBox 16"/>
          <p:cNvSpPr txBox="1"/>
          <p:nvPr/>
        </p:nvSpPr>
        <p:spPr>
          <a:xfrm>
            <a:off x="594360" y="411480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Do I have to raise investment?</a:t>
            </a:r>
          </a:p>
        </p:txBody>
      </p:sp>
      <p:sp>
        <p:nvSpPr>
          <p:cNvPr id="18" name="TextBox 17"/>
          <p:cNvSpPr txBox="1"/>
          <p:nvPr/>
        </p:nvSpPr>
        <p:spPr>
          <a:xfrm>
            <a:off x="594360" y="443484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No. Many businesses grow from revenue; capital is one option among several.</a:t>
            </a:r>
          </a:p>
        </p:txBody>
      </p:sp>
      <p:cxnSp>
        <p:nvCxnSpPr>
          <p:cNvPr id="19" name="Connector 18"/>
          <p:cNvCxnSpPr/>
          <p:nvPr/>
        </p:nvCxnSpPr>
        <p:spPr>
          <a:xfrm>
            <a:off x="6278727" y="4023360"/>
            <a:ext cx="5318608" cy="0"/>
          </a:xfrm>
          <a:prstGeom prst="line">
            <a:avLst/>
          </a:prstGeom>
          <a:ln w="12700">
            <a:solidFill>
              <a:srgbClr val="D5E2F3"/>
            </a:solidFill>
          </a:ln>
        </p:spPr>
      </p:cxnSp>
      <p:sp>
        <p:nvSpPr>
          <p:cNvPr id="20" name="TextBox 19"/>
          <p:cNvSpPr txBox="1"/>
          <p:nvPr/>
        </p:nvSpPr>
        <p:spPr>
          <a:xfrm>
            <a:off x="6278727" y="4114800"/>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Is it only for the UAE?</a:t>
            </a:r>
          </a:p>
        </p:txBody>
      </p:sp>
      <p:sp>
        <p:nvSpPr>
          <p:cNvPr id="21" name="TextBox 20"/>
          <p:cNvSpPr txBox="1"/>
          <p:nvPr/>
        </p:nvSpPr>
        <p:spPr>
          <a:xfrm>
            <a:off x="6278727" y="443484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It starts in the UAE, with an ambition to extend to other markets.</a:t>
            </a:r>
          </a:p>
        </p:txBody>
      </p:sp>
      <p:cxnSp>
        <p:nvCxnSpPr>
          <p:cNvPr id="22" name="Connector 21"/>
          <p:cNvCxnSpPr/>
          <p:nvPr/>
        </p:nvCxnSpPr>
        <p:spPr>
          <a:xfrm>
            <a:off x="594360" y="5074920"/>
            <a:ext cx="5318607" cy="0"/>
          </a:xfrm>
          <a:prstGeom prst="line">
            <a:avLst/>
          </a:prstGeom>
          <a:ln w="12700">
            <a:solidFill>
              <a:srgbClr val="D5E2F3"/>
            </a:solidFill>
          </a:ln>
        </p:spPr>
      </p:cxnSp>
      <p:sp>
        <p:nvSpPr>
          <p:cNvPr id="23" name="TextBox 22"/>
          <p:cNvSpPr txBox="1"/>
          <p:nvPr/>
        </p:nvSpPr>
        <p:spPr>
          <a:xfrm>
            <a:off x="594360" y="5166359"/>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How is my data used?</a:t>
            </a:r>
          </a:p>
        </p:txBody>
      </p:sp>
      <p:sp>
        <p:nvSpPr>
          <p:cNvPr id="24" name="TextBox 23"/>
          <p:cNvSpPr txBox="1"/>
          <p:nvPr/>
        </p:nvSpPr>
        <p:spPr>
          <a:xfrm>
            <a:off x="594360" y="548640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Consent first: founders control what is shared, and introductions need agreement from both sides.</a:t>
            </a:r>
          </a:p>
        </p:txBody>
      </p:sp>
      <p:cxnSp>
        <p:nvCxnSpPr>
          <p:cNvPr id="25" name="Connector 24"/>
          <p:cNvCxnSpPr/>
          <p:nvPr/>
        </p:nvCxnSpPr>
        <p:spPr>
          <a:xfrm>
            <a:off x="6278727" y="5074920"/>
            <a:ext cx="5318608" cy="0"/>
          </a:xfrm>
          <a:prstGeom prst="line">
            <a:avLst/>
          </a:prstGeom>
          <a:ln w="12700">
            <a:solidFill>
              <a:srgbClr val="D5E2F3"/>
            </a:solidFill>
          </a:ln>
        </p:spPr>
      </p:cxnSp>
      <p:sp>
        <p:nvSpPr>
          <p:cNvPr id="26" name="TextBox 25"/>
          <p:cNvSpPr txBox="1"/>
          <p:nvPr/>
        </p:nvSpPr>
        <p:spPr>
          <a:xfrm>
            <a:off x="6278727" y="5166359"/>
            <a:ext cx="5318607" cy="320040"/>
          </a:xfrm>
          <a:prstGeom prst="rect">
            <a:avLst/>
          </a:prstGeom>
          <a:noFill/>
        </p:spPr>
        <p:txBody>
          <a:bodyPr wrap="square" lIns="0" rIns="0" tIns="0" bIns="0" anchor="t"/>
          <a:lstStyle/>
          <a:p>
            <a:pPr algn="l">
              <a:lnSpc>
                <a:spcPct val="115000"/>
              </a:lnSpc>
              <a:spcAft>
                <a:spcPts val="0"/>
              </a:spcAft>
            </a:pPr>
            <a:r>
              <a:rPr sz="1300" b="1" i="0">
                <a:solidFill>
                  <a:srgbClr val="10213B"/>
                </a:solidFill>
                <a:latin typeface="Inter"/>
              </a:rPr>
              <a:t>How can I get involved?</a:t>
            </a:r>
          </a:p>
        </p:txBody>
      </p:sp>
      <p:sp>
        <p:nvSpPr>
          <p:cNvPr id="27" name="TextBox 26"/>
          <p:cNvSpPr txBox="1"/>
          <p:nvPr/>
        </p:nvSpPr>
        <p:spPr>
          <a:xfrm>
            <a:off x="6278727" y="5486400"/>
            <a:ext cx="5318607" cy="59436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Visit startuproof.com to express interest as a founder, mentor, partner, investor or contributor.</a:t>
            </a:r>
          </a:p>
        </p:txBody>
      </p:sp>
      <p:sp>
        <p:nvSpPr>
          <p:cNvPr id="28" name="TextBox 27"/>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9" name="TextBox 28"/>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GLOSSARY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Startup terms used in this presentation.</a:t>
            </a:r>
          </a:p>
        </p:txBody>
      </p:sp>
      <p:sp>
        <p:nvSpPr>
          <p:cNvPr id="4" name="TextBox 3"/>
          <p:cNvSpPr txBox="1"/>
          <p:nvPr/>
        </p:nvSpPr>
        <p:spPr>
          <a:xfrm>
            <a:off x="594360" y="1874519"/>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Accelerator</a:t>
            </a:r>
          </a:p>
        </p:txBody>
      </p:sp>
      <p:sp>
        <p:nvSpPr>
          <p:cNvPr id="5" name="TextBox 4"/>
          <p:cNvSpPr txBox="1"/>
          <p:nvPr/>
        </p:nvSpPr>
        <p:spPr>
          <a:xfrm>
            <a:off x="2423160" y="1874519"/>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A time-bound programme supporting startups, often with investment.</a:t>
            </a:r>
          </a:p>
        </p:txBody>
      </p:sp>
      <p:cxnSp>
        <p:nvCxnSpPr>
          <p:cNvPr id="6" name="Connector 5"/>
          <p:cNvCxnSpPr/>
          <p:nvPr/>
        </p:nvCxnSpPr>
        <p:spPr>
          <a:xfrm>
            <a:off x="594360" y="2350008"/>
            <a:ext cx="5318607" cy="0"/>
          </a:xfrm>
          <a:prstGeom prst="line">
            <a:avLst/>
          </a:prstGeom>
          <a:ln w="12700">
            <a:solidFill>
              <a:srgbClr val="E6EEF9"/>
            </a:solidFill>
          </a:ln>
        </p:spPr>
      </p:cxnSp>
      <p:sp>
        <p:nvSpPr>
          <p:cNvPr id="7" name="TextBox 6"/>
          <p:cNvSpPr txBox="1"/>
          <p:nvPr/>
        </p:nvSpPr>
        <p:spPr>
          <a:xfrm>
            <a:off x="594360" y="2404872"/>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Angel investor</a:t>
            </a:r>
          </a:p>
        </p:txBody>
      </p:sp>
      <p:sp>
        <p:nvSpPr>
          <p:cNvPr id="8" name="TextBox 7"/>
          <p:cNvSpPr txBox="1"/>
          <p:nvPr/>
        </p:nvSpPr>
        <p:spPr>
          <a:xfrm>
            <a:off x="2423160" y="2404872"/>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An individual who invests personal money in early startups.</a:t>
            </a:r>
          </a:p>
        </p:txBody>
      </p:sp>
      <p:cxnSp>
        <p:nvCxnSpPr>
          <p:cNvPr id="9" name="Connector 8"/>
          <p:cNvCxnSpPr/>
          <p:nvPr/>
        </p:nvCxnSpPr>
        <p:spPr>
          <a:xfrm>
            <a:off x="594360" y="2880360"/>
            <a:ext cx="5318607" cy="0"/>
          </a:xfrm>
          <a:prstGeom prst="line">
            <a:avLst/>
          </a:prstGeom>
          <a:ln w="12700">
            <a:solidFill>
              <a:srgbClr val="E6EEF9"/>
            </a:solidFill>
          </a:ln>
        </p:spPr>
      </p:cxnSp>
      <p:sp>
        <p:nvSpPr>
          <p:cNvPr id="10" name="TextBox 9"/>
          <p:cNvSpPr txBox="1"/>
          <p:nvPr/>
        </p:nvSpPr>
        <p:spPr>
          <a:xfrm>
            <a:off x="594360" y="2935224"/>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Bootstrapping</a:t>
            </a:r>
          </a:p>
        </p:txBody>
      </p:sp>
      <p:sp>
        <p:nvSpPr>
          <p:cNvPr id="11" name="TextBox 10"/>
          <p:cNvSpPr txBox="1"/>
          <p:nvPr/>
        </p:nvSpPr>
        <p:spPr>
          <a:xfrm>
            <a:off x="2423160" y="2935224"/>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Funding a business from savings and revenue.</a:t>
            </a:r>
          </a:p>
        </p:txBody>
      </p:sp>
      <p:cxnSp>
        <p:nvCxnSpPr>
          <p:cNvPr id="12" name="Connector 11"/>
          <p:cNvCxnSpPr/>
          <p:nvPr/>
        </p:nvCxnSpPr>
        <p:spPr>
          <a:xfrm>
            <a:off x="594360" y="3410712"/>
            <a:ext cx="5318607" cy="0"/>
          </a:xfrm>
          <a:prstGeom prst="line">
            <a:avLst/>
          </a:prstGeom>
          <a:ln w="12700">
            <a:solidFill>
              <a:srgbClr val="E6EEF9"/>
            </a:solidFill>
          </a:ln>
        </p:spPr>
      </p:cxnSp>
      <p:sp>
        <p:nvSpPr>
          <p:cNvPr id="13" name="TextBox 12"/>
          <p:cNvSpPr txBox="1"/>
          <p:nvPr/>
        </p:nvSpPr>
        <p:spPr>
          <a:xfrm>
            <a:off x="594360" y="3465575"/>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CAC</a:t>
            </a:r>
          </a:p>
        </p:txBody>
      </p:sp>
      <p:sp>
        <p:nvSpPr>
          <p:cNvPr id="14" name="TextBox 13"/>
          <p:cNvSpPr txBox="1"/>
          <p:nvPr/>
        </p:nvSpPr>
        <p:spPr>
          <a:xfrm>
            <a:off x="2423160" y="3465575"/>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Cost of acquiring one new customer.</a:t>
            </a:r>
          </a:p>
        </p:txBody>
      </p:sp>
      <p:cxnSp>
        <p:nvCxnSpPr>
          <p:cNvPr id="15" name="Connector 14"/>
          <p:cNvCxnSpPr/>
          <p:nvPr/>
        </p:nvCxnSpPr>
        <p:spPr>
          <a:xfrm>
            <a:off x="594360" y="3941063"/>
            <a:ext cx="5318607" cy="0"/>
          </a:xfrm>
          <a:prstGeom prst="line">
            <a:avLst/>
          </a:prstGeom>
          <a:ln w="12700">
            <a:solidFill>
              <a:srgbClr val="E6EEF9"/>
            </a:solidFill>
          </a:ln>
        </p:spPr>
      </p:cxnSp>
      <p:sp>
        <p:nvSpPr>
          <p:cNvPr id="16" name="TextBox 15"/>
          <p:cNvSpPr txBox="1"/>
          <p:nvPr/>
        </p:nvSpPr>
        <p:spPr>
          <a:xfrm>
            <a:off x="594360" y="3995927"/>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Churn</a:t>
            </a:r>
          </a:p>
        </p:txBody>
      </p:sp>
      <p:sp>
        <p:nvSpPr>
          <p:cNvPr id="17" name="TextBox 16"/>
          <p:cNvSpPr txBox="1"/>
          <p:nvPr/>
        </p:nvSpPr>
        <p:spPr>
          <a:xfrm>
            <a:off x="2423160" y="3995927"/>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The rate at which customers stop buying.</a:t>
            </a:r>
          </a:p>
        </p:txBody>
      </p:sp>
      <p:cxnSp>
        <p:nvCxnSpPr>
          <p:cNvPr id="18" name="Connector 17"/>
          <p:cNvCxnSpPr/>
          <p:nvPr/>
        </p:nvCxnSpPr>
        <p:spPr>
          <a:xfrm>
            <a:off x="594360" y="4471415"/>
            <a:ext cx="5318607" cy="0"/>
          </a:xfrm>
          <a:prstGeom prst="line">
            <a:avLst/>
          </a:prstGeom>
          <a:ln w="12700">
            <a:solidFill>
              <a:srgbClr val="E6EEF9"/>
            </a:solidFill>
          </a:ln>
        </p:spPr>
      </p:cxnSp>
      <p:sp>
        <p:nvSpPr>
          <p:cNvPr id="19" name="TextBox 18"/>
          <p:cNvSpPr txBox="1"/>
          <p:nvPr/>
        </p:nvSpPr>
        <p:spPr>
          <a:xfrm>
            <a:off x="594360" y="4526279"/>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Dilution</a:t>
            </a:r>
          </a:p>
        </p:txBody>
      </p:sp>
      <p:sp>
        <p:nvSpPr>
          <p:cNvPr id="20" name="TextBox 19"/>
          <p:cNvSpPr txBox="1"/>
          <p:nvPr/>
        </p:nvSpPr>
        <p:spPr>
          <a:xfrm>
            <a:off x="2423160" y="4526279"/>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Owning a smaller share after new shares are issued.</a:t>
            </a:r>
          </a:p>
        </p:txBody>
      </p:sp>
      <p:cxnSp>
        <p:nvCxnSpPr>
          <p:cNvPr id="21" name="Connector 20"/>
          <p:cNvCxnSpPr/>
          <p:nvPr/>
        </p:nvCxnSpPr>
        <p:spPr>
          <a:xfrm>
            <a:off x="594360" y="5001767"/>
            <a:ext cx="5318607" cy="0"/>
          </a:xfrm>
          <a:prstGeom prst="line">
            <a:avLst/>
          </a:prstGeom>
          <a:ln w="12700">
            <a:solidFill>
              <a:srgbClr val="E6EEF9"/>
            </a:solidFill>
          </a:ln>
        </p:spPr>
      </p:cxnSp>
      <p:sp>
        <p:nvSpPr>
          <p:cNvPr id="22" name="TextBox 21"/>
          <p:cNvSpPr txBox="1"/>
          <p:nvPr/>
        </p:nvSpPr>
        <p:spPr>
          <a:xfrm>
            <a:off x="594360" y="5056631"/>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Free zone</a:t>
            </a:r>
          </a:p>
        </p:txBody>
      </p:sp>
      <p:sp>
        <p:nvSpPr>
          <p:cNvPr id="23" name="TextBox 22"/>
          <p:cNvSpPr txBox="1"/>
          <p:nvPr/>
        </p:nvSpPr>
        <p:spPr>
          <a:xfrm>
            <a:off x="2423160" y="5056631"/>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A UAE economic zone with its own licensing rules.</a:t>
            </a:r>
          </a:p>
        </p:txBody>
      </p:sp>
      <p:cxnSp>
        <p:nvCxnSpPr>
          <p:cNvPr id="24" name="Connector 23"/>
          <p:cNvCxnSpPr/>
          <p:nvPr/>
        </p:nvCxnSpPr>
        <p:spPr>
          <a:xfrm>
            <a:off x="594360" y="5532119"/>
            <a:ext cx="5318607" cy="0"/>
          </a:xfrm>
          <a:prstGeom prst="line">
            <a:avLst/>
          </a:prstGeom>
          <a:ln w="12700">
            <a:solidFill>
              <a:srgbClr val="E6EEF9"/>
            </a:solidFill>
          </a:ln>
        </p:spPr>
      </p:cxnSp>
      <p:sp>
        <p:nvSpPr>
          <p:cNvPr id="25" name="TextBox 24"/>
          <p:cNvSpPr txBox="1"/>
          <p:nvPr/>
        </p:nvSpPr>
        <p:spPr>
          <a:xfrm>
            <a:off x="594360" y="5586983"/>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GTM</a:t>
            </a:r>
          </a:p>
        </p:txBody>
      </p:sp>
      <p:sp>
        <p:nvSpPr>
          <p:cNvPr id="26" name="TextBox 25"/>
          <p:cNvSpPr txBox="1"/>
          <p:nvPr/>
        </p:nvSpPr>
        <p:spPr>
          <a:xfrm>
            <a:off x="2423160" y="5586983"/>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Go-to-market: how a product reaches customers.</a:t>
            </a:r>
          </a:p>
        </p:txBody>
      </p:sp>
      <p:cxnSp>
        <p:nvCxnSpPr>
          <p:cNvPr id="27" name="Connector 26"/>
          <p:cNvCxnSpPr/>
          <p:nvPr/>
        </p:nvCxnSpPr>
        <p:spPr>
          <a:xfrm>
            <a:off x="594360" y="6062471"/>
            <a:ext cx="5318607" cy="0"/>
          </a:xfrm>
          <a:prstGeom prst="line">
            <a:avLst/>
          </a:prstGeom>
          <a:ln w="12700">
            <a:solidFill>
              <a:srgbClr val="E6EEF9"/>
            </a:solidFill>
          </a:ln>
        </p:spPr>
      </p:cxnSp>
      <p:sp>
        <p:nvSpPr>
          <p:cNvPr id="28" name="TextBox 27"/>
          <p:cNvSpPr txBox="1"/>
          <p:nvPr/>
        </p:nvSpPr>
        <p:spPr>
          <a:xfrm>
            <a:off x="6278727" y="1874519"/>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Incubator</a:t>
            </a:r>
          </a:p>
        </p:txBody>
      </p:sp>
      <p:sp>
        <p:nvSpPr>
          <p:cNvPr id="29" name="TextBox 28"/>
          <p:cNvSpPr txBox="1"/>
          <p:nvPr/>
        </p:nvSpPr>
        <p:spPr>
          <a:xfrm>
            <a:off x="8107527" y="1874519"/>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Support for very early ventures, often with space and mentoring.</a:t>
            </a:r>
          </a:p>
        </p:txBody>
      </p:sp>
      <p:cxnSp>
        <p:nvCxnSpPr>
          <p:cNvPr id="30" name="Connector 29"/>
          <p:cNvCxnSpPr/>
          <p:nvPr/>
        </p:nvCxnSpPr>
        <p:spPr>
          <a:xfrm>
            <a:off x="6278727" y="2350008"/>
            <a:ext cx="5318608" cy="0"/>
          </a:xfrm>
          <a:prstGeom prst="line">
            <a:avLst/>
          </a:prstGeom>
          <a:ln w="12700">
            <a:solidFill>
              <a:srgbClr val="E6EEF9"/>
            </a:solidFill>
          </a:ln>
        </p:spPr>
      </p:cxnSp>
      <p:sp>
        <p:nvSpPr>
          <p:cNvPr id="31" name="TextBox 30"/>
          <p:cNvSpPr txBox="1"/>
          <p:nvPr/>
        </p:nvSpPr>
        <p:spPr>
          <a:xfrm>
            <a:off x="6278727" y="2404872"/>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LTV</a:t>
            </a:r>
          </a:p>
        </p:txBody>
      </p:sp>
      <p:sp>
        <p:nvSpPr>
          <p:cNvPr id="32" name="TextBox 31"/>
          <p:cNvSpPr txBox="1"/>
          <p:nvPr/>
        </p:nvSpPr>
        <p:spPr>
          <a:xfrm>
            <a:off x="8107527" y="2404872"/>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Gross profit expected from a customer over time.</a:t>
            </a:r>
          </a:p>
        </p:txBody>
      </p:sp>
      <p:cxnSp>
        <p:nvCxnSpPr>
          <p:cNvPr id="33" name="Connector 32"/>
          <p:cNvCxnSpPr/>
          <p:nvPr/>
        </p:nvCxnSpPr>
        <p:spPr>
          <a:xfrm>
            <a:off x="6278727" y="2880360"/>
            <a:ext cx="5318608" cy="0"/>
          </a:xfrm>
          <a:prstGeom prst="line">
            <a:avLst/>
          </a:prstGeom>
          <a:ln w="12700">
            <a:solidFill>
              <a:srgbClr val="E6EEF9"/>
            </a:solidFill>
          </a:ln>
        </p:spPr>
      </p:cxnSp>
      <p:sp>
        <p:nvSpPr>
          <p:cNvPr id="34" name="TextBox 33"/>
          <p:cNvSpPr txBox="1"/>
          <p:nvPr/>
        </p:nvSpPr>
        <p:spPr>
          <a:xfrm>
            <a:off x="6278727" y="2935224"/>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MVP</a:t>
            </a:r>
          </a:p>
        </p:txBody>
      </p:sp>
      <p:sp>
        <p:nvSpPr>
          <p:cNvPr id="35" name="TextBox 34"/>
          <p:cNvSpPr txBox="1"/>
          <p:nvPr/>
        </p:nvSpPr>
        <p:spPr>
          <a:xfrm>
            <a:off x="8107527" y="2935224"/>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Minimum viable product — the simplest sellable version.</a:t>
            </a:r>
          </a:p>
        </p:txBody>
      </p:sp>
      <p:cxnSp>
        <p:nvCxnSpPr>
          <p:cNvPr id="36" name="Connector 35"/>
          <p:cNvCxnSpPr/>
          <p:nvPr/>
        </p:nvCxnSpPr>
        <p:spPr>
          <a:xfrm>
            <a:off x="6278727" y="3410712"/>
            <a:ext cx="5318608" cy="0"/>
          </a:xfrm>
          <a:prstGeom prst="line">
            <a:avLst/>
          </a:prstGeom>
          <a:ln w="12700">
            <a:solidFill>
              <a:srgbClr val="E6EEF9"/>
            </a:solidFill>
          </a:ln>
        </p:spPr>
      </p:cxnSp>
      <p:sp>
        <p:nvSpPr>
          <p:cNvPr id="37" name="TextBox 36"/>
          <p:cNvSpPr txBox="1"/>
          <p:nvPr/>
        </p:nvSpPr>
        <p:spPr>
          <a:xfrm>
            <a:off x="6278727" y="3465575"/>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Pre-seed / Seed</a:t>
            </a:r>
          </a:p>
        </p:txBody>
      </p:sp>
      <p:sp>
        <p:nvSpPr>
          <p:cNvPr id="38" name="TextBox 37"/>
          <p:cNvSpPr txBox="1"/>
          <p:nvPr/>
        </p:nvSpPr>
        <p:spPr>
          <a:xfrm>
            <a:off x="8107527" y="3465575"/>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Early funding rounds to build and find product–market fit.</a:t>
            </a:r>
          </a:p>
        </p:txBody>
      </p:sp>
      <p:cxnSp>
        <p:nvCxnSpPr>
          <p:cNvPr id="39" name="Connector 38"/>
          <p:cNvCxnSpPr/>
          <p:nvPr/>
        </p:nvCxnSpPr>
        <p:spPr>
          <a:xfrm>
            <a:off x="6278727" y="3941063"/>
            <a:ext cx="5318608" cy="0"/>
          </a:xfrm>
          <a:prstGeom prst="line">
            <a:avLst/>
          </a:prstGeom>
          <a:ln w="12700">
            <a:solidFill>
              <a:srgbClr val="E6EEF9"/>
            </a:solidFill>
          </a:ln>
        </p:spPr>
      </p:cxnSp>
      <p:sp>
        <p:nvSpPr>
          <p:cNvPr id="40" name="TextBox 39"/>
          <p:cNvSpPr txBox="1"/>
          <p:nvPr/>
        </p:nvSpPr>
        <p:spPr>
          <a:xfrm>
            <a:off x="6278727" y="3995927"/>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Product–market fit</a:t>
            </a:r>
          </a:p>
        </p:txBody>
      </p:sp>
      <p:sp>
        <p:nvSpPr>
          <p:cNvPr id="41" name="TextBox 40"/>
          <p:cNvSpPr txBox="1"/>
          <p:nvPr/>
        </p:nvSpPr>
        <p:spPr>
          <a:xfrm>
            <a:off x="8107527" y="3995927"/>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Strong, repeat demand from a clear market.</a:t>
            </a:r>
          </a:p>
        </p:txBody>
      </p:sp>
      <p:cxnSp>
        <p:nvCxnSpPr>
          <p:cNvPr id="42" name="Connector 41"/>
          <p:cNvCxnSpPr/>
          <p:nvPr/>
        </p:nvCxnSpPr>
        <p:spPr>
          <a:xfrm>
            <a:off x="6278727" y="4471415"/>
            <a:ext cx="5318608" cy="0"/>
          </a:xfrm>
          <a:prstGeom prst="line">
            <a:avLst/>
          </a:prstGeom>
          <a:ln w="12700">
            <a:solidFill>
              <a:srgbClr val="E6EEF9"/>
            </a:solidFill>
          </a:ln>
        </p:spPr>
      </p:cxnSp>
      <p:sp>
        <p:nvSpPr>
          <p:cNvPr id="43" name="TextBox 42"/>
          <p:cNvSpPr txBox="1"/>
          <p:nvPr/>
        </p:nvSpPr>
        <p:spPr>
          <a:xfrm>
            <a:off x="6278727" y="4526279"/>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Runway</a:t>
            </a:r>
          </a:p>
        </p:txBody>
      </p:sp>
      <p:sp>
        <p:nvSpPr>
          <p:cNvPr id="44" name="TextBox 43"/>
          <p:cNvSpPr txBox="1"/>
          <p:nvPr/>
        </p:nvSpPr>
        <p:spPr>
          <a:xfrm>
            <a:off x="8107527" y="4526279"/>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Months a business can operate on current cash.</a:t>
            </a:r>
          </a:p>
        </p:txBody>
      </p:sp>
      <p:cxnSp>
        <p:nvCxnSpPr>
          <p:cNvPr id="45" name="Connector 44"/>
          <p:cNvCxnSpPr/>
          <p:nvPr/>
        </p:nvCxnSpPr>
        <p:spPr>
          <a:xfrm>
            <a:off x="6278727" y="5001767"/>
            <a:ext cx="5318608" cy="0"/>
          </a:xfrm>
          <a:prstGeom prst="line">
            <a:avLst/>
          </a:prstGeom>
          <a:ln w="12700">
            <a:solidFill>
              <a:srgbClr val="E6EEF9"/>
            </a:solidFill>
          </a:ln>
        </p:spPr>
      </p:cxnSp>
      <p:sp>
        <p:nvSpPr>
          <p:cNvPr id="46" name="TextBox 45"/>
          <p:cNvSpPr txBox="1"/>
          <p:nvPr/>
        </p:nvSpPr>
        <p:spPr>
          <a:xfrm>
            <a:off x="6278727" y="5056631"/>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Unit economics</a:t>
            </a:r>
          </a:p>
        </p:txBody>
      </p:sp>
      <p:sp>
        <p:nvSpPr>
          <p:cNvPr id="47" name="TextBox 46"/>
          <p:cNvSpPr txBox="1"/>
          <p:nvPr/>
        </p:nvSpPr>
        <p:spPr>
          <a:xfrm>
            <a:off x="8107527" y="5056631"/>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Revenue and cost per unit, customer or order.</a:t>
            </a:r>
          </a:p>
        </p:txBody>
      </p:sp>
      <p:cxnSp>
        <p:nvCxnSpPr>
          <p:cNvPr id="48" name="Connector 47"/>
          <p:cNvCxnSpPr/>
          <p:nvPr/>
        </p:nvCxnSpPr>
        <p:spPr>
          <a:xfrm>
            <a:off x="6278727" y="5532119"/>
            <a:ext cx="5318608" cy="0"/>
          </a:xfrm>
          <a:prstGeom prst="line">
            <a:avLst/>
          </a:prstGeom>
          <a:ln w="12700">
            <a:solidFill>
              <a:srgbClr val="E6EEF9"/>
            </a:solidFill>
          </a:ln>
        </p:spPr>
      </p:cxnSp>
      <p:sp>
        <p:nvSpPr>
          <p:cNvPr id="49" name="TextBox 48"/>
          <p:cNvSpPr txBox="1"/>
          <p:nvPr/>
        </p:nvSpPr>
        <p:spPr>
          <a:xfrm>
            <a:off x="6278727" y="5586983"/>
            <a:ext cx="1783080" cy="45720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Venture capital</a:t>
            </a:r>
          </a:p>
        </p:txBody>
      </p:sp>
      <p:sp>
        <p:nvSpPr>
          <p:cNvPr id="50" name="TextBox 49"/>
          <p:cNvSpPr txBox="1"/>
          <p:nvPr/>
        </p:nvSpPr>
        <p:spPr>
          <a:xfrm>
            <a:off x="8107527" y="5586983"/>
            <a:ext cx="3489807" cy="502920"/>
          </a:xfrm>
          <a:prstGeom prst="rect">
            <a:avLst/>
          </a:prstGeom>
          <a:noFill/>
        </p:spPr>
        <p:txBody>
          <a:bodyPr wrap="square" lIns="0" rIns="0" tIns="0" bIns="0" anchor="t"/>
          <a:lstStyle/>
          <a:p>
            <a:pPr algn="l">
              <a:lnSpc>
                <a:spcPct val="112000"/>
              </a:lnSpc>
              <a:spcAft>
                <a:spcPts val="0"/>
              </a:spcAft>
            </a:pPr>
            <a:r>
              <a:rPr sz="1150" b="0" i="0">
                <a:solidFill>
                  <a:srgbClr val="253650"/>
                </a:solidFill>
                <a:latin typeface="Inter"/>
              </a:rPr>
              <a:t>Professional investment funds for high-growth companies.</a:t>
            </a:r>
          </a:p>
        </p:txBody>
      </p:sp>
      <p:cxnSp>
        <p:nvCxnSpPr>
          <p:cNvPr id="51" name="Connector 50"/>
          <p:cNvCxnSpPr/>
          <p:nvPr/>
        </p:nvCxnSpPr>
        <p:spPr>
          <a:xfrm>
            <a:off x="6278727" y="6062471"/>
            <a:ext cx="5318608" cy="0"/>
          </a:xfrm>
          <a:prstGeom prst="line">
            <a:avLst/>
          </a:prstGeom>
          <a:ln w="12700">
            <a:solidFill>
              <a:srgbClr val="E6EEF9"/>
            </a:solidFill>
          </a:ln>
        </p:spPr>
      </p:cxnSp>
      <p:sp>
        <p:nvSpPr>
          <p:cNvPr id="52" name="TextBox 5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3" name="TextBox 5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82296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SOURCES AND NOTES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External data used in this presentation.</a:t>
            </a:r>
          </a:p>
        </p:txBody>
      </p:sp>
      <p:sp>
        <p:nvSpPr>
          <p:cNvPr id="4" name="TextBox 3"/>
          <p:cNvSpPr txBox="1"/>
          <p:nvPr/>
        </p:nvSpPr>
        <p:spPr>
          <a:xfrm>
            <a:off x="594360" y="1920240"/>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1</a:t>
            </a:r>
          </a:p>
        </p:txBody>
      </p:sp>
      <p:sp>
        <p:nvSpPr>
          <p:cNvPr id="5" name="TextBox 4"/>
          <p:cNvSpPr txBox="1"/>
          <p:nvPr/>
        </p:nvSpPr>
        <p:spPr>
          <a:xfrm>
            <a:off x="960120" y="1920240"/>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CB Insights, “The Top 12 Reasons Startups Fail” (2021) — analysis of 111 startup post-mortems.</a:t>
            </a:r>
          </a:p>
        </p:txBody>
      </p:sp>
      <p:sp>
        <p:nvSpPr>
          <p:cNvPr id="6" name="TextBox 5"/>
          <p:cNvSpPr txBox="1"/>
          <p:nvPr/>
        </p:nvSpPr>
        <p:spPr>
          <a:xfrm>
            <a:off x="594360" y="2578608"/>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2</a:t>
            </a:r>
          </a:p>
        </p:txBody>
      </p:sp>
      <p:sp>
        <p:nvSpPr>
          <p:cNvPr id="7" name="TextBox 6"/>
          <p:cNvSpPr txBox="1"/>
          <p:nvPr/>
        </p:nvSpPr>
        <p:spPr>
          <a:xfrm>
            <a:off x="960120" y="2578608"/>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US Bureau of Labor Statistics, Business Employment Dynamics establishment survival data; “The Economics Daily”, 2024 (2013 cohort).</a:t>
            </a:r>
          </a:p>
        </p:txBody>
      </p:sp>
      <p:sp>
        <p:nvSpPr>
          <p:cNvPr id="8" name="TextBox 7"/>
          <p:cNvSpPr txBox="1"/>
          <p:nvPr/>
        </p:nvSpPr>
        <p:spPr>
          <a:xfrm>
            <a:off x="594360" y="3236976"/>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3</a:t>
            </a:r>
          </a:p>
        </p:txBody>
      </p:sp>
      <p:sp>
        <p:nvSpPr>
          <p:cNvPr id="9" name="TextBox 8"/>
          <p:cNvSpPr txBox="1"/>
          <p:nvPr/>
        </p:nvSpPr>
        <p:spPr>
          <a:xfrm>
            <a:off x="960120" y="3236976"/>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Calvino, F., Criscuolo, C. &amp; Menon, C. (2015), “Cross-country evidence on start-up dynamics”, OECD STI Policy Papers.</a:t>
            </a:r>
          </a:p>
        </p:txBody>
      </p:sp>
      <p:sp>
        <p:nvSpPr>
          <p:cNvPr id="10" name="TextBox 9"/>
          <p:cNvSpPr txBox="1"/>
          <p:nvPr/>
        </p:nvSpPr>
        <p:spPr>
          <a:xfrm>
            <a:off x="594360" y="3895344"/>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4</a:t>
            </a:r>
          </a:p>
        </p:txBody>
      </p:sp>
      <p:sp>
        <p:nvSpPr>
          <p:cNvPr id="11" name="TextBox 10"/>
          <p:cNvSpPr txBox="1"/>
          <p:nvPr/>
        </p:nvSpPr>
        <p:spPr>
          <a:xfrm>
            <a:off x="960120" y="3895344"/>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Endeavor Insight (2015), research on New York City tech founders; “The Power of Entrepreneur Networks”.</a:t>
            </a:r>
          </a:p>
        </p:txBody>
      </p:sp>
      <p:sp>
        <p:nvSpPr>
          <p:cNvPr id="12" name="TextBox 11"/>
          <p:cNvSpPr txBox="1"/>
          <p:nvPr/>
        </p:nvSpPr>
        <p:spPr>
          <a:xfrm>
            <a:off x="594360" y="4553712"/>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5</a:t>
            </a:r>
          </a:p>
        </p:txBody>
      </p:sp>
      <p:sp>
        <p:nvSpPr>
          <p:cNvPr id="13" name="TextBox 12"/>
          <p:cNvSpPr txBox="1"/>
          <p:nvPr/>
        </p:nvSpPr>
        <p:spPr>
          <a:xfrm>
            <a:off x="960120" y="4553712"/>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Hallen, B., Cohen, S. &amp; Bingham, C. (2020), “Do Accelerators Work? If So, How?”, Organization Science 31(2).</a:t>
            </a:r>
          </a:p>
        </p:txBody>
      </p:sp>
      <p:sp>
        <p:nvSpPr>
          <p:cNvPr id="14" name="TextBox 13"/>
          <p:cNvSpPr txBox="1"/>
          <p:nvPr/>
        </p:nvSpPr>
        <p:spPr>
          <a:xfrm>
            <a:off x="594360" y="5212079"/>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6</a:t>
            </a:r>
          </a:p>
        </p:txBody>
      </p:sp>
      <p:sp>
        <p:nvSpPr>
          <p:cNvPr id="15" name="TextBox 14"/>
          <p:cNvSpPr txBox="1"/>
          <p:nvPr/>
        </p:nvSpPr>
        <p:spPr>
          <a:xfrm>
            <a:off x="960120" y="5212079"/>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Wamda, annual MENA startup investment reviews, 2020–2025 (figures include debt financing).</a:t>
            </a:r>
          </a:p>
        </p:txBody>
      </p:sp>
      <p:sp>
        <p:nvSpPr>
          <p:cNvPr id="16" name="TextBox 15"/>
          <p:cNvSpPr txBox="1"/>
          <p:nvPr/>
        </p:nvSpPr>
        <p:spPr>
          <a:xfrm>
            <a:off x="6172200" y="1920240"/>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7</a:t>
            </a:r>
          </a:p>
        </p:txBody>
      </p:sp>
      <p:sp>
        <p:nvSpPr>
          <p:cNvPr id="17" name="TextBox 16"/>
          <p:cNvSpPr txBox="1"/>
          <p:nvPr/>
        </p:nvSpPr>
        <p:spPr>
          <a:xfrm>
            <a:off x="6537960" y="1920240"/>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Global Entrepreneurship Monitor: 2025/2026 Global Report (NECI ranking) and UAE country profile, 2025.</a:t>
            </a:r>
          </a:p>
        </p:txBody>
      </p:sp>
      <p:sp>
        <p:nvSpPr>
          <p:cNvPr id="18" name="TextBox 17"/>
          <p:cNvSpPr txBox="1"/>
          <p:nvPr/>
        </p:nvSpPr>
        <p:spPr>
          <a:xfrm>
            <a:off x="6172200" y="2578608"/>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8</a:t>
            </a:r>
          </a:p>
        </p:txBody>
      </p:sp>
      <p:sp>
        <p:nvSpPr>
          <p:cNvPr id="19" name="TextBox 18"/>
          <p:cNvSpPr txBox="1"/>
          <p:nvPr/>
        </p:nvSpPr>
        <p:spPr>
          <a:xfrm>
            <a:off x="6537960" y="2578608"/>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UAE Ministry of Economy; Central Bank of the UAE (SME share of non-oil GDP and of companies); Minister of Economy statement on SME numbers (2023).</a:t>
            </a:r>
          </a:p>
        </p:txBody>
      </p:sp>
      <p:sp>
        <p:nvSpPr>
          <p:cNvPr id="20" name="TextBox 19"/>
          <p:cNvSpPr txBox="1"/>
          <p:nvPr/>
        </p:nvSpPr>
        <p:spPr>
          <a:xfrm>
            <a:off x="6172200" y="3236976"/>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9</a:t>
            </a:r>
          </a:p>
        </p:txBody>
      </p:sp>
      <p:sp>
        <p:nvSpPr>
          <p:cNvPr id="21" name="TextBox 20"/>
          <p:cNvSpPr txBox="1"/>
          <p:nvPr/>
        </p:nvSpPr>
        <p:spPr>
          <a:xfrm>
            <a:off x="6537960" y="3236976"/>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Dubai Media Office, launch of the Dubai Economic Agenda D33 (January 2023).</a:t>
            </a:r>
          </a:p>
        </p:txBody>
      </p:sp>
      <p:sp>
        <p:nvSpPr>
          <p:cNvPr id="22" name="TextBox 21"/>
          <p:cNvSpPr txBox="1"/>
          <p:nvPr/>
        </p:nvSpPr>
        <p:spPr>
          <a:xfrm>
            <a:off x="6172200" y="3895344"/>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10</a:t>
            </a:r>
          </a:p>
        </p:txBody>
      </p:sp>
      <p:sp>
        <p:nvSpPr>
          <p:cNvPr id="23" name="TextBox 22"/>
          <p:cNvSpPr txBox="1"/>
          <p:nvPr/>
        </p:nvSpPr>
        <p:spPr>
          <a:xfrm>
            <a:off x="6537960" y="3895344"/>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UAE Ministry of Economy, “The Entrepreneurial Nation” initiative.</a:t>
            </a:r>
          </a:p>
        </p:txBody>
      </p:sp>
      <p:sp>
        <p:nvSpPr>
          <p:cNvPr id="24" name="TextBox 23"/>
          <p:cNvSpPr txBox="1"/>
          <p:nvPr/>
        </p:nvSpPr>
        <p:spPr>
          <a:xfrm>
            <a:off x="6172200" y="4553712"/>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11</a:t>
            </a:r>
          </a:p>
        </p:txBody>
      </p:sp>
      <p:sp>
        <p:nvSpPr>
          <p:cNvPr id="25" name="TextBox 24"/>
          <p:cNvSpPr txBox="1"/>
          <p:nvPr/>
        </p:nvSpPr>
        <p:spPr>
          <a:xfrm>
            <a:off x="6537960" y="4553712"/>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Startup Genome, Global Startup Ecosystem Report 2025.</a:t>
            </a:r>
          </a:p>
        </p:txBody>
      </p:sp>
      <p:sp>
        <p:nvSpPr>
          <p:cNvPr id="26" name="TextBox 25"/>
          <p:cNvSpPr txBox="1"/>
          <p:nvPr/>
        </p:nvSpPr>
        <p:spPr>
          <a:xfrm>
            <a:off x="6172200" y="5212079"/>
            <a:ext cx="36576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12</a:t>
            </a:r>
          </a:p>
        </p:txBody>
      </p:sp>
      <p:sp>
        <p:nvSpPr>
          <p:cNvPr id="27" name="TextBox 26"/>
          <p:cNvSpPr txBox="1"/>
          <p:nvPr/>
        </p:nvSpPr>
        <p:spPr>
          <a:xfrm>
            <a:off x="6537960" y="5212079"/>
            <a:ext cx="5029200" cy="640080"/>
          </a:xfrm>
          <a:prstGeom prst="rect">
            <a:avLst/>
          </a:prstGeom>
          <a:noFill/>
        </p:spPr>
        <p:txBody>
          <a:bodyPr wrap="square" lIns="0" rIns="0" tIns="0" bIns="0" anchor="t"/>
          <a:lstStyle/>
          <a:p>
            <a:pPr algn="l">
              <a:lnSpc>
                <a:spcPct val="118000"/>
              </a:lnSpc>
              <a:spcAft>
                <a:spcPts val="0"/>
              </a:spcAft>
            </a:pPr>
            <a:r>
              <a:rPr sz="1050" b="0" i="0">
                <a:solidFill>
                  <a:srgbClr val="253650"/>
                </a:solidFill>
                <a:latin typeface="Inter"/>
              </a:rPr>
              <a:t>OECD (2025), “Generative AI and the SME Workforce”; US Census Bureau, Business Trends and Outlook Survey.</a:t>
            </a:r>
          </a:p>
        </p:txBody>
      </p:sp>
      <p:sp>
        <p:nvSpPr>
          <p:cNvPr id="28" name="TextBox 27"/>
          <p:cNvSpPr txBox="1"/>
          <p:nvPr/>
        </p:nvSpPr>
        <p:spPr>
          <a:xfrm>
            <a:off x="594360" y="5943600"/>
            <a:ext cx="11002975" cy="320040"/>
          </a:xfrm>
          <a:prstGeom prst="rect">
            <a:avLst/>
          </a:prstGeom>
          <a:noFill/>
        </p:spPr>
        <p:txBody>
          <a:bodyPr wrap="square" lIns="0" rIns="0" tIns="0" bIns="0" anchor="t"/>
          <a:lstStyle/>
          <a:p>
            <a:pPr algn="l">
              <a:lnSpc>
                <a:spcPct val="115000"/>
              </a:lnSpc>
              <a:spcAft>
                <a:spcPts val="0"/>
              </a:spcAft>
            </a:pPr>
            <a:r>
              <a:rPr sz="1000" b="0" i="0">
                <a:solidFill>
                  <a:srgbClr val="61738A"/>
                </a:solidFill>
                <a:latin typeface="Inter"/>
              </a:rPr>
              <a:t>Figures are reported as published by each source and year. Startup Roof’s own targets are ambitions, not results.</a:t>
            </a:r>
          </a:p>
        </p:txBody>
      </p:sp>
      <p:sp>
        <p:nvSpPr>
          <p:cNvPr id="29" name="TextBox 2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0" name="TextBox 2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     </a:t>
            </a:r>
            <a:fld id="{B6F15528-21DE-4FAA-801E-634DDDAF4B2B}" type="slidenum">
              <a:rPr lang="en-GB" sz="850" b="1">
                <a:solidFill>
                  <a:srgbClr val="61738A"/>
                </a:solidFill>
                <a:latin typeface="Inter"/>
              </a:rPr>
              <a:t>‹#›</a:t>
            </a:fld>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4F8BE0"/>
                </a:solidFill>
                <a:latin typeface="Inter"/>
              </a:rPr>
              <a:t>INVITATION TO PARTICIPATE</a:t>
            </a:r>
          </a:p>
        </p:txBody>
      </p:sp>
      <p:sp>
        <p:nvSpPr>
          <p:cNvPr id="4" name="TextBox 3"/>
          <p:cNvSpPr txBox="1"/>
          <p:nvPr/>
        </p:nvSpPr>
        <p:spPr>
          <a:xfrm>
            <a:off x="685800" y="749808"/>
            <a:ext cx="7863840" cy="1188720"/>
          </a:xfrm>
          <a:prstGeom prst="rect">
            <a:avLst/>
          </a:prstGeom>
          <a:noFill/>
        </p:spPr>
        <p:txBody>
          <a:bodyPr wrap="square" lIns="0" rIns="0" tIns="0" bIns="0" anchor="t"/>
          <a:lstStyle/>
          <a:p>
            <a:pPr algn="l">
              <a:lnSpc>
                <a:spcPct val="105000"/>
              </a:lnSpc>
              <a:spcAft>
                <a:spcPts val="0"/>
              </a:spcAft>
            </a:pPr>
            <a:r>
              <a:rPr sz="3000" b="1" i="0">
                <a:solidFill>
                  <a:srgbClr val="FFFFFF"/>
                </a:solidFill>
                <a:latin typeface="Inter"/>
              </a:rPr>
              <a:t>Help shape a practical ecosystem for the founder journey.</a:t>
            </a:r>
          </a:p>
        </p:txBody>
      </p:sp>
      <p:cxnSp>
        <p:nvCxnSpPr>
          <p:cNvPr id="5" name="Connector 4"/>
          <p:cNvCxnSpPr/>
          <p:nvPr/>
        </p:nvCxnSpPr>
        <p:spPr>
          <a:xfrm>
            <a:off x="685800" y="2148840"/>
            <a:ext cx="7178040" cy="0"/>
          </a:xfrm>
          <a:prstGeom prst="line">
            <a:avLst/>
          </a:prstGeom>
          <a:ln w="9525">
            <a:solidFill>
              <a:srgbClr val="2E4A72"/>
            </a:solidFill>
          </a:ln>
        </p:spPr>
      </p:cxnSp>
      <p:sp>
        <p:nvSpPr>
          <p:cNvPr id="6" name="TextBox 5"/>
          <p:cNvSpPr txBox="1"/>
          <p:nvPr/>
        </p:nvSpPr>
        <p:spPr>
          <a:xfrm>
            <a:off x="685800" y="2304288"/>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Founders</a:t>
            </a:r>
          </a:p>
        </p:txBody>
      </p:sp>
      <p:sp>
        <p:nvSpPr>
          <p:cNvPr id="7" name="TextBox 6"/>
          <p:cNvSpPr txBox="1"/>
          <p:nvPr/>
        </p:nvSpPr>
        <p:spPr>
          <a:xfrm>
            <a:off x="3520440" y="2304288"/>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Help shape the platform and express interest in the pilot.</a:t>
            </a:r>
          </a:p>
        </p:txBody>
      </p:sp>
      <p:cxnSp>
        <p:nvCxnSpPr>
          <p:cNvPr id="8" name="Connector 7"/>
          <p:cNvCxnSpPr/>
          <p:nvPr/>
        </p:nvCxnSpPr>
        <p:spPr>
          <a:xfrm>
            <a:off x="685800" y="2898648"/>
            <a:ext cx="7178040" cy="0"/>
          </a:xfrm>
          <a:prstGeom prst="line">
            <a:avLst/>
          </a:prstGeom>
          <a:ln w="9525">
            <a:solidFill>
              <a:srgbClr val="2E4A72"/>
            </a:solidFill>
          </a:ln>
        </p:spPr>
      </p:cxnSp>
      <p:sp>
        <p:nvSpPr>
          <p:cNvPr id="9" name="TextBox 8"/>
          <p:cNvSpPr txBox="1"/>
          <p:nvPr/>
        </p:nvSpPr>
        <p:spPr>
          <a:xfrm>
            <a:off x="685800" y="3054096"/>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Mentors and specialists</a:t>
            </a:r>
          </a:p>
        </p:txBody>
      </p:sp>
      <p:sp>
        <p:nvSpPr>
          <p:cNvPr id="10" name="TextBox 9"/>
          <p:cNvSpPr txBox="1"/>
          <p:nvPr/>
        </p:nvSpPr>
        <p:spPr>
          <a:xfrm>
            <a:off x="3520440" y="3054096"/>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Contribute expertise and practical sessions.</a:t>
            </a:r>
          </a:p>
        </p:txBody>
      </p:sp>
      <p:cxnSp>
        <p:nvCxnSpPr>
          <p:cNvPr id="11" name="Connector 10"/>
          <p:cNvCxnSpPr/>
          <p:nvPr/>
        </p:nvCxnSpPr>
        <p:spPr>
          <a:xfrm>
            <a:off x="685800" y="3648456"/>
            <a:ext cx="7178040" cy="0"/>
          </a:xfrm>
          <a:prstGeom prst="line">
            <a:avLst/>
          </a:prstGeom>
          <a:ln w="9525">
            <a:solidFill>
              <a:srgbClr val="2E4A72"/>
            </a:solidFill>
          </a:ln>
        </p:spPr>
      </p:cxnSp>
      <p:sp>
        <p:nvSpPr>
          <p:cNvPr id="12" name="TextBox 11"/>
          <p:cNvSpPr txBox="1"/>
          <p:nvPr/>
        </p:nvSpPr>
        <p:spPr>
          <a:xfrm>
            <a:off x="685800" y="3803904"/>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Partners and universities</a:t>
            </a:r>
          </a:p>
        </p:txBody>
      </p:sp>
      <p:sp>
        <p:nvSpPr>
          <p:cNvPr id="13" name="TextBox 12"/>
          <p:cNvSpPr txBox="1"/>
          <p:nvPr/>
        </p:nvSpPr>
        <p:spPr>
          <a:xfrm>
            <a:off x="3520440" y="3803904"/>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Explore a useful collaboration.</a:t>
            </a:r>
          </a:p>
        </p:txBody>
      </p:sp>
      <p:cxnSp>
        <p:nvCxnSpPr>
          <p:cNvPr id="14" name="Connector 13"/>
          <p:cNvCxnSpPr/>
          <p:nvPr/>
        </p:nvCxnSpPr>
        <p:spPr>
          <a:xfrm>
            <a:off x="685800" y="4398264"/>
            <a:ext cx="7178040" cy="0"/>
          </a:xfrm>
          <a:prstGeom prst="line">
            <a:avLst/>
          </a:prstGeom>
          <a:ln w="9525">
            <a:solidFill>
              <a:srgbClr val="2E4A72"/>
            </a:solidFill>
          </a:ln>
        </p:spPr>
      </p:cxnSp>
      <p:sp>
        <p:nvSpPr>
          <p:cNvPr id="15" name="TextBox 14"/>
          <p:cNvSpPr txBox="1"/>
          <p:nvPr/>
        </p:nvSpPr>
        <p:spPr>
          <a:xfrm>
            <a:off x="685800" y="4553712"/>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Investors</a:t>
            </a:r>
          </a:p>
        </p:txBody>
      </p:sp>
      <p:sp>
        <p:nvSpPr>
          <p:cNvPr id="16" name="TextBox 15"/>
          <p:cNvSpPr txBox="1"/>
          <p:nvPr/>
        </p:nvSpPr>
        <p:spPr>
          <a:xfrm>
            <a:off x="3520440" y="4553712"/>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Connect around founder readiness and ecosystem opportunities.</a:t>
            </a:r>
          </a:p>
        </p:txBody>
      </p:sp>
      <p:cxnSp>
        <p:nvCxnSpPr>
          <p:cNvPr id="17" name="Connector 16"/>
          <p:cNvCxnSpPr/>
          <p:nvPr/>
        </p:nvCxnSpPr>
        <p:spPr>
          <a:xfrm>
            <a:off x="685800" y="5148072"/>
            <a:ext cx="7178040" cy="0"/>
          </a:xfrm>
          <a:prstGeom prst="line">
            <a:avLst/>
          </a:prstGeom>
          <a:ln w="9525">
            <a:solidFill>
              <a:srgbClr val="2E4A72"/>
            </a:solidFill>
          </a:ln>
        </p:spPr>
      </p:cxnSp>
      <p:sp>
        <p:nvSpPr>
          <p:cNvPr id="18" name="TextBox 17"/>
          <p:cNvSpPr txBox="1"/>
          <p:nvPr/>
        </p:nvSpPr>
        <p:spPr>
          <a:xfrm>
            <a:off x="685800" y="5303520"/>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Prospective collaborators</a:t>
            </a:r>
          </a:p>
        </p:txBody>
      </p:sp>
      <p:sp>
        <p:nvSpPr>
          <p:cNvPr id="19" name="TextBox 18"/>
          <p:cNvSpPr txBox="1"/>
          <p:nvPr/>
        </p:nvSpPr>
        <p:spPr>
          <a:xfrm>
            <a:off x="3520440" y="5303520"/>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Discuss how your skills and time can contribute.</a:t>
            </a:r>
          </a:p>
        </p:txBody>
      </p:sp>
      <p:sp>
        <p:nvSpPr>
          <p:cNvPr id="20" name="Rectangle 19"/>
          <p:cNvSpPr/>
          <p:nvPr/>
        </p:nvSpPr>
        <p:spPr>
          <a:xfrm>
            <a:off x="8732520" y="2103120"/>
            <a:ext cx="2834640" cy="2834640"/>
          </a:xfrm>
          <a:prstGeom prst="rect">
            <a:avLst/>
          </a:prstGeom>
          <a:solidFill>
            <a:srgbClr val="FFFFFF"/>
          </a:solidFill>
          <a:ln>
            <a:noFill/>
          </a:ln>
          <a:effectLst/>
        </p:spPr>
        <p:txBody>
          <a:bodyPr rtlCol="0" anchor="ctr" lIns="73152" rIns="73152" tIns="36576" bIns="36576"/>
          <a:lstStyle/>
          <a:p>
            <a:pPr algn="ctr"/>
          </a:p>
        </p:txBody>
      </p:sp>
      <p:pic>
        <p:nvPicPr>
          <p:cNvPr id="21" name="Picture 20" descr="image.png"/>
          <p:cNvPicPr>
            <a:picLocks noChangeAspect="1"/>
          </p:cNvPicPr>
          <p:nvPr/>
        </p:nvPicPr>
        <p:blipFill>
          <a:blip r:embed="rId2"/>
          <a:stretch>
            <a:fillRect/>
          </a:stretch>
        </p:blipFill>
        <p:spPr>
          <a:xfrm>
            <a:off x="8869680" y="2240280"/>
            <a:ext cx="2560320" cy="2560320"/>
          </a:xfrm>
          <a:prstGeom prst="rect">
            <a:avLst/>
          </a:prstGeom>
        </p:spPr>
      </p:pic>
      <p:sp>
        <p:nvSpPr>
          <p:cNvPr id="22" name="TextBox 21"/>
          <p:cNvSpPr txBox="1"/>
          <p:nvPr/>
        </p:nvSpPr>
        <p:spPr>
          <a:xfrm>
            <a:off x="8732520" y="5074920"/>
            <a:ext cx="2834640" cy="320040"/>
          </a:xfrm>
          <a:prstGeom prst="rect">
            <a:avLst/>
          </a:prstGeom>
          <a:noFill/>
        </p:spPr>
        <p:txBody>
          <a:bodyPr wrap="square" lIns="0" rIns="0" tIns="0" bIns="0" anchor="t"/>
          <a:lstStyle/>
          <a:p>
            <a:pPr algn="ctr">
              <a:lnSpc>
                <a:spcPct val="115000"/>
              </a:lnSpc>
              <a:spcAft>
                <a:spcPts val="0"/>
              </a:spcAft>
            </a:pPr>
            <a:r>
              <a:rPr sz="1600" b="1" i="0">
                <a:solidFill>
                  <a:srgbClr val="FFFFFF"/>
                </a:solidFill>
                <a:latin typeface="Inter"/>
              </a:rPr>
              <a:t>startuproof.com</a:t>
            </a:r>
          </a:p>
        </p:txBody>
      </p:sp>
      <p:sp>
        <p:nvSpPr>
          <p:cNvPr id="23" name="TextBox 22"/>
          <p:cNvSpPr txBox="1"/>
          <p:nvPr/>
        </p:nvSpPr>
        <p:spPr>
          <a:xfrm>
            <a:off x="8732520" y="5440680"/>
            <a:ext cx="2834640" cy="457200"/>
          </a:xfrm>
          <a:prstGeom prst="rect">
            <a:avLst/>
          </a:prstGeom>
          <a:noFill/>
        </p:spPr>
        <p:txBody>
          <a:bodyPr wrap="square" lIns="0" rIns="0" tIns="0" bIns="0" anchor="t"/>
          <a:lstStyle/>
          <a:p>
            <a:pPr algn="ctr">
              <a:lnSpc>
                <a:spcPct val="115000"/>
              </a:lnSpc>
              <a:spcAft>
                <a:spcPts val="0"/>
              </a:spcAft>
            </a:pPr>
            <a:r>
              <a:rPr sz="1100" b="0" i="0">
                <a:solidFill>
                  <a:srgbClr val="9FB2CC"/>
                </a:solidFill>
                <a:latin typeface="Inter"/>
              </a:rPr>
              <a:t>Scan to visit the website and get in touch.</a:t>
            </a:r>
          </a:p>
        </p:txBody>
      </p:sp>
      <p:sp>
        <p:nvSpPr>
          <p:cNvPr id="24" name="TextBox 23"/>
          <p:cNvSpPr txBox="1"/>
          <p:nvPr/>
        </p:nvSpPr>
        <p:spPr>
          <a:xfrm>
            <a:off x="685800" y="6263640"/>
            <a:ext cx="3657600" cy="195580"/>
          </a:xfrm>
          <a:prstGeom prst="rect">
            <a:avLst/>
          </a:prstGeom>
          <a:noFill/>
        </p:spPr>
        <p:txBody>
          <a:bodyPr wrap="square" lIns="0" rIns="0" tIns="0" bIns="0" anchor="t"/>
          <a:lstStyle/>
          <a:p>
            <a:pPr algn="l">
              <a:lnSpc>
                <a:spcPct val="115000"/>
              </a:lnSpc>
              <a:spcAft>
                <a:spcPts val="0"/>
              </a:spcAft>
            </a:pPr>
            <a:r>
              <a:rPr sz="1100" b="1" i="0" spc="131">
                <a:solidFill>
                  <a:srgbClr val="FFFFFF"/>
                </a:solidFill>
                <a:latin typeface="Inter"/>
              </a:rPr>
              <a:t>STARTUP</a:t>
            </a:r>
            <a:r>
              <a:rPr sz="1100" b="1" i="0" spc="131">
                <a:solidFill>
                  <a:srgbClr val="4F8BE0"/>
                </a:solidFill>
                <a:latin typeface="Inter"/>
              </a:rPr>
              <a:t> ROOF</a:t>
            </a:r>
          </a:p>
        </p:txBody>
      </p:sp>
      <p:sp>
        <p:nvSpPr>
          <p:cNvPr id="25" name="TextBox 24"/>
          <p:cNvSpPr txBox="1"/>
          <p:nvPr/>
        </p:nvSpPr>
        <p:spPr>
          <a:xfrm>
            <a:off x="4572000" y="6281928"/>
            <a:ext cx="7025335" cy="274320"/>
          </a:xfrm>
          <a:prstGeom prst="rect">
            <a:avLst/>
          </a:prstGeom>
          <a:noFill/>
        </p:spPr>
        <p:txBody>
          <a:bodyPr wrap="square" lIns="0" rIns="0" tIns="0" bIns="0" anchor="t"/>
          <a:lstStyle/>
          <a:p>
            <a:pPr algn="r">
              <a:lnSpc>
                <a:spcPct val="115000"/>
              </a:lnSpc>
              <a:spcAft>
                <a:spcPts val="0"/>
              </a:spcAft>
            </a:pPr>
            <a:r>
              <a:rPr sz="1050" b="0" i="0">
                <a:solidFill>
                  <a:srgbClr val="9FB2CC"/>
                </a:solidFill>
                <a:latin typeface="Inter"/>
              </a:rPr>
              <a:t>An ecosystem around the founder. A digital workspace for the journey.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